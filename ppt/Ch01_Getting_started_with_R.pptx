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8331ec0-0e02-3080-990c-a78e8475bd4a}">
          <p14:sldIdLst>
            <p14:sldId id="256"/>
            <p14:sldId id="257"/>
            <p14:sldId id="258"/>
          </p14:sldIdLst>
        </p14:section>
        <p14:section name="R and RStudio" id="{3e7f18a7-cd6b-1e10-0dfe-f319be077436}">
          <p14:sldIdLst>
            <p14:sldId id="259"/>
            <p14:sldId id="260"/>
            <p14:sldId id="261"/>
            <p14:sldId id="262"/>
            <p14:sldId id="263"/>
          </p14:sldIdLst>
        </p14:section>
        <p14:section name="Installing R and RStudio" id="{591d6d39-7bb8-2450-dfc6-06eea8d4a8f2}">
          <p14:sldIdLst>
            <p14:sldId id="264"/>
            <p14:sldId id="265"/>
            <p14:sldId id="266"/>
            <p14:sldId id="267"/>
          </p14:sldIdLst>
        </p14:section>
        <p14:section name="Packages and a first calculation" id="{e3f303a8-e467-84d3-0a4b-a44844f5a616}">
          <p14:sldIdLst>
            <p14:sldId id="268"/>
            <p14:sldId id="269"/>
            <p14:sldId id="270"/>
            <p14:sldId id="271"/>
            <p14:sldId id="272"/>
            <p14:sldId id="273"/>
          </p14:sldIdLst>
        </p14:section>
        <p14:section name="Review" id="{92440930-3612-b6eb-651e-38217e260b88}">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R Programming for Agricultural Data Analysis. This is chapter one, Getting started with R. In this first session we will see what the course covers, why R matters in agricultural research, how R and RStudio fit together, and then we will install both and run our first agricultural calculation.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zero plus two practical course. It has seven modules and sixteen chapters, and each chapter ends with a live R laboratory that runs in your browser. You do not need any programming experience. By the end you will import and validate data, write and modify R scripts, summarise crop, soil and weather measurements, build informative figures, analyse standard field experiments, fit introductory models, and prepare a reproducible report. A suggested assessment is forty percent practical records, twenty percent a practical test and forty percent an integrated project. Throughout, remember that software matters, but statistical knowledge decides whether results are interpreted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course follows the workflow of a real analysis. Module one covers foundations and data exchange. Module two cleans and wrangles data. Module three is visualization. Module four is descriptive and exploratory analysis. Module five covers crop growth curves and time series. Module six is statistical analysis: tests, analysis of variance, the standard field experimental designs, and regression. Module seven is reproducible research, including reports in Quarto and responsible use of AI coding assistants. We are starting at module one, chapter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begin with what R and RStudio are, and why they are so widely used in agricultural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 is a programming language and environment for statistical computing and graphics. You give it instructions as commands, and it returns numbers, tables and plots. It is free and open source, released under the GNU general public licence, so there is no licence fee for students, laboratories or farms. It is extensible through thousands of contributed packages, including packages written for agricultural experimental designs. Many new statistical methods appear in R first. And it runs on Windows, macOS and Linux, giving the same answer from the same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agricultural research use R? It analyses field experiments, from completely randomized to split-plot designs, with analysis of variance and mean comparisons. It handles plant breeding and genetics, from segregation ratios to mixed models. It works with weather records and time series, and fits crop growth curves. It produces publication-quality graphics from code you can rerun. And above all it makes research reproducible: the same script and the same data give the same result for a reviewer or a colleague. But remember, R organises the evidence; the design and the agricultural sense are still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Menu-driven software is quick to start, but clicks leave no record of what was done. If one data value is corrected, every step must be redone by hand, and a reviewer cannot easily check the analysis. An R script records every decision in order. Fix the data, rerun the script, and everything updates. The script can be shared, reviewed and reused next season. Keep in mind the course motto: code that runs is necessary, and a defensible explanation is equally necessary.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names will come up often. R is the engine: the language that does the computing. RStudio is the workbench, an integrated development environment that puts a script editor, the console, plots, help and files in one window; it needs R installed underneath. Quarto is the reporting tool that weaves text, code and results into HTML, Word or PDF reports, which we use in module seven. In this course you always open RStudio, and it starts R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install the software. There are two downloads and the order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 R first, from the Comprehensive R Archive Network at cran dot r project dot org. Choose your operating system, download the base installation, install with default options and confirm that R opens. Then install the free RStudio Desktop from Posit. On first launch it finds R automatically. Finally, verify the setup, which we do on the next slide. On Windows you may see Rtools mentioned; it is a separate download needed only to build packages from source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RStudio has four panes. The source editor, top left by default, is where you write, edit and save scripts. The environment and history pane, top right, lists the objects in memory and your past commands. The console, bottom left, is where commands actually run. And the bottom right pane holds files, plots, packages, help and the viewer. The layout can be changed under Tools, Global Options, Pane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check your setup, type R dot version dot string in the console to see which version you are running, then try two plus three. Next create a new script from the File menu, type a line, and save it as first practical dot R. To run the current line from a script, press Control and Enter on Windows or Linux, or Command and Enter on a Mac. Your checkpoint: open RStudio, run a calculation, save a script and state your R version. Then create a course project from File, New Project, so that file paths stay portable.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 becomes far more powerful with packages. Let us see how to install them, and then do our first agricultural calculation.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package is a bundle of functions, data and documentation. Only the base packages load when R starts. Install a package once per computer with install dot packages, and load it in every session with library. You can also call a single function with the package name and two colons, which makes it clear where the function comes from. CRAN is the official archive; Bioconductor serves genomics; GitHub hosts development versions. For help on any function, type a question mark followed by its name, or run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first agricultural calculation. A twenty square metre plot gave nine point six kilograms of grain. We store the area and the grain weight using the assignment arrow, divide to get kilograms per square metre, then multiply by ten thousand square metres per hectare and divide by one thousand kilograms per tonne. The answer is four point eight tonnes per hectare. But notice the caveat: this is not yet a reportable yield, because we have not adjusted for grain moisture, border plants or sampling error. Units remain the analyst's responsibility.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messages are information, not failure. Object not found usually means a typo or the wrong case, because R is case sensitive: grain and Grain are different objects. Could not find function usually means the package is not loaded. Cannot open file means the path or working directory is wrong; opening the project and using relative paths fixes most of these. Always fix the first error first, because later errors often follow from it, and then restart R and rerun your script from the top to make sure it works from a clean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one has four short tasks. Create a course project, save the yield script, change the grain mass to eleven point two kilograms and report the new yield with its unit. Explain why nine point six divided by twenty is not yet a yield in tonnes per hectare. Make a deliberate error by typing Grain with a capital G, read the message, and correct it. Finally, find the help page for square root and calculate the square root of one hundred and forty-four.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live laboratory, five simulated plot yields are stored in a vector and summarised with mean, range and length. The mean is three point eight tonnes per hectare. Change the last yield from four point four to five point four, and before you run the code, predict the new mean and range. Then run it and check your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review: a saved script records an analysis and can be rerun whenever the data change. A project keeps file paths portable. Packages extend R; install them once and load them each session. And units remain your responsibility: R computes, you interpret. In the next chapter we learn R's objects, data structures and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932688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657600"/>
            <a:ext cx="9326880" cy="731520"/>
          </a:xfrm>
          <a:prstGeom prst="rect">
            <a:avLst/>
          </a:prstGeom>
          <a:noFill/>
          <a:ln/>
        </p:spPr>
        <p:txBody>
          <a:bodyPr wrap="square" rtlCol="0"/>
          <a:lstStyle>
            <a:lvl1pPr indent="0" marL="0">
              <a:buNone/>
              <a:defRPr lang="en-US" sz="2200" dirty="0">
                <a:solidFill>
                  <a:schemeClr val="accent6"/>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377440" y="2560320"/>
            <a:ext cx="8778240" cy="118872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2377440" y="3794760"/>
            <a:ext cx="8778240" cy="64008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3" name="Text 0"/>
          <p:cNvSpPr/>
          <p:nvPr/>
        </p:nvSpPr>
        <p:spPr>
          <a:xfrm>
            <a:off x="548640" y="6355080"/>
            <a:ext cx="10058400" cy="274320"/>
          </a:xfrm>
          <a:prstGeom prst="rect">
            <a:avLst/>
          </a:prstGeom>
          <a:noFill/>
          <a:ln/>
        </p:spPr>
        <p:txBody>
          <a:bodyPr wrap="square" lIns="0" tIns="0" rIns="0" bIns="0" rtlCol="0" anchor="ctr"/>
          <a:lstStyle/>
          <a:p>
            <a:pPr indent="0" marL="0">
              <a:buNone/>
            </a:pPr>
            <a:r>
              <a:rPr lang="en-US" sz="1000" dirty="0">
                <a:solidFill>
                  <a:schemeClr val="accent5"/>
                </a:solidFill>
              </a:rPr>
              <a:t>Chapter 1 · Getting started with R  ·  R Programming for Agricultural Data Analysis</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4.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4.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3.xml"/><Relationship Id="rId6"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463040"/>
            <a:ext cx="9144000" cy="365760"/>
          </a:xfrm>
          <a:prstGeom prst="rect">
            <a:avLst/>
          </a:prstGeom>
          <a:noFill/>
          <a:ln/>
        </p:spPr>
        <p:txBody>
          <a:bodyPr wrap="square" lIns="0" tIns="0" rIns="0" bIns="0" rtlCol="0" anchor="t"/>
          <a:lstStyle/>
          <a:p>
            <a:pPr indent="0" marL="0">
              <a:buNone/>
            </a:pPr>
            <a:r>
              <a:rPr lang="en-US" sz="1600" b="1" spc="300" kern="0" dirty="0">
                <a:solidFill>
                  <a:schemeClr val="accent2"/>
                </a:solidFill>
              </a:rPr>
              <a:t>MODULE 1  ·  CHAPTER 1</a:t>
            </a:r>
            <a:endParaRPr lang="en-US" sz="1600" dirty="0"/>
          </a:p>
        </p:txBody>
      </p:sp>
      <p:sp>
        <p:nvSpPr>
          <p:cNvPr id="3" name="Text 0"/>
          <p:cNvSpPr/>
          <p:nvPr>
            <p:ph idx="100" type="title" hasCustomPrompt="1"/>
          </p:nvPr>
        </p:nvSpPr>
        <p:spPr>
          <a:xfrm>
            <a:off x="731520" y="2103120"/>
            <a:ext cx="9326880" cy="1463040"/>
          </a:xfrm>
          <a:prstGeom prst="rect">
            <a:avLst/>
          </a:prstGeom>
          <a:noFill/>
          <a:ln/>
        </p:spPr>
        <p:txBody>
          <a:bodyPr wrap="square" lIns="0" tIns="0" rIns="0" bIns="0" rtlCol="0" anchor="t"/>
          <a:lstStyle/>
          <a:p>
            <a:pPr algn="l" indent="0" marL="0">
              <a:buNone/>
            </a:pPr>
            <a:r>
              <a:rPr lang="en-US" sz="4400" b="1" dirty="0">
                <a:solidFill>
                  <a:schemeClr val="bg1"/>
                </a:solidFill>
              </a:rPr>
              <a:t>Getting started with R</a:t>
            </a:r>
            <a:endParaRPr lang="en-US" sz="4400" dirty="0"/>
          </a:p>
        </p:txBody>
      </p:sp>
      <p:sp>
        <p:nvSpPr>
          <p:cNvPr id="4" name="Text 0"/>
          <p:cNvSpPr/>
          <p:nvPr>
            <p:ph idx="101" type="body" hasCustomPrompt="1"/>
          </p:nvPr>
        </p:nvSpPr>
        <p:spPr>
          <a:xfrm>
            <a:off x="731520" y="3657600"/>
            <a:ext cx="9326880" cy="731520"/>
          </a:xfrm>
          <a:prstGeom prst="rect">
            <a:avLst/>
          </a:prstGeom>
          <a:noFill/>
          <a:ln/>
        </p:spPr>
        <p:txBody>
          <a:bodyPr wrap="square" lIns="0" tIns="0" rIns="0" bIns="0" rtlCol="0" anchor="t"/>
          <a:lstStyle/>
          <a:p>
            <a:pPr indent="0" marL="0">
              <a:buNone/>
            </a:pPr>
            <a:r>
              <a:rPr lang="en-US" sz="2200" dirty="0">
                <a:solidFill>
                  <a:schemeClr val="accent6"/>
                </a:solidFill>
              </a:rPr>
              <a:t>R Programming for Agricultural Data Analysis</a:t>
            </a:r>
            <a:endParaRPr lang="en-US" sz="2200" dirty="0"/>
          </a:p>
        </p:txBody>
      </p:sp>
      <p:sp>
        <p:nvSpPr>
          <p:cNvPr id="5" name="Text 3"/>
          <p:cNvSpPr txBox="1"/>
          <p:nvPr/>
        </p:nvSpPr>
        <p:spPr>
          <a:xfrm>
            <a:off x="731520" y="4937760"/>
            <a:ext cx="10515600" cy="731520"/>
          </a:xfrm>
          <a:prstGeom prst="rect">
            <a:avLst/>
          </a:prstGeom>
          <a:noFill/>
          <a:ln/>
        </p:spPr>
        <p:txBody>
          <a:bodyPr wrap="square" lIns="0" tIns="0" rIns="0" bIns="0" rtlCol="0" anchor="t"/>
          <a:lstStyle/>
          <a:p>
            <a:pPr indent="0" marL="0">
              <a:buNone/>
            </a:pPr>
            <a:r>
              <a:rPr lang="en-US" sz="1500" b="1" dirty="0">
                <a:solidFill>
                  <a:schemeClr val="bg1"/>
                </a:solidFill>
              </a:rPr>
              <a:t>Dr. Pratheesh P. Gopinath</a:t>
            </a:r>
            <a:endParaRPr lang="en-US" sz="1500" dirty="0"/>
          </a:p>
          <a:p>
            <a:pPr indent="0" marL="0">
              <a:buNone/>
            </a:pPr>
            <a:r>
              <a:rPr lang="en-US" sz="1500" dirty="0">
                <a:solidFill>
                  <a:schemeClr val="bg1"/>
                </a:solidFill>
              </a:rPr>
              <a:t>Department of Agricultural Statistics · College of Agriculture, Vellayani · Kerala Agricultural University</a:t>
            </a:r>
            <a:endParaRPr lang="en-US" sz="1500" dirty="0"/>
          </a:p>
        </p:txBody>
      </p:sp>
      <p:pic>
        <p:nvPicPr>
          <p:cNvPr id="6" name="Image 0" descr="chapter icon">    </p:cNvPr>
          <p:cNvPicPr>
            <a:picLocks noChangeAspect="1"/>
          </p:cNvPicPr>
          <p:nvPr/>
        </p:nvPicPr>
        <p:blipFill>
          <a:blip r:embed="rId1"/>
          <a:stretch>
            <a:fillRect/>
          </a:stretch>
        </p:blipFill>
        <p:spPr>
          <a:xfrm>
            <a:off x="10149840" y="118872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About this course</a:t>
            </a:r>
            <a:endParaRPr lang="en-US" sz="3200" dirty="0"/>
          </a:p>
        </p:txBody>
      </p:sp>
      <p:sp>
        <p:nvSpPr>
          <p:cNvPr id="3" name="card"/>
          <p:cNvSpPr/>
          <p:nvPr/>
        </p:nvSpPr>
        <p:spPr>
          <a:xfrm>
            <a:off x="548640" y="1371600"/>
            <a:ext cx="3535680" cy="3291840"/>
          </a:xfrm>
          <a:prstGeom prst="roundRect">
            <a:avLst>
              <a:gd name="adj" fmla="val 3333"/>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777240" y="1600200"/>
            <a:ext cx="731520" cy="731520"/>
          </a:xfrm>
          <a:prstGeom prst="ellipse">
            <a:avLst/>
          </a:prstGeom>
          <a:solidFill>
            <a:schemeClr val="accent2"/>
          </a:solidFill>
          <a:ln/>
        </p:spPr>
      </p:sp>
      <p:pic>
        <p:nvPicPr>
          <p:cNvPr id="5" name="Image 0" descr="FaBookOpen">    </p:cNvPr>
          <p:cNvPicPr>
            <a:picLocks noChangeAspect="1"/>
          </p:cNvPicPr>
          <p:nvPr/>
        </p:nvPicPr>
        <p:blipFill>
          <a:blip r:embed="rId1"/>
          <a:stretch>
            <a:fillRect/>
          </a:stretch>
        </p:blipFill>
        <p:spPr>
          <a:xfrm>
            <a:off x="960120" y="1783080"/>
            <a:ext cx="365760" cy="365760"/>
          </a:xfrm>
          <a:prstGeom prst="rect">
            <a:avLst/>
          </a:prstGeom>
        </p:spPr>
      </p:pic>
      <p:sp>
        <p:nvSpPr>
          <p:cNvPr id="6" name="Text 3"/>
          <p:cNvSpPr txBox="1"/>
          <p:nvPr/>
        </p:nvSpPr>
        <p:spPr>
          <a:xfrm>
            <a:off x="1691640" y="1600200"/>
            <a:ext cx="2164080" cy="731520"/>
          </a:xfrm>
          <a:prstGeom prst="rect">
            <a:avLst/>
          </a:prstGeom>
          <a:noFill/>
          <a:ln/>
        </p:spPr>
        <p:txBody>
          <a:bodyPr wrap="square" lIns="0" tIns="0" rIns="0" bIns="0" rtlCol="0" anchor="ctr"/>
          <a:lstStyle/>
          <a:p>
            <a:pPr indent="0" marL="0">
              <a:buNone/>
            </a:pPr>
            <a:r>
              <a:rPr lang="en-US" sz="1700" b="1" dirty="0">
                <a:solidFill>
                  <a:schemeClr val="tx2"/>
                </a:solidFill>
              </a:rPr>
              <a:t>0+2 practical course</a:t>
            </a:r>
            <a:endParaRPr lang="en-US" sz="1700" dirty="0"/>
          </a:p>
        </p:txBody>
      </p:sp>
      <p:sp>
        <p:nvSpPr>
          <p:cNvPr id="7" name="Text 4"/>
          <p:cNvSpPr txBox="1"/>
          <p:nvPr/>
        </p:nvSpPr>
        <p:spPr>
          <a:xfrm>
            <a:off x="777240" y="2514600"/>
            <a:ext cx="3078480" cy="2039112"/>
          </a:xfrm>
          <a:prstGeom prst="rect">
            <a:avLst/>
          </a:prstGeom>
          <a:noFill/>
          <a:ln/>
        </p:spPr>
        <p:txBody>
          <a:bodyPr wrap="square" lIns="0" tIns="0" rIns="0" bIns="0" rtlCol="0" anchor="t"/>
          <a:lstStyle/>
          <a:p>
            <a:pPr indent="0" marL="0">
              <a:buNone/>
            </a:pPr>
            <a:r>
              <a:rPr lang="en-US" sz="1800" dirty="0">
                <a:solidFill>
                  <a:schemeClr val="accent5"/>
                </a:solidFill>
              </a:rPr>
              <a:t>Seven modules and sixteen chapters, each ending with a live R laboratory you can run in the browser. No previous programming needed.</a:t>
            </a:r>
            <a:endParaRPr lang="en-US" sz="1800" dirty="0"/>
          </a:p>
        </p:txBody>
      </p:sp>
      <p:sp>
        <p:nvSpPr>
          <p:cNvPr id="8" name="card"/>
          <p:cNvSpPr/>
          <p:nvPr/>
        </p:nvSpPr>
        <p:spPr>
          <a:xfrm>
            <a:off x="4312920" y="1371600"/>
            <a:ext cx="3535680" cy="3291840"/>
          </a:xfrm>
          <a:prstGeom prst="roundRect">
            <a:avLst>
              <a:gd name="adj" fmla="val 3333"/>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4541520" y="1600200"/>
            <a:ext cx="731520" cy="731520"/>
          </a:xfrm>
          <a:prstGeom prst="ellipse">
            <a:avLst/>
          </a:prstGeom>
          <a:solidFill>
            <a:schemeClr val="accent1"/>
          </a:solidFill>
          <a:ln/>
        </p:spPr>
      </p:sp>
      <p:pic>
        <p:nvPicPr>
          <p:cNvPr id="10" name="Image 1" descr="FaBullseye">    </p:cNvPr>
          <p:cNvPicPr>
            <a:picLocks noChangeAspect="1"/>
          </p:cNvPicPr>
          <p:nvPr/>
        </p:nvPicPr>
        <p:blipFill>
          <a:blip r:embed="rId2"/>
          <a:stretch>
            <a:fillRect/>
          </a:stretch>
        </p:blipFill>
        <p:spPr>
          <a:xfrm>
            <a:off x="4724400" y="1783080"/>
            <a:ext cx="365760" cy="365760"/>
          </a:xfrm>
          <a:prstGeom prst="rect">
            <a:avLst/>
          </a:prstGeom>
        </p:spPr>
      </p:pic>
      <p:sp>
        <p:nvSpPr>
          <p:cNvPr id="11" name="Text 7"/>
          <p:cNvSpPr txBox="1"/>
          <p:nvPr/>
        </p:nvSpPr>
        <p:spPr>
          <a:xfrm>
            <a:off x="5455920" y="1600200"/>
            <a:ext cx="2164080" cy="731520"/>
          </a:xfrm>
          <a:prstGeom prst="rect">
            <a:avLst/>
          </a:prstGeom>
          <a:noFill/>
          <a:ln/>
        </p:spPr>
        <p:txBody>
          <a:bodyPr wrap="square" lIns="0" tIns="0" rIns="0" bIns="0" rtlCol="0" anchor="ctr"/>
          <a:lstStyle/>
          <a:p>
            <a:pPr indent="0" marL="0">
              <a:buNone/>
            </a:pPr>
            <a:r>
              <a:rPr lang="en-US" sz="1700" b="1" dirty="0">
                <a:solidFill>
                  <a:schemeClr val="tx2"/>
                </a:solidFill>
              </a:rPr>
              <a:t>What you will learn</a:t>
            </a:r>
            <a:endParaRPr lang="en-US" sz="1700" dirty="0"/>
          </a:p>
        </p:txBody>
      </p:sp>
      <p:sp>
        <p:nvSpPr>
          <p:cNvPr id="12" name="Text 8"/>
          <p:cNvSpPr txBox="1"/>
          <p:nvPr/>
        </p:nvSpPr>
        <p:spPr>
          <a:xfrm>
            <a:off x="4541520" y="2514600"/>
            <a:ext cx="3078480" cy="2039112"/>
          </a:xfrm>
          <a:prstGeom prst="rect">
            <a:avLst/>
          </a:prstGeom>
          <a:noFill/>
          <a:ln/>
        </p:spPr>
        <p:txBody>
          <a:bodyPr wrap="square" lIns="0" tIns="0" rIns="0" bIns="0" rtlCol="0" anchor="t"/>
          <a:lstStyle/>
          <a:p>
            <a:pPr indent="0" marL="0">
              <a:buNone/>
            </a:pPr>
            <a:r>
              <a:rPr lang="en-US" sz="1800" dirty="0">
                <a:solidFill>
                  <a:schemeClr val="accent5"/>
                </a:solidFill>
              </a:rPr>
              <a:t>Import and validate data, write R scripts, summarise crop, soil and weather data, build figures, analyse field experiments, fit models, and write reproducible reports.</a:t>
            </a:r>
            <a:endParaRPr lang="en-US" sz="1800" dirty="0"/>
          </a:p>
        </p:txBody>
      </p:sp>
      <p:sp>
        <p:nvSpPr>
          <p:cNvPr id="13" name="card"/>
          <p:cNvSpPr/>
          <p:nvPr/>
        </p:nvSpPr>
        <p:spPr>
          <a:xfrm>
            <a:off x="8077200" y="1371600"/>
            <a:ext cx="3535680" cy="3291840"/>
          </a:xfrm>
          <a:prstGeom prst="roundRect">
            <a:avLst>
              <a:gd name="adj" fmla="val 3333"/>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8305800" y="1600200"/>
            <a:ext cx="731520" cy="731520"/>
          </a:xfrm>
          <a:prstGeom prst="ellipse">
            <a:avLst/>
          </a:prstGeom>
          <a:solidFill>
            <a:schemeClr val="accent3"/>
          </a:solidFill>
          <a:ln/>
        </p:spPr>
      </p:sp>
      <p:pic>
        <p:nvPicPr>
          <p:cNvPr id="15" name="Image 2" descr="FaClipboardCheck">    </p:cNvPr>
          <p:cNvPicPr>
            <a:picLocks noChangeAspect="1"/>
          </p:cNvPicPr>
          <p:nvPr/>
        </p:nvPicPr>
        <p:blipFill>
          <a:blip r:embed="rId3"/>
          <a:stretch>
            <a:fillRect/>
          </a:stretch>
        </p:blipFill>
        <p:spPr>
          <a:xfrm>
            <a:off x="8488680" y="1783080"/>
            <a:ext cx="365760" cy="365760"/>
          </a:xfrm>
          <a:prstGeom prst="rect">
            <a:avLst/>
          </a:prstGeom>
        </p:spPr>
      </p:pic>
      <p:sp>
        <p:nvSpPr>
          <p:cNvPr id="16" name="Text 11"/>
          <p:cNvSpPr txBox="1"/>
          <p:nvPr/>
        </p:nvSpPr>
        <p:spPr>
          <a:xfrm>
            <a:off x="9220200" y="1600200"/>
            <a:ext cx="2164080" cy="731520"/>
          </a:xfrm>
          <a:prstGeom prst="rect">
            <a:avLst/>
          </a:prstGeom>
          <a:noFill/>
          <a:ln/>
        </p:spPr>
        <p:txBody>
          <a:bodyPr wrap="square" lIns="0" tIns="0" rIns="0" bIns="0" rtlCol="0" anchor="ctr"/>
          <a:lstStyle/>
          <a:p>
            <a:pPr indent="0" marL="0">
              <a:buNone/>
            </a:pPr>
            <a:r>
              <a:rPr lang="en-US" sz="1700" b="1" dirty="0">
                <a:solidFill>
                  <a:schemeClr val="tx2"/>
                </a:solidFill>
              </a:rPr>
              <a:t>Assessment</a:t>
            </a:r>
            <a:endParaRPr lang="en-US" sz="1700" dirty="0"/>
          </a:p>
        </p:txBody>
      </p:sp>
      <p:sp>
        <p:nvSpPr>
          <p:cNvPr id="17" name="Text 12"/>
          <p:cNvSpPr txBox="1"/>
          <p:nvPr/>
        </p:nvSpPr>
        <p:spPr>
          <a:xfrm>
            <a:off x="8305800" y="2514600"/>
            <a:ext cx="3078480" cy="2039112"/>
          </a:xfrm>
          <a:prstGeom prst="rect">
            <a:avLst/>
          </a:prstGeom>
          <a:noFill/>
          <a:ln/>
        </p:spPr>
        <p:txBody>
          <a:bodyPr wrap="square" lIns="0" tIns="0" rIns="0" bIns="0" rtlCol="0" anchor="t"/>
          <a:lstStyle/>
          <a:p>
            <a:pPr indent="0" marL="0">
              <a:buNone/>
            </a:pPr>
            <a:r>
              <a:rPr lang="en-US" sz="1800" dirty="0">
                <a:solidFill>
                  <a:schemeClr val="accent5"/>
                </a:solidFill>
              </a:rPr>
              <a:t>40% practical records, 20% practical test, 40% integrated project with a reproducible Quarto report.</a:t>
            </a:r>
            <a:endParaRPr lang="en-US" sz="1800" dirty="0"/>
          </a:p>
        </p:txBody>
      </p:sp>
      <p:sp>
        <p:nvSpPr>
          <p:cNvPr id="18" name="key idea"/>
          <p:cNvSpPr/>
          <p:nvPr/>
        </p:nvSpPr>
        <p:spPr>
          <a:xfrm>
            <a:off x="548640" y="4937760"/>
            <a:ext cx="11064240" cy="685800"/>
          </a:xfrm>
          <a:prstGeom prst="roundRect">
            <a:avLst>
              <a:gd name="adj" fmla="val 16000"/>
            </a:avLst>
          </a:prstGeom>
          <a:solidFill>
            <a:schemeClr val="accent6"/>
          </a:solidFill>
          <a:ln/>
          <a:effectLst>
            <a:outerShdw sx="100000" sy="100000" kx="0" ky="0" algn="bl" rotWithShape="0" blurRad="76200" dist="25400" dir="5400000">
              <a:srgbClr val="8A97AB">
                <a:alpha val="25000"/>
              </a:srgbClr>
            </a:outerShdw>
          </a:effectLst>
        </p:spPr>
      </p:sp>
      <p:sp>
        <p:nvSpPr>
          <p:cNvPr id="19" name="Text 14"/>
          <p:cNvSpPr txBox="1"/>
          <p:nvPr/>
        </p:nvSpPr>
        <p:spPr>
          <a:xfrm>
            <a:off x="822960" y="4937760"/>
            <a:ext cx="10515600" cy="68580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Software matters, but statistical knowledge decides whether results are interpreted correctly.</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Seven modules, one workflow</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463040"/>
                <a:gridCol w="4206240"/>
                <a:gridCol w="5394960"/>
              </a:tblGrid>
              <a:tr h="480060">
                <a:tc>
                  <a:txBody>
                    <a:bodyPr/>
                    <a:lstStyle/>
                    <a:p>
                      <a:pPr indent="0" marL="0">
                        <a:buNone/>
                      </a:pPr>
                      <a:r>
                        <a:rPr lang="en-US" sz="1500" b="1" dirty="0">
                          <a:solidFill>
                            <a:schemeClr val="bg1"/>
                          </a:solidFill>
                        </a:rPr>
                        <a:t>Module</a:t>
                      </a:r>
                      <a:endParaRPr lang="en-US" sz="15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Theme</a:t>
                      </a:r>
                      <a:endParaRPr lang="en-US" sz="15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Chapters</a:t>
                      </a:r>
                      <a:endParaRPr lang="en-US" sz="15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tx2"/>
                    </a:solidFill>
                  </a:tcPr>
                </a:tc>
              </a:tr>
              <a:tr h="480060">
                <a:tc>
                  <a:txBody>
                    <a:bodyPr/>
                    <a:lstStyle/>
                    <a:p>
                      <a:pPr indent="0" marL="0">
                        <a:buNone/>
                      </a:pPr>
                      <a:r>
                        <a:rPr lang="en-US" sz="1400" b="1" dirty="0">
                          <a:solidFill>
                            <a:schemeClr val="tx2"/>
                          </a:solidFill>
                        </a:rPr>
                        <a:t>1</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Foundations and data exchange</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Getting started · objects and functions · import and export</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r>
              <a:tr h="480060">
                <a:tc>
                  <a:txBody>
                    <a:bodyPr/>
                    <a:lstStyle/>
                    <a:p>
                      <a:pPr indent="0" marL="0">
                        <a:buNone/>
                      </a:pPr>
                      <a:r>
                        <a:rPr lang="en-US" sz="1400" b="1" dirty="0">
                          <a:solidFill>
                            <a:schemeClr val="tx2"/>
                          </a:solidFill>
                        </a:rPr>
                        <a:t>2</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Data wrangling and cleaning</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Cleaning observations · dplyr</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r>
              <a:tr h="480060">
                <a:tc>
                  <a:txBody>
                    <a:bodyPr/>
                    <a:lstStyle/>
                    <a:p>
                      <a:pPr indent="0" marL="0">
                        <a:buNone/>
                      </a:pPr>
                      <a:r>
                        <a:rPr lang="en-US" sz="1400" b="1" dirty="0">
                          <a:solidFill>
                            <a:schemeClr val="tx2"/>
                          </a:solidFill>
                        </a:rPr>
                        <a:t>3</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Data visualization</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Graphs of agricultural data</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r>
              <a:tr h="480060">
                <a:tc>
                  <a:txBody>
                    <a:bodyPr/>
                    <a:lstStyle/>
                    <a:p>
                      <a:pPr indent="0" marL="0">
                        <a:buNone/>
                      </a:pPr>
                      <a:r>
                        <a:rPr lang="en-US" sz="1400" b="1" dirty="0">
                          <a:solidFill>
                            <a:schemeClr val="tx2"/>
                          </a:solidFill>
                        </a:rPr>
                        <a:t>4</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Descriptive and exploratory analysis</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Variation · a crop-yield EDA</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r>
              <a:tr h="480060">
                <a:tc>
                  <a:txBody>
                    <a:bodyPr/>
                    <a:lstStyle/>
                    <a:p>
                      <a:pPr indent="0" marL="0">
                        <a:buNone/>
                      </a:pPr>
                      <a:r>
                        <a:rPr lang="en-US" sz="1400" b="1" dirty="0">
                          <a:solidFill>
                            <a:schemeClr val="tx2"/>
                          </a:solidFill>
                        </a:rPr>
                        <a:t>5</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Growth and time series</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Crop growth models · forecasting</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r>
              <a:tr h="480060">
                <a:tc>
                  <a:txBody>
                    <a:bodyPr/>
                    <a:lstStyle/>
                    <a:p>
                      <a:pPr indent="0" marL="0">
                        <a:buNone/>
                      </a:pPr>
                      <a:r>
                        <a:rPr lang="en-US" sz="1400" b="1" dirty="0">
                          <a:solidFill>
                            <a:schemeClr val="tx2"/>
                          </a:solidFill>
                        </a:rPr>
                        <a:t>6</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Statistical analysis</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Tests · ANOVA · field experimental designs · regression</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r>
              <a:tr h="480060">
                <a:tc>
                  <a:txBody>
                    <a:bodyPr/>
                    <a:lstStyle/>
                    <a:p>
                      <a:pPr indent="0" marL="0">
                        <a:buNone/>
                      </a:pPr>
                      <a:r>
                        <a:rPr lang="en-US" sz="1400" b="1" dirty="0">
                          <a:solidFill>
                            <a:schemeClr val="tx2"/>
                          </a:solidFill>
                        </a:rPr>
                        <a:t>7</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Reproducible research and AI-assisted coding</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Quarto reports · vibe coding with review</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548640" y="5623560"/>
            <a:ext cx="11064240" cy="457200"/>
          </a:xfrm>
          <a:prstGeom prst="rect">
            <a:avLst/>
          </a:prstGeom>
          <a:noFill/>
          <a:ln/>
        </p:spPr>
        <p:txBody>
          <a:bodyPr wrap="square" lIns="0" tIns="0" rIns="0" bIns="0" rtlCol="0" anchor="t"/>
          <a:lstStyle/>
          <a:p>
            <a:pPr indent="0" marL="0">
              <a:buNone/>
            </a:pPr>
            <a:r>
              <a:rPr lang="en-US" sz="1300" i="1" dirty="0">
                <a:solidFill>
                  <a:schemeClr val="accent5"/>
                </a:solidFill>
              </a:rPr>
              <a:t>You are here: Module 1 · Chapter 1.</a:t>
            </a:r>
            <a:endParaRPr lang="en-US" sz="13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badge"/>
          <p:cNvSpPr/>
          <p:nvPr/>
        </p:nvSpPr>
        <p:spPr>
          <a:xfrm>
            <a:off x="731520" y="2606040"/>
            <a:ext cx="1188720" cy="1188720"/>
          </a:xfrm>
          <a:prstGeom prst="ellipse">
            <a:avLst/>
          </a:prstGeom>
          <a:solidFill>
            <a:schemeClr val="accent2"/>
          </a:solidFill>
          <a:ln/>
        </p:spPr>
      </p:sp>
      <p:sp>
        <p:nvSpPr>
          <p:cNvPr id="3" name="Text 1"/>
          <p:cNvSpPr txBox="1"/>
          <p:nvPr/>
        </p:nvSpPr>
        <p:spPr>
          <a:xfrm>
            <a:off x="731520" y="2606040"/>
            <a:ext cx="1188720" cy="1188720"/>
          </a:xfrm>
          <a:prstGeom prst="rect">
            <a:avLst/>
          </a:prstGeom>
          <a:noFill/>
          <a:ln/>
        </p:spPr>
        <p:txBody>
          <a:bodyPr wrap="square" lIns="0" tIns="0" rIns="0" bIns="0" rtlCol="0" anchor="ctr"/>
          <a:lstStyle/>
          <a:p>
            <a:pPr algn="ctr" indent="0" marL="0">
              <a:buNone/>
            </a:pPr>
            <a:r>
              <a:rPr lang="en-US" sz="3000" b="1" dirty="0">
                <a:solidFill>
                  <a:schemeClr val="tx2"/>
                </a:solidFill>
                <a:latin typeface="Cambria" pitchFamily="34" charset="0"/>
                <a:ea typeface="Cambria" pitchFamily="34" charset="-122"/>
                <a:cs typeface="Cambria" pitchFamily="34" charset="-120"/>
              </a:rPr>
              <a:t>A</a:t>
            </a:r>
            <a:endParaRPr lang="en-US" sz="3000" dirty="0"/>
          </a:p>
        </p:txBody>
      </p:sp>
      <p:sp>
        <p:nvSpPr>
          <p:cNvPr id="4"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r>
              <a:rPr lang="en-US" sz="3800" b="1" dirty="0">
                <a:solidFill>
                  <a:schemeClr val="bg1"/>
                </a:solidFill>
              </a:rPr>
              <a:t>R and RStudio</a:t>
            </a:r>
            <a:endParaRPr lang="en-US" sz="3800" dirty="0"/>
          </a:p>
        </p:txBody>
      </p:sp>
      <p:sp>
        <p:nvSpPr>
          <p:cNvPr id="5"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r>
              <a:rPr lang="en-US" sz="1800" dirty="0">
                <a:solidFill>
                  <a:schemeClr val="accent6"/>
                </a:solidFill>
              </a:rPr>
              <a:t>What they are and why agricultural research uses them</a:t>
            </a:r>
            <a:endParaRPr lang="en-US" sz="1800" dirty="0"/>
          </a:p>
        </p:txBody>
      </p:sp>
      <p:pic>
        <p:nvPicPr>
          <p:cNvPr id="6" name="Image 0" descr="decorative icon">    </p:cNvPr>
          <p:cNvPicPr>
            <a:picLocks noChangeAspect="1"/>
          </p:cNvPicPr>
          <p:nvPr/>
        </p:nvPicPr>
        <p:blipFill>
          <a:blip r:embed="rId1"/>
          <a:stretch>
            <a:fillRect/>
          </a:stretch>
        </p:blipFill>
        <p:spPr>
          <a:xfrm>
            <a:off x="9418320" y="4206240"/>
            <a:ext cx="2194560" cy="2194560"/>
          </a:xfrm>
          <a:prstGeom prst="rect">
            <a:avLst/>
          </a:prstGeom>
        </p:spPr>
      </p:pic>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What is R?</a:t>
            </a:r>
            <a:endParaRPr lang="en-US" sz="3200" dirty="0"/>
          </a:p>
        </p:txBody>
      </p:sp>
      <p:sp>
        <p:nvSpPr>
          <p:cNvPr id="3" name="card"/>
          <p:cNvSpPr/>
          <p:nvPr/>
        </p:nvSpPr>
        <p:spPr>
          <a:xfrm>
            <a:off x="548640" y="1371600"/>
            <a:ext cx="11064240" cy="960120"/>
          </a:xfrm>
          <a:prstGeom prst="roundRect">
            <a:avLst>
              <a:gd name="adj" fmla="val 11429"/>
            </a:avLst>
          </a:prstGeom>
          <a:solidFill>
            <a:schemeClr val="bg2"/>
          </a:solidFill>
          <a:ln/>
          <a:effectLst>
            <a:outerShdw sx="100000" sy="100000" kx="0" ky="0" algn="bl" rotWithShape="0" blurRad="76200" dist="25400" dir="5400000">
              <a:srgbClr val="8A97AB">
                <a:alpha val="25000"/>
              </a:srgbClr>
            </a:outerShdw>
          </a:effectLst>
        </p:spPr>
      </p:sp>
      <p:sp>
        <p:nvSpPr>
          <p:cNvPr id="4" name="Text 2"/>
          <p:cNvSpPr txBox="1"/>
          <p:nvPr/>
        </p:nvSpPr>
        <p:spPr>
          <a:xfrm>
            <a:off x="868680" y="1371600"/>
            <a:ext cx="10424160" cy="960120"/>
          </a:xfrm>
          <a:prstGeom prst="rect">
            <a:avLst/>
          </a:prstGeom>
          <a:noFill/>
          <a:ln/>
        </p:spPr>
        <p:txBody>
          <a:bodyPr wrap="square" lIns="0" tIns="0" rIns="0" bIns="0" rtlCol="0" anchor="ctr"/>
          <a:lstStyle/>
          <a:p>
            <a:pPr indent="0" marL="0">
              <a:buNone/>
            </a:pPr>
            <a:r>
              <a:rPr lang="en-US" sz="1700" b="1" dirty="0">
                <a:solidFill>
                  <a:schemeClr val="tx1"/>
                </a:solidFill>
              </a:rPr>
              <a:t>R</a:t>
            </a:r>
            <a:pPr indent="0" marL="0">
              <a:buNone/>
            </a:pPr>
            <a:r>
              <a:rPr lang="en-US" sz="1700" dirty="0">
                <a:solidFill>
                  <a:schemeClr val="tx1"/>
                </a:solidFill>
              </a:rPr>
              <a:t> is a programming language and environment for statistical computing and graphics. You give it commands; it returns numbers, tables and plots.</a:t>
            </a:r>
            <a:endParaRPr lang="en-US" sz="1700" dirty="0"/>
          </a:p>
        </p:txBody>
      </p:sp>
      <p:sp>
        <p:nvSpPr>
          <p:cNvPr id="5" name="card"/>
          <p:cNvSpPr/>
          <p:nvPr/>
        </p:nvSpPr>
        <p:spPr>
          <a:xfrm>
            <a:off x="548640" y="2606040"/>
            <a:ext cx="2594610" cy="3346704"/>
          </a:xfrm>
          <a:prstGeom prst="roundRect">
            <a:avLst>
              <a:gd name="adj" fmla="val 4229"/>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 y="2834640"/>
            <a:ext cx="731520" cy="731520"/>
          </a:xfrm>
          <a:prstGeom prst="ellipse">
            <a:avLst/>
          </a:prstGeom>
          <a:solidFill>
            <a:schemeClr val="accent1"/>
          </a:solidFill>
          <a:ln/>
        </p:spPr>
      </p:sp>
      <p:pic>
        <p:nvPicPr>
          <p:cNvPr id="7" name="Image 0" descr="FaUnlock">    </p:cNvPr>
          <p:cNvPicPr>
            <a:picLocks noChangeAspect="1"/>
          </p:cNvPicPr>
          <p:nvPr/>
        </p:nvPicPr>
        <p:blipFill>
          <a:blip r:embed="rId1"/>
          <a:stretch>
            <a:fillRect/>
          </a:stretch>
        </p:blipFill>
        <p:spPr>
          <a:xfrm>
            <a:off x="960120" y="3017520"/>
            <a:ext cx="365760" cy="365760"/>
          </a:xfrm>
          <a:prstGeom prst="rect">
            <a:avLst/>
          </a:prstGeom>
        </p:spPr>
      </p:pic>
      <p:sp>
        <p:nvSpPr>
          <p:cNvPr id="8" name="Text 5"/>
          <p:cNvSpPr txBox="1"/>
          <p:nvPr/>
        </p:nvSpPr>
        <p:spPr>
          <a:xfrm>
            <a:off x="777240" y="3703320"/>
            <a:ext cx="2137410" cy="585216"/>
          </a:xfrm>
          <a:prstGeom prst="rect">
            <a:avLst/>
          </a:prstGeom>
          <a:noFill/>
          <a:ln/>
        </p:spPr>
        <p:txBody>
          <a:bodyPr wrap="square" lIns="0" tIns="0" rIns="0" bIns="0" rtlCol="0" anchor="t"/>
          <a:lstStyle/>
          <a:p>
            <a:pPr indent="0" marL="0">
              <a:buNone/>
            </a:pPr>
            <a:r>
              <a:rPr lang="en-US" sz="1700" b="1" dirty="0">
                <a:solidFill>
                  <a:schemeClr val="tx2"/>
                </a:solidFill>
              </a:rPr>
              <a:t>Free and open source</a:t>
            </a:r>
            <a:endParaRPr lang="en-US" sz="1700" dirty="0"/>
          </a:p>
        </p:txBody>
      </p:sp>
      <p:sp>
        <p:nvSpPr>
          <p:cNvPr id="9" name="Text 6"/>
          <p:cNvSpPr txBox="1"/>
          <p:nvPr/>
        </p:nvSpPr>
        <p:spPr>
          <a:xfrm>
            <a:off x="777240" y="4398264"/>
            <a:ext cx="2137410" cy="1444752"/>
          </a:xfrm>
          <a:prstGeom prst="rect">
            <a:avLst/>
          </a:prstGeom>
          <a:noFill/>
          <a:ln/>
        </p:spPr>
        <p:txBody>
          <a:bodyPr wrap="square" lIns="0" tIns="0" rIns="0" bIns="0" rtlCol="0" anchor="t"/>
          <a:lstStyle/>
          <a:p>
            <a:pPr indent="0" marL="0">
              <a:buNone/>
            </a:pPr>
            <a:r>
              <a:rPr lang="en-US" sz="1800" dirty="0">
                <a:solidFill>
                  <a:schemeClr val="accent5"/>
                </a:solidFill>
              </a:rPr>
              <a:t>Released under the GNU GPL. No licence fee for students, labs or farms.</a:t>
            </a:r>
            <a:endParaRPr lang="en-US" sz="1800" dirty="0"/>
          </a:p>
        </p:txBody>
      </p:sp>
      <p:sp>
        <p:nvSpPr>
          <p:cNvPr id="10" name="card"/>
          <p:cNvSpPr/>
          <p:nvPr/>
        </p:nvSpPr>
        <p:spPr>
          <a:xfrm>
            <a:off x="3371850" y="2606040"/>
            <a:ext cx="2594610" cy="3346704"/>
          </a:xfrm>
          <a:prstGeom prst="roundRect">
            <a:avLst>
              <a:gd name="adj" fmla="val 4229"/>
            </a:avLst>
          </a:prstGeom>
          <a:solidFill>
            <a:schemeClr val="bg2"/>
          </a:solidFill>
          <a:ln/>
          <a:effectLst>
            <a:outerShdw sx="100000" sy="100000" kx="0" ky="0" algn="bl" rotWithShape="0" blurRad="76200" dist="25400" dir="5400000">
              <a:srgbClr val="8A97AB">
                <a:alpha val="25000"/>
              </a:srgbClr>
            </a:outerShdw>
          </a:effectLst>
        </p:spPr>
      </p:sp>
      <p:sp>
        <p:nvSpPr>
          <p:cNvPr id="11" name="icon circle"/>
          <p:cNvSpPr/>
          <p:nvPr/>
        </p:nvSpPr>
        <p:spPr>
          <a:xfrm>
            <a:off x="3600450" y="2834640"/>
            <a:ext cx="731520" cy="731520"/>
          </a:xfrm>
          <a:prstGeom prst="ellipse">
            <a:avLst/>
          </a:prstGeom>
          <a:solidFill>
            <a:schemeClr val="accent2"/>
          </a:solidFill>
          <a:ln/>
        </p:spPr>
      </p:sp>
      <p:pic>
        <p:nvPicPr>
          <p:cNvPr id="12" name="Image 1" descr="FaBoxOpen">    </p:cNvPr>
          <p:cNvPicPr>
            <a:picLocks noChangeAspect="1"/>
          </p:cNvPicPr>
          <p:nvPr/>
        </p:nvPicPr>
        <p:blipFill>
          <a:blip r:embed="rId2"/>
          <a:stretch>
            <a:fillRect/>
          </a:stretch>
        </p:blipFill>
        <p:spPr>
          <a:xfrm>
            <a:off x="3783330" y="3017520"/>
            <a:ext cx="365760" cy="365760"/>
          </a:xfrm>
          <a:prstGeom prst="rect">
            <a:avLst/>
          </a:prstGeom>
        </p:spPr>
      </p:pic>
      <p:sp>
        <p:nvSpPr>
          <p:cNvPr id="13" name="Text 9"/>
          <p:cNvSpPr txBox="1"/>
          <p:nvPr/>
        </p:nvSpPr>
        <p:spPr>
          <a:xfrm>
            <a:off x="3600450" y="3703320"/>
            <a:ext cx="2137410" cy="585216"/>
          </a:xfrm>
          <a:prstGeom prst="rect">
            <a:avLst/>
          </a:prstGeom>
          <a:noFill/>
          <a:ln/>
        </p:spPr>
        <p:txBody>
          <a:bodyPr wrap="square" lIns="0" tIns="0" rIns="0" bIns="0" rtlCol="0" anchor="t"/>
          <a:lstStyle/>
          <a:p>
            <a:pPr indent="0" marL="0">
              <a:buNone/>
            </a:pPr>
            <a:r>
              <a:rPr lang="en-US" sz="1700" b="1" dirty="0">
                <a:solidFill>
                  <a:schemeClr val="tx2"/>
                </a:solidFill>
              </a:rPr>
              <a:t>Extensible</a:t>
            </a:r>
            <a:endParaRPr lang="en-US" sz="1700" dirty="0"/>
          </a:p>
        </p:txBody>
      </p:sp>
      <p:sp>
        <p:nvSpPr>
          <p:cNvPr id="14" name="Text 10"/>
          <p:cNvSpPr txBox="1"/>
          <p:nvPr/>
        </p:nvSpPr>
        <p:spPr>
          <a:xfrm>
            <a:off x="3600450" y="4398264"/>
            <a:ext cx="2137410" cy="1444752"/>
          </a:xfrm>
          <a:prstGeom prst="rect">
            <a:avLst/>
          </a:prstGeom>
          <a:noFill/>
          <a:ln/>
        </p:spPr>
        <p:txBody>
          <a:bodyPr wrap="square" lIns="0" tIns="0" rIns="0" bIns="0" rtlCol="0" anchor="t"/>
          <a:lstStyle/>
          <a:p>
            <a:pPr indent="0" marL="0">
              <a:buNone/>
            </a:pPr>
            <a:r>
              <a:rPr lang="en-US" sz="1800" dirty="0">
                <a:solidFill>
                  <a:schemeClr val="accent5"/>
                </a:solidFill>
              </a:rPr>
              <a:t>Thousands of contributed packages, including ones for agricultural designs.</a:t>
            </a:r>
            <a:endParaRPr lang="en-US" sz="1800" dirty="0"/>
          </a:p>
        </p:txBody>
      </p:sp>
      <p:sp>
        <p:nvSpPr>
          <p:cNvPr id="15" name="card"/>
          <p:cNvSpPr/>
          <p:nvPr/>
        </p:nvSpPr>
        <p:spPr>
          <a:xfrm>
            <a:off x="6195060" y="2606040"/>
            <a:ext cx="2594610" cy="3346704"/>
          </a:xfrm>
          <a:prstGeom prst="roundRect">
            <a:avLst>
              <a:gd name="adj" fmla="val 4229"/>
            </a:avLst>
          </a:prstGeom>
          <a:solidFill>
            <a:schemeClr val="bg2"/>
          </a:solidFill>
          <a:ln/>
          <a:effectLst>
            <a:outerShdw sx="100000" sy="100000" kx="0" ky="0" algn="bl" rotWithShape="0" blurRad="76200" dist="25400" dir="5400000">
              <a:srgbClr val="8A97AB">
                <a:alpha val="25000"/>
              </a:srgbClr>
            </a:outerShdw>
          </a:effectLst>
        </p:spPr>
      </p:sp>
      <p:sp>
        <p:nvSpPr>
          <p:cNvPr id="16" name="icon circle"/>
          <p:cNvSpPr/>
          <p:nvPr/>
        </p:nvSpPr>
        <p:spPr>
          <a:xfrm>
            <a:off x="6423660" y="2834640"/>
            <a:ext cx="731520" cy="731520"/>
          </a:xfrm>
          <a:prstGeom prst="ellipse">
            <a:avLst/>
          </a:prstGeom>
          <a:solidFill>
            <a:schemeClr val="accent1"/>
          </a:solidFill>
          <a:ln/>
        </p:spPr>
      </p:sp>
      <p:pic>
        <p:nvPicPr>
          <p:cNvPr id="17" name="Image 2" descr="FaUsers">    </p:cNvPr>
          <p:cNvPicPr>
            <a:picLocks noChangeAspect="1"/>
          </p:cNvPicPr>
          <p:nvPr/>
        </p:nvPicPr>
        <p:blipFill>
          <a:blip r:embed="rId3"/>
          <a:stretch>
            <a:fillRect/>
          </a:stretch>
        </p:blipFill>
        <p:spPr>
          <a:xfrm>
            <a:off x="6606540" y="3017520"/>
            <a:ext cx="365760" cy="365760"/>
          </a:xfrm>
          <a:prstGeom prst="rect">
            <a:avLst/>
          </a:prstGeom>
        </p:spPr>
      </p:pic>
      <p:sp>
        <p:nvSpPr>
          <p:cNvPr id="18" name="Text 13"/>
          <p:cNvSpPr txBox="1"/>
          <p:nvPr/>
        </p:nvSpPr>
        <p:spPr>
          <a:xfrm>
            <a:off x="6423660" y="3703320"/>
            <a:ext cx="2137410" cy="585216"/>
          </a:xfrm>
          <a:prstGeom prst="rect">
            <a:avLst/>
          </a:prstGeom>
          <a:noFill/>
          <a:ln/>
        </p:spPr>
        <p:txBody>
          <a:bodyPr wrap="square" lIns="0" tIns="0" rIns="0" bIns="0" rtlCol="0" anchor="t"/>
          <a:lstStyle/>
          <a:p>
            <a:pPr indent="0" marL="0">
              <a:buNone/>
            </a:pPr>
            <a:r>
              <a:rPr lang="en-US" sz="1700" b="1" dirty="0">
                <a:solidFill>
                  <a:schemeClr val="tx2"/>
                </a:solidFill>
              </a:rPr>
              <a:t>Built by statisticians</a:t>
            </a:r>
            <a:endParaRPr lang="en-US" sz="1700" dirty="0"/>
          </a:p>
        </p:txBody>
      </p:sp>
      <p:sp>
        <p:nvSpPr>
          <p:cNvPr id="19" name="Text 14"/>
          <p:cNvSpPr txBox="1"/>
          <p:nvPr/>
        </p:nvSpPr>
        <p:spPr>
          <a:xfrm>
            <a:off x="6423660" y="4398264"/>
            <a:ext cx="2137410" cy="1444752"/>
          </a:xfrm>
          <a:prstGeom prst="rect">
            <a:avLst/>
          </a:prstGeom>
          <a:noFill/>
          <a:ln/>
        </p:spPr>
        <p:txBody>
          <a:bodyPr wrap="square" lIns="0" tIns="0" rIns="0" bIns="0" rtlCol="0" anchor="t"/>
          <a:lstStyle/>
          <a:p>
            <a:pPr indent="0" marL="0">
              <a:buNone/>
            </a:pPr>
            <a:r>
              <a:rPr lang="en-US" sz="1800" dirty="0">
                <a:solidFill>
                  <a:schemeClr val="accent5"/>
                </a:solidFill>
              </a:rPr>
              <a:t>New methods often appear in R first, with documentation and examples.</a:t>
            </a:r>
            <a:endParaRPr lang="en-US" sz="1800" dirty="0"/>
          </a:p>
        </p:txBody>
      </p:sp>
      <p:sp>
        <p:nvSpPr>
          <p:cNvPr id="20" name="card"/>
          <p:cNvSpPr/>
          <p:nvPr/>
        </p:nvSpPr>
        <p:spPr>
          <a:xfrm>
            <a:off x="9018270" y="2606040"/>
            <a:ext cx="2594610" cy="3346704"/>
          </a:xfrm>
          <a:prstGeom prst="roundRect">
            <a:avLst>
              <a:gd name="adj" fmla="val 4229"/>
            </a:avLst>
          </a:prstGeom>
          <a:solidFill>
            <a:schemeClr val="bg2"/>
          </a:solidFill>
          <a:ln/>
          <a:effectLst>
            <a:outerShdw sx="100000" sy="100000" kx="0" ky="0" algn="bl" rotWithShape="0" blurRad="76200" dist="25400" dir="5400000">
              <a:srgbClr val="8A97AB">
                <a:alpha val="25000"/>
              </a:srgbClr>
            </a:outerShdw>
          </a:effectLst>
        </p:spPr>
      </p:sp>
      <p:sp>
        <p:nvSpPr>
          <p:cNvPr id="21" name="icon circle"/>
          <p:cNvSpPr/>
          <p:nvPr/>
        </p:nvSpPr>
        <p:spPr>
          <a:xfrm>
            <a:off x="9246870" y="2834640"/>
            <a:ext cx="731520" cy="731520"/>
          </a:xfrm>
          <a:prstGeom prst="ellipse">
            <a:avLst/>
          </a:prstGeom>
          <a:solidFill>
            <a:schemeClr val="accent2"/>
          </a:solidFill>
          <a:ln/>
        </p:spPr>
      </p:sp>
      <p:pic>
        <p:nvPicPr>
          <p:cNvPr id="22" name="Image 3" descr="FaLaptop">    </p:cNvPr>
          <p:cNvPicPr>
            <a:picLocks noChangeAspect="1"/>
          </p:cNvPicPr>
          <p:nvPr/>
        </p:nvPicPr>
        <p:blipFill>
          <a:blip r:embed="rId4"/>
          <a:stretch>
            <a:fillRect/>
          </a:stretch>
        </p:blipFill>
        <p:spPr>
          <a:xfrm>
            <a:off x="9429750" y="3017520"/>
            <a:ext cx="365760" cy="365760"/>
          </a:xfrm>
          <a:prstGeom prst="rect">
            <a:avLst/>
          </a:prstGeom>
        </p:spPr>
      </p:pic>
      <p:sp>
        <p:nvSpPr>
          <p:cNvPr id="23" name="Text 17"/>
          <p:cNvSpPr txBox="1"/>
          <p:nvPr/>
        </p:nvSpPr>
        <p:spPr>
          <a:xfrm>
            <a:off x="9246870" y="3703320"/>
            <a:ext cx="2137410" cy="585216"/>
          </a:xfrm>
          <a:prstGeom prst="rect">
            <a:avLst/>
          </a:prstGeom>
          <a:noFill/>
          <a:ln/>
        </p:spPr>
        <p:txBody>
          <a:bodyPr wrap="square" lIns="0" tIns="0" rIns="0" bIns="0" rtlCol="0" anchor="t"/>
          <a:lstStyle/>
          <a:p>
            <a:pPr indent="0" marL="0">
              <a:buNone/>
            </a:pPr>
            <a:r>
              <a:rPr lang="en-US" sz="1700" b="1" dirty="0">
                <a:solidFill>
                  <a:schemeClr val="tx2"/>
                </a:solidFill>
              </a:rPr>
              <a:t>Runs everywhere</a:t>
            </a:r>
            <a:endParaRPr lang="en-US" sz="1700" dirty="0"/>
          </a:p>
        </p:txBody>
      </p:sp>
      <p:sp>
        <p:nvSpPr>
          <p:cNvPr id="24" name="Text 18"/>
          <p:cNvSpPr txBox="1"/>
          <p:nvPr/>
        </p:nvSpPr>
        <p:spPr>
          <a:xfrm>
            <a:off x="9246870" y="4398264"/>
            <a:ext cx="2137410" cy="1444752"/>
          </a:xfrm>
          <a:prstGeom prst="rect">
            <a:avLst/>
          </a:prstGeom>
          <a:noFill/>
          <a:ln/>
        </p:spPr>
        <p:txBody>
          <a:bodyPr wrap="square" lIns="0" tIns="0" rIns="0" bIns="0" rtlCol="0" anchor="t"/>
          <a:lstStyle/>
          <a:p>
            <a:pPr indent="0" marL="0">
              <a:buNone/>
            </a:pPr>
            <a:r>
              <a:rPr lang="en-US" sz="1800" dirty="0">
                <a:solidFill>
                  <a:schemeClr val="accent5"/>
                </a:solidFill>
              </a:rPr>
              <a:t>Windows, macOS and Linux give the same answer from the same script.</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Why R matters in agricultural research</a:t>
            </a:r>
            <a:endParaRPr lang="en-US" sz="3200" dirty="0"/>
          </a:p>
        </p:txBody>
      </p:sp>
      <p:sp>
        <p:nvSpPr>
          <p:cNvPr id="3" name="card"/>
          <p:cNvSpPr/>
          <p:nvPr/>
        </p:nvSpPr>
        <p:spPr>
          <a:xfrm>
            <a:off x="548640" y="1371600"/>
            <a:ext cx="3535680" cy="1828800"/>
          </a:xfrm>
          <a:prstGeom prst="roundRect">
            <a:avLst>
              <a:gd name="adj" fmla="val 6000"/>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777240" y="1600200"/>
            <a:ext cx="585216" cy="585216"/>
          </a:xfrm>
          <a:prstGeom prst="ellipse">
            <a:avLst/>
          </a:prstGeom>
          <a:solidFill>
            <a:schemeClr val="accent1"/>
          </a:solidFill>
          <a:ln/>
        </p:spPr>
      </p:sp>
      <p:pic>
        <p:nvPicPr>
          <p:cNvPr id="5" name="Image 0" descr="FaThLarge">    </p:cNvPr>
          <p:cNvPicPr>
            <a:picLocks noChangeAspect="1"/>
          </p:cNvPicPr>
          <p:nvPr/>
        </p:nvPicPr>
        <p:blipFill>
          <a:blip r:embed="rId1"/>
          <a:stretch>
            <a:fillRect/>
          </a:stretch>
        </p:blipFill>
        <p:spPr>
          <a:xfrm>
            <a:off x="923544" y="1746504"/>
            <a:ext cx="292608" cy="292608"/>
          </a:xfrm>
          <a:prstGeom prst="rect">
            <a:avLst/>
          </a:prstGeom>
        </p:spPr>
      </p:pic>
      <p:sp>
        <p:nvSpPr>
          <p:cNvPr id="6" name="Text 3"/>
          <p:cNvSpPr txBox="1"/>
          <p:nvPr/>
        </p:nvSpPr>
        <p:spPr>
          <a:xfrm>
            <a:off x="1545336" y="1600200"/>
            <a:ext cx="2310384" cy="585216"/>
          </a:xfrm>
          <a:prstGeom prst="rect">
            <a:avLst/>
          </a:prstGeom>
          <a:noFill/>
          <a:ln/>
        </p:spPr>
        <p:txBody>
          <a:bodyPr wrap="square" lIns="0" tIns="0" rIns="0" bIns="0" rtlCol="0" anchor="ctr"/>
          <a:lstStyle/>
          <a:p>
            <a:pPr indent="0" marL="0">
              <a:buNone/>
            </a:pPr>
            <a:r>
              <a:rPr lang="en-US" sz="1700" b="1" dirty="0">
                <a:solidFill>
                  <a:schemeClr val="tx2"/>
                </a:solidFill>
              </a:rPr>
              <a:t>Field experiments</a:t>
            </a:r>
            <a:endParaRPr lang="en-US" sz="1700" dirty="0"/>
          </a:p>
        </p:txBody>
      </p:sp>
      <p:sp>
        <p:nvSpPr>
          <p:cNvPr id="7" name="Text 4"/>
          <p:cNvSpPr txBox="1"/>
          <p:nvPr/>
        </p:nvSpPr>
        <p:spPr>
          <a:xfrm>
            <a:off x="777240" y="2368296"/>
            <a:ext cx="3078480" cy="722376"/>
          </a:xfrm>
          <a:prstGeom prst="rect">
            <a:avLst/>
          </a:prstGeom>
          <a:noFill/>
          <a:ln/>
        </p:spPr>
        <p:txBody>
          <a:bodyPr wrap="square" lIns="0" tIns="0" rIns="0" bIns="0" rtlCol="0" anchor="t"/>
          <a:lstStyle/>
          <a:p>
            <a:pPr indent="0" marL="0">
              <a:buNone/>
            </a:pPr>
            <a:r>
              <a:rPr lang="en-US" sz="1600" dirty="0">
                <a:solidFill>
                  <a:schemeClr val="accent5"/>
                </a:solidFill>
              </a:rPr>
              <a:t>CRD, RCBD and split-plot designs, ANOVA and mean comparisons</a:t>
            </a:r>
            <a:endParaRPr lang="en-US" sz="1600" dirty="0"/>
          </a:p>
        </p:txBody>
      </p:sp>
      <p:sp>
        <p:nvSpPr>
          <p:cNvPr id="8" name="card"/>
          <p:cNvSpPr/>
          <p:nvPr/>
        </p:nvSpPr>
        <p:spPr>
          <a:xfrm>
            <a:off x="4312920" y="1371600"/>
            <a:ext cx="3535680" cy="1828800"/>
          </a:xfrm>
          <a:prstGeom prst="roundRect">
            <a:avLst>
              <a:gd name="adj" fmla="val 6000"/>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4541520" y="1600200"/>
            <a:ext cx="585216" cy="585216"/>
          </a:xfrm>
          <a:prstGeom prst="ellipse">
            <a:avLst/>
          </a:prstGeom>
          <a:solidFill>
            <a:schemeClr val="accent3"/>
          </a:solidFill>
          <a:ln/>
        </p:spPr>
      </p:sp>
      <p:pic>
        <p:nvPicPr>
          <p:cNvPr id="10" name="Image 1" descr="FaDna">    </p:cNvPr>
          <p:cNvPicPr>
            <a:picLocks noChangeAspect="1"/>
          </p:cNvPicPr>
          <p:nvPr/>
        </p:nvPicPr>
        <p:blipFill>
          <a:blip r:embed="rId2"/>
          <a:stretch>
            <a:fillRect/>
          </a:stretch>
        </p:blipFill>
        <p:spPr>
          <a:xfrm>
            <a:off x="4687824" y="1746504"/>
            <a:ext cx="292608" cy="292608"/>
          </a:xfrm>
          <a:prstGeom prst="rect">
            <a:avLst/>
          </a:prstGeom>
        </p:spPr>
      </p:pic>
      <p:sp>
        <p:nvSpPr>
          <p:cNvPr id="11" name="Text 7"/>
          <p:cNvSpPr txBox="1"/>
          <p:nvPr/>
        </p:nvSpPr>
        <p:spPr>
          <a:xfrm>
            <a:off x="5309616" y="1600200"/>
            <a:ext cx="2310384" cy="585216"/>
          </a:xfrm>
          <a:prstGeom prst="rect">
            <a:avLst/>
          </a:prstGeom>
          <a:noFill/>
          <a:ln/>
        </p:spPr>
        <p:txBody>
          <a:bodyPr wrap="square" lIns="0" tIns="0" rIns="0" bIns="0" rtlCol="0" anchor="ctr"/>
          <a:lstStyle/>
          <a:p>
            <a:pPr indent="0" marL="0">
              <a:buNone/>
            </a:pPr>
            <a:r>
              <a:rPr lang="en-US" sz="1700" b="1" dirty="0">
                <a:solidFill>
                  <a:schemeClr val="tx2"/>
                </a:solidFill>
              </a:rPr>
              <a:t>Breeding and genetics</a:t>
            </a:r>
            <a:endParaRPr lang="en-US" sz="1700" dirty="0"/>
          </a:p>
        </p:txBody>
      </p:sp>
      <p:sp>
        <p:nvSpPr>
          <p:cNvPr id="12" name="Text 8"/>
          <p:cNvSpPr txBox="1"/>
          <p:nvPr/>
        </p:nvSpPr>
        <p:spPr>
          <a:xfrm>
            <a:off x="4541520" y="2368296"/>
            <a:ext cx="3078480" cy="722376"/>
          </a:xfrm>
          <a:prstGeom prst="rect">
            <a:avLst/>
          </a:prstGeom>
          <a:noFill/>
          <a:ln/>
        </p:spPr>
        <p:txBody>
          <a:bodyPr wrap="square" lIns="0" tIns="0" rIns="0" bIns="0" rtlCol="0" anchor="t"/>
          <a:lstStyle/>
          <a:p>
            <a:pPr indent="0" marL="0">
              <a:buNone/>
            </a:pPr>
            <a:r>
              <a:rPr lang="en-US" sz="1600" dirty="0">
                <a:solidFill>
                  <a:schemeClr val="accent5"/>
                </a:solidFill>
              </a:rPr>
              <a:t>Genetic parameters, segregation ratios, mixed models</a:t>
            </a:r>
            <a:endParaRPr lang="en-US" sz="1600" dirty="0"/>
          </a:p>
        </p:txBody>
      </p:sp>
      <p:sp>
        <p:nvSpPr>
          <p:cNvPr id="13" name="card"/>
          <p:cNvSpPr/>
          <p:nvPr/>
        </p:nvSpPr>
        <p:spPr>
          <a:xfrm>
            <a:off x="8077200" y="1371600"/>
            <a:ext cx="3535680" cy="1828800"/>
          </a:xfrm>
          <a:prstGeom prst="roundRect">
            <a:avLst>
              <a:gd name="adj" fmla="val 6000"/>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8305800" y="1600200"/>
            <a:ext cx="585216" cy="585216"/>
          </a:xfrm>
          <a:prstGeom prst="ellipse">
            <a:avLst/>
          </a:prstGeom>
          <a:solidFill>
            <a:schemeClr val="accent1"/>
          </a:solidFill>
          <a:ln/>
        </p:spPr>
      </p:sp>
      <p:pic>
        <p:nvPicPr>
          <p:cNvPr id="15" name="Image 2" descr="FaCloudSunRain">    </p:cNvPr>
          <p:cNvPicPr>
            <a:picLocks noChangeAspect="1"/>
          </p:cNvPicPr>
          <p:nvPr/>
        </p:nvPicPr>
        <p:blipFill>
          <a:blip r:embed="rId3"/>
          <a:stretch>
            <a:fillRect/>
          </a:stretch>
        </p:blipFill>
        <p:spPr>
          <a:xfrm>
            <a:off x="8452104" y="1746504"/>
            <a:ext cx="292608" cy="292608"/>
          </a:xfrm>
          <a:prstGeom prst="rect">
            <a:avLst/>
          </a:prstGeom>
        </p:spPr>
      </p:pic>
      <p:sp>
        <p:nvSpPr>
          <p:cNvPr id="16" name="Text 11"/>
          <p:cNvSpPr txBox="1"/>
          <p:nvPr/>
        </p:nvSpPr>
        <p:spPr>
          <a:xfrm>
            <a:off x="9073896" y="1600200"/>
            <a:ext cx="2310384" cy="585216"/>
          </a:xfrm>
          <a:prstGeom prst="rect">
            <a:avLst/>
          </a:prstGeom>
          <a:noFill/>
          <a:ln/>
        </p:spPr>
        <p:txBody>
          <a:bodyPr wrap="square" lIns="0" tIns="0" rIns="0" bIns="0" rtlCol="0" anchor="ctr"/>
          <a:lstStyle/>
          <a:p>
            <a:pPr indent="0" marL="0">
              <a:buNone/>
            </a:pPr>
            <a:r>
              <a:rPr lang="en-US" sz="1700" b="1" dirty="0">
                <a:solidFill>
                  <a:schemeClr val="tx2"/>
                </a:solidFill>
              </a:rPr>
              <a:t>Weather and time series</a:t>
            </a:r>
            <a:endParaRPr lang="en-US" sz="1700" dirty="0"/>
          </a:p>
        </p:txBody>
      </p:sp>
      <p:sp>
        <p:nvSpPr>
          <p:cNvPr id="17" name="Text 12"/>
          <p:cNvSpPr txBox="1"/>
          <p:nvPr/>
        </p:nvSpPr>
        <p:spPr>
          <a:xfrm>
            <a:off x="8305800" y="2368296"/>
            <a:ext cx="3078480" cy="722376"/>
          </a:xfrm>
          <a:prstGeom prst="rect">
            <a:avLst/>
          </a:prstGeom>
          <a:noFill/>
          <a:ln/>
        </p:spPr>
        <p:txBody>
          <a:bodyPr wrap="square" lIns="0" tIns="0" rIns="0" bIns="0" rtlCol="0" anchor="t"/>
          <a:lstStyle/>
          <a:p>
            <a:pPr indent="0" marL="0">
              <a:buNone/>
            </a:pPr>
            <a:r>
              <a:rPr lang="en-US" sz="1600" dirty="0">
                <a:solidFill>
                  <a:schemeClr val="accent5"/>
                </a:solidFill>
              </a:rPr>
              <a:t>Rainfall and temperature records, trends and forecasts</a:t>
            </a:r>
            <a:endParaRPr lang="en-US" sz="1600" dirty="0"/>
          </a:p>
        </p:txBody>
      </p:sp>
      <p:sp>
        <p:nvSpPr>
          <p:cNvPr id="18" name="card"/>
          <p:cNvSpPr/>
          <p:nvPr/>
        </p:nvSpPr>
        <p:spPr>
          <a:xfrm>
            <a:off x="548640" y="3429000"/>
            <a:ext cx="3535680" cy="1828800"/>
          </a:xfrm>
          <a:prstGeom prst="roundRect">
            <a:avLst>
              <a:gd name="adj" fmla="val 6000"/>
            </a:avLst>
          </a:prstGeom>
          <a:solidFill>
            <a:schemeClr val="bg2"/>
          </a:solidFill>
          <a:ln/>
          <a:effectLst>
            <a:outerShdw sx="100000" sy="100000" kx="0" ky="0" algn="bl" rotWithShape="0" blurRad="76200" dist="25400" dir="5400000">
              <a:srgbClr val="8A97AB">
                <a:alpha val="25000"/>
              </a:srgbClr>
            </a:outerShdw>
          </a:effectLst>
        </p:spPr>
      </p:sp>
      <p:sp>
        <p:nvSpPr>
          <p:cNvPr id="19" name="icon circle"/>
          <p:cNvSpPr/>
          <p:nvPr/>
        </p:nvSpPr>
        <p:spPr>
          <a:xfrm>
            <a:off x="777240" y="3657600"/>
            <a:ext cx="585216" cy="585216"/>
          </a:xfrm>
          <a:prstGeom prst="ellipse">
            <a:avLst/>
          </a:prstGeom>
          <a:solidFill>
            <a:schemeClr val="accent3"/>
          </a:solidFill>
          <a:ln/>
        </p:spPr>
      </p:sp>
      <p:pic>
        <p:nvPicPr>
          <p:cNvPr id="20" name="Image 3" descr="FaChartLine">    </p:cNvPr>
          <p:cNvPicPr>
            <a:picLocks noChangeAspect="1"/>
          </p:cNvPicPr>
          <p:nvPr/>
        </p:nvPicPr>
        <p:blipFill>
          <a:blip r:embed="rId4"/>
          <a:stretch>
            <a:fillRect/>
          </a:stretch>
        </p:blipFill>
        <p:spPr>
          <a:xfrm>
            <a:off x="923544" y="3803904"/>
            <a:ext cx="292608" cy="292608"/>
          </a:xfrm>
          <a:prstGeom prst="rect">
            <a:avLst/>
          </a:prstGeom>
        </p:spPr>
      </p:pic>
      <p:sp>
        <p:nvSpPr>
          <p:cNvPr id="21" name="Text 15"/>
          <p:cNvSpPr txBox="1"/>
          <p:nvPr/>
        </p:nvSpPr>
        <p:spPr>
          <a:xfrm>
            <a:off x="1545336" y="3657600"/>
            <a:ext cx="2310384" cy="585216"/>
          </a:xfrm>
          <a:prstGeom prst="rect">
            <a:avLst/>
          </a:prstGeom>
          <a:noFill/>
          <a:ln/>
        </p:spPr>
        <p:txBody>
          <a:bodyPr wrap="square" lIns="0" tIns="0" rIns="0" bIns="0" rtlCol="0" anchor="ctr"/>
          <a:lstStyle/>
          <a:p>
            <a:pPr indent="0" marL="0">
              <a:buNone/>
            </a:pPr>
            <a:r>
              <a:rPr lang="en-US" sz="1700" b="1" dirty="0">
                <a:solidFill>
                  <a:schemeClr val="tx2"/>
                </a:solidFill>
              </a:rPr>
              <a:t>Crop growth</a:t>
            </a:r>
            <a:endParaRPr lang="en-US" sz="1700" dirty="0"/>
          </a:p>
        </p:txBody>
      </p:sp>
      <p:sp>
        <p:nvSpPr>
          <p:cNvPr id="22" name="Text 16"/>
          <p:cNvSpPr txBox="1"/>
          <p:nvPr/>
        </p:nvSpPr>
        <p:spPr>
          <a:xfrm>
            <a:off x="777240" y="4425696"/>
            <a:ext cx="3078480" cy="722376"/>
          </a:xfrm>
          <a:prstGeom prst="rect">
            <a:avLst/>
          </a:prstGeom>
          <a:noFill/>
          <a:ln/>
        </p:spPr>
        <p:txBody>
          <a:bodyPr wrap="square" lIns="0" tIns="0" rIns="0" bIns="0" rtlCol="0" anchor="t"/>
          <a:lstStyle/>
          <a:p>
            <a:pPr indent="0" marL="0">
              <a:buNone/>
            </a:pPr>
            <a:r>
              <a:rPr lang="en-US" sz="1600" dirty="0">
                <a:solidFill>
                  <a:schemeClr val="accent5"/>
                </a:solidFill>
              </a:rPr>
              <a:t>Growth curves and non-linear models over time</a:t>
            </a:r>
            <a:endParaRPr lang="en-US" sz="1600" dirty="0"/>
          </a:p>
        </p:txBody>
      </p:sp>
      <p:sp>
        <p:nvSpPr>
          <p:cNvPr id="23" name="card"/>
          <p:cNvSpPr/>
          <p:nvPr/>
        </p:nvSpPr>
        <p:spPr>
          <a:xfrm>
            <a:off x="4312920" y="3429000"/>
            <a:ext cx="3535680" cy="1828800"/>
          </a:xfrm>
          <a:prstGeom prst="roundRect">
            <a:avLst>
              <a:gd name="adj" fmla="val 6000"/>
            </a:avLst>
          </a:prstGeom>
          <a:solidFill>
            <a:schemeClr val="bg2"/>
          </a:solidFill>
          <a:ln/>
          <a:effectLst>
            <a:outerShdw sx="100000" sy="100000" kx="0" ky="0" algn="bl" rotWithShape="0" blurRad="76200" dist="25400" dir="5400000">
              <a:srgbClr val="8A97AB">
                <a:alpha val="25000"/>
              </a:srgbClr>
            </a:outerShdw>
          </a:effectLst>
        </p:spPr>
      </p:sp>
      <p:sp>
        <p:nvSpPr>
          <p:cNvPr id="24" name="icon circle"/>
          <p:cNvSpPr/>
          <p:nvPr/>
        </p:nvSpPr>
        <p:spPr>
          <a:xfrm>
            <a:off x="4541520" y="3657600"/>
            <a:ext cx="585216" cy="585216"/>
          </a:xfrm>
          <a:prstGeom prst="ellipse">
            <a:avLst/>
          </a:prstGeom>
          <a:solidFill>
            <a:schemeClr val="accent1"/>
          </a:solidFill>
          <a:ln/>
        </p:spPr>
      </p:sp>
      <p:pic>
        <p:nvPicPr>
          <p:cNvPr id="25" name="Image 4" descr="FaChartBar">    </p:cNvPr>
          <p:cNvPicPr>
            <a:picLocks noChangeAspect="1"/>
          </p:cNvPicPr>
          <p:nvPr/>
        </p:nvPicPr>
        <p:blipFill>
          <a:blip r:embed="rId5"/>
          <a:stretch>
            <a:fillRect/>
          </a:stretch>
        </p:blipFill>
        <p:spPr>
          <a:xfrm>
            <a:off x="4687824" y="3803904"/>
            <a:ext cx="292608" cy="292608"/>
          </a:xfrm>
          <a:prstGeom prst="rect">
            <a:avLst/>
          </a:prstGeom>
        </p:spPr>
      </p:pic>
      <p:sp>
        <p:nvSpPr>
          <p:cNvPr id="26" name="Text 19"/>
          <p:cNvSpPr txBox="1"/>
          <p:nvPr/>
        </p:nvSpPr>
        <p:spPr>
          <a:xfrm>
            <a:off x="5309616" y="3657600"/>
            <a:ext cx="2310384" cy="585216"/>
          </a:xfrm>
          <a:prstGeom prst="rect">
            <a:avLst/>
          </a:prstGeom>
          <a:noFill/>
          <a:ln/>
        </p:spPr>
        <p:txBody>
          <a:bodyPr wrap="square" lIns="0" tIns="0" rIns="0" bIns="0" rtlCol="0" anchor="ctr"/>
          <a:lstStyle/>
          <a:p>
            <a:pPr indent="0" marL="0">
              <a:buNone/>
            </a:pPr>
            <a:r>
              <a:rPr lang="en-US" sz="1700" b="1" dirty="0">
                <a:solidFill>
                  <a:schemeClr val="tx2"/>
                </a:solidFill>
              </a:rPr>
              <a:t>Publication graphics</a:t>
            </a:r>
            <a:endParaRPr lang="en-US" sz="1700" dirty="0"/>
          </a:p>
        </p:txBody>
      </p:sp>
      <p:sp>
        <p:nvSpPr>
          <p:cNvPr id="27" name="Text 20"/>
          <p:cNvSpPr txBox="1"/>
          <p:nvPr/>
        </p:nvSpPr>
        <p:spPr>
          <a:xfrm>
            <a:off x="4541520" y="4425696"/>
            <a:ext cx="3078480" cy="722376"/>
          </a:xfrm>
          <a:prstGeom prst="rect">
            <a:avLst/>
          </a:prstGeom>
          <a:noFill/>
          <a:ln/>
        </p:spPr>
        <p:txBody>
          <a:bodyPr wrap="square" lIns="0" tIns="0" rIns="0" bIns="0" rtlCol="0" anchor="t"/>
          <a:lstStyle/>
          <a:p>
            <a:pPr indent="0" marL="0">
              <a:buNone/>
            </a:pPr>
            <a:r>
              <a:rPr lang="en-US" sz="1600" dirty="0">
                <a:solidFill>
                  <a:schemeClr val="accent5"/>
                </a:solidFill>
              </a:rPr>
              <a:t>Figures journals accept, made with code you can rerun</a:t>
            </a:r>
            <a:endParaRPr lang="en-US" sz="1600" dirty="0"/>
          </a:p>
        </p:txBody>
      </p:sp>
      <p:sp>
        <p:nvSpPr>
          <p:cNvPr id="28" name="card"/>
          <p:cNvSpPr/>
          <p:nvPr/>
        </p:nvSpPr>
        <p:spPr>
          <a:xfrm>
            <a:off x="8077200" y="3429000"/>
            <a:ext cx="3535680" cy="1828800"/>
          </a:xfrm>
          <a:prstGeom prst="roundRect">
            <a:avLst>
              <a:gd name="adj" fmla="val 6000"/>
            </a:avLst>
          </a:prstGeom>
          <a:solidFill>
            <a:schemeClr val="bg2"/>
          </a:solidFill>
          <a:ln/>
          <a:effectLst>
            <a:outerShdw sx="100000" sy="100000" kx="0" ky="0" algn="bl" rotWithShape="0" blurRad="76200" dist="25400" dir="5400000">
              <a:srgbClr val="8A97AB">
                <a:alpha val="25000"/>
              </a:srgbClr>
            </a:outerShdw>
          </a:effectLst>
        </p:spPr>
      </p:sp>
      <p:sp>
        <p:nvSpPr>
          <p:cNvPr id="29" name="icon circle"/>
          <p:cNvSpPr/>
          <p:nvPr/>
        </p:nvSpPr>
        <p:spPr>
          <a:xfrm>
            <a:off x="8305800" y="3657600"/>
            <a:ext cx="585216" cy="585216"/>
          </a:xfrm>
          <a:prstGeom prst="ellipse">
            <a:avLst/>
          </a:prstGeom>
          <a:solidFill>
            <a:schemeClr val="accent3"/>
          </a:solidFill>
          <a:ln/>
        </p:spPr>
      </p:sp>
      <p:pic>
        <p:nvPicPr>
          <p:cNvPr id="30" name="Image 5" descr="FaRedo">    </p:cNvPr>
          <p:cNvPicPr>
            <a:picLocks noChangeAspect="1"/>
          </p:cNvPicPr>
          <p:nvPr/>
        </p:nvPicPr>
        <p:blipFill>
          <a:blip r:embed="rId6"/>
          <a:stretch>
            <a:fillRect/>
          </a:stretch>
        </p:blipFill>
        <p:spPr>
          <a:xfrm>
            <a:off x="8452104" y="3803904"/>
            <a:ext cx="292608" cy="292608"/>
          </a:xfrm>
          <a:prstGeom prst="rect">
            <a:avLst/>
          </a:prstGeom>
        </p:spPr>
      </p:pic>
      <p:sp>
        <p:nvSpPr>
          <p:cNvPr id="31" name="Text 23"/>
          <p:cNvSpPr txBox="1"/>
          <p:nvPr/>
        </p:nvSpPr>
        <p:spPr>
          <a:xfrm>
            <a:off x="9073896" y="3657600"/>
            <a:ext cx="2310384" cy="585216"/>
          </a:xfrm>
          <a:prstGeom prst="rect">
            <a:avLst/>
          </a:prstGeom>
          <a:noFill/>
          <a:ln/>
        </p:spPr>
        <p:txBody>
          <a:bodyPr wrap="square" lIns="0" tIns="0" rIns="0" bIns="0" rtlCol="0" anchor="ctr"/>
          <a:lstStyle/>
          <a:p>
            <a:pPr indent="0" marL="0">
              <a:buNone/>
            </a:pPr>
            <a:r>
              <a:rPr lang="en-US" sz="1700" b="1" dirty="0">
                <a:solidFill>
                  <a:schemeClr val="tx2"/>
                </a:solidFill>
              </a:rPr>
              <a:t>Reproducible research</a:t>
            </a:r>
            <a:endParaRPr lang="en-US" sz="1700" dirty="0"/>
          </a:p>
        </p:txBody>
      </p:sp>
      <p:sp>
        <p:nvSpPr>
          <p:cNvPr id="32" name="Text 24"/>
          <p:cNvSpPr txBox="1"/>
          <p:nvPr/>
        </p:nvSpPr>
        <p:spPr>
          <a:xfrm>
            <a:off x="8305800" y="4425696"/>
            <a:ext cx="3078480" cy="722376"/>
          </a:xfrm>
          <a:prstGeom prst="rect">
            <a:avLst/>
          </a:prstGeom>
          <a:noFill/>
          <a:ln/>
        </p:spPr>
        <p:txBody>
          <a:bodyPr wrap="square" lIns="0" tIns="0" rIns="0" bIns="0" rtlCol="0" anchor="t"/>
          <a:lstStyle/>
          <a:p>
            <a:pPr indent="0" marL="0">
              <a:buNone/>
            </a:pPr>
            <a:r>
              <a:rPr lang="en-US" sz="1600" dirty="0">
                <a:solidFill>
                  <a:schemeClr val="accent5"/>
                </a:solidFill>
              </a:rPr>
              <a:t>Script + data = the same result for a reviewer</a:t>
            </a:r>
            <a:endParaRPr lang="en-US" sz="1600" dirty="0"/>
          </a:p>
        </p:txBody>
      </p:sp>
      <p:sp>
        <p:nvSpPr>
          <p:cNvPr id="33" name="Text 25"/>
          <p:cNvSpPr txBox="1"/>
          <p:nvPr/>
        </p:nvSpPr>
        <p:spPr>
          <a:xfrm>
            <a:off x="548640" y="5486400"/>
            <a:ext cx="11064240" cy="548640"/>
          </a:xfrm>
          <a:prstGeom prst="rect">
            <a:avLst/>
          </a:prstGeom>
          <a:noFill/>
          <a:ln/>
        </p:spPr>
        <p:txBody>
          <a:bodyPr wrap="square" lIns="0" tIns="0" rIns="0" bIns="0" rtlCol="0" anchor="ctr"/>
          <a:lstStyle/>
          <a:p>
            <a:pPr indent="0" marL="0">
              <a:buNone/>
            </a:pPr>
            <a:r>
              <a:rPr lang="en-US" sz="1500" i="1" dirty="0">
                <a:solidFill>
                  <a:schemeClr val="accent5"/>
                </a:solidFill>
              </a:rPr>
              <a:t>R organises the evidence; the design and the agricultural sense are still yours.</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Point-and-click or a script?</a:t>
            </a:r>
            <a:endParaRPr lang="en-US" sz="3200" dirty="0"/>
          </a:p>
        </p:txBody>
      </p:sp>
      <p:sp>
        <p:nvSpPr>
          <p:cNvPr id="3" name="card"/>
          <p:cNvSpPr/>
          <p:nvPr/>
        </p:nvSpPr>
        <p:spPr>
          <a:xfrm>
            <a:off x="548640" y="1371600"/>
            <a:ext cx="5440680" cy="3886200"/>
          </a:xfrm>
          <a:prstGeom prst="roundRect">
            <a:avLst>
              <a:gd name="adj" fmla="val 2824"/>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868680" y="1645920"/>
            <a:ext cx="731520" cy="731520"/>
          </a:xfrm>
          <a:prstGeom prst="ellipse">
            <a:avLst/>
          </a:prstGeom>
          <a:solidFill>
            <a:schemeClr val="accent5"/>
          </a:solidFill>
          <a:ln/>
        </p:spPr>
      </p:sp>
      <p:pic>
        <p:nvPicPr>
          <p:cNvPr id="5" name="Image 0" descr="FaMousePointer">    </p:cNvPr>
          <p:cNvPicPr>
            <a:picLocks noChangeAspect="1"/>
          </p:cNvPicPr>
          <p:nvPr/>
        </p:nvPicPr>
        <p:blipFill>
          <a:blip r:embed="rId1"/>
          <a:stretch>
            <a:fillRect/>
          </a:stretch>
        </p:blipFill>
        <p:spPr>
          <a:xfrm>
            <a:off x="1051560" y="1828800"/>
            <a:ext cx="365760" cy="365760"/>
          </a:xfrm>
          <a:prstGeom prst="rect">
            <a:avLst/>
          </a:prstGeom>
        </p:spPr>
      </p:pic>
      <p:sp>
        <p:nvSpPr>
          <p:cNvPr id="6" name="Text 3"/>
          <p:cNvSpPr txBox="1"/>
          <p:nvPr/>
        </p:nvSpPr>
        <p:spPr>
          <a:xfrm>
            <a:off x="1783080" y="1645920"/>
            <a:ext cx="4023360" cy="731520"/>
          </a:xfrm>
          <a:prstGeom prst="rect">
            <a:avLst/>
          </a:prstGeom>
          <a:noFill/>
          <a:ln/>
        </p:spPr>
        <p:txBody>
          <a:bodyPr wrap="square" lIns="0" tIns="0" rIns="0" bIns="0" rtlCol="0" anchor="ctr"/>
          <a:lstStyle/>
          <a:p>
            <a:pPr indent="0" marL="0">
              <a:buNone/>
            </a:pPr>
            <a:r>
              <a:rPr lang="en-US" sz="2000" b="1" dirty="0">
                <a:solidFill>
                  <a:schemeClr val="tx2"/>
                </a:solidFill>
              </a:rPr>
              <a:t>Menu-driven software</a:t>
            </a:r>
            <a:endParaRPr lang="en-US" sz="2000" dirty="0"/>
          </a:p>
        </p:txBody>
      </p:sp>
      <p:sp>
        <p:nvSpPr>
          <p:cNvPr id="7" name="Text 4"/>
          <p:cNvSpPr txBox="1"/>
          <p:nvPr/>
        </p:nvSpPr>
        <p:spPr>
          <a:xfrm>
            <a:off x="868680" y="2606040"/>
            <a:ext cx="4846320" cy="25146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Quick to start</a:t>
            </a:r>
            <a:endParaRPr lang="en-US" sz="1600" dirty="0"/>
          </a:p>
          <a:p>
            <a:pPr marL="228600" indent="-228600">
              <a:spcAft>
                <a:spcPts val="800"/>
              </a:spcAft>
              <a:buSzPct val="100000"/>
              <a:buChar char="•"/>
            </a:pPr>
            <a:r>
              <a:rPr lang="en-US" sz="1600" dirty="0">
                <a:solidFill>
                  <a:schemeClr val="tx1"/>
                </a:solidFill>
              </a:rPr>
              <a:t>Clicks leave no record</a:t>
            </a:r>
            <a:endParaRPr lang="en-US" sz="1600" dirty="0"/>
          </a:p>
          <a:p>
            <a:pPr marL="228600" indent="-228600">
              <a:spcAft>
                <a:spcPts val="800"/>
              </a:spcAft>
              <a:buSzPct val="100000"/>
              <a:buChar char="•"/>
            </a:pPr>
            <a:r>
              <a:rPr lang="en-US" sz="1600" dirty="0">
                <a:solidFill>
                  <a:schemeClr val="tx1"/>
                </a:solidFill>
              </a:rPr>
              <a:t>A corrected value means redoing every step by hand</a:t>
            </a:r>
            <a:endParaRPr lang="en-US" sz="1600" dirty="0"/>
          </a:p>
          <a:p>
            <a:pPr marL="228600" indent="-228600">
              <a:spcAft>
                <a:spcPts val="800"/>
              </a:spcAft>
              <a:buSzPct val="100000"/>
              <a:buChar char="•"/>
            </a:pPr>
            <a:r>
              <a:rPr lang="en-US" sz="1600" dirty="0">
                <a:solidFill>
                  <a:schemeClr val="tx1"/>
                </a:solidFill>
              </a:rPr>
              <a:t>Hard for a reviewer to check</a:t>
            </a:r>
            <a:endParaRPr lang="en-US" sz="1600" dirty="0"/>
          </a:p>
        </p:txBody>
      </p:sp>
      <p:sp>
        <p:nvSpPr>
          <p:cNvPr id="8" name="card"/>
          <p:cNvSpPr/>
          <p:nvPr/>
        </p:nvSpPr>
        <p:spPr>
          <a:xfrm>
            <a:off x="6172200" y="1371600"/>
            <a:ext cx="5440680" cy="3886200"/>
          </a:xfrm>
          <a:prstGeom prst="roundRect">
            <a:avLst>
              <a:gd name="adj" fmla="val 2824"/>
            </a:avLst>
          </a:prstGeom>
          <a:solidFill>
            <a:schemeClr val="tx2"/>
          </a:solidFill>
          <a:ln/>
          <a:effectLst>
            <a:outerShdw sx="100000" sy="100000" kx="0" ky="0" algn="bl" rotWithShape="0" blurRad="76200" dist="25400" dir="5400000">
              <a:srgbClr val="8A97AB">
                <a:alpha val="25000"/>
              </a:srgbClr>
            </a:outerShdw>
          </a:effectLst>
        </p:spPr>
      </p:sp>
      <p:sp>
        <p:nvSpPr>
          <p:cNvPr id="9" name="icon circle"/>
          <p:cNvSpPr/>
          <p:nvPr/>
        </p:nvSpPr>
        <p:spPr>
          <a:xfrm>
            <a:off x="6492240" y="1645920"/>
            <a:ext cx="731520" cy="731520"/>
          </a:xfrm>
          <a:prstGeom prst="ellipse">
            <a:avLst/>
          </a:prstGeom>
          <a:solidFill>
            <a:schemeClr val="accent2"/>
          </a:solidFill>
          <a:ln/>
        </p:spPr>
      </p:sp>
      <p:pic>
        <p:nvPicPr>
          <p:cNvPr id="10" name="Image 1" descr="FaFileCode">    </p:cNvPr>
          <p:cNvPicPr>
            <a:picLocks noChangeAspect="1"/>
          </p:cNvPicPr>
          <p:nvPr/>
        </p:nvPicPr>
        <p:blipFill>
          <a:blip r:embed="rId2"/>
          <a:stretch>
            <a:fillRect/>
          </a:stretch>
        </p:blipFill>
        <p:spPr>
          <a:xfrm>
            <a:off x="6675120" y="1828800"/>
            <a:ext cx="365760" cy="365760"/>
          </a:xfrm>
          <a:prstGeom prst="rect">
            <a:avLst/>
          </a:prstGeom>
        </p:spPr>
      </p:pic>
      <p:sp>
        <p:nvSpPr>
          <p:cNvPr id="11" name="Text 7"/>
          <p:cNvSpPr txBox="1"/>
          <p:nvPr/>
        </p:nvSpPr>
        <p:spPr>
          <a:xfrm>
            <a:off x="7406640" y="1645920"/>
            <a:ext cx="4023360" cy="731520"/>
          </a:xfrm>
          <a:prstGeom prst="rect">
            <a:avLst/>
          </a:prstGeom>
          <a:noFill/>
          <a:ln/>
        </p:spPr>
        <p:txBody>
          <a:bodyPr wrap="square" lIns="0" tIns="0" rIns="0" bIns="0" rtlCol="0" anchor="ctr"/>
          <a:lstStyle/>
          <a:p>
            <a:pPr indent="0" marL="0">
              <a:buNone/>
            </a:pPr>
            <a:r>
              <a:rPr lang="en-US" sz="2000" b="1" dirty="0">
                <a:solidFill>
                  <a:schemeClr val="bg1"/>
                </a:solidFill>
              </a:rPr>
              <a:t>An R script</a:t>
            </a:r>
            <a:endParaRPr lang="en-US" sz="2000" dirty="0"/>
          </a:p>
        </p:txBody>
      </p:sp>
      <p:sp>
        <p:nvSpPr>
          <p:cNvPr id="12" name="Text 8"/>
          <p:cNvSpPr txBox="1"/>
          <p:nvPr/>
        </p:nvSpPr>
        <p:spPr>
          <a:xfrm>
            <a:off x="6492240" y="2606040"/>
            <a:ext cx="4846320" cy="25146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bg1"/>
                </a:solidFill>
              </a:rPr>
              <a:t>Records every decision, in order</a:t>
            </a:r>
            <a:endParaRPr lang="en-US" sz="1600" dirty="0"/>
          </a:p>
          <a:p>
            <a:pPr marL="228600" indent="-228600">
              <a:spcAft>
                <a:spcPts val="800"/>
              </a:spcAft>
              <a:buSzPct val="100000"/>
              <a:buChar char="•"/>
            </a:pPr>
            <a:r>
              <a:rPr lang="en-US" sz="1600" dirty="0">
                <a:solidFill>
                  <a:schemeClr val="bg1"/>
                </a:solidFill>
              </a:rPr>
              <a:t>Fix the data, rerun, everything updates</a:t>
            </a:r>
            <a:endParaRPr lang="en-US" sz="1600" dirty="0"/>
          </a:p>
          <a:p>
            <a:pPr marL="228600" indent="-228600">
              <a:spcAft>
                <a:spcPts val="800"/>
              </a:spcAft>
              <a:buSzPct val="100000"/>
              <a:buChar char="•"/>
            </a:pPr>
            <a:r>
              <a:rPr lang="en-US" sz="1600" dirty="0">
                <a:solidFill>
                  <a:schemeClr val="bg1"/>
                </a:solidFill>
              </a:rPr>
              <a:t>Shared, reviewed and reused next season</a:t>
            </a:r>
            <a:endParaRPr lang="en-US" sz="1600" dirty="0"/>
          </a:p>
          <a:p>
            <a:pPr marL="228600" indent="-228600">
              <a:spcAft>
                <a:spcPts val="800"/>
              </a:spcAft>
              <a:buSzPct val="100000"/>
              <a:buChar char="•"/>
            </a:pPr>
            <a:r>
              <a:rPr lang="en-US" sz="1600" dirty="0">
                <a:solidFill>
                  <a:schemeClr val="bg1"/>
                </a:solidFill>
              </a:rPr>
              <a:t>Same script + same data = same result</a:t>
            </a:r>
            <a:endParaRPr lang="en-US" sz="1600" dirty="0"/>
          </a:p>
        </p:txBody>
      </p:sp>
      <p:sp>
        <p:nvSpPr>
          <p:cNvPr id="13" name="key idea"/>
          <p:cNvSpPr/>
          <p:nvPr/>
        </p:nvSpPr>
        <p:spPr>
          <a:xfrm>
            <a:off x="548640" y="5440680"/>
            <a:ext cx="11064240" cy="685800"/>
          </a:xfrm>
          <a:prstGeom prst="roundRect">
            <a:avLst>
              <a:gd name="adj" fmla="val 16000"/>
            </a:avLst>
          </a:prstGeom>
          <a:solidFill>
            <a:schemeClr val="accent6"/>
          </a:solidFill>
          <a:ln/>
          <a:effectLst>
            <a:outerShdw sx="100000" sy="100000" kx="0" ky="0" algn="bl" rotWithShape="0" blurRad="76200" dist="25400" dir="5400000">
              <a:srgbClr val="8A97AB">
                <a:alpha val="25000"/>
              </a:srgbClr>
            </a:outerShdw>
          </a:effectLst>
        </p:spPr>
      </p:sp>
      <p:sp>
        <p:nvSpPr>
          <p:cNvPr id="14" name="Text 10"/>
          <p:cNvSpPr txBox="1"/>
          <p:nvPr/>
        </p:nvSpPr>
        <p:spPr>
          <a:xfrm>
            <a:off x="822960" y="5440680"/>
            <a:ext cx="10515600" cy="68580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Code that runs is necessary; a defensible explanation is equally necessary.</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R is the engine; RStudio is the workbench</a:t>
            </a:r>
            <a:endParaRPr lang="en-US" sz="3200" dirty="0"/>
          </a:p>
        </p:txBody>
      </p:sp>
      <p:sp>
        <p:nvSpPr>
          <p:cNvPr id="3" name="card"/>
          <p:cNvSpPr/>
          <p:nvPr/>
        </p:nvSpPr>
        <p:spPr>
          <a:xfrm>
            <a:off x="548640" y="1646834"/>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777240" y="1875434"/>
            <a:ext cx="731520" cy="731520"/>
          </a:xfrm>
          <a:prstGeom prst="ellipse">
            <a:avLst/>
          </a:prstGeom>
          <a:solidFill>
            <a:schemeClr val="accent1"/>
          </a:solidFill>
          <a:ln/>
        </p:spPr>
      </p:sp>
      <p:pic>
        <p:nvPicPr>
          <p:cNvPr id="5" name="Image 0" descr="FaCogs">    </p:cNvPr>
          <p:cNvPicPr>
            <a:picLocks noChangeAspect="1"/>
          </p:cNvPicPr>
          <p:nvPr/>
        </p:nvPicPr>
        <p:blipFill>
          <a:blip r:embed="rId1"/>
          <a:stretch>
            <a:fillRect/>
          </a:stretch>
        </p:blipFill>
        <p:spPr>
          <a:xfrm>
            <a:off x="960120" y="2058314"/>
            <a:ext cx="365760" cy="365760"/>
          </a:xfrm>
          <a:prstGeom prst="rect">
            <a:avLst/>
          </a:prstGeom>
        </p:spPr>
      </p:pic>
      <p:sp>
        <p:nvSpPr>
          <p:cNvPr id="6" name="Text 3"/>
          <p:cNvSpPr txBox="1"/>
          <p:nvPr/>
        </p:nvSpPr>
        <p:spPr>
          <a:xfrm>
            <a:off x="777240" y="2744114"/>
            <a:ext cx="3078480" cy="292608"/>
          </a:xfrm>
          <a:prstGeom prst="rect">
            <a:avLst/>
          </a:prstGeom>
          <a:noFill/>
          <a:ln/>
        </p:spPr>
        <p:txBody>
          <a:bodyPr wrap="square" lIns="0" tIns="0" rIns="0" bIns="0" rtlCol="0" anchor="t"/>
          <a:lstStyle/>
          <a:p>
            <a:pPr indent="0" marL="0">
              <a:buNone/>
            </a:pPr>
            <a:r>
              <a:rPr lang="en-US" sz="1700" b="1" dirty="0">
                <a:solidFill>
                  <a:schemeClr val="tx2"/>
                </a:solidFill>
              </a:rPr>
              <a:t>R · the engine</a:t>
            </a:r>
            <a:endParaRPr lang="en-US" sz="1700" dirty="0"/>
          </a:p>
        </p:txBody>
      </p:sp>
      <p:sp>
        <p:nvSpPr>
          <p:cNvPr id="7" name="Text 4"/>
          <p:cNvSpPr txBox="1"/>
          <p:nvPr/>
        </p:nvSpPr>
        <p:spPr>
          <a:xfrm>
            <a:off x="777240" y="3146450"/>
            <a:ext cx="3078480" cy="1444752"/>
          </a:xfrm>
          <a:prstGeom prst="rect">
            <a:avLst/>
          </a:prstGeom>
          <a:noFill/>
          <a:ln/>
        </p:spPr>
        <p:txBody>
          <a:bodyPr wrap="square" lIns="0" tIns="0" rIns="0" bIns="0" rtlCol="0" anchor="t"/>
          <a:lstStyle/>
          <a:p>
            <a:pPr indent="0" marL="0">
              <a:buNone/>
            </a:pPr>
            <a:r>
              <a:rPr lang="en-US" sz="1800" dirty="0">
                <a:solidFill>
                  <a:schemeClr val="accent5"/>
                </a:solidFill>
              </a:rPr>
              <a:t>The language that does the computing. A plain console that runs on its own.</a:t>
            </a:r>
            <a:endParaRPr lang="en-US" sz="1800" dirty="0"/>
          </a:p>
        </p:txBody>
      </p:sp>
      <p:sp>
        <p:nvSpPr>
          <p:cNvPr id="8" name="card"/>
          <p:cNvSpPr/>
          <p:nvPr/>
        </p:nvSpPr>
        <p:spPr>
          <a:xfrm>
            <a:off x="4312920" y="1646834"/>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4541520" y="1875434"/>
            <a:ext cx="731520" cy="731520"/>
          </a:xfrm>
          <a:prstGeom prst="ellipse">
            <a:avLst/>
          </a:prstGeom>
          <a:solidFill>
            <a:schemeClr val="accent2"/>
          </a:solidFill>
          <a:ln/>
        </p:spPr>
      </p:sp>
      <p:pic>
        <p:nvPicPr>
          <p:cNvPr id="10" name="Image 1" descr="FaDesktop">    </p:cNvPr>
          <p:cNvPicPr>
            <a:picLocks noChangeAspect="1"/>
          </p:cNvPicPr>
          <p:nvPr/>
        </p:nvPicPr>
        <p:blipFill>
          <a:blip r:embed="rId2"/>
          <a:stretch>
            <a:fillRect/>
          </a:stretch>
        </p:blipFill>
        <p:spPr>
          <a:xfrm>
            <a:off x="4724400" y="2058314"/>
            <a:ext cx="365760" cy="365760"/>
          </a:xfrm>
          <a:prstGeom prst="rect">
            <a:avLst/>
          </a:prstGeom>
        </p:spPr>
      </p:pic>
      <p:sp>
        <p:nvSpPr>
          <p:cNvPr id="11" name="Text 7"/>
          <p:cNvSpPr txBox="1"/>
          <p:nvPr/>
        </p:nvSpPr>
        <p:spPr>
          <a:xfrm>
            <a:off x="4541520" y="2744114"/>
            <a:ext cx="3078480" cy="292608"/>
          </a:xfrm>
          <a:prstGeom prst="rect">
            <a:avLst/>
          </a:prstGeom>
          <a:noFill/>
          <a:ln/>
        </p:spPr>
        <p:txBody>
          <a:bodyPr wrap="square" lIns="0" tIns="0" rIns="0" bIns="0" rtlCol="0" anchor="t"/>
          <a:lstStyle/>
          <a:p>
            <a:pPr indent="0" marL="0">
              <a:buNone/>
            </a:pPr>
            <a:r>
              <a:rPr lang="en-US" sz="1700" b="1" dirty="0">
                <a:solidFill>
                  <a:schemeClr val="tx2"/>
                </a:solidFill>
              </a:rPr>
              <a:t>RStudio · the workbench</a:t>
            </a:r>
            <a:endParaRPr lang="en-US" sz="1700" dirty="0"/>
          </a:p>
        </p:txBody>
      </p:sp>
      <p:sp>
        <p:nvSpPr>
          <p:cNvPr id="12" name="Text 8"/>
          <p:cNvSpPr txBox="1"/>
          <p:nvPr/>
        </p:nvSpPr>
        <p:spPr>
          <a:xfrm>
            <a:off x="4541520" y="3146450"/>
            <a:ext cx="3078480" cy="1444752"/>
          </a:xfrm>
          <a:prstGeom prst="rect">
            <a:avLst/>
          </a:prstGeom>
          <a:noFill/>
          <a:ln/>
        </p:spPr>
        <p:txBody>
          <a:bodyPr wrap="square" lIns="0" tIns="0" rIns="0" bIns="0" rtlCol="0" anchor="t"/>
          <a:lstStyle/>
          <a:p>
            <a:pPr indent="0" marL="0">
              <a:buNone/>
            </a:pPr>
            <a:r>
              <a:rPr lang="en-US" sz="1800" dirty="0">
                <a:solidFill>
                  <a:schemeClr val="accent5"/>
                </a:solidFill>
              </a:rPr>
              <a:t>An IDE: script editor, console, plots, help and files in one window. Needs R underneath.</a:t>
            </a:r>
            <a:endParaRPr lang="en-US" sz="1800" dirty="0"/>
          </a:p>
        </p:txBody>
      </p:sp>
      <p:sp>
        <p:nvSpPr>
          <p:cNvPr id="13" name="card"/>
          <p:cNvSpPr/>
          <p:nvPr/>
        </p:nvSpPr>
        <p:spPr>
          <a:xfrm>
            <a:off x="8077200" y="1646834"/>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8305800" y="1875434"/>
            <a:ext cx="731520" cy="731520"/>
          </a:xfrm>
          <a:prstGeom prst="ellipse">
            <a:avLst/>
          </a:prstGeom>
          <a:solidFill>
            <a:schemeClr val="accent3"/>
          </a:solidFill>
          <a:ln/>
        </p:spPr>
      </p:sp>
      <p:pic>
        <p:nvPicPr>
          <p:cNvPr id="15" name="Image 2" descr="FaFileAlt">    </p:cNvPr>
          <p:cNvPicPr>
            <a:picLocks noChangeAspect="1"/>
          </p:cNvPicPr>
          <p:nvPr/>
        </p:nvPicPr>
        <p:blipFill>
          <a:blip r:embed="rId3"/>
          <a:stretch>
            <a:fillRect/>
          </a:stretch>
        </p:blipFill>
        <p:spPr>
          <a:xfrm>
            <a:off x="8488680" y="2058314"/>
            <a:ext cx="365760" cy="365760"/>
          </a:xfrm>
          <a:prstGeom prst="rect">
            <a:avLst/>
          </a:prstGeom>
        </p:spPr>
      </p:pic>
      <p:sp>
        <p:nvSpPr>
          <p:cNvPr id="16" name="Text 11"/>
          <p:cNvSpPr txBox="1"/>
          <p:nvPr/>
        </p:nvSpPr>
        <p:spPr>
          <a:xfrm>
            <a:off x="8305800" y="2744114"/>
            <a:ext cx="3078480" cy="292608"/>
          </a:xfrm>
          <a:prstGeom prst="rect">
            <a:avLst/>
          </a:prstGeom>
          <a:noFill/>
          <a:ln/>
        </p:spPr>
        <p:txBody>
          <a:bodyPr wrap="square" lIns="0" tIns="0" rIns="0" bIns="0" rtlCol="0" anchor="t"/>
          <a:lstStyle/>
          <a:p>
            <a:pPr indent="0" marL="0">
              <a:buNone/>
            </a:pPr>
            <a:r>
              <a:rPr lang="en-US" sz="1700" b="1" dirty="0">
                <a:solidFill>
                  <a:schemeClr val="tx2"/>
                </a:solidFill>
              </a:rPr>
              <a:t>Quarto · the report</a:t>
            </a:r>
            <a:endParaRPr lang="en-US" sz="1700" dirty="0"/>
          </a:p>
        </p:txBody>
      </p:sp>
      <p:sp>
        <p:nvSpPr>
          <p:cNvPr id="17" name="Text 12"/>
          <p:cNvSpPr txBox="1"/>
          <p:nvPr/>
        </p:nvSpPr>
        <p:spPr>
          <a:xfrm>
            <a:off x="8305800" y="3146450"/>
            <a:ext cx="3078480" cy="1444752"/>
          </a:xfrm>
          <a:prstGeom prst="rect">
            <a:avLst/>
          </a:prstGeom>
          <a:noFill/>
          <a:ln/>
        </p:spPr>
        <p:txBody>
          <a:bodyPr wrap="square" lIns="0" tIns="0" rIns="0" bIns="0" rtlCol="0" anchor="t"/>
          <a:lstStyle/>
          <a:p>
            <a:pPr indent="0" marL="0">
              <a:buNone/>
            </a:pPr>
            <a:r>
              <a:rPr lang="en-US" sz="1800" dirty="0">
                <a:solidFill>
                  <a:schemeClr val="accent5"/>
                </a:solidFill>
              </a:rPr>
              <a:t>Weaves text, code and results into HTML, Word or PDF reports (Module 7).</a:t>
            </a:r>
            <a:endParaRPr lang="en-US" sz="1800" dirty="0"/>
          </a:p>
        </p:txBody>
      </p:sp>
      <p:sp>
        <p:nvSpPr>
          <p:cNvPr id="18" name="Text 13"/>
          <p:cNvSpPr txBox="1"/>
          <p:nvPr/>
        </p:nvSpPr>
        <p:spPr>
          <a:xfrm>
            <a:off x="548640" y="4975250"/>
            <a:ext cx="11064240" cy="548640"/>
          </a:xfrm>
          <a:prstGeom prst="rect">
            <a:avLst/>
          </a:prstGeom>
          <a:noFill/>
          <a:ln/>
        </p:spPr>
        <p:txBody>
          <a:bodyPr wrap="square" lIns="0" tIns="0" rIns="0" bIns="0" rtlCol="0" anchor="ctr"/>
          <a:lstStyle/>
          <a:p>
            <a:pPr indent="0" marL="0">
              <a:buNone/>
            </a:pPr>
            <a:r>
              <a:rPr lang="en-US" sz="1500" i="1" dirty="0">
                <a:solidFill>
                  <a:schemeClr val="accent5"/>
                </a:solidFill>
              </a:rPr>
              <a:t>In this course you always open RStudio; it starts R for you.</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badge"/>
          <p:cNvSpPr/>
          <p:nvPr/>
        </p:nvSpPr>
        <p:spPr>
          <a:xfrm>
            <a:off x="731520" y="2606040"/>
            <a:ext cx="1188720" cy="1188720"/>
          </a:xfrm>
          <a:prstGeom prst="ellipse">
            <a:avLst/>
          </a:prstGeom>
          <a:solidFill>
            <a:schemeClr val="accent2"/>
          </a:solidFill>
          <a:ln/>
        </p:spPr>
      </p:sp>
      <p:sp>
        <p:nvSpPr>
          <p:cNvPr id="3" name="Text 1"/>
          <p:cNvSpPr txBox="1"/>
          <p:nvPr/>
        </p:nvSpPr>
        <p:spPr>
          <a:xfrm>
            <a:off x="731520" y="2606040"/>
            <a:ext cx="1188720" cy="1188720"/>
          </a:xfrm>
          <a:prstGeom prst="rect">
            <a:avLst/>
          </a:prstGeom>
          <a:noFill/>
          <a:ln/>
        </p:spPr>
        <p:txBody>
          <a:bodyPr wrap="square" lIns="0" tIns="0" rIns="0" bIns="0" rtlCol="0" anchor="ctr"/>
          <a:lstStyle/>
          <a:p>
            <a:pPr algn="ctr" indent="0" marL="0">
              <a:buNone/>
            </a:pPr>
            <a:r>
              <a:rPr lang="en-US" sz="3000" b="1" dirty="0">
                <a:solidFill>
                  <a:schemeClr val="tx2"/>
                </a:solidFill>
                <a:latin typeface="Cambria" pitchFamily="34" charset="0"/>
                <a:ea typeface="Cambria" pitchFamily="34" charset="-122"/>
                <a:cs typeface="Cambria" pitchFamily="34" charset="-120"/>
              </a:rPr>
              <a:t>B</a:t>
            </a:r>
            <a:endParaRPr lang="en-US" sz="3000" dirty="0"/>
          </a:p>
        </p:txBody>
      </p:sp>
      <p:sp>
        <p:nvSpPr>
          <p:cNvPr id="4"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r>
              <a:rPr lang="en-US" sz="3800" b="1" dirty="0">
                <a:solidFill>
                  <a:schemeClr val="bg1"/>
                </a:solidFill>
              </a:rPr>
              <a:t>Installing R and RStudio</a:t>
            </a:r>
            <a:endParaRPr lang="en-US" sz="3800" dirty="0"/>
          </a:p>
        </p:txBody>
      </p:sp>
      <p:sp>
        <p:nvSpPr>
          <p:cNvPr id="5"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r>
              <a:rPr lang="en-US" sz="1800" dirty="0">
                <a:solidFill>
                  <a:schemeClr val="accent6"/>
                </a:solidFill>
              </a:rPr>
              <a:t>Two downloads, one order, and a first check</a:t>
            </a:r>
            <a:endParaRPr lang="en-US" sz="1800" dirty="0"/>
          </a:p>
        </p:txBody>
      </p:sp>
      <p:pic>
        <p:nvPicPr>
          <p:cNvPr id="6" name="Image 0" descr="decorative icon">    </p:cNvPr>
          <p:cNvPicPr>
            <a:picLocks noChangeAspect="1"/>
          </p:cNvPicPr>
          <p:nvPr/>
        </p:nvPicPr>
        <p:blipFill>
          <a:blip r:embed="rId1"/>
          <a:stretch>
            <a:fillRect/>
          </a:stretch>
        </p:blipFill>
        <p:spPr>
          <a:xfrm>
            <a:off x="9418320" y="4206240"/>
            <a:ext cx="2194560" cy="2194560"/>
          </a:xfrm>
          <a:prstGeom prst="rect">
            <a:avLst/>
          </a:prstGeom>
        </p:spPr>
      </p:pic>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Install in this order</a:t>
            </a:r>
            <a:endParaRPr lang="en-US" sz="3200" dirty="0"/>
          </a:p>
        </p:txBody>
      </p:sp>
      <p:sp>
        <p:nvSpPr>
          <p:cNvPr id="3" name="card"/>
          <p:cNvSpPr/>
          <p:nvPr/>
        </p:nvSpPr>
        <p:spPr>
          <a:xfrm>
            <a:off x="548640" y="1371600"/>
            <a:ext cx="3505200" cy="3931920"/>
          </a:xfrm>
          <a:prstGeom prst="roundRect">
            <a:avLst>
              <a:gd name="adj" fmla="val 3130"/>
            </a:avLst>
          </a:prstGeom>
          <a:solidFill>
            <a:schemeClr val="bg2"/>
          </a:solidFill>
          <a:ln/>
          <a:effectLst>
            <a:outerShdw sx="100000" sy="100000" kx="0" ky="0" algn="bl" rotWithShape="0" blurRad="76200" dist="25400" dir="5400000">
              <a:srgbClr val="8A97AB">
                <a:alpha val="25000"/>
              </a:srgbClr>
            </a:outerShdw>
          </a:effectLst>
        </p:spPr>
      </p:sp>
      <p:sp>
        <p:nvSpPr>
          <p:cNvPr id="4" name="Shape 2"/>
          <p:cNvSpPr/>
          <p:nvPr/>
        </p:nvSpPr>
        <p:spPr>
          <a:xfrm>
            <a:off x="777240" y="1600200"/>
            <a:ext cx="594360" cy="594360"/>
          </a:xfrm>
          <a:prstGeom prst="ellipse">
            <a:avLst/>
          </a:prstGeom>
          <a:solidFill>
            <a:schemeClr val="tx2"/>
          </a:solidFill>
          <a:ln/>
        </p:spPr>
      </p:sp>
      <p:sp>
        <p:nvSpPr>
          <p:cNvPr id="5" name="Text 3"/>
          <p:cNvSpPr txBox="1"/>
          <p:nvPr/>
        </p:nvSpPr>
        <p:spPr>
          <a:xfrm>
            <a:off x="777240" y="160020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1</a:t>
            </a:r>
            <a:endParaRPr lang="en-US" sz="1800" dirty="0"/>
          </a:p>
        </p:txBody>
      </p:sp>
      <p:sp>
        <p:nvSpPr>
          <p:cNvPr id="6" name="icon circle"/>
          <p:cNvSpPr/>
          <p:nvPr/>
        </p:nvSpPr>
        <p:spPr>
          <a:xfrm>
            <a:off x="3230880" y="1600200"/>
            <a:ext cx="594360" cy="594360"/>
          </a:xfrm>
          <a:prstGeom prst="ellipse">
            <a:avLst/>
          </a:prstGeom>
          <a:solidFill>
            <a:schemeClr val="accent1"/>
          </a:solidFill>
          <a:ln/>
        </p:spPr>
      </p:sp>
      <p:pic>
        <p:nvPicPr>
          <p:cNvPr id="7" name="Image 0" descr="FaCogs">    </p:cNvPr>
          <p:cNvPicPr>
            <a:picLocks noChangeAspect="1"/>
          </p:cNvPicPr>
          <p:nvPr/>
        </p:nvPicPr>
        <p:blipFill>
          <a:blip r:embed="rId1"/>
          <a:stretch>
            <a:fillRect/>
          </a:stretch>
        </p:blipFill>
        <p:spPr>
          <a:xfrm>
            <a:off x="3379470" y="1748790"/>
            <a:ext cx="297180" cy="297180"/>
          </a:xfrm>
          <a:prstGeom prst="rect">
            <a:avLst/>
          </a:prstGeom>
        </p:spPr>
      </p:pic>
      <p:sp>
        <p:nvSpPr>
          <p:cNvPr id="8" name="Text 5"/>
          <p:cNvSpPr txBox="1"/>
          <p:nvPr/>
        </p:nvSpPr>
        <p:spPr>
          <a:xfrm>
            <a:off x="777240" y="2377440"/>
            <a:ext cx="3048000" cy="685800"/>
          </a:xfrm>
          <a:prstGeom prst="rect">
            <a:avLst/>
          </a:prstGeom>
          <a:noFill/>
          <a:ln/>
        </p:spPr>
        <p:txBody>
          <a:bodyPr wrap="square" lIns="0" tIns="0" rIns="0" bIns="0" rtlCol="0" anchor="t"/>
          <a:lstStyle/>
          <a:p>
            <a:pPr indent="0" marL="0">
              <a:buNone/>
            </a:pPr>
            <a:r>
              <a:rPr lang="en-US" sz="1800" b="1" dirty="0">
                <a:solidFill>
                  <a:schemeClr val="tx2"/>
                </a:solidFill>
              </a:rPr>
              <a:t>Install R</a:t>
            </a:r>
            <a:endParaRPr lang="en-US" sz="1800" dirty="0"/>
          </a:p>
        </p:txBody>
      </p:sp>
      <p:sp>
        <p:nvSpPr>
          <p:cNvPr id="9" name="Text 6"/>
          <p:cNvSpPr txBox="1"/>
          <p:nvPr/>
        </p:nvSpPr>
        <p:spPr>
          <a:xfrm>
            <a:off x="777240" y="3063240"/>
            <a:ext cx="3048000" cy="36576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cran.r-project.org</a:t>
            </a:r>
            <a:endParaRPr lang="en-US" sz="1300" dirty="0"/>
          </a:p>
        </p:txBody>
      </p:sp>
      <p:sp>
        <p:nvSpPr>
          <p:cNvPr id="10" name="Text 7"/>
          <p:cNvSpPr txBox="1"/>
          <p:nvPr/>
        </p:nvSpPr>
        <p:spPr>
          <a:xfrm>
            <a:off x="777240" y="3520440"/>
            <a:ext cx="3048000" cy="1691640"/>
          </a:xfrm>
          <a:prstGeom prst="rect">
            <a:avLst/>
          </a:prstGeom>
          <a:noFill/>
          <a:ln/>
        </p:spPr>
        <p:txBody>
          <a:bodyPr wrap="square" lIns="0" tIns="0" rIns="0" bIns="0" rtlCol="0" anchor="t"/>
          <a:lstStyle/>
          <a:p>
            <a:pPr indent="0" marL="0">
              <a:buNone/>
            </a:pPr>
            <a:r>
              <a:rPr lang="en-US" sz="1400" dirty="0">
                <a:solidFill>
                  <a:schemeClr val="accent5"/>
                </a:solidFill>
              </a:rPr>
              <a:t>Choose your operating system, download the base installation, install with default options, and confirm R opens.</a:t>
            </a:r>
            <a:endParaRPr lang="en-US" sz="1400" dirty="0"/>
          </a:p>
        </p:txBody>
      </p:sp>
      <p:sp>
        <p:nvSpPr>
          <p:cNvPr id="11" name="Shape 8"/>
          <p:cNvSpPr/>
          <p:nvPr/>
        </p:nvSpPr>
        <p:spPr>
          <a:xfrm>
            <a:off x="4072128" y="1892808"/>
            <a:ext cx="237744" cy="0"/>
          </a:xfrm>
          <a:prstGeom prst="line">
            <a:avLst/>
          </a:prstGeom>
          <a:noFill/>
          <a:ln w="25400">
            <a:solidFill>
              <a:schemeClr val="accent2"/>
            </a:solidFill>
            <a:prstDash val="solid"/>
            <a:tailEnd type="triangle"/>
          </a:ln>
        </p:spPr>
      </p:sp>
      <p:sp>
        <p:nvSpPr>
          <p:cNvPr id="12" name="card"/>
          <p:cNvSpPr/>
          <p:nvPr/>
        </p:nvSpPr>
        <p:spPr>
          <a:xfrm>
            <a:off x="4328160" y="1371600"/>
            <a:ext cx="3505200" cy="3931920"/>
          </a:xfrm>
          <a:prstGeom prst="roundRect">
            <a:avLst>
              <a:gd name="adj" fmla="val 3130"/>
            </a:avLst>
          </a:prstGeom>
          <a:solidFill>
            <a:schemeClr val="bg2"/>
          </a:solidFill>
          <a:ln/>
          <a:effectLst>
            <a:outerShdw sx="100000" sy="100000" kx="0" ky="0" algn="bl" rotWithShape="0" blurRad="76200" dist="25400" dir="5400000">
              <a:srgbClr val="8A97AB">
                <a:alpha val="25000"/>
              </a:srgbClr>
            </a:outerShdw>
          </a:effectLst>
        </p:spPr>
      </p:sp>
      <p:sp>
        <p:nvSpPr>
          <p:cNvPr id="13" name="Shape 10"/>
          <p:cNvSpPr/>
          <p:nvPr/>
        </p:nvSpPr>
        <p:spPr>
          <a:xfrm>
            <a:off x="4556760" y="1600200"/>
            <a:ext cx="594360" cy="594360"/>
          </a:xfrm>
          <a:prstGeom prst="ellipse">
            <a:avLst/>
          </a:prstGeom>
          <a:solidFill>
            <a:schemeClr val="tx2"/>
          </a:solidFill>
          <a:ln/>
        </p:spPr>
      </p:sp>
      <p:sp>
        <p:nvSpPr>
          <p:cNvPr id="14" name="Text 11"/>
          <p:cNvSpPr txBox="1"/>
          <p:nvPr/>
        </p:nvSpPr>
        <p:spPr>
          <a:xfrm>
            <a:off x="4556760" y="160020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2</a:t>
            </a:r>
            <a:endParaRPr lang="en-US" sz="1800" dirty="0"/>
          </a:p>
        </p:txBody>
      </p:sp>
      <p:sp>
        <p:nvSpPr>
          <p:cNvPr id="15" name="icon circle"/>
          <p:cNvSpPr/>
          <p:nvPr/>
        </p:nvSpPr>
        <p:spPr>
          <a:xfrm>
            <a:off x="7010400" y="1600200"/>
            <a:ext cx="594360" cy="594360"/>
          </a:xfrm>
          <a:prstGeom prst="ellipse">
            <a:avLst/>
          </a:prstGeom>
          <a:solidFill>
            <a:schemeClr val="accent2"/>
          </a:solidFill>
          <a:ln/>
        </p:spPr>
      </p:sp>
      <p:pic>
        <p:nvPicPr>
          <p:cNvPr id="16" name="Image 1" descr="FaDesktop">    </p:cNvPr>
          <p:cNvPicPr>
            <a:picLocks noChangeAspect="1"/>
          </p:cNvPicPr>
          <p:nvPr/>
        </p:nvPicPr>
        <p:blipFill>
          <a:blip r:embed="rId2"/>
          <a:stretch>
            <a:fillRect/>
          </a:stretch>
        </p:blipFill>
        <p:spPr>
          <a:xfrm>
            <a:off x="7158990" y="1748790"/>
            <a:ext cx="297180" cy="297180"/>
          </a:xfrm>
          <a:prstGeom prst="rect">
            <a:avLst/>
          </a:prstGeom>
        </p:spPr>
      </p:pic>
      <p:sp>
        <p:nvSpPr>
          <p:cNvPr id="17" name="Text 13"/>
          <p:cNvSpPr txBox="1"/>
          <p:nvPr/>
        </p:nvSpPr>
        <p:spPr>
          <a:xfrm>
            <a:off x="4556760" y="2377440"/>
            <a:ext cx="3048000" cy="685800"/>
          </a:xfrm>
          <a:prstGeom prst="rect">
            <a:avLst/>
          </a:prstGeom>
          <a:noFill/>
          <a:ln/>
        </p:spPr>
        <p:txBody>
          <a:bodyPr wrap="square" lIns="0" tIns="0" rIns="0" bIns="0" rtlCol="0" anchor="t"/>
          <a:lstStyle/>
          <a:p>
            <a:pPr indent="0" marL="0">
              <a:buNone/>
            </a:pPr>
            <a:r>
              <a:rPr lang="en-US" sz="1800" b="1" dirty="0">
                <a:solidFill>
                  <a:schemeClr val="tx2"/>
                </a:solidFill>
              </a:rPr>
              <a:t>Install RStudio Desktop</a:t>
            </a:r>
            <a:endParaRPr lang="en-US" sz="1800" dirty="0"/>
          </a:p>
        </p:txBody>
      </p:sp>
      <p:sp>
        <p:nvSpPr>
          <p:cNvPr id="18" name="Text 14"/>
          <p:cNvSpPr txBox="1"/>
          <p:nvPr/>
        </p:nvSpPr>
        <p:spPr>
          <a:xfrm>
            <a:off x="4556760" y="3063240"/>
            <a:ext cx="3048000" cy="36576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posit.co/downloads</a:t>
            </a:r>
            <a:endParaRPr lang="en-US" sz="1300" dirty="0"/>
          </a:p>
        </p:txBody>
      </p:sp>
      <p:sp>
        <p:nvSpPr>
          <p:cNvPr id="19" name="Text 15"/>
          <p:cNvSpPr txBox="1"/>
          <p:nvPr/>
        </p:nvSpPr>
        <p:spPr>
          <a:xfrm>
            <a:off x="4556760" y="3520440"/>
            <a:ext cx="3048000" cy="1691640"/>
          </a:xfrm>
          <a:prstGeom prst="rect">
            <a:avLst/>
          </a:prstGeom>
          <a:noFill/>
          <a:ln/>
        </p:spPr>
        <p:txBody>
          <a:bodyPr wrap="square" lIns="0" tIns="0" rIns="0" bIns="0" rtlCol="0" anchor="t"/>
          <a:lstStyle/>
          <a:p>
            <a:pPr indent="0" marL="0">
              <a:buNone/>
            </a:pPr>
            <a:r>
              <a:rPr lang="en-US" sz="1400" dirty="0">
                <a:solidFill>
                  <a:schemeClr val="accent5"/>
                </a:solidFill>
              </a:rPr>
              <a:t>Download the free Desktop edition and install it. On first launch it finds R automatically.</a:t>
            </a:r>
            <a:endParaRPr lang="en-US" sz="1400" dirty="0"/>
          </a:p>
        </p:txBody>
      </p:sp>
      <p:sp>
        <p:nvSpPr>
          <p:cNvPr id="20" name="Shape 16"/>
          <p:cNvSpPr/>
          <p:nvPr/>
        </p:nvSpPr>
        <p:spPr>
          <a:xfrm>
            <a:off x="7851648" y="1892808"/>
            <a:ext cx="237744" cy="0"/>
          </a:xfrm>
          <a:prstGeom prst="line">
            <a:avLst/>
          </a:prstGeom>
          <a:noFill/>
          <a:ln w="25400">
            <a:solidFill>
              <a:schemeClr val="accent2"/>
            </a:solidFill>
            <a:prstDash val="solid"/>
            <a:tailEnd type="triangle"/>
          </a:ln>
        </p:spPr>
      </p:sp>
      <p:sp>
        <p:nvSpPr>
          <p:cNvPr id="21" name="card"/>
          <p:cNvSpPr/>
          <p:nvPr/>
        </p:nvSpPr>
        <p:spPr>
          <a:xfrm>
            <a:off x="8107680" y="1371600"/>
            <a:ext cx="3505200" cy="3931920"/>
          </a:xfrm>
          <a:prstGeom prst="roundRect">
            <a:avLst>
              <a:gd name="adj" fmla="val 3130"/>
            </a:avLst>
          </a:prstGeom>
          <a:solidFill>
            <a:schemeClr val="bg2"/>
          </a:solidFill>
          <a:ln/>
          <a:effectLst>
            <a:outerShdw sx="100000" sy="100000" kx="0" ky="0" algn="bl" rotWithShape="0" blurRad="76200" dist="25400" dir="5400000">
              <a:srgbClr val="8A97AB">
                <a:alpha val="25000"/>
              </a:srgbClr>
            </a:outerShdw>
          </a:effectLst>
        </p:spPr>
      </p:sp>
      <p:sp>
        <p:nvSpPr>
          <p:cNvPr id="22" name="Shape 18"/>
          <p:cNvSpPr/>
          <p:nvPr/>
        </p:nvSpPr>
        <p:spPr>
          <a:xfrm>
            <a:off x="8336280" y="1600200"/>
            <a:ext cx="594360" cy="594360"/>
          </a:xfrm>
          <a:prstGeom prst="ellipse">
            <a:avLst/>
          </a:prstGeom>
          <a:solidFill>
            <a:schemeClr val="tx2"/>
          </a:solidFill>
          <a:ln/>
        </p:spPr>
      </p:sp>
      <p:sp>
        <p:nvSpPr>
          <p:cNvPr id="23" name="Text 19"/>
          <p:cNvSpPr txBox="1"/>
          <p:nvPr/>
        </p:nvSpPr>
        <p:spPr>
          <a:xfrm>
            <a:off x="8336280" y="160020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3</a:t>
            </a:r>
            <a:endParaRPr lang="en-US" sz="1800" dirty="0"/>
          </a:p>
        </p:txBody>
      </p:sp>
      <p:sp>
        <p:nvSpPr>
          <p:cNvPr id="24" name="icon circle"/>
          <p:cNvSpPr/>
          <p:nvPr/>
        </p:nvSpPr>
        <p:spPr>
          <a:xfrm>
            <a:off x="10789920" y="1600200"/>
            <a:ext cx="594360" cy="594360"/>
          </a:xfrm>
          <a:prstGeom prst="ellipse">
            <a:avLst/>
          </a:prstGeom>
          <a:solidFill>
            <a:schemeClr val="accent3"/>
          </a:solidFill>
          <a:ln/>
        </p:spPr>
      </p:sp>
      <p:pic>
        <p:nvPicPr>
          <p:cNvPr id="25" name="Image 2" descr="FaCheck">    </p:cNvPr>
          <p:cNvPicPr>
            <a:picLocks noChangeAspect="1"/>
          </p:cNvPicPr>
          <p:nvPr/>
        </p:nvPicPr>
        <p:blipFill>
          <a:blip r:embed="rId3"/>
          <a:stretch>
            <a:fillRect/>
          </a:stretch>
        </p:blipFill>
        <p:spPr>
          <a:xfrm>
            <a:off x="10938510" y="1748790"/>
            <a:ext cx="297180" cy="297180"/>
          </a:xfrm>
          <a:prstGeom prst="rect">
            <a:avLst/>
          </a:prstGeom>
        </p:spPr>
      </p:pic>
      <p:sp>
        <p:nvSpPr>
          <p:cNvPr id="26" name="Text 21"/>
          <p:cNvSpPr txBox="1"/>
          <p:nvPr/>
        </p:nvSpPr>
        <p:spPr>
          <a:xfrm>
            <a:off x="8336280" y="2377440"/>
            <a:ext cx="3048000" cy="685800"/>
          </a:xfrm>
          <a:prstGeom prst="rect">
            <a:avLst/>
          </a:prstGeom>
          <a:noFill/>
          <a:ln/>
        </p:spPr>
        <p:txBody>
          <a:bodyPr wrap="square" lIns="0" tIns="0" rIns="0" bIns="0" rtlCol="0" anchor="t"/>
          <a:lstStyle/>
          <a:p>
            <a:pPr indent="0" marL="0">
              <a:buNone/>
            </a:pPr>
            <a:r>
              <a:rPr lang="en-US" sz="1800" b="1" dirty="0">
                <a:solidFill>
                  <a:schemeClr val="tx2"/>
                </a:solidFill>
              </a:rPr>
              <a:t>Verify</a:t>
            </a:r>
            <a:endParaRPr lang="en-US" sz="1800" dirty="0"/>
          </a:p>
        </p:txBody>
      </p:sp>
      <p:sp>
        <p:nvSpPr>
          <p:cNvPr id="27" name="Text 22"/>
          <p:cNvSpPr txBox="1"/>
          <p:nvPr/>
        </p:nvSpPr>
        <p:spPr>
          <a:xfrm>
            <a:off x="8336280" y="3063240"/>
            <a:ext cx="3048000" cy="36576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Open RStudio</a:t>
            </a:r>
            <a:endParaRPr lang="en-US" sz="1300" dirty="0"/>
          </a:p>
        </p:txBody>
      </p:sp>
      <p:sp>
        <p:nvSpPr>
          <p:cNvPr id="28" name="Text 23"/>
          <p:cNvSpPr txBox="1"/>
          <p:nvPr/>
        </p:nvSpPr>
        <p:spPr>
          <a:xfrm>
            <a:off x="8336280" y="3520440"/>
            <a:ext cx="3048000" cy="1691640"/>
          </a:xfrm>
          <a:prstGeom prst="rect">
            <a:avLst/>
          </a:prstGeom>
          <a:noFill/>
          <a:ln/>
        </p:spPr>
        <p:txBody>
          <a:bodyPr wrap="square" lIns="0" tIns="0" rIns="0" bIns="0" rtlCol="0" anchor="t"/>
          <a:lstStyle/>
          <a:p>
            <a:pPr indent="0" marL="0">
              <a:buNone/>
            </a:pPr>
            <a:r>
              <a:rPr lang="en-US" sz="1400" dirty="0">
                <a:solidFill>
                  <a:schemeClr val="accent5"/>
                </a:solidFill>
              </a:rPr>
              <a:t>Print the R version, run a simple sum and save a script.</a:t>
            </a:r>
            <a:endParaRPr lang="en-US" sz="1400" dirty="0"/>
          </a:p>
        </p:txBody>
      </p:sp>
      <p:sp>
        <p:nvSpPr>
          <p:cNvPr id="29" name="key idea"/>
          <p:cNvSpPr/>
          <p:nvPr/>
        </p:nvSpPr>
        <p:spPr>
          <a:xfrm>
            <a:off x="548640" y="5486400"/>
            <a:ext cx="11064240" cy="594360"/>
          </a:xfrm>
          <a:prstGeom prst="roundRect">
            <a:avLst>
              <a:gd name="adj" fmla="val 18462"/>
            </a:avLst>
          </a:prstGeom>
          <a:solidFill>
            <a:schemeClr val="accent6"/>
          </a:solidFill>
          <a:ln/>
          <a:effectLst>
            <a:outerShdw sx="100000" sy="100000" kx="0" ky="0" algn="bl" rotWithShape="0" blurRad="76200" dist="25400" dir="5400000">
              <a:srgbClr val="8A97AB">
                <a:alpha val="25000"/>
              </a:srgbClr>
            </a:outerShdw>
          </a:effectLst>
        </p:spPr>
      </p:sp>
      <p:sp>
        <p:nvSpPr>
          <p:cNvPr id="30" name="Text 25"/>
          <p:cNvSpPr txBox="1"/>
          <p:nvPr/>
        </p:nvSpPr>
        <p:spPr>
          <a:xfrm>
            <a:off x="822960" y="5486400"/>
            <a:ext cx="10515600" cy="594360"/>
          </a:xfrm>
          <a:prstGeom prst="rect">
            <a:avLst/>
          </a:prstGeom>
          <a:noFill/>
          <a:ln/>
        </p:spPr>
        <p:txBody>
          <a:bodyPr wrap="square" lIns="0" tIns="0" rIns="0" bIns="0" rtlCol="0" anchor="ctr"/>
          <a:lstStyle/>
          <a:p>
            <a:pPr indent="0" marL="0">
              <a:buNone/>
            </a:pPr>
            <a:r>
              <a:rPr lang="en-US" sz="1500" b="1" dirty="0">
                <a:solidFill>
                  <a:schemeClr val="accent4"/>
                </a:solidFill>
              </a:rPr>
              <a:t>Note  </a:t>
            </a:r>
            <a:pPr indent="0" marL="0">
              <a:buNone/>
            </a:pPr>
            <a:r>
              <a:rPr lang="en-US" sz="1500" dirty="0">
                <a:solidFill>
                  <a:schemeClr val="tx1"/>
                </a:solidFill>
              </a:rPr>
              <a:t>R first, then RStudio. Windows: Rtools is a separate download, needed only to build packages from source.</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The four panes of RStudio</a:t>
            </a:r>
            <a:endParaRPr lang="en-US" sz="3200" dirty="0"/>
          </a:p>
        </p:txBody>
      </p:sp>
      <p:sp>
        <p:nvSpPr>
          <p:cNvPr id="3" name="card"/>
          <p:cNvSpPr/>
          <p:nvPr/>
        </p:nvSpPr>
        <p:spPr>
          <a:xfrm>
            <a:off x="548640" y="1371600"/>
            <a:ext cx="5417820" cy="2081174"/>
          </a:xfrm>
          <a:prstGeom prst="roundRect">
            <a:avLst>
              <a:gd name="adj" fmla="val 5272"/>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777240" y="1600200"/>
            <a:ext cx="709574" cy="709574"/>
          </a:xfrm>
          <a:prstGeom prst="ellipse">
            <a:avLst/>
          </a:prstGeom>
          <a:solidFill>
            <a:schemeClr val="accent1"/>
          </a:solidFill>
          <a:ln/>
        </p:spPr>
      </p:sp>
      <p:pic>
        <p:nvPicPr>
          <p:cNvPr id="5" name="Image 0" descr="FaEdit">    </p:cNvPr>
          <p:cNvPicPr>
            <a:picLocks noChangeAspect="1"/>
          </p:cNvPicPr>
          <p:nvPr/>
        </p:nvPicPr>
        <p:blipFill>
          <a:blip r:embed="rId1"/>
          <a:stretch>
            <a:fillRect/>
          </a:stretch>
        </p:blipFill>
        <p:spPr>
          <a:xfrm>
            <a:off x="954634" y="1777594"/>
            <a:ext cx="354787" cy="354787"/>
          </a:xfrm>
          <a:prstGeom prst="rect">
            <a:avLst/>
          </a:prstGeom>
        </p:spPr>
      </p:pic>
      <p:sp>
        <p:nvSpPr>
          <p:cNvPr id="6" name="Text 3"/>
          <p:cNvSpPr txBox="1"/>
          <p:nvPr/>
        </p:nvSpPr>
        <p:spPr>
          <a:xfrm>
            <a:off x="1669694" y="1600200"/>
            <a:ext cx="4068166" cy="709574"/>
          </a:xfrm>
          <a:prstGeom prst="rect">
            <a:avLst/>
          </a:prstGeom>
          <a:noFill/>
          <a:ln/>
        </p:spPr>
        <p:txBody>
          <a:bodyPr wrap="square" lIns="0" tIns="0" rIns="0" bIns="0" rtlCol="0" anchor="ctr"/>
          <a:lstStyle/>
          <a:p>
            <a:pPr indent="0" marL="0">
              <a:buNone/>
            </a:pPr>
            <a:r>
              <a:rPr lang="en-US" sz="1700" b="1" dirty="0">
                <a:solidFill>
                  <a:schemeClr val="tx2"/>
                </a:solidFill>
              </a:rPr>
              <a:t>Source Editor</a:t>
            </a:r>
            <a:endParaRPr lang="en-US" sz="1700" dirty="0"/>
          </a:p>
        </p:txBody>
      </p:sp>
      <p:sp>
        <p:nvSpPr>
          <p:cNvPr id="7" name="Text 4"/>
          <p:cNvSpPr txBox="1"/>
          <p:nvPr/>
        </p:nvSpPr>
        <p:spPr>
          <a:xfrm>
            <a:off x="777240" y="2492654"/>
            <a:ext cx="4960620" cy="850392"/>
          </a:xfrm>
          <a:prstGeom prst="rect">
            <a:avLst/>
          </a:prstGeom>
          <a:noFill/>
          <a:ln/>
        </p:spPr>
        <p:txBody>
          <a:bodyPr wrap="square" lIns="0" tIns="0" rIns="0" bIns="0" rtlCol="0" anchor="t"/>
          <a:lstStyle/>
          <a:p>
            <a:pPr indent="0" marL="0">
              <a:buNone/>
            </a:pPr>
            <a:r>
              <a:rPr lang="en-US" sz="1800" dirty="0">
                <a:solidFill>
                  <a:schemeClr val="accent5"/>
                </a:solidFill>
              </a:rPr>
              <a:t>Write, edit and save scripts (.R files). Top left by default.</a:t>
            </a:r>
            <a:endParaRPr lang="en-US" sz="1800" dirty="0"/>
          </a:p>
        </p:txBody>
      </p:sp>
      <p:sp>
        <p:nvSpPr>
          <p:cNvPr id="8" name="card"/>
          <p:cNvSpPr/>
          <p:nvPr/>
        </p:nvSpPr>
        <p:spPr>
          <a:xfrm>
            <a:off x="6195060" y="1371600"/>
            <a:ext cx="5417820" cy="2081174"/>
          </a:xfrm>
          <a:prstGeom prst="roundRect">
            <a:avLst>
              <a:gd name="adj" fmla="val 5272"/>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6423660" y="1600200"/>
            <a:ext cx="709574" cy="709574"/>
          </a:xfrm>
          <a:prstGeom prst="ellipse">
            <a:avLst/>
          </a:prstGeom>
          <a:solidFill>
            <a:schemeClr val="accent3"/>
          </a:solidFill>
          <a:ln/>
        </p:spPr>
      </p:sp>
      <p:pic>
        <p:nvPicPr>
          <p:cNvPr id="10" name="Image 1" descr="FaListUl">    </p:cNvPr>
          <p:cNvPicPr>
            <a:picLocks noChangeAspect="1"/>
          </p:cNvPicPr>
          <p:nvPr/>
        </p:nvPicPr>
        <p:blipFill>
          <a:blip r:embed="rId2"/>
          <a:stretch>
            <a:fillRect/>
          </a:stretch>
        </p:blipFill>
        <p:spPr>
          <a:xfrm>
            <a:off x="6601054" y="1777594"/>
            <a:ext cx="354787" cy="354787"/>
          </a:xfrm>
          <a:prstGeom prst="rect">
            <a:avLst/>
          </a:prstGeom>
        </p:spPr>
      </p:pic>
      <p:sp>
        <p:nvSpPr>
          <p:cNvPr id="11" name="Text 7"/>
          <p:cNvSpPr txBox="1"/>
          <p:nvPr/>
        </p:nvSpPr>
        <p:spPr>
          <a:xfrm>
            <a:off x="7316114" y="1600200"/>
            <a:ext cx="4068166" cy="709574"/>
          </a:xfrm>
          <a:prstGeom prst="rect">
            <a:avLst/>
          </a:prstGeom>
          <a:noFill/>
          <a:ln/>
        </p:spPr>
        <p:txBody>
          <a:bodyPr wrap="square" lIns="0" tIns="0" rIns="0" bIns="0" rtlCol="0" anchor="ctr"/>
          <a:lstStyle/>
          <a:p>
            <a:pPr indent="0" marL="0">
              <a:buNone/>
            </a:pPr>
            <a:r>
              <a:rPr lang="en-US" sz="1700" b="1" dirty="0">
                <a:solidFill>
                  <a:schemeClr val="tx2"/>
                </a:solidFill>
              </a:rPr>
              <a:t>Environment · History</a:t>
            </a:r>
            <a:endParaRPr lang="en-US" sz="1700" dirty="0"/>
          </a:p>
        </p:txBody>
      </p:sp>
      <p:sp>
        <p:nvSpPr>
          <p:cNvPr id="12" name="Text 8"/>
          <p:cNvSpPr txBox="1"/>
          <p:nvPr/>
        </p:nvSpPr>
        <p:spPr>
          <a:xfrm>
            <a:off x="6423660" y="2492654"/>
            <a:ext cx="4960620" cy="850392"/>
          </a:xfrm>
          <a:prstGeom prst="rect">
            <a:avLst/>
          </a:prstGeom>
          <a:noFill/>
          <a:ln/>
        </p:spPr>
        <p:txBody>
          <a:bodyPr wrap="square" lIns="0" tIns="0" rIns="0" bIns="0" rtlCol="0" anchor="t"/>
          <a:lstStyle/>
          <a:p>
            <a:pPr indent="0" marL="0">
              <a:buNone/>
            </a:pPr>
            <a:r>
              <a:rPr lang="en-US" sz="1800" dirty="0">
                <a:solidFill>
                  <a:schemeClr val="accent5"/>
                </a:solidFill>
              </a:rPr>
              <a:t>Objects in memory and past commands. Top right.</a:t>
            </a:r>
            <a:endParaRPr lang="en-US" sz="1800" dirty="0"/>
          </a:p>
        </p:txBody>
      </p:sp>
      <p:sp>
        <p:nvSpPr>
          <p:cNvPr id="13" name="card"/>
          <p:cNvSpPr/>
          <p:nvPr/>
        </p:nvSpPr>
        <p:spPr>
          <a:xfrm>
            <a:off x="548640" y="3681374"/>
            <a:ext cx="5417820" cy="2081174"/>
          </a:xfrm>
          <a:prstGeom prst="roundRect">
            <a:avLst>
              <a:gd name="adj" fmla="val 5272"/>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777240" y="3909974"/>
            <a:ext cx="709574" cy="709574"/>
          </a:xfrm>
          <a:prstGeom prst="ellipse">
            <a:avLst/>
          </a:prstGeom>
          <a:solidFill>
            <a:schemeClr val="tx2"/>
          </a:solidFill>
          <a:ln/>
        </p:spPr>
      </p:sp>
      <p:pic>
        <p:nvPicPr>
          <p:cNvPr id="15" name="Image 2" descr="FaTerminal">    </p:cNvPr>
          <p:cNvPicPr>
            <a:picLocks noChangeAspect="1"/>
          </p:cNvPicPr>
          <p:nvPr/>
        </p:nvPicPr>
        <p:blipFill>
          <a:blip r:embed="rId3"/>
          <a:stretch>
            <a:fillRect/>
          </a:stretch>
        </p:blipFill>
        <p:spPr>
          <a:xfrm>
            <a:off x="954634" y="4087368"/>
            <a:ext cx="354787" cy="354787"/>
          </a:xfrm>
          <a:prstGeom prst="rect">
            <a:avLst/>
          </a:prstGeom>
        </p:spPr>
      </p:pic>
      <p:sp>
        <p:nvSpPr>
          <p:cNvPr id="16" name="Text 11"/>
          <p:cNvSpPr txBox="1"/>
          <p:nvPr/>
        </p:nvSpPr>
        <p:spPr>
          <a:xfrm>
            <a:off x="1669694" y="3909974"/>
            <a:ext cx="4068166" cy="709574"/>
          </a:xfrm>
          <a:prstGeom prst="rect">
            <a:avLst/>
          </a:prstGeom>
          <a:noFill/>
          <a:ln/>
        </p:spPr>
        <p:txBody>
          <a:bodyPr wrap="square" lIns="0" tIns="0" rIns="0" bIns="0" rtlCol="0" anchor="ctr"/>
          <a:lstStyle/>
          <a:p>
            <a:pPr indent="0" marL="0">
              <a:buNone/>
            </a:pPr>
            <a:r>
              <a:rPr lang="en-US" sz="1700" b="1" dirty="0">
                <a:solidFill>
                  <a:schemeClr val="tx2"/>
                </a:solidFill>
              </a:rPr>
              <a:t>Console</a:t>
            </a:r>
            <a:endParaRPr lang="en-US" sz="1700" dirty="0"/>
          </a:p>
        </p:txBody>
      </p:sp>
      <p:sp>
        <p:nvSpPr>
          <p:cNvPr id="17" name="Text 12"/>
          <p:cNvSpPr txBox="1"/>
          <p:nvPr/>
        </p:nvSpPr>
        <p:spPr>
          <a:xfrm>
            <a:off x="777240" y="4802429"/>
            <a:ext cx="4960620" cy="850392"/>
          </a:xfrm>
          <a:prstGeom prst="rect">
            <a:avLst/>
          </a:prstGeom>
          <a:noFill/>
          <a:ln/>
        </p:spPr>
        <p:txBody>
          <a:bodyPr wrap="square" lIns="0" tIns="0" rIns="0" bIns="0" rtlCol="0" anchor="t"/>
          <a:lstStyle/>
          <a:p>
            <a:pPr indent="0" marL="0">
              <a:buNone/>
            </a:pPr>
            <a:r>
              <a:rPr lang="en-US" sz="1800" dirty="0">
                <a:solidFill>
                  <a:schemeClr val="accent5"/>
                </a:solidFill>
              </a:rPr>
              <a:t>Where commands actually run. Bottom left.</a:t>
            </a:r>
            <a:endParaRPr lang="en-US" sz="1800" dirty="0"/>
          </a:p>
        </p:txBody>
      </p:sp>
      <p:sp>
        <p:nvSpPr>
          <p:cNvPr id="18" name="card"/>
          <p:cNvSpPr/>
          <p:nvPr/>
        </p:nvSpPr>
        <p:spPr>
          <a:xfrm>
            <a:off x="6195060" y="3681374"/>
            <a:ext cx="5417820" cy="2081174"/>
          </a:xfrm>
          <a:prstGeom prst="roundRect">
            <a:avLst>
              <a:gd name="adj" fmla="val 5272"/>
            </a:avLst>
          </a:prstGeom>
          <a:solidFill>
            <a:schemeClr val="bg2"/>
          </a:solidFill>
          <a:ln/>
          <a:effectLst>
            <a:outerShdw sx="100000" sy="100000" kx="0" ky="0" algn="bl" rotWithShape="0" blurRad="76200" dist="25400" dir="5400000">
              <a:srgbClr val="8A97AB">
                <a:alpha val="25000"/>
              </a:srgbClr>
            </a:outerShdw>
          </a:effectLst>
        </p:spPr>
      </p:sp>
      <p:sp>
        <p:nvSpPr>
          <p:cNvPr id="19" name="icon circle"/>
          <p:cNvSpPr/>
          <p:nvPr/>
        </p:nvSpPr>
        <p:spPr>
          <a:xfrm>
            <a:off x="6423660" y="3909974"/>
            <a:ext cx="709574" cy="709574"/>
          </a:xfrm>
          <a:prstGeom prst="ellipse">
            <a:avLst/>
          </a:prstGeom>
          <a:solidFill>
            <a:schemeClr val="accent2"/>
          </a:solidFill>
          <a:ln/>
        </p:spPr>
      </p:sp>
      <p:pic>
        <p:nvPicPr>
          <p:cNvPr id="20" name="Image 3" descr="FaThLarge">    </p:cNvPr>
          <p:cNvPicPr>
            <a:picLocks noChangeAspect="1"/>
          </p:cNvPicPr>
          <p:nvPr/>
        </p:nvPicPr>
        <p:blipFill>
          <a:blip r:embed="rId4"/>
          <a:stretch>
            <a:fillRect/>
          </a:stretch>
        </p:blipFill>
        <p:spPr>
          <a:xfrm>
            <a:off x="6601054" y="4087368"/>
            <a:ext cx="354787" cy="354787"/>
          </a:xfrm>
          <a:prstGeom prst="rect">
            <a:avLst/>
          </a:prstGeom>
        </p:spPr>
      </p:pic>
      <p:sp>
        <p:nvSpPr>
          <p:cNvPr id="21" name="Text 15"/>
          <p:cNvSpPr txBox="1"/>
          <p:nvPr/>
        </p:nvSpPr>
        <p:spPr>
          <a:xfrm>
            <a:off x="7316114" y="3909974"/>
            <a:ext cx="4068166" cy="709574"/>
          </a:xfrm>
          <a:prstGeom prst="rect">
            <a:avLst/>
          </a:prstGeom>
          <a:noFill/>
          <a:ln/>
        </p:spPr>
        <p:txBody>
          <a:bodyPr wrap="square" lIns="0" tIns="0" rIns="0" bIns="0" rtlCol="0" anchor="ctr"/>
          <a:lstStyle/>
          <a:p>
            <a:pPr indent="0" marL="0">
              <a:buNone/>
            </a:pPr>
            <a:r>
              <a:rPr lang="en-US" sz="1700" b="1" dirty="0">
                <a:solidFill>
                  <a:schemeClr val="tx2"/>
                </a:solidFill>
              </a:rPr>
              <a:t>Files · Plots · Packages · Help</a:t>
            </a:r>
            <a:endParaRPr lang="en-US" sz="1700" dirty="0"/>
          </a:p>
        </p:txBody>
      </p:sp>
      <p:sp>
        <p:nvSpPr>
          <p:cNvPr id="22" name="Text 16"/>
          <p:cNvSpPr txBox="1"/>
          <p:nvPr/>
        </p:nvSpPr>
        <p:spPr>
          <a:xfrm>
            <a:off x="6423660" y="4802429"/>
            <a:ext cx="4960620" cy="850392"/>
          </a:xfrm>
          <a:prstGeom prst="rect">
            <a:avLst/>
          </a:prstGeom>
          <a:noFill/>
          <a:ln/>
        </p:spPr>
        <p:txBody>
          <a:bodyPr wrap="square" lIns="0" tIns="0" rIns="0" bIns="0" rtlCol="0" anchor="t"/>
          <a:lstStyle/>
          <a:p>
            <a:pPr indent="0" marL="0">
              <a:buNone/>
            </a:pPr>
            <a:r>
              <a:rPr lang="en-US" sz="1800" dirty="0">
                <a:solidFill>
                  <a:schemeClr val="accent5"/>
                </a:solidFill>
              </a:rPr>
              <a:t>Files, graphs, installed packages and documentation. Bottom right.</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Check your setup</a:t>
            </a:r>
            <a:endParaRPr lang="en-US" sz="3200" dirty="0"/>
          </a:p>
        </p:txBody>
      </p:sp>
      <p:sp>
        <p:nvSpPr>
          <p:cNvPr id="3" name="code panel"/>
          <p:cNvSpPr/>
          <p:nvPr/>
        </p:nvSpPr>
        <p:spPr>
          <a:xfrm>
            <a:off x="548640" y="1325880"/>
            <a:ext cx="6766560" cy="3977640"/>
          </a:xfrm>
          <a:prstGeom prst="roundRect">
            <a:avLst>
              <a:gd name="adj" fmla="val 2299"/>
            </a:avLst>
          </a:prstGeom>
          <a:solidFill>
            <a:schemeClr val="tx1"/>
          </a:solidFill>
          <a:ln/>
        </p:spPr>
      </p:sp>
      <p:sp>
        <p:nvSpPr>
          <p:cNvPr id="4" name="Text 2"/>
          <p:cNvSpPr txBox="1"/>
          <p:nvPr/>
        </p:nvSpPr>
        <p:spPr>
          <a:xfrm>
            <a:off x="822960" y="1527048"/>
            <a:ext cx="6217920" cy="3575304"/>
          </a:xfrm>
          <a:prstGeom prst="rect">
            <a:avLst/>
          </a:prstGeom>
          <a:noFill/>
          <a:ln/>
        </p:spPr>
        <p:txBody>
          <a:bodyPr wrap="square" lIns="0" tIns="0" rIns="0" bIns="0" rtlCol="0" anchor="t"/>
          <a:lstStyle/>
          <a:p>
            <a:pPr indent="0" marL="0">
              <a:spcAft>
                <a:spcPts val="200"/>
              </a:spcAft>
              <a:buNone/>
            </a:pPr>
            <a:r>
              <a:rPr lang="en-US" sz="1500" dirty="0">
                <a:solidFill>
                  <a:schemeClr val="accent2"/>
                </a:solidFill>
                <a:latin typeface="Courier New" pitchFamily="34" charset="0"/>
                <a:ea typeface="Courier New" pitchFamily="34" charset="-122"/>
                <a:cs typeface="Courier New" pitchFamily="34" charset="-120"/>
              </a:rPr>
              <a:t># Which version of R am I running?</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R.version.string</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spcAft>
                <a:spcPts val="200"/>
              </a:spcAft>
              <a:buNone/>
            </a:pPr>
            <a:r>
              <a:rPr lang="en-US" sz="1500" dirty="0">
                <a:solidFill>
                  <a:schemeClr val="accent2"/>
                </a:solidFill>
                <a:latin typeface="Courier New" pitchFamily="34" charset="0"/>
                <a:ea typeface="Courier New" pitchFamily="34" charset="-122"/>
                <a:cs typeface="Courier New" pitchFamily="34" charset="-120"/>
              </a:rPr>
              <a:t># Is R calculating?</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2 + 3</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spcAft>
                <a:spcPts val="200"/>
              </a:spcAft>
              <a:buNone/>
            </a:pPr>
            <a:r>
              <a:rPr lang="en-US" sz="1500" dirty="0">
                <a:solidFill>
                  <a:schemeClr val="accent2"/>
                </a:solidFill>
                <a:latin typeface="Courier New" pitchFamily="34" charset="0"/>
                <a:ea typeface="Courier New" pitchFamily="34" charset="-122"/>
                <a:cs typeface="Courier New" pitchFamily="34" charset="-120"/>
              </a:rPr>
              <a:t># File &gt; New File &gt; R Script, type a line,</a:t>
            </a:r>
            <a:endParaRPr lang="en-US" sz="1500" dirty="0"/>
          </a:p>
          <a:p>
            <a:pPr indent="0" marL="0">
              <a:spcAft>
                <a:spcPts val="200"/>
              </a:spcAft>
              <a:buNone/>
            </a:pPr>
            <a:r>
              <a:rPr lang="en-US" sz="1500" dirty="0">
                <a:solidFill>
                  <a:schemeClr val="accent2"/>
                </a:solidFill>
                <a:latin typeface="Courier New" pitchFamily="34" charset="0"/>
                <a:ea typeface="Courier New" pitchFamily="34" charset="-122"/>
                <a:cs typeface="Courier New" pitchFamily="34" charset="-120"/>
              </a:rPr>
              <a:t># then save it as first-practical.R</a:t>
            </a:r>
            <a:endParaRPr lang="en-US" sz="1500" dirty="0"/>
          </a:p>
        </p:txBody>
      </p:sp>
      <p:sp>
        <p:nvSpPr>
          <p:cNvPr id="5" name="note"/>
          <p:cNvSpPr/>
          <p:nvPr/>
        </p:nvSpPr>
        <p:spPr>
          <a:xfrm>
            <a:off x="7543800" y="1325880"/>
            <a:ext cx="4069080" cy="1874520"/>
          </a:xfrm>
          <a:prstGeom prst="roundRect">
            <a:avLst>
              <a:gd name="adj" fmla="val 5854"/>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Keyboard">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Run the current line</a:t>
            </a:r>
            <a:endParaRPr lang="en-US" sz="1600" dirty="0"/>
          </a:p>
        </p:txBody>
      </p:sp>
      <p:sp>
        <p:nvSpPr>
          <p:cNvPr id="9" name="Text 6"/>
          <p:cNvSpPr txBox="1"/>
          <p:nvPr/>
        </p:nvSpPr>
        <p:spPr>
          <a:xfrm>
            <a:off x="7772400" y="2148840"/>
            <a:ext cx="3611880" cy="960120"/>
          </a:xfrm>
          <a:prstGeom prst="rect">
            <a:avLst/>
          </a:prstGeom>
          <a:noFill/>
          <a:ln/>
        </p:spPr>
        <p:txBody>
          <a:bodyPr wrap="square" lIns="0" tIns="0" rIns="0" bIns="0" rtlCol="0" anchor="t"/>
          <a:lstStyle/>
          <a:p>
            <a:pPr indent="0" marL="0">
              <a:buNone/>
            </a:pPr>
            <a:r>
              <a:rPr lang="en-US" sz="1400" b="1" dirty="0">
                <a:solidFill>
                  <a:schemeClr val="tx1"/>
                </a:solidFill>
              </a:rPr>
              <a:t>Ctrl + Enter</a:t>
            </a:r>
            <a:pPr indent="0" marL="0">
              <a:buNone/>
            </a:pPr>
            <a:r>
              <a:rPr lang="en-US" sz="1400" dirty="0">
                <a:solidFill>
                  <a:schemeClr val="tx1"/>
                </a:solidFill>
              </a:rPr>
              <a:t> on Windows and Linux; </a:t>
            </a:r>
            <a:pPr indent="0" marL="0">
              <a:buNone/>
            </a:pPr>
            <a:r>
              <a:rPr lang="en-US" sz="1400" b="1" dirty="0">
                <a:solidFill>
                  <a:schemeClr val="tx1"/>
                </a:solidFill>
              </a:rPr>
              <a:t>Cmd + Enter</a:t>
            </a:r>
            <a:pPr indent="0" marL="0">
              <a:buNone/>
            </a:pPr>
            <a:r>
              <a:rPr lang="en-US" sz="1400" dirty="0">
                <a:solidFill>
                  <a:schemeClr val="tx1"/>
                </a:solidFill>
              </a:rPr>
              <a:t> on macOS.</a:t>
            </a:r>
            <a:endParaRPr lang="en-US" sz="1400" dirty="0"/>
          </a:p>
        </p:txBody>
      </p:sp>
      <p:sp>
        <p:nvSpPr>
          <p:cNvPr id="10" name="good"/>
          <p:cNvSpPr/>
          <p:nvPr/>
        </p:nvSpPr>
        <p:spPr>
          <a:xfrm>
            <a:off x="7543800" y="3429000"/>
            <a:ext cx="4069080" cy="1874520"/>
          </a:xfrm>
          <a:prstGeom prst="roundRect">
            <a:avLst>
              <a:gd name="adj" fmla="val 5854"/>
            </a:avLst>
          </a:prstGeom>
          <a:solidFill>
            <a:schemeClr val="accent6"/>
          </a:solidFill>
          <a:ln/>
          <a:effectLst>
            <a:outerShdw sx="100000" sy="100000" kx="0" ky="0" algn="bl" rotWithShape="0" blurRad="76200" dist="25400" dir="5400000">
              <a:srgbClr val="8A97AB">
                <a:alpha val="25000"/>
              </a:srgbClr>
            </a:outerShdw>
          </a:effectLst>
        </p:spPr>
      </p:sp>
      <p:sp>
        <p:nvSpPr>
          <p:cNvPr id="11" name="icon circle"/>
          <p:cNvSpPr/>
          <p:nvPr/>
        </p:nvSpPr>
        <p:spPr>
          <a:xfrm>
            <a:off x="7772400" y="3630168"/>
            <a:ext cx="548640" cy="548640"/>
          </a:xfrm>
          <a:prstGeom prst="ellipse">
            <a:avLst/>
          </a:prstGeom>
          <a:solidFill>
            <a:schemeClr val="accent3"/>
          </a:solidFill>
          <a:ln/>
        </p:spPr>
      </p:sp>
      <p:pic>
        <p:nvPicPr>
          <p:cNvPr id="12" name="Image 1" descr="FaCheck">    </p:cNvPr>
          <p:cNvPicPr>
            <a:picLocks noChangeAspect="1"/>
          </p:cNvPicPr>
          <p:nvPr/>
        </p:nvPicPr>
        <p:blipFill>
          <a:blip r:embed="rId2"/>
          <a:stretch>
            <a:fillRect/>
          </a:stretch>
        </p:blipFill>
        <p:spPr>
          <a:xfrm>
            <a:off x="7909560" y="3767328"/>
            <a:ext cx="274320" cy="274320"/>
          </a:xfrm>
          <a:prstGeom prst="rect">
            <a:avLst/>
          </a:prstGeom>
        </p:spPr>
      </p:pic>
      <p:sp>
        <p:nvSpPr>
          <p:cNvPr id="13" name="Text 9"/>
          <p:cNvSpPr txBox="1"/>
          <p:nvPr/>
        </p:nvSpPr>
        <p:spPr>
          <a:xfrm>
            <a:off x="8458200" y="3611880"/>
            <a:ext cx="2971800" cy="548640"/>
          </a:xfrm>
          <a:prstGeom prst="rect">
            <a:avLst/>
          </a:prstGeom>
          <a:noFill/>
          <a:ln/>
        </p:spPr>
        <p:txBody>
          <a:bodyPr wrap="square" lIns="0" tIns="0" rIns="0" bIns="0" rtlCol="0" anchor="ctr"/>
          <a:lstStyle/>
          <a:p>
            <a:pPr indent="0" marL="0">
              <a:buNone/>
            </a:pPr>
            <a:r>
              <a:rPr lang="en-US" sz="1600" b="1" dirty="0">
                <a:solidFill>
                  <a:schemeClr val="accent3"/>
                </a:solidFill>
              </a:rPr>
              <a:t>Checkpoint</a:t>
            </a:r>
            <a:endParaRPr lang="en-US" sz="1600" dirty="0"/>
          </a:p>
        </p:txBody>
      </p:sp>
      <p:sp>
        <p:nvSpPr>
          <p:cNvPr id="14" name="Text 10"/>
          <p:cNvSpPr txBox="1"/>
          <p:nvPr/>
        </p:nvSpPr>
        <p:spPr>
          <a:xfrm>
            <a:off x="7772400" y="4251960"/>
            <a:ext cx="3611880" cy="960120"/>
          </a:xfrm>
          <a:prstGeom prst="rect">
            <a:avLst/>
          </a:prstGeom>
          <a:noFill/>
          <a:ln/>
        </p:spPr>
        <p:txBody>
          <a:bodyPr wrap="square" lIns="0" tIns="0" rIns="0" bIns="0" rtlCol="0" anchor="t"/>
          <a:lstStyle/>
          <a:p>
            <a:pPr indent="0" marL="0">
              <a:buNone/>
            </a:pPr>
            <a:r>
              <a:rPr lang="en-US" sz="1400" dirty="0">
                <a:solidFill>
                  <a:schemeClr val="tx1"/>
                </a:solidFill>
              </a:rPr>
              <a:t>Open RStudio, run a calculation, save a script and state your R version.</a:t>
            </a:r>
            <a:endParaRPr lang="en-US" sz="1400" dirty="0"/>
          </a:p>
        </p:txBody>
      </p:sp>
      <p:sp>
        <p:nvSpPr>
          <p:cNvPr id="15" name="Text 11"/>
          <p:cNvSpPr txBox="1"/>
          <p:nvPr/>
        </p:nvSpPr>
        <p:spPr>
          <a:xfrm>
            <a:off x="548640" y="5440680"/>
            <a:ext cx="11064240" cy="640080"/>
          </a:xfrm>
          <a:prstGeom prst="rect">
            <a:avLst/>
          </a:prstGeom>
          <a:noFill/>
          <a:ln/>
        </p:spPr>
        <p:txBody>
          <a:bodyPr wrap="square" lIns="0" tIns="0" rIns="0" bIns="0" rtlCol="0" anchor="ctr"/>
          <a:lstStyle/>
          <a:p>
            <a:pPr indent="0" marL="0">
              <a:buNone/>
            </a:pPr>
            <a:r>
              <a:rPr lang="en-US" sz="1500" i="1" dirty="0">
                <a:solidFill>
                  <a:schemeClr val="accent5"/>
                </a:solidFill>
              </a:rPr>
              <a:t>Next: create a course project (File &gt; New Project) so that file paths stay portable.</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tion badge"/>
          <p:cNvSpPr/>
          <p:nvPr/>
        </p:nvSpPr>
        <p:spPr>
          <a:xfrm>
            <a:off x="731520" y="2606040"/>
            <a:ext cx="1188720" cy="1188720"/>
          </a:xfrm>
          <a:prstGeom prst="ellipse">
            <a:avLst/>
          </a:prstGeom>
          <a:solidFill>
            <a:schemeClr val="accent2"/>
          </a:solidFill>
          <a:ln/>
        </p:spPr>
      </p:sp>
      <p:sp>
        <p:nvSpPr>
          <p:cNvPr id="3" name="Text 1"/>
          <p:cNvSpPr txBox="1"/>
          <p:nvPr/>
        </p:nvSpPr>
        <p:spPr>
          <a:xfrm>
            <a:off x="731520" y="2606040"/>
            <a:ext cx="1188720" cy="1188720"/>
          </a:xfrm>
          <a:prstGeom prst="rect">
            <a:avLst/>
          </a:prstGeom>
          <a:noFill/>
          <a:ln/>
        </p:spPr>
        <p:txBody>
          <a:bodyPr wrap="square" lIns="0" tIns="0" rIns="0" bIns="0" rtlCol="0" anchor="ctr"/>
          <a:lstStyle/>
          <a:p>
            <a:pPr algn="ctr" indent="0" marL="0">
              <a:buNone/>
            </a:pPr>
            <a:r>
              <a:rPr lang="en-US" sz="3000" b="1" dirty="0">
                <a:solidFill>
                  <a:schemeClr val="tx2"/>
                </a:solidFill>
                <a:latin typeface="Cambria" pitchFamily="34" charset="0"/>
                <a:ea typeface="Cambria" pitchFamily="34" charset="-122"/>
                <a:cs typeface="Cambria" pitchFamily="34" charset="-120"/>
              </a:rPr>
              <a:t>C</a:t>
            </a:r>
            <a:endParaRPr lang="en-US" sz="3000" dirty="0"/>
          </a:p>
        </p:txBody>
      </p:sp>
      <p:sp>
        <p:nvSpPr>
          <p:cNvPr id="4"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r>
              <a:rPr lang="en-US" sz="3800" b="1" dirty="0">
                <a:solidFill>
                  <a:schemeClr val="bg1"/>
                </a:solidFill>
              </a:rPr>
              <a:t>Packages and a first calculation</a:t>
            </a:r>
            <a:endParaRPr lang="en-US" sz="3800" dirty="0"/>
          </a:p>
        </p:txBody>
      </p:sp>
      <p:sp>
        <p:nvSpPr>
          <p:cNvPr id="5"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r>
              <a:rPr lang="en-US" sz="1800" dirty="0">
                <a:solidFill>
                  <a:schemeClr val="accent6"/>
                </a:solidFill>
              </a:rPr>
              <a:t>Extending R and computing a yield</a:t>
            </a:r>
            <a:endParaRPr lang="en-US" sz="1800" dirty="0"/>
          </a:p>
        </p:txBody>
      </p:sp>
      <p:pic>
        <p:nvPicPr>
          <p:cNvPr id="6" name="Image 0" descr="decorative icon">    </p:cNvPr>
          <p:cNvPicPr>
            <a:picLocks noChangeAspect="1"/>
          </p:cNvPicPr>
          <p:nvPr/>
        </p:nvPicPr>
        <p:blipFill>
          <a:blip r:embed="rId1"/>
          <a:stretch>
            <a:fillRect/>
          </a:stretch>
        </p:blipFill>
        <p:spPr>
          <a:xfrm>
            <a:off x="9418320" y="4206240"/>
            <a:ext cx="2194560" cy="2194560"/>
          </a:xfrm>
          <a:prstGeom prst="rect">
            <a:avLst/>
          </a:prstGeom>
        </p:spPr>
      </p:pic>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Installing and loading packages</a:t>
            </a:r>
            <a:endParaRPr lang="en-US" sz="3200" dirty="0"/>
          </a:p>
        </p:txBody>
      </p:sp>
      <p:sp>
        <p:nvSpPr>
          <p:cNvPr id="3" name="code panel"/>
          <p:cNvSpPr/>
          <p:nvPr/>
        </p:nvSpPr>
        <p:spPr>
          <a:xfrm>
            <a:off x="548640" y="1325880"/>
            <a:ext cx="6766560" cy="4709160"/>
          </a:xfrm>
          <a:prstGeom prst="roundRect">
            <a:avLst>
              <a:gd name="adj" fmla="val 1942"/>
            </a:avLst>
          </a:prstGeom>
          <a:solidFill>
            <a:schemeClr val="tx1"/>
          </a:solidFill>
          <a:ln/>
        </p:spPr>
      </p:sp>
      <p:sp>
        <p:nvSpPr>
          <p:cNvPr id="4" name="Text 2"/>
          <p:cNvSpPr txBox="1"/>
          <p:nvPr/>
        </p:nvSpPr>
        <p:spPr>
          <a:xfrm>
            <a:off x="822960" y="1527048"/>
            <a:ext cx="6217920" cy="4306824"/>
          </a:xfrm>
          <a:prstGeom prst="rect">
            <a:avLst/>
          </a:prstGeom>
          <a:noFill/>
          <a:ln/>
        </p:spPr>
        <p:txBody>
          <a:bodyPr wrap="square" lIns="0" tIns="0" rIns="0" bIns="0" rtlCol="0" anchor="t"/>
          <a:lstStyle/>
          <a:p>
            <a:pPr indent="0" marL="0">
              <a:spcAft>
                <a:spcPts val="200"/>
              </a:spcAft>
              <a:buNone/>
            </a:pPr>
            <a:r>
              <a:rPr lang="en-US" sz="1500" dirty="0">
                <a:solidFill>
                  <a:schemeClr val="accent2"/>
                </a:solidFill>
                <a:latin typeface="Courier New" pitchFamily="34" charset="0"/>
                <a:ea typeface="Courier New" pitchFamily="34" charset="-122"/>
                <a:cs typeface="Courier New" pitchFamily="34" charset="-120"/>
              </a:rPr>
              <a:t># Install once per computer (from CRAN)</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install.packages(c("readr", "dplyr", "ggplot2"))</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spcAft>
                <a:spcPts val="200"/>
              </a:spcAft>
              <a:buNone/>
            </a:pPr>
            <a:r>
              <a:rPr lang="en-US" sz="1500" dirty="0">
                <a:solidFill>
                  <a:schemeClr val="accent2"/>
                </a:solidFill>
                <a:latin typeface="Courier New" pitchFamily="34" charset="0"/>
                <a:ea typeface="Courier New" pitchFamily="34" charset="-122"/>
                <a:cs typeface="Courier New" pitchFamily="34" charset="-120"/>
              </a:rPr>
              <a:t># Load in every session that uses it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library(dplyr)</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spcAft>
                <a:spcPts val="200"/>
              </a:spcAft>
              <a:buNone/>
            </a:pPr>
            <a:r>
              <a:rPr lang="en-US" sz="1500" dirty="0">
                <a:solidFill>
                  <a:schemeClr val="accent2"/>
                </a:solidFill>
                <a:latin typeface="Courier New" pitchFamily="34" charset="0"/>
                <a:ea typeface="Courier New" pitchFamily="34" charset="-122"/>
                <a:cs typeface="Courier New" pitchFamily="34" charset="-120"/>
              </a:rPr>
              <a:t># Or call one function explicitly</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dplyr::filter(crop, yield_t_ha &gt; 4)</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spcAft>
                <a:spcPts val="200"/>
              </a:spcAft>
              <a:buNone/>
            </a:pPr>
            <a:r>
              <a:rPr lang="en-US" sz="1500" dirty="0">
                <a:solidFill>
                  <a:schemeClr val="accent2"/>
                </a:solidFill>
                <a:latin typeface="Courier New" pitchFamily="34" charset="0"/>
                <a:ea typeface="Courier New" pitchFamily="34" charset="-122"/>
                <a:cs typeface="Courier New" pitchFamily="34" charset="-120"/>
              </a:rPr>
              <a:t># Help</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?sqrt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example(sqrt)</a:t>
            </a:r>
            <a:endParaRPr lang="en-US" sz="1500" dirty="0"/>
          </a:p>
        </p:txBody>
      </p:sp>
      <p:sp>
        <p:nvSpPr>
          <p:cNvPr id="5" name="note"/>
          <p:cNvSpPr/>
          <p:nvPr/>
        </p:nvSpPr>
        <p:spPr>
          <a:xfrm>
            <a:off x="7543800" y="132588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Archive">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Repositories</a:t>
            </a:r>
            <a:endParaRPr lang="en-US" sz="1600" dirty="0"/>
          </a:p>
        </p:txBody>
      </p:sp>
      <p:sp>
        <p:nvSpPr>
          <p:cNvPr id="9" name="Text 6"/>
          <p:cNvSpPr txBox="1"/>
          <p:nvPr/>
        </p:nvSpPr>
        <p:spPr>
          <a:xfrm>
            <a:off x="7772400" y="2148840"/>
            <a:ext cx="3611880" cy="1325880"/>
          </a:xfrm>
          <a:prstGeom prst="rect">
            <a:avLst/>
          </a:prstGeom>
          <a:noFill/>
          <a:ln/>
        </p:spPr>
        <p:txBody>
          <a:bodyPr wrap="square" lIns="0" tIns="0" rIns="0" bIns="0" rtlCol="0" anchor="t"/>
          <a:lstStyle/>
          <a:p>
            <a:pPr indent="0" marL="0">
              <a:buNone/>
            </a:pPr>
            <a:r>
              <a:rPr lang="en-US" sz="1400" b="1" dirty="0">
                <a:solidFill>
                  <a:schemeClr val="tx1"/>
                </a:solidFill>
              </a:rPr>
              <a:t>CRAN</a:t>
            </a:r>
            <a:pPr indent="0" marL="0">
              <a:buNone/>
            </a:pPr>
            <a:r>
              <a:rPr lang="en-US" sz="1400" dirty="0">
                <a:solidFill>
                  <a:schemeClr val="tx1"/>
                </a:solidFill>
              </a:rPr>
              <a:t> is the official archive; </a:t>
            </a:r>
            <a:pPr indent="0" marL="0">
              <a:buNone/>
            </a:pPr>
            <a:r>
              <a:rPr lang="en-US" sz="1400" b="1" dirty="0">
                <a:solidFill>
                  <a:schemeClr val="tx1"/>
                </a:solidFill>
              </a:rPr>
              <a:t>Bioconductor</a:t>
            </a:r>
            <a:pPr indent="0" marL="0">
              <a:buNone/>
            </a:pPr>
            <a:r>
              <a:rPr lang="en-US" sz="1400" dirty="0">
                <a:solidFill>
                  <a:schemeClr val="tx1"/>
                </a:solidFill>
              </a:rPr>
              <a:t> serves genomics; </a:t>
            </a:r>
            <a:pPr indent="0" marL="0">
              <a:buNone/>
            </a:pPr>
            <a:r>
              <a:rPr lang="en-US" sz="1400" b="1" dirty="0">
                <a:solidFill>
                  <a:schemeClr val="tx1"/>
                </a:solidFill>
              </a:rPr>
              <a:t>GitHub</a:t>
            </a:r>
            <a:pPr indent="0" marL="0">
              <a:buNone/>
            </a:pPr>
            <a:r>
              <a:rPr lang="en-US" sz="1400" dirty="0">
                <a:solidFill>
                  <a:schemeClr val="tx1"/>
                </a:solidFill>
              </a:rPr>
              <a:t> hosts development versions.</a:t>
            </a:r>
            <a:endParaRPr lang="en-US" sz="1400" dirty="0"/>
          </a:p>
        </p:txBody>
      </p:sp>
      <p:sp>
        <p:nvSpPr>
          <p:cNvPr id="10" name="note"/>
          <p:cNvSpPr/>
          <p:nvPr/>
        </p:nvSpPr>
        <p:spPr>
          <a:xfrm>
            <a:off x="7543800" y="379476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11" name="icon circle"/>
          <p:cNvSpPr/>
          <p:nvPr/>
        </p:nvSpPr>
        <p:spPr>
          <a:xfrm>
            <a:off x="7772400" y="3995928"/>
            <a:ext cx="548640" cy="548640"/>
          </a:xfrm>
          <a:prstGeom prst="ellipse">
            <a:avLst/>
          </a:prstGeom>
          <a:solidFill>
            <a:schemeClr val="accent2"/>
          </a:solidFill>
          <a:ln/>
        </p:spPr>
      </p:sp>
      <p:pic>
        <p:nvPicPr>
          <p:cNvPr id="12" name="Image 1" descr="FaRedo">    </p:cNvPr>
          <p:cNvPicPr>
            <a:picLocks noChangeAspect="1"/>
          </p:cNvPicPr>
          <p:nvPr/>
        </p:nvPicPr>
        <p:blipFill>
          <a:blip r:embed="rId2"/>
          <a:stretch>
            <a:fillRect/>
          </a:stretch>
        </p:blipFill>
        <p:spPr>
          <a:xfrm>
            <a:off x="7909560" y="4133088"/>
            <a:ext cx="274320" cy="274320"/>
          </a:xfrm>
          <a:prstGeom prst="rect">
            <a:avLst/>
          </a:prstGeom>
        </p:spPr>
      </p:pic>
      <p:sp>
        <p:nvSpPr>
          <p:cNvPr id="13" name="Text 9"/>
          <p:cNvSpPr txBox="1"/>
          <p:nvPr/>
        </p:nvSpPr>
        <p:spPr>
          <a:xfrm>
            <a:off x="8458200" y="397764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Install once, load each session</a:t>
            </a:r>
            <a:endParaRPr lang="en-US" sz="1600" dirty="0"/>
          </a:p>
        </p:txBody>
      </p:sp>
      <p:sp>
        <p:nvSpPr>
          <p:cNvPr id="14" name="Text 10"/>
          <p:cNvSpPr txBox="1"/>
          <p:nvPr/>
        </p:nvSpPr>
        <p:spPr>
          <a:xfrm>
            <a:off x="7772400" y="4617720"/>
            <a:ext cx="3611880" cy="1325880"/>
          </a:xfrm>
          <a:prstGeom prst="rect">
            <a:avLst/>
          </a:prstGeom>
          <a:noFill/>
          <a:ln/>
        </p:spPr>
        <p:txBody>
          <a:bodyPr wrap="square" lIns="0" tIns="0" rIns="0" bIns="0" rtlCol="0" anchor="t"/>
          <a:lstStyle/>
          <a:p>
            <a:pPr indent="0" marL="0">
              <a:buNone/>
            </a:pPr>
            <a:r>
              <a:rPr lang="en-US" sz="1400" dirty="0">
                <a:solidFill>
                  <a:schemeClr val="accent1"/>
                </a:solidFill>
                <a:latin typeface="Courier New" pitchFamily="34" charset="0"/>
                <a:ea typeface="Courier New" pitchFamily="34" charset="-122"/>
                <a:cs typeface="Courier New" pitchFamily="34" charset="-120"/>
              </a:rPr>
              <a:t>require()</a:t>
            </a:r>
            <a:pPr indent="0" marL="0">
              <a:buNone/>
            </a:pPr>
            <a:r>
              <a:rPr lang="en-US" sz="1400" dirty="0">
                <a:solidFill>
                  <a:schemeClr val="tx1"/>
                </a:solidFill>
              </a:rPr>
              <a:t> returns FALSE instead of stopping, so a failed load can go unnoticed.</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A first agricultural calculation</a:t>
            </a:r>
            <a:endParaRPr lang="en-US" sz="3200" dirty="0"/>
          </a:p>
        </p:txBody>
      </p:sp>
      <p:sp>
        <p:nvSpPr>
          <p:cNvPr id="3" name="Text 1"/>
          <p:cNvSpPr txBox="1"/>
          <p:nvPr/>
        </p:nvSpPr>
        <p:spPr>
          <a:xfrm>
            <a:off x="548640" y="1325880"/>
            <a:ext cx="11064240" cy="457200"/>
          </a:xfrm>
          <a:prstGeom prst="rect">
            <a:avLst/>
          </a:prstGeom>
          <a:noFill/>
          <a:ln/>
        </p:spPr>
        <p:txBody>
          <a:bodyPr wrap="square" lIns="0" tIns="0" rIns="0" bIns="0" rtlCol="0" anchor="t"/>
          <a:lstStyle/>
          <a:p>
            <a:pPr indent="0" marL="0">
              <a:buNone/>
            </a:pPr>
            <a:r>
              <a:rPr lang="en-US" sz="1700" dirty="0">
                <a:solidFill>
                  <a:schemeClr val="tx2"/>
                </a:solidFill>
              </a:rPr>
              <a:t>A 20 m² plot gave 9.6 kg of grain. What is the yield in t/ha?</a:t>
            </a:r>
            <a:endParaRPr lang="en-US" sz="1700" dirty="0"/>
          </a:p>
        </p:txBody>
      </p:sp>
      <p:sp>
        <p:nvSpPr>
          <p:cNvPr id="4" name="code panel"/>
          <p:cNvSpPr/>
          <p:nvPr/>
        </p:nvSpPr>
        <p:spPr>
          <a:xfrm>
            <a:off x="548640" y="1874520"/>
            <a:ext cx="6766560" cy="3429000"/>
          </a:xfrm>
          <a:prstGeom prst="roundRect">
            <a:avLst>
              <a:gd name="adj" fmla="val 2667"/>
            </a:avLst>
          </a:prstGeom>
          <a:solidFill>
            <a:schemeClr val="tx1"/>
          </a:solidFill>
          <a:ln/>
        </p:spPr>
      </p:sp>
      <p:sp>
        <p:nvSpPr>
          <p:cNvPr id="5" name="Text 3"/>
          <p:cNvSpPr txBox="1"/>
          <p:nvPr/>
        </p:nvSpPr>
        <p:spPr>
          <a:xfrm>
            <a:off x="822960" y="2075688"/>
            <a:ext cx="6217920" cy="3026664"/>
          </a:xfrm>
          <a:prstGeom prst="rect">
            <a:avLst/>
          </a:prstGeom>
          <a:noFill/>
          <a:ln/>
        </p:spPr>
        <p:txBody>
          <a:bodyPr wrap="square" lIns="0" tIns="0" rIns="0" bIns="0" rtlCol="0" anchor="t"/>
          <a:lstStyle/>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plot_area_m2 &lt;- 20</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grain_kg     &lt;- 9.6</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spcAft>
                <a:spcPts val="200"/>
              </a:spcAft>
              <a:buNone/>
            </a:pPr>
            <a:r>
              <a:rPr lang="en-US" sz="1500" dirty="0">
                <a:solidFill>
                  <a:schemeClr val="accent2"/>
                </a:solidFill>
                <a:latin typeface="Courier New" pitchFamily="34" charset="0"/>
                <a:ea typeface="Courier New" pitchFamily="34" charset="-122"/>
                <a:cs typeface="Courier New" pitchFamily="34" charset="-120"/>
              </a:rPr>
              <a:t># 1 ha = 10,000 m²; 1 t = 1,000 kg</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yield_kg_m2 &lt;- grain_kg / plot_area_m2</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yield_t_ha  &lt;- yield_kg_m2 * 10000 / 1000</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yield_t_ha</a:t>
            </a:r>
            <a:endParaRPr lang="en-US" sz="1500" dirty="0"/>
          </a:p>
          <a:p>
            <a:pPr indent="0" marL="0">
              <a:spcAft>
                <a:spcPts val="200"/>
              </a:spcAft>
              <a:buNone/>
            </a:pPr>
            <a:r>
              <a:rPr lang="en-US" sz="1500" dirty="0">
                <a:solidFill>
                  <a:schemeClr val="accent2"/>
                </a:solidFill>
                <a:latin typeface="Courier New" pitchFamily="34" charset="0"/>
                <a:ea typeface="Courier New" pitchFamily="34" charset="-122"/>
                <a:cs typeface="Courier New" pitchFamily="34" charset="-120"/>
              </a:rPr>
              <a:t>#&gt; [1] 4.8</a:t>
            </a:r>
            <a:endParaRPr lang="en-US" sz="1500" dirty="0"/>
          </a:p>
        </p:txBody>
      </p:sp>
      <p:sp>
        <p:nvSpPr>
          <p:cNvPr id="6" name="stat"/>
          <p:cNvSpPr/>
          <p:nvPr/>
        </p:nvSpPr>
        <p:spPr>
          <a:xfrm>
            <a:off x="7543800" y="1874520"/>
            <a:ext cx="4069080" cy="1600200"/>
          </a:xfrm>
          <a:prstGeom prst="roundRect">
            <a:avLst>
              <a:gd name="adj" fmla="val 6857"/>
            </a:avLst>
          </a:prstGeom>
          <a:solidFill>
            <a:schemeClr val="tx2"/>
          </a:solidFill>
          <a:ln/>
          <a:effectLst>
            <a:outerShdw sx="100000" sy="100000" kx="0" ky="0" algn="bl" rotWithShape="0" blurRad="76200" dist="25400" dir="5400000">
              <a:srgbClr val="8A97AB">
                <a:alpha val="25000"/>
              </a:srgbClr>
            </a:outerShdw>
          </a:effectLst>
        </p:spPr>
      </p:sp>
      <p:sp>
        <p:nvSpPr>
          <p:cNvPr id="7" name="Text 5"/>
          <p:cNvSpPr txBox="1"/>
          <p:nvPr/>
        </p:nvSpPr>
        <p:spPr>
          <a:xfrm>
            <a:off x="7543800" y="1965960"/>
            <a:ext cx="4069080" cy="960120"/>
          </a:xfrm>
          <a:prstGeom prst="rect">
            <a:avLst/>
          </a:prstGeom>
          <a:noFill/>
          <a:ln/>
        </p:spPr>
        <p:txBody>
          <a:bodyPr wrap="square" lIns="0" tIns="0" rIns="0" bIns="0" rtlCol="0" anchor="ctr"/>
          <a:lstStyle/>
          <a:p>
            <a:pPr algn="ctr" indent="0" marL="0">
              <a:buNone/>
            </a:pPr>
            <a:r>
              <a:rPr lang="en-US" sz="5400" b="1" dirty="0">
                <a:solidFill>
                  <a:schemeClr val="accent2"/>
                </a:solidFill>
                <a:latin typeface="Cambria" pitchFamily="34" charset="0"/>
                <a:ea typeface="Cambria" pitchFamily="34" charset="-122"/>
                <a:cs typeface="Cambria" pitchFamily="34" charset="-120"/>
              </a:rPr>
              <a:t>4.8</a:t>
            </a:r>
            <a:endParaRPr lang="en-US" sz="5400" dirty="0"/>
          </a:p>
        </p:txBody>
      </p:sp>
      <p:sp>
        <p:nvSpPr>
          <p:cNvPr id="8" name="Text 6"/>
          <p:cNvSpPr txBox="1"/>
          <p:nvPr/>
        </p:nvSpPr>
        <p:spPr>
          <a:xfrm>
            <a:off x="7726680" y="2866644"/>
            <a:ext cx="3703320" cy="528066"/>
          </a:xfrm>
          <a:prstGeom prst="rect">
            <a:avLst/>
          </a:prstGeom>
          <a:noFill/>
          <a:ln/>
        </p:spPr>
        <p:txBody>
          <a:bodyPr wrap="square" lIns="0" tIns="0" rIns="0" bIns="0" rtlCol="0" anchor="t"/>
          <a:lstStyle/>
          <a:p>
            <a:pPr algn="ctr" indent="0" marL="0">
              <a:buNone/>
            </a:pPr>
            <a:r>
              <a:rPr lang="en-US" sz="1500" dirty="0">
                <a:solidFill>
                  <a:schemeClr val="bg1"/>
                </a:solidFill>
              </a:rPr>
              <a:t>tonnes per hectare</a:t>
            </a:r>
            <a:endParaRPr lang="en-US" sz="1500" dirty="0"/>
          </a:p>
        </p:txBody>
      </p:sp>
      <p:sp>
        <p:nvSpPr>
          <p:cNvPr id="9" name="warn"/>
          <p:cNvSpPr/>
          <p:nvPr/>
        </p:nvSpPr>
        <p:spPr>
          <a:xfrm>
            <a:off x="7543800" y="3703320"/>
            <a:ext cx="4069080" cy="1600200"/>
          </a:xfrm>
          <a:prstGeom prst="roundRect">
            <a:avLst>
              <a:gd name="adj" fmla="val 6857"/>
            </a:avLst>
          </a:prstGeom>
          <a:solidFill>
            <a:schemeClr val="accent6"/>
          </a:solidFill>
          <a:ln/>
          <a:effectLst>
            <a:outerShdw sx="100000" sy="100000" kx="0" ky="0" algn="bl" rotWithShape="0" blurRad="76200" dist="25400" dir="5400000">
              <a:srgbClr val="8A97AB">
                <a:alpha val="25000"/>
              </a:srgbClr>
            </a:outerShdw>
          </a:effectLst>
        </p:spPr>
      </p:sp>
      <p:sp>
        <p:nvSpPr>
          <p:cNvPr id="10" name="Text 8"/>
          <p:cNvSpPr txBox="1"/>
          <p:nvPr/>
        </p:nvSpPr>
        <p:spPr>
          <a:xfrm>
            <a:off x="7772400" y="3886200"/>
            <a:ext cx="3657600" cy="548640"/>
          </a:xfrm>
          <a:prstGeom prst="rect">
            <a:avLst/>
          </a:prstGeom>
          <a:noFill/>
          <a:ln/>
        </p:spPr>
        <p:txBody>
          <a:bodyPr wrap="square" lIns="0" tIns="0" rIns="0" bIns="0" rtlCol="0" anchor="ctr"/>
          <a:lstStyle/>
          <a:p>
            <a:pPr indent="0" marL="0">
              <a:buNone/>
            </a:pPr>
            <a:r>
              <a:rPr lang="en-US" sz="1600" b="1" dirty="0">
                <a:solidFill>
                  <a:schemeClr val="accent4"/>
                </a:solidFill>
              </a:rPr>
              <a:t>Not yet a reportable yield</a:t>
            </a:r>
            <a:endParaRPr lang="en-US" sz="1600" dirty="0"/>
          </a:p>
        </p:txBody>
      </p:sp>
      <p:sp>
        <p:nvSpPr>
          <p:cNvPr id="11" name="Text 9"/>
          <p:cNvSpPr txBox="1"/>
          <p:nvPr/>
        </p:nvSpPr>
        <p:spPr>
          <a:xfrm>
            <a:off x="7772400" y="4526280"/>
            <a:ext cx="3611880" cy="685800"/>
          </a:xfrm>
          <a:prstGeom prst="rect">
            <a:avLst/>
          </a:prstGeom>
          <a:noFill/>
          <a:ln/>
        </p:spPr>
        <p:txBody>
          <a:bodyPr wrap="square" lIns="0" tIns="0" rIns="0" bIns="0" rtlCol="0" anchor="t"/>
          <a:lstStyle/>
          <a:p>
            <a:pPr indent="0" marL="0">
              <a:buNone/>
            </a:pPr>
            <a:r>
              <a:rPr lang="en-US" sz="1400" dirty="0">
                <a:solidFill>
                  <a:schemeClr val="tx1"/>
                </a:solidFill>
              </a:rPr>
              <a:t>No adjustment for grain moisture, border plants or sampling error.</a:t>
            </a:r>
            <a:endParaRPr lang="en-US" sz="1400" dirty="0"/>
          </a:p>
        </p:txBody>
      </p:sp>
      <p:sp>
        <p:nvSpPr>
          <p:cNvPr id="12" name="Text 10"/>
          <p:cNvSpPr txBox="1"/>
          <p:nvPr/>
        </p:nvSpPr>
        <p:spPr>
          <a:xfrm>
            <a:off x="548640" y="5440680"/>
            <a:ext cx="11064240" cy="640080"/>
          </a:xfrm>
          <a:prstGeom prst="rect">
            <a:avLst/>
          </a:prstGeom>
          <a:noFill/>
          <a:ln/>
        </p:spPr>
        <p:txBody>
          <a:bodyPr wrap="square" lIns="0" tIns="0" rIns="0" bIns="0" rtlCol="0" anchor="ctr"/>
          <a:lstStyle/>
          <a:p>
            <a:pPr indent="0" marL="0">
              <a:buNone/>
            </a:pPr>
            <a:r>
              <a:rPr lang="en-US" sz="1500" i="1" dirty="0">
                <a:solidFill>
                  <a:schemeClr val="accent5"/>
                </a:solidFill>
              </a:rPr>
              <a:t>Units remain the analyst's responsibility. R only multiplies the numbers you give it.</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Errors are information</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840480"/>
                <a:gridCol w="3931920"/>
                <a:gridCol w="3291840"/>
              </a:tblGrid>
              <a:tr h="822960">
                <a:tc>
                  <a:txBody>
                    <a:bodyPr/>
                    <a:lstStyle/>
                    <a:p>
                      <a:pPr indent="0" marL="0">
                        <a:buNone/>
                      </a:pPr>
                      <a:r>
                        <a:rPr lang="en-US" sz="1500" b="1" dirty="0">
                          <a:solidFill>
                            <a:schemeClr val="bg1"/>
                          </a:solidFill>
                        </a:rPr>
                        <a:t>Message</a:t>
                      </a:r>
                      <a:endParaRPr lang="en-US" sz="15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accent4"/>
                    </a:solidFill>
                  </a:tcPr>
                </a:tc>
                <a:tc>
                  <a:txBody>
                    <a:bodyPr/>
                    <a:lstStyle/>
                    <a:p>
                      <a:pPr indent="0" marL="0">
                        <a:buNone/>
                      </a:pPr>
                      <a:r>
                        <a:rPr lang="en-US" sz="1500" b="1" dirty="0">
                          <a:solidFill>
                            <a:schemeClr val="bg1"/>
                          </a:solidFill>
                        </a:rPr>
                        <a:t>Usual cause</a:t>
                      </a:r>
                      <a:endParaRPr lang="en-US" sz="15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accent4"/>
                    </a:solidFill>
                  </a:tcPr>
                </a:tc>
                <a:tc>
                  <a:txBody>
                    <a:bodyPr/>
                    <a:lstStyle/>
                    <a:p>
                      <a:pPr indent="0" marL="0">
                        <a:buNone/>
                      </a:pPr>
                      <a:r>
                        <a:rPr lang="en-US" sz="1500" b="1" dirty="0">
                          <a:solidFill>
                            <a:schemeClr val="bg1"/>
                          </a:solidFill>
                        </a:rPr>
                        <a:t>Fix</a:t>
                      </a:r>
                      <a:endParaRPr lang="en-US" sz="15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accent4"/>
                    </a:solidFill>
                  </a:tcPr>
                </a:tc>
              </a:tr>
              <a:tr h="822960">
                <a:tc>
                  <a:txBody>
                    <a:bodyPr/>
                    <a:lstStyle/>
                    <a:p>
                      <a:pPr indent="0" marL="0">
                        <a:buNone/>
                      </a:pPr>
                      <a:r>
                        <a:rPr lang="en-US" sz="1400" dirty="0">
                          <a:solidFill>
                            <a:schemeClr val="accent4"/>
                          </a:solidFill>
                          <a:latin typeface="Courier New" pitchFamily="34" charset="0"/>
                          <a:ea typeface="Courier New" pitchFamily="34" charset="-122"/>
                          <a:cs typeface="Courier New" pitchFamily="34" charset="-120"/>
                        </a:rPr>
                        <a:t>object 'Grain_kg' not found</a:t>
                      </a:r>
                      <a:endParaRPr lang="en-US" sz="1400" dirty="0">
                        <a:latin typeface="Courier New" charset="0"/>
                        <a:ea typeface="Courier New" charset="0"/>
                        <a:cs typeface="Courier New" charset="0"/>
                      </a:endParaRPr>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Typo or wrong case; R is case sensitive</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Check spelling; run the assignment first</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r>
              <a:tr h="822960">
                <a:tc>
                  <a:txBody>
                    <a:bodyPr/>
                    <a:lstStyle/>
                    <a:p>
                      <a:pPr indent="0" marL="0">
                        <a:buNone/>
                      </a:pPr>
                      <a:r>
                        <a:rPr lang="en-US" sz="1400" dirty="0">
                          <a:solidFill>
                            <a:schemeClr val="accent4"/>
                          </a:solidFill>
                          <a:latin typeface="Courier New" pitchFamily="34" charset="0"/>
                          <a:ea typeface="Courier New" pitchFamily="34" charset="-122"/>
                          <a:cs typeface="Courier New" pitchFamily="34" charset="-120"/>
                        </a:rPr>
                        <a:t>could not find function "read_csv"</a:t>
                      </a:r>
                      <a:endParaRPr lang="en-US" sz="1400" dirty="0">
                        <a:latin typeface="Courier New" charset="0"/>
                        <a:ea typeface="Courier New" charset="0"/>
                        <a:cs typeface="Courier New" charset="0"/>
                      </a:endParaRPr>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Package not loaded or not installed</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library(readr)</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r>
              <a:tr h="822960">
                <a:tc>
                  <a:txBody>
                    <a:bodyPr/>
                    <a:lstStyle/>
                    <a:p>
                      <a:pPr indent="0" marL="0">
                        <a:buNone/>
                      </a:pPr>
                      <a:r>
                        <a:rPr lang="en-US" sz="1400" dirty="0">
                          <a:solidFill>
                            <a:schemeClr val="accent4"/>
                          </a:solidFill>
                          <a:latin typeface="Courier New" pitchFamily="34" charset="0"/>
                          <a:ea typeface="Courier New" pitchFamily="34" charset="-122"/>
                          <a:cs typeface="Courier New" pitchFamily="34" charset="-120"/>
                        </a:rPr>
                        <a:t>cannot open file 'data.csv'</a:t>
                      </a:r>
                      <a:endParaRPr lang="en-US" sz="1400" dirty="0">
                        <a:latin typeface="Courier New" charset="0"/>
                        <a:ea typeface="Courier New" charset="0"/>
                        <a:cs typeface="Courier New" charset="0"/>
                      </a:endParaRPr>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Wrong path or working directory</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Open the project; use a relative path</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r>
            </a:tbl>
          </a:graphicData>
        </a:graphic>
      </p:graphicFrame>
      <p:sp>
        <p:nvSpPr>
          <p:cNvPr id="4" name="key idea"/>
          <p:cNvSpPr/>
          <p:nvPr/>
        </p:nvSpPr>
        <p:spPr>
          <a:xfrm>
            <a:off x="548640" y="5486400"/>
            <a:ext cx="11064240" cy="640080"/>
          </a:xfrm>
          <a:prstGeom prst="roundRect">
            <a:avLst>
              <a:gd name="adj" fmla="val 17143"/>
            </a:avLst>
          </a:prstGeom>
          <a:solidFill>
            <a:schemeClr val="accent6"/>
          </a:solidFill>
          <a:ln/>
          <a:effectLst>
            <a:outerShdw sx="100000" sy="100000" kx="0" ky="0" algn="bl" rotWithShape="0" blurRad="76200" dist="25400" dir="5400000">
              <a:srgbClr val="8A97AB">
                <a:alpha val="25000"/>
              </a:srgbClr>
            </a:outerShdw>
          </a:effectLst>
        </p:spPr>
      </p:sp>
      <p:sp>
        <p:nvSpPr>
          <p:cNvPr id="5" name="Text 2"/>
          <p:cNvSpPr txBox="1"/>
          <p:nvPr/>
        </p:nvSpPr>
        <p:spPr>
          <a:xfrm>
            <a:off x="822960" y="5486400"/>
            <a:ext cx="10515600" cy="64008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Fix the first error first, then restart R and rerun the whole script from the top.</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Practical 1 and exercises</a:t>
            </a:r>
            <a:endParaRPr lang="en-US" sz="3200" dirty="0"/>
          </a:p>
        </p:txBody>
      </p:sp>
      <p:sp>
        <p:nvSpPr>
          <p:cNvPr id="3" name="card"/>
          <p:cNvSpPr/>
          <p:nvPr/>
        </p:nvSpPr>
        <p:spPr>
          <a:xfrm>
            <a:off x="548640" y="1371600"/>
            <a:ext cx="7680960" cy="868680"/>
          </a:xfrm>
          <a:prstGeom prst="roundRect">
            <a:avLst>
              <a:gd name="adj" fmla="val 12632"/>
            </a:avLst>
          </a:prstGeom>
          <a:solidFill>
            <a:schemeClr val="bg2"/>
          </a:solidFill>
          <a:ln/>
          <a:effectLst>
            <a:outerShdw sx="100000" sy="100000" kx="0" ky="0" algn="bl" rotWithShape="0" blurRad="76200" dist="25400" dir="5400000">
              <a:srgbClr val="8A97AB">
                <a:alpha val="25000"/>
              </a:srgbClr>
            </a:outerShdw>
          </a:effectLst>
        </p:spPr>
      </p:sp>
      <p:sp>
        <p:nvSpPr>
          <p:cNvPr id="4" name="Shape 2"/>
          <p:cNvSpPr/>
          <p:nvPr/>
        </p:nvSpPr>
        <p:spPr>
          <a:xfrm>
            <a:off x="749808" y="1554480"/>
            <a:ext cx="502920" cy="502920"/>
          </a:xfrm>
          <a:prstGeom prst="ellipse">
            <a:avLst/>
          </a:prstGeom>
          <a:solidFill>
            <a:schemeClr val="accent1"/>
          </a:solidFill>
          <a:ln/>
        </p:spPr>
      </p:sp>
      <p:sp>
        <p:nvSpPr>
          <p:cNvPr id="5" name="Text 3"/>
          <p:cNvSpPr txBox="1"/>
          <p:nvPr/>
        </p:nvSpPr>
        <p:spPr>
          <a:xfrm>
            <a:off x="749808" y="155448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463040" y="1417320"/>
            <a:ext cx="6629400" cy="777240"/>
          </a:xfrm>
          <a:prstGeom prst="rect">
            <a:avLst/>
          </a:prstGeom>
          <a:noFill/>
          <a:ln/>
        </p:spPr>
        <p:txBody>
          <a:bodyPr wrap="square" lIns="0" tIns="0" rIns="0" bIns="0" rtlCol="0" anchor="ctr"/>
          <a:lstStyle/>
          <a:p>
            <a:pPr indent="0" marL="0">
              <a:buNone/>
            </a:pPr>
            <a:r>
              <a:rPr lang="en-US" sz="1400" dirty="0">
                <a:solidFill>
                  <a:schemeClr val="tx1"/>
                </a:solidFill>
              </a:rPr>
              <a:t>Create a course project and save a script with the yield calculation. Change the harvested mass to 11.2 kg and report the new yield with its unit.</a:t>
            </a:r>
            <a:endParaRPr lang="en-US" sz="1400" dirty="0"/>
          </a:p>
        </p:txBody>
      </p:sp>
      <p:sp>
        <p:nvSpPr>
          <p:cNvPr id="7" name="card"/>
          <p:cNvSpPr/>
          <p:nvPr/>
        </p:nvSpPr>
        <p:spPr>
          <a:xfrm>
            <a:off x="548640" y="2377440"/>
            <a:ext cx="7680960" cy="868680"/>
          </a:xfrm>
          <a:prstGeom prst="roundRect">
            <a:avLst>
              <a:gd name="adj" fmla="val 12632"/>
            </a:avLst>
          </a:prstGeom>
          <a:solidFill>
            <a:schemeClr val="bg2"/>
          </a:solidFill>
          <a:ln/>
          <a:effectLst>
            <a:outerShdw sx="100000" sy="100000" kx="0" ky="0" algn="bl" rotWithShape="0" blurRad="76200" dist="25400" dir="5400000">
              <a:srgbClr val="8A97AB">
                <a:alpha val="25000"/>
              </a:srgbClr>
            </a:outerShdw>
          </a:effectLst>
        </p:spPr>
      </p:sp>
      <p:sp>
        <p:nvSpPr>
          <p:cNvPr id="8" name="Shape 6"/>
          <p:cNvSpPr/>
          <p:nvPr/>
        </p:nvSpPr>
        <p:spPr>
          <a:xfrm>
            <a:off x="749808" y="2560320"/>
            <a:ext cx="502920" cy="502920"/>
          </a:xfrm>
          <a:prstGeom prst="ellipse">
            <a:avLst/>
          </a:prstGeom>
          <a:solidFill>
            <a:schemeClr val="accent1"/>
          </a:solidFill>
          <a:ln/>
        </p:spPr>
      </p:sp>
      <p:sp>
        <p:nvSpPr>
          <p:cNvPr id="9" name="Text 7"/>
          <p:cNvSpPr txBox="1"/>
          <p:nvPr/>
        </p:nvSpPr>
        <p:spPr>
          <a:xfrm>
            <a:off x="749808" y="256032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1463040" y="2423160"/>
            <a:ext cx="6629400" cy="777240"/>
          </a:xfrm>
          <a:prstGeom prst="rect">
            <a:avLst/>
          </a:prstGeom>
          <a:noFill/>
          <a:ln/>
        </p:spPr>
        <p:txBody>
          <a:bodyPr wrap="square" lIns="0" tIns="0" rIns="0" bIns="0" rtlCol="0" anchor="ctr"/>
          <a:lstStyle/>
          <a:p>
            <a:pPr indent="0" marL="0">
              <a:buNone/>
            </a:pPr>
            <a:r>
              <a:rPr lang="en-US" sz="1400" dirty="0">
                <a:solidFill>
                  <a:schemeClr val="tx1"/>
                </a:solidFill>
              </a:rPr>
              <a:t>Explain why </a:t>
            </a:r>
            <a:pPr indent="0" marL="0">
              <a:buNone/>
            </a:pPr>
            <a:r>
              <a:rPr lang="en-US" sz="1400" dirty="0">
                <a:solidFill>
                  <a:schemeClr val="accent1"/>
                </a:solidFill>
                <a:latin typeface="Courier New" pitchFamily="34" charset="0"/>
                <a:ea typeface="Courier New" pitchFamily="34" charset="-122"/>
                <a:cs typeface="Courier New" pitchFamily="34" charset="-120"/>
              </a:rPr>
              <a:t>9.6 / 20</a:t>
            </a:r>
            <a:pPr indent="0" marL="0">
              <a:buNone/>
            </a:pPr>
            <a:r>
              <a:rPr lang="en-US" sz="1400" dirty="0">
                <a:solidFill>
                  <a:schemeClr val="tx1"/>
                </a:solidFill>
              </a:rPr>
              <a:t> is not yet a yield in t/ha.</a:t>
            </a:r>
            <a:endParaRPr lang="en-US" sz="1400" dirty="0"/>
          </a:p>
        </p:txBody>
      </p:sp>
      <p:sp>
        <p:nvSpPr>
          <p:cNvPr id="11" name="card"/>
          <p:cNvSpPr/>
          <p:nvPr/>
        </p:nvSpPr>
        <p:spPr>
          <a:xfrm>
            <a:off x="548640" y="3383280"/>
            <a:ext cx="7680960" cy="868680"/>
          </a:xfrm>
          <a:prstGeom prst="roundRect">
            <a:avLst>
              <a:gd name="adj" fmla="val 12632"/>
            </a:avLst>
          </a:prstGeom>
          <a:solidFill>
            <a:schemeClr val="bg2"/>
          </a:solidFill>
          <a:ln/>
          <a:effectLst>
            <a:outerShdw sx="100000" sy="100000" kx="0" ky="0" algn="bl" rotWithShape="0" blurRad="76200" dist="25400" dir="5400000">
              <a:srgbClr val="8A97AB">
                <a:alpha val="25000"/>
              </a:srgbClr>
            </a:outerShdw>
          </a:effectLst>
        </p:spPr>
      </p:sp>
      <p:sp>
        <p:nvSpPr>
          <p:cNvPr id="12" name="Shape 10"/>
          <p:cNvSpPr/>
          <p:nvPr/>
        </p:nvSpPr>
        <p:spPr>
          <a:xfrm>
            <a:off x="749808" y="3566160"/>
            <a:ext cx="502920" cy="502920"/>
          </a:xfrm>
          <a:prstGeom prst="ellipse">
            <a:avLst/>
          </a:prstGeom>
          <a:solidFill>
            <a:schemeClr val="accent1"/>
          </a:solidFill>
          <a:ln/>
        </p:spPr>
      </p:sp>
      <p:sp>
        <p:nvSpPr>
          <p:cNvPr id="13" name="Text 11"/>
          <p:cNvSpPr txBox="1"/>
          <p:nvPr/>
        </p:nvSpPr>
        <p:spPr>
          <a:xfrm>
            <a:off x="749808" y="356616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463040" y="3429000"/>
            <a:ext cx="6629400" cy="777240"/>
          </a:xfrm>
          <a:prstGeom prst="rect">
            <a:avLst/>
          </a:prstGeom>
          <a:noFill/>
          <a:ln/>
        </p:spPr>
        <p:txBody>
          <a:bodyPr wrap="square" lIns="0" tIns="0" rIns="0" bIns="0" rtlCol="0" anchor="ctr"/>
          <a:lstStyle/>
          <a:p>
            <a:pPr indent="0" marL="0">
              <a:buNone/>
            </a:pPr>
            <a:r>
              <a:rPr lang="en-US" sz="1400" dirty="0">
                <a:solidFill>
                  <a:schemeClr val="tx1"/>
                </a:solidFill>
              </a:rPr>
              <a:t>Deliberately type </a:t>
            </a:r>
            <a:pPr indent="0" marL="0">
              <a:buNone/>
            </a:pPr>
            <a:r>
              <a:rPr lang="en-US" sz="1400" dirty="0">
                <a:solidFill>
                  <a:schemeClr val="accent1"/>
                </a:solidFill>
                <a:latin typeface="Courier New" pitchFamily="34" charset="0"/>
                <a:ea typeface="Courier New" pitchFamily="34" charset="-122"/>
                <a:cs typeface="Courier New" pitchFamily="34" charset="-120"/>
              </a:rPr>
              <a:t>Grain_kg</a:t>
            </a:r>
            <a:pPr indent="0" marL="0">
              <a:buNone/>
            </a:pPr>
            <a:r>
              <a:rPr lang="en-US" sz="1400" dirty="0">
                <a:solidFill>
                  <a:schemeClr val="tx1"/>
                </a:solidFill>
              </a:rPr>
              <a:t>, read the error, and correct it.</a:t>
            </a:r>
            <a:endParaRPr lang="en-US" sz="1400" dirty="0"/>
          </a:p>
        </p:txBody>
      </p:sp>
      <p:sp>
        <p:nvSpPr>
          <p:cNvPr id="15" name="card"/>
          <p:cNvSpPr/>
          <p:nvPr/>
        </p:nvSpPr>
        <p:spPr>
          <a:xfrm>
            <a:off x="548640" y="4389120"/>
            <a:ext cx="7680960" cy="868680"/>
          </a:xfrm>
          <a:prstGeom prst="roundRect">
            <a:avLst>
              <a:gd name="adj" fmla="val 12632"/>
            </a:avLst>
          </a:prstGeom>
          <a:solidFill>
            <a:schemeClr val="bg2"/>
          </a:solidFill>
          <a:ln/>
          <a:effectLst>
            <a:outerShdw sx="100000" sy="100000" kx="0" ky="0" algn="bl" rotWithShape="0" blurRad="76200" dist="25400" dir="5400000">
              <a:srgbClr val="8A97AB">
                <a:alpha val="25000"/>
              </a:srgbClr>
            </a:outerShdw>
          </a:effectLst>
        </p:spPr>
      </p:sp>
      <p:sp>
        <p:nvSpPr>
          <p:cNvPr id="16" name="Shape 14"/>
          <p:cNvSpPr/>
          <p:nvPr/>
        </p:nvSpPr>
        <p:spPr>
          <a:xfrm>
            <a:off x="749808" y="4572000"/>
            <a:ext cx="502920" cy="502920"/>
          </a:xfrm>
          <a:prstGeom prst="ellipse">
            <a:avLst/>
          </a:prstGeom>
          <a:solidFill>
            <a:schemeClr val="accent1"/>
          </a:solidFill>
          <a:ln/>
        </p:spPr>
      </p:sp>
      <p:sp>
        <p:nvSpPr>
          <p:cNvPr id="17" name="Text 15"/>
          <p:cNvSpPr txBox="1"/>
          <p:nvPr/>
        </p:nvSpPr>
        <p:spPr>
          <a:xfrm>
            <a:off x="749808" y="457200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4</a:t>
            </a:r>
            <a:endParaRPr lang="en-US" sz="1500" dirty="0"/>
          </a:p>
        </p:txBody>
      </p:sp>
      <p:sp>
        <p:nvSpPr>
          <p:cNvPr id="18" name="Text 16"/>
          <p:cNvSpPr txBox="1"/>
          <p:nvPr/>
        </p:nvSpPr>
        <p:spPr>
          <a:xfrm>
            <a:off x="1463040" y="4434840"/>
            <a:ext cx="6629400" cy="777240"/>
          </a:xfrm>
          <a:prstGeom prst="rect">
            <a:avLst/>
          </a:prstGeom>
          <a:noFill/>
          <a:ln/>
        </p:spPr>
        <p:txBody>
          <a:bodyPr wrap="square" lIns="0" tIns="0" rIns="0" bIns="0" rtlCol="0" anchor="ctr"/>
          <a:lstStyle/>
          <a:p>
            <a:pPr indent="0" marL="0">
              <a:buNone/>
            </a:pPr>
            <a:r>
              <a:rPr lang="en-US" sz="1400" dirty="0">
                <a:solidFill>
                  <a:schemeClr val="tx1"/>
                </a:solidFill>
              </a:rPr>
              <a:t>Find the help for </a:t>
            </a:r>
            <a:pPr indent="0" marL="0">
              <a:buNone/>
            </a:pPr>
            <a:r>
              <a:rPr lang="en-US" sz="1400" dirty="0">
                <a:solidFill>
                  <a:schemeClr val="accent1"/>
                </a:solidFill>
                <a:latin typeface="Courier New" pitchFamily="34" charset="0"/>
                <a:ea typeface="Courier New" pitchFamily="34" charset="-122"/>
                <a:cs typeface="Courier New" pitchFamily="34" charset="-120"/>
              </a:rPr>
              <a:t>sqrt()</a:t>
            </a:r>
            <a:pPr indent="0" marL="0">
              <a:buNone/>
            </a:pPr>
            <a:r>
              <a:rPr lang="en-US" sz="1400" dirty="0">
                <a:solidFill>
                  <a:schemeClr val="tx1"/>
                </a:solidFill>
              </a:rPr>
              <a:t> and calculate the square root of 144.</a:t>
            </a:r>
            <a:endParaRPr lang="en-US" sz="1400" dirty="0"/>
          </a:p>
        </p:txBody>
      </p:sp>
      <p:sp>
        <p:nvSpPr>
          <p:cNvPr id="19" name="submit"/>
          <p:cNvSpPr/>
          <p:nvPr/>
        </p:nvSpPr>
        <p:spPr>
          <a:xfrm>
            <a:off x="8458200" y="1371600"/>
            <a:ext cx="3154680" cy="4663440"/>
          </a:xfrm>
          <a:prstGeom prst="roundRect">
            <a:avLst>
              <a:gd name="adj" fmla="val 3478"/>
            </a:avLst>
          </a:prstGeom>
          <a:solidFill>
            <a:schemeClr val="tx2"/>
          </a:solidFill>
          <a:ln/>
          <a:effectLst>
            <a:outerShdw sx="100000" sy="100000" kx="0" ky="0" algn="bl" rotWithShape="0" blurRad="76200" dist="25400" dir="5400000">
              <a:srgbClr val="8A97AB">
                <a:alpha val="25000"/>
              </a:srgbClr>
            </a:outerShdw>
          </a:effectLst>
        </p:spPr>
      </p:sp>
      <p:pic>
        <p:nvPicPr>
          <p:cNvPr id="20" name="Image 0" descr="clipboard icon">    </p:cNvPr>
          <p:cNvPicPr>
            <a:picLocks noChangeAspect="1"/>
          </p:cNvPicPr>
          <p:nvPr/>
        </p:nvPicPr>
        <p:blipFill>
          <a:blip r:embed="rId1"/>
          <a:stretch>
            <a:fillRect/>
          </a:stretch>
        </p:blipFill>
        <p:spPr>
          <a:xfrm>
            <a:off x="9582912" y="1691640"/>
            <a:ext cx="914400" cy="914400"/>
          </a:xfrm>
          <a:prstGeom prst="rect">
            <a:avLst/>
          </a:prstGeom>
        </p:spPr>
      </p:pic>
      <p:sp>
        <p:nvSpPr>
          <p:cNvPr id="21" name="Text 18"/>
          <p:cNvSpPr txBox="1"/>
          <p:nvPr/>
        </p:nvSpPr>
        <p:spPr>
          <a:xfrm>
            <a:off x="8549640" y="2743200"/>
            <a:ext cx="2971800" cy="411480"/>
          </a:xfrm>
          <a:prstGeom prst="rect">
            <a:avLst/>
          </a:prstGeom>
          <a:noFill/>
          <a:ln/>
        </p:spPr>
        <p:txBody>
          <a:bodyPr wrap="square" lIns="0" tIns="0" rIns="0" bIns="0" rtlCol="0" anchor="t"/>
          <a:lstStyle/>
          <a:p>
            <a:pPr algn="ctr" indent="0" marL="0">
              <a:buNone/>
            </a:pPr>
            <a:r>
              <a:rPr lang="en-US" sz="2000" b="1" dirty="0">
                <a:solidFill>
                  <a:schemeClr val="bg1"/>
                </a:solidFill>
              </a:rPr>
              <a:t>Submit</a:t>
            </a:r>
            <a:endParaRPr lang="en-US" sz="2000" dirty="0"/>
          </a:p>
        </p:txBody>
      </p:sp>
      <p:sp>
        <p:nvSpPr>
          <p:cNvPr id="22" name="Text 19"/>
          <p:cNvSpPr txBox="1"/>
          <p:nvPr/>
        </p:nvSpPr>
        <p:spPr>
          <a:xfrm>
            <a:off x="8686800" y="3200400"/>
            <a:ext cx="2697480" cy="2651760"/>
          </a:xfrm>
          <a:prstGeom prst="rect">
            <a:avLst/>
          </a:prstGeom>
          <a:noFill/>
          <a:ln/>
        </p:spPr>
        <p:txBody>
          <a:bodyPr wrap="square" lIns="0" tIns="0" rIns="0" bIns="0" rtlCol="0" anchor="t"/>
          <a:lstStyle/>
          <a:p>
            <a:pPr algn="ctr" indent="0" marL="0">
              <a:buNone/>
            </a:pPr>
            <a:r>
              <a:rPr lang="en-US" sz="1400" dirty="0">
                <a:solidFill>
                  <a:schemeClr val="accent6"/>
                </a:solidFill>
              </a:rPr>
              <a:t>your script and a short written interpretation. Code that runs is necessary; a defensible explanation is equally necessary.</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Live R laboratory</a:t>
            </a:r>
            <a:endParaRPr lang="en-US" sz="3200" dirty="0"/>
          </a:p>
        </p:txBody>
      </p:sp>
      <p:sp>
        <p:nvSpPr>
          <p:cNvPr id="3" name="code panel"/>
          <p:cNvSpPr/>
          <p:nvPr/>
        </p:nvSpPr>
        <p:spPr>
          <a:xfrm>
            <a:off x="548640" y="1371600"/>
            <a:ext cx="11064240" cy="1828800"/>
          </a:xfrm>
          <a:prstGeom prst="roundRect">
            <a:avLst>
              <a:gd name="adj" fmla="val 5000"/>
            </a:avLst>
          </a:prstGeom>
          <a:solidFill>
            <a:schemeClr val="tx1"/>
          </a:solidFill>
          <a:ln/>
        </p:spPr>
      </p:sp>
      <p:sp>
        <p:nvSpPr>
          <p:cNvPr id="4" name="Text 2"/>
          <p:cNvSpPr txBox="1"/>
          <p:nvPr/>
        </p:nvSpPr>
        <p:spPr>
          <a:xfrm>
            <a:off x="822960" y="1572768"/>
            <a:ext cx="10515600" cy="1426464"/>
          </a:xfrm>
          <a:prstGeom prst="rect">
            <a:avLst/>
          </a:prstGeom>
          <a:noFill/>
          <a:ln/>
        </p:spPr>
        <p:txBody>
          <a:bodyPr wrap="square" lIns="0" tIns="0" rIns="0" bIns="0" rtlCol="0" anchor="t"/>
          <a:lstStyle/>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yield_t_ha &lt;- c(3.2, 3.8, 4.1, 3.5, 4.4)</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mean(yield_t_ha)</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range(yield_t_ha)</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length(yield_t_ha)</a:t>
            </a:r>
            <a:endParaRPr lang="en-US" sz="1700" dirty="0"/>
          </a:p>
        </p:txBody>
      </p:sp>
      <p:sp>
        <p:nvSpPr>
          <p:cNvPr id="5" name="investigate"/>
          <p:cNvSpPr/>
          <p:nvPr/>
        </p:nvSpPr>
        <p:spPr>
          <a:xfrm>
            <a:off x="548640" y="3520440"/>
            <a:ext cx="11064240" cy="1371600"/>
          </a:xfrm>
          <a:prstGeom prst="roundRect">
            <a:avLst>
              <a:gd name="adj" fmla="val 8000"/>
            </a:avLst>
          </a:prstGeom>
          <a:solidFill>
            <a:schemeClr val="accent6"/>
          </a:solidFill>
          <a:ln/>
          <a:effectLst>
            <a:outerShdw sx="100000" sy="100000" kx="0" ky="0" algn="bl" rotWithShape="0" blurRad="76200" dist="25400" dir="5400000">
              <a:srgbClr val="8A97AB">
                <a:alpha val="25000"/>
              </a:srgbClr>
            </a:outerShdw>
          </a:effectLst>
        </p:spPr>
      </p:sp>
      <p:sp>
        <p:nvSpPr>
          <p:cNvPr id="6" name="icon circle"/>
          <p:cNvSpPr/>
          <p:nvPr/>
        </p:nvSpPr>
        <p:spPr>
          <a:xfrm>
            <a:off x="822960" y="3813048"/>
            <a:ext cx="777240" cy="777240"/>
          </a:xfrm>
          <a:prstGeom prst="ellipse">
            <a:avLst/>
          </a:prstGeom>
          <a:solidFill>
            <a:schemeClr val="accent2"/>
          </a:solidFill>
          <a:ln/>
        </p:spPr>
      </p:sp>
      <p:pic>
        <p:nvPicPr>
          <p:cNvPr id="7" name="Image 0" descr="FaSearch">    </p:cNvPr>
          <p:cNvPicPr>
            <a:picLocks noChangeAspect="1"/>
          </p:cNvPicPr>
          <p:nvPr/>
        </p:nvPicPr>
        <p:blipFill>
          <a:blip r:embed="rId1"/>
          <a:stretch>
            <a:fillRect/>
          </a:stretch>
        </p:blipFill>
        <p:spPr>
          <a:xfrm>
            <a:off x="1017270" y="4007358"/>
            <a:ext cx="388620" cy="388620"/>
          </a:xfrm>
          <a:prstGeom prst="rect">
            <a:avLst/>
          </a:prstGeom>
        </p:spPr>
      </p:pic>
      <p:sp>
        <p:nvSpPr>
          <p:cNvPr id="8" name="Text 5"/>
          <p:cNvSpPr txBox="1"/>
          <p:nvPr/>
        </p:nvSpPr>
        <p:spPr>
          <a:xfrm>
            <a:off x="1828800" y="3630168"/>
            <a:ext cx="9509760" cy="365760"/>
          </a:xfrm>
          <a:prstGeom prst="rect">
            <a:avLst/>
          </a:prstGeom>
          <a:noFill/>
          <a:ln/>
        </p:spPr>
        <p:txBody>
          <a:bodyPr wrap="square" lIns="0" tIns="0" rIns="0" bIns="0" rtlCol="0" anchor="t"/>
          <a:lstStyle/>
          <a:p>
            <a:pPr indent="0" marL="0">
              <a:buNone/>
            </a:pPr>
            <a:r>
              <a:rPr lang="en-US" sz="1700" b="1" dirty="0">
                <a:solidFill>
                  <a:schemeClr val="tx2"/>
                </a:solidFill>
              </a:rPr>
              <a:t>Investigate</a:t>
            </a:r>
            <a:endParaRPr lang="en-US" sz="1700" dirty="0"/>
          </a:p>
        </p:txBody>
      </p:sp>
      <p:sp>
        <p:nvSpPr>
          <p:cNvPr id="9" name="Text 6"/>
          <p:cNvSpPr txBox="1"/>
          <p:nvPr/>
        </p:nvSpPr>
        <p:spPr>
          <a:xfrm>
            <a:off x="1828800" y="3995928"/>
            <a:ext cx="9555480" cy="822960"/>
          </a:xfrm>
          <a:prstGeom prst="rect">
            <a:avLst/>
          </a:prstGeom>
          <a:noFill/>
          <a:ln/>
        </p:spPr>
        <p:txBody>
          <a:bodyPr wrap="square" lIns="0" tIns="0" rIns="0" bIns="0" rtlCol="0" anchor="t"/>
          <a:lstStyle/>
          <a:p>
            <a:pPr indent="0" marL="0">
              <a:buNone/>
            </a:pPr>
            <a:r>
              <a:rPr lang="en-US" sz="1500" dirty="0">
                <a:solidFill>
                  <a:schemeClr val="tx1"/>
                </a:solidFill>
              </a:rPr>
              <a:t>The five simulated plot yields have a mean of 3.8 t/ha. Change the last yield to 5.4. Predict how the mean and range will change before running again.</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731520" y="640080"/>
            <a:ext cx="10698480" cy="82296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Chapter review</a:t>
            </a:r>
            <a:endParaRPr lang="en-US" sz="4000" dirty="0"/>
          </a:p>
        </p:txBody>
      </p:sp>
      <p:sp>
        <p:nvSpPr>
          <p:cNvPr id="3" name="icon circle"/>
          <p:cNvSpPr/>
          <p:nvPr/>
        </p:nvSpPr>
        <p:spPr>
          <a:xfrm>
            <a:off x="731520" y="1828800"/>
            <a:ext cx="914400" cy="914400"/>
          </a:xfrm>
          <a:prstGeom prst="ellipse">
            <a:avLst/>
          </a:prstGeom>
          <a:solidFill>
            <a:schemeClr val="accent2"/>
          </a:solidFill>
          <a:ln/>
        </p:spPr>
      </p:sp>
      <p:pic>
        <p:nvPicPr>
          <p:cNvPr id="4" name="Image 0" descr="FaScroll">    </p:cNvPr>
          <p:cNvPicPr>
            <a:picLocks noChangeAspect="1"/>
          </p:cNvPicPr>
          <p:nvPr/>
        </p:nvPicPr>
        <p:blipFill>
          <a:blip r:embed="rId1"/>
          <a:stretch>
            <a:fillRect/>
          </a:stretch>
        </p:blipFill>
        <p:spPr>
          <a:xfrm>
            <a:off x="960120" y="2057400"/>
            <a:ext cx="457200" cy="457200"/>
          </a:xfrm>
          <a:prstGeom prst="rect">
            <a:avLst/>
          </a:prstGeom>
        </p:spPr>
      </p:pic>
      <p:sp>
        <p:nvSpPr>
          <p:cNvPr id="5" name="Text 2"/>
          <p:cNvSpPr txBox="1"/>
          <p:nvPr/>
        </p:nvSpPr>
        <p:spPr>
          <a:xfrm>
            <a:off x="1920240" y="1828800"/>
            <a:ext cx="4069080" cy="457200"/>
          </a:xfrm>
          <a:prstGeom prst="rect">
            <a:avLst/>
          </a:prstGeom>
          <a:noFill/>
          <a:ln/>
        </p:spPr>
        <p:txBody>
          <a:bodyPr wrap="square" lIns="0" tIns="0" rIns="0" bIns="0" rtlCol="0" anchor="t"/>
          <a:lstStyle/>
          <a:p>
            <a:pPr indent="0" marL="0">
              <a:buNone/>
            </a:pPr>
            <a:r>
              <a:rPr lang="en-US" sz="1900" b="1" dirty="0">
                <a:solidFill>
                  <a:schemeClr val="bg1"/>
                </a:solidFill>
              </a:rPr>
              <a:t>Scripts record analyses</a:t>
            </a:r>
            <a:endParaRPr lang="en-US" sz="1900" dirty="0"/>
          </a:p>
        </p:txBody>
      </p:sp>
      <p:sp>
        <p:nvSpPr>
          <p:cNvPr id="6" name="Text 3"/>
          <p:cNvSpPr txBox="1"/>
          <p:nvPr/>
        </p:nvSpPr>
        <p:spPr>
          <a:xfrm>
            <a:off x="1920240" y="230428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Rerun them whenever the data change.</a:t>
            </a:r>
            <a:endParaRPr lang="en-US" sz="1400" dirty="0"/>
          </a:p>
        </p:txBody>
      </p:sp>
      <p:sp>
        <p:nvSpPr>
          <p:cNvPr id="7" name="icon circle"/>
          <p:cNvSpPr/>
          <p:nvPr/>
        </p:nvSpPr>
        <p:spPr>
          <a:xfrm>
            <a:off x="6217920" y="1828800"/>
            <a:ext cx="914400" cy="914400"/>
          </a:xfrm>
          <a:prstGeom prst="ellipse">
            <a:avLst/>
          </a:prstGeom>
          <a:solidFill>
            <a:schemeClr val="accent2"/>
          </a:solidFill>
          <a:ln/>
        </p:spPr>
      </p:sp>
      <p:pic>
        <p:nvPicPr>
          <p:cNvPr id="8" name="Image 1" descr="FaFolderOpen">    </p:cNvPr>
          <p:cNvPicPr>
            <a:picLocks noChangeAspect="1"/>
          </p:cNvPicPr>
          <p:nvPr/>
        </p:nvPicPr>
        <p:blipFill>
          <a:blip r:embed="rId2"/>
          <a:stretch>
            <a:fillRect/>
          </a:stretch>
        </p:blipFill>
        <p:spPr>
          <a:xfrm>
            <a:off x="6446520" y="2057400"/>
            <a:ext cx="457200" cy="457200"/>
          </a:xfrm>
          <a:prstGeom prst="rect">
            <a:avLst/>
          </a:prstGeom>
        </p:spPr>
      </p:pic>
      <p:sp>
        <p:nvSpPr>
          <p:cNvPr id="9" name="Text 5"/>
          <p:cNvSpPr txBox="1"/>
          <p:nvPr/>
        </p:nvSpPr>
        <p:spPr>
          <a:xfrm>
            <a:off x="7406640" y="1828800"/>
            <a:ext cx="4069080" cy="457200"/>
          </a:xfrm>
          <a:prstGeom prst="rect">
            <a:avLst/>
          </a:prstGeom>
          <a:noFill/>
          <a:ln/>
        </p:spPr>
        <p:txBody>
          <a:bodyPr wrap="square" lIns="0" tIns="0" rIns="0" bIns="0" rtlCol="0" anchor="t"/>
          <a:lstStyle/>
          <a:p>
            <a:pPr indent="0" marL="0">
              <a:buNone/>
            </a:pPr>
            <a:r>
              <a:rPr lang="en-US" sz="1900" b="1" dirty="0">
                <a:solidFill>
                  <a:schemeClr val="bg1"/>
                </a:solidFill>
              </a:rPr>
              <a:t>Projects keep paths portable</a:t>
            </a:r>
            <a:endParaRPr lang="en-US" sz="1900" dirty="0"/>
          </a:p>
        </p:txBody>
      </p:sp>
      <p:sp>
        <p:nvSpPr>
          <p:cNvPr id="10" name="Text 6"/>
          <p:cNvSpPr txBox="1"/>
          <p:nvPr/>
        </p:nvSpPr>
        <p:spPr>
          <a:xfrm>
            <a:off x="7406640" y="230428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Raw data, scripts and outputs in their own folders.</a:t>
            </a:r>
            <a:endParaRPr lang="en-US" sz="1400" dirty="0"/>
          </a:p>
        </p:txBody>
      </p:sp>
      <p:sp>
        <p:nvSpPr>
          <p:cNvPr id="11" name="icon circle"/>
          <p:cNvSpPr/>
          <p:nvPr/>
        </p:nvSpPr>
        <p:spPr>
          <a:xfrm>
            <a:off x="731520" y="3520440"/>
            <a:ext cx="914400" cy="914400"/>
          </a:xfrm>
          <a:prstGeom prst="ellipse">
            <a:avLst/>
          </a:prstGeom>
          <a:solidFill>
            <a:schemeClr val="accent2"/>
          </a:solidFill>
          <a:ln/>
        </p:spPr>
      </p:sp>
      <p:pic>
        <p:nvPicPr>
          <p:cNvPr id="12" name="Image 2" descr="FaBoxOpen">    </p:cNvPr>
          <p:cNvPicPr>
            <a:picLocks noChangeAspect="1"/>
          </p:cNvPicPr>
          <p:nvPr/>
        </p:nvPicPr>
        <p:blipFill>
          <a:blip r:embed="rId3"/>
          <a:stretch>
            <a:fillRect/>
          </a:stretch>
        </p:blipFill>
        <p:spPr>
          <a:xfrm>
            <a:off x="960120" y="3749040"/>
            <a:ext cx="457200" cy="457200"/>
          </a:xfrm>
          <a:prstGeom prst="rect">
            <a:avLst/>
          </a:prstGeom>
        </p:spPr>
      </p:pic>
      <p:sp>
        <p:nvSpPr>
          <p:cNvPr id="13" name="Text 8"/>
          <p:cNvSpPr txBox="1"/>
          <p:nvPr/>
        </p:nvSpPr>
        <p:spPr>
          <a:xfrm>
            <a:off x="1920240" y="3520440"/>
            <a:ext cx="4069080" cy="457200"/>
          </a:xfrm>
          <a:prstGeom prst="rect">
            <a:avLst/>
          </a:prstGeom>
          <a:noFill/>
          <a:ln/>
        </p:spPr>
        <p:txBody>
          <a:bodyPr wrap="square" lIns="0" tIns="0" rIns="0" bIns="0" rtlCol="0" anchor="t"/>
          <a:lstStyle/>
          <a:p>
            <a:pPr indent="0" marL="0">
              <a:buNone/>
            </a:pPr>
            <a:r>
              <a:rPr lang="en-US" sz="1900" b="1" dirty="0">
                <a:solidFill>
                  <a:schemeClr val="bg1"/>
                </a:solidFill>
              </a:rPr>
              <a:t>Packages extend R</a:t>
            </a:r>
            <a:endParaRPr lang="en-US" sz="1900" dirty="0"/>
          </a:p>
        </p:txBody>
      </p:sp>
      <p:sp>
        <p:nvSpPr>
          <p:cNvPr id="14" name="Text 9"/>
          <p:cNvSpPr txBox="1"/>
          <p:nvPr/>
        </p:nvSpPr>
        <p:spPr>
          <a:xfrm>
            <a:off x="1920240" y="399592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Install once, load each session.</a:t>
            </a:r>
            <a:endParaRPr lang="en-US" sz="1400" dirty="0"/>
          </a:p>
        </p:txBody>
      </p:sp>
      <p:sp>
        <p:nvSpPr>
          <p:cNvPr id="15" name="icon circle"/>
          <p:cNvSpPr/>
          <p:nvPr/>
        </p:nvSpPr>
        <p:spPr>
          <a:xfrm>
            <a:off x="6217920" y="3520440"/>
            <a:ext cx="914400" cy="914400"/>
          </a:xfrm>
          <a:prstGeom prst="ellipse">
            <a:avLst/>
          </a:prstGeom>
          <a:solidFill>
            <a:schemeClr val="accent2"/>
          </a:solidFill>
          <a:ln/>
        </p:spPr>
      </p:sp>
      <p:pic>
        <p:nvPicPr>
          <p:cNvPr id="16" name="Image 3" descr="FaRuler">    </p:cNvPr>
          <p:cNvPicPr>
            <a:picLocks noChangeAspect="1"/>
          </p:cNvPicPr>
          <p:nvPr/>
        </p:nvPicPr>
        <p:blipFill>
          <a:blip r:embed="rId4"/>
          <a:stretch>
            <a:fillRect/>
          </a:stretch>
        </p:blipFill>
        <p:spPr>
          <a:xfrm>
            <a:off x="6446520" y="3749040"/>
            <a:ext cx="457200" cy="457200"/>
          </a:xfrm>
          <a:prstGeom prst="rect">
            <a:avLst/>
          </a:prstGeom>
        </p:spPr>
      </p:pic>
      <p:sp>
        <p:nvSpPr>
          <p:cNvPr id="17" name="Text 11"/>
          <p:cNvSpPr txBox="1"/>
          <p:nvPr/>
        </p:nvSpPr>
        <p:spPr>
          <a:xfrm>
            <a:off x="7406640" y="3520440"/>
            <a:ext cx="4069080" cy="457200"/>
          </a:xfrm>
          <a:prstGeom prst="rect">
            <a:avLst/>
          </a:prstGeom>
          <a:noFill/>
          <a:ln/>
        </p:spPr>
        <p:txBody>
          <a:bodyPr wrap="square" lIns="0" tIns="0" rIns="0" bIns="0" rtlCol="0" anchor="t"/>
          <a:lstStyle/>
          <a:p>
            <a:pPr indent="0" marL="0">
              <a:buNone/>
            </a:pPr>
            <a:r>
              <a:rPr lang="en-US" sz="1900" b="1" dirty="0">
                <a:solidFill>
                  <a:schemeClr val="bg1"/>
                </a:solidFill>
              </a:rPr>
              <a:t>Units are your responsibility</a:t>
            </a:r>
            <a:endParaRPr lang="en-US" sz="1900" dirty="0"/>
          </a:p>
        </p:txBody>
      </p:sp>
      <p:sp>
        <p:nvSpPr>
          <p:cNvPr id="18" name="Text 12"/>
          <p:cNvSpPr txBox="1"/>
          <p:nvPr/>
        </p:nvSpPr>
        <p:spPr>
          <a:xfrm>
            <a:off x="7406640" y="399592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R computes; you interpret.</a:t>
            </a:r>
            <a:endParaRPr lang="en-US" sz="1400" dirty="0"/>
          </a:p>
        </p:txBody>
      </p:sp>
      <p:sp>
        <p:nvSpPr>
          <p:cNvPr id="19" name="Text 13"/>
          <p:cNvSpPr txBox="1"/>
          <p:nvPr/>
        </p:nvSpPr>
        <p:spPr>
          <a:xfrm>
            <a:off x="731520" y="5669280"/>
            <a:ext cx="10058400" cy="365760"/>
          </a:xfrm>
          <a:prstGeom prst="rect">
            <a:avLst/>
          </a:prstGeom>
          <a:noFill/>
          <a:ln/>
        </p:spPr>
        <p:txBody>
          <a:bodyPr wrap="square" lIns="0" tIns="0" rIns="0" bIns="0" rtlCol="0" anchor="t"/>
          <a:lstStyle/>
          <a:p>
            <a:pPr indent="0" marL="0">
              <a:buNone/>
            </a:pPr>
            <a:r>
              <a:rPr lang="en-US" sz="1600" i="1" dirty="0">
                <a:solidFill>
                  <a:schemeClr val="accent2"/>
                </a:solidFill>
              </a:rPr>
              <a:t>Next: Chapter 2 · Objects, data structures and functions</a:t>
            </a:r>
            <a:endParaRPr lang="en-US" sz="1600" dirty="0"/>
          </a:p>
        </p:txBody>
      </p:sp>
      <p:sp>
        <p:nvSpPr>
          <p:cNvPr id="21"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endParaRPr lang="en-US" sz="3800" dirty="0"/>
          </a:p>
        </p:txBody>
      </p:sp>
      <p:sp>
        <p:nvSpPr>
          <p:cNvPr id="22"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Office Theme">
  <a:themeElements>
    <a:clrScheme name="KAU R Textbook">
      <a:dk1>
        <a:srgbClr val="1B2A41"/>
      </a:dk1>
      <a:lt1>
        <a:srgbClr val="FFFFFF"/>
      </a:lt1>
      <a:dk2>
        <a:srgbClr val="1F3A68"/>
      </a:dk2>
      <a:lt2>
        <a:srgbClr val="EEF3FA"/>
      </a:lt2>
      <a:accent1>
        <a:srgbClr val="1F4E8C"/>
      </a:accent1>
      <a:accent2>
        <a:srgbClr val="C99A1E"/>
      </a:accent2>
      <a:accent3>
        <a:srgbClr val="2E7D4F"/>
      </a:accent3>
      <a:accent4>
        <a:srgbClr val="B5452E"/>
      </a:accent4>
      <a:accent5>
        <a:srgbClr val="5B6B82"/>
      </a:accent5>
      <a:accent6>
        <a:srgbClr val="F4EBCF"/>
      </a:accent6>
      <a:hlink>
        <a:srgbClr val="1F4E8C"/>
      </a:hlink>
      <a:folHlink>
        <a:srgbClr val="5B6B8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Getting started with R</dc:title>
  <dc:subject>R Programming for Agricultural Data Analysis · Chapter 1</dc:subject>
  <dc:creator>Dr. Pratheesh P. Gopinath</dc:creator>
  <cp:lastModifiedBy>Dr. Pratheesh P. Gopinath</cp:lastModifiedBy>
  <cp:revision>1</cp:revision>
  <dcterms:created xsi:type="dcterms:W3CDTF">2026-10-20T10:13:41Z</dcterms:created>
  <dcterms:modified xsi:type="dcterms:W3CDTF">2026-10-20T10:13:41Z</dcterms:modified>
</cp:coreProperties>
</file>