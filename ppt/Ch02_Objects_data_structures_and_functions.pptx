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f048946-b34a-8e04-b027-fe7a7da3eb01}">
          <p14:sldIdLst>
            <p14:sldId id="256"/>
            <p14:sldId id="257"/>
          </p14:sldIdLst>
        </p14:section>
        <p14:section name="Values and arithmetic" id="{dae22f7d-3cc7-19f1-0a7b-0c73b5329e91}">
          <p14:sldIdLst>
            <p14:sldId id="258"/>
            <p14:sldId id="259"/>
            <p14:sldId id="260"/>
          </p14:sldIdLst>
        </p14:section>
        <p14:section name="Data structures" id="{5c830d8b-f3b5-5284-6fba-2ff99b1f238a}">
          <p14:sldIdLst>
            <p14:sldId id="261"/>
            <p14:sldId id="262"/>
            <p14:sldId id="263"/>
            <p14:sldId id="264"/>
            <p14:sldId id="265"/>
            <p14:sldId id="266"/>
          </p14:sldIdLst>
        </p14:section>
        <p14:section name="Review" id="{a360b309-64e2-2369-13c2-6e8a533d5ca6}">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two, objects, data structures and functions. Everything you do in R involves objects: a single yield, a column of yields, a table of plots, or a list holding a whole analysis. In this chapter we learn how R stores agricultural information and how to pick out exactly the values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you will do arithmetic and use R's built-in functions, and assign results to names. You will recognise the main data types: numeric, character, logical and factor. You will build the four structures used throughout the book: vectors, matrices, data frames and lists. And you will write a small reusable function. Keep one idea in mind: a plot number, a variety label and a yield may all look like numbers, but they play very different roles in an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R as a calculator, and with storing results under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works as a calculator: plus, minus, times, divide and the caret for powers. The colon operator gives a sequence of integers, which is a quick way to number plots. Functions such as log, log ten and square root take arguments in brackets. To keep a result, assign it to a name with the arrow, made of a less-than sign and a hyphen. Names are case sensitive, should start with a letter, and should use underscores instead of spaces. Anything after a hash sign is a comment that R ignores, so use comments to explain your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has a few basic data types. Numeric values are measurements and counts, and arithmetic works on them. Character values are text in quotes, used for labels and identifiers such as plot codes. Logical values are TRUE or FALSE, and usually come from a comparison such as yield greater than four. Factors are categories with defined levels, such as variety, treatment or block. The functions class and str tell you how R has stored something, and you should check them after every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four data structures that hold agricultural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vector is a sequence of values of one type, created with the c function. Length and mean work on the whole vector at once. Square brackets select values: by position, starting at one; by several positions; by a logical condition such as yield greater than three point six; or with a minus sign to drop a value. Because a vector holds only one type, mixing a number and a piece of text converts everything to text. This is exactly what happens when a single typed letter sneaks into a column of yields in a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matrix arranges values of one type in rows and columns; row means and column means are quick to compute. A data frame is the structure you will use most. Each row is an experimental unit, such as a plot, and each column is a variable, which can be of a different type: an integer plot number, a factor variety and a numeric yield. Use the dollar sign to extract a column, and square brackets with a row condition and a column position to select rows, here the plots yielding more than three and a half tonnes.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Lists can hold objects of any kind together, for example a data frame along with a description and a fitted model; you extract parts with the dollar sign. Missing values are written NA. Any calculation involving NA gives NA, so mean of four and NA is NA. You can exclude missing values with na dot rm equals TRUE, but count them first, because the denominator matters. Finally, a function packages a calculation you repeat, such as the coefficient of variation, into a single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two has five tasks that build on the chapter. Create and subset a vector, build a matrix and compute row means, build a small field data frame and select yields above the overall mean, store it in a list with a description, and predict the type of c one, quote two quote. Explain why that last result matters when you import data from a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you build a field observation table with six plots and two varieties, look at its structure, and compute the mean yield of each variety. Identify the class of each column. Then change one yield and explain why only one of the variety means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store results with the assignment arrow under clear names. Check the type of every column with class and str. In a data frame, each row is an experimental unit and each column a variable. And count missing values before excluding them. Next, we import real data files into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2 · Objects, data structures, and functions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1  ·  CHAPTER 2</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Objects, data structures, and functions</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Calculator">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Calculate and assign</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Arithmetic, functions such as </a:t>
            </a:r>
            <a:pPr indent="0" marL="0">
              <a:buNone/>
            </a:pPr>
            <a:r>
              <a:rPr lang="en-US" sz="1400" dirty="0">
                <a:solidFill>
                  <a:schemeClr val="accent1"/>
                </a:solidFill>
                <a:latin typeface="Courier New" pitchFamily="34" charset="0"/>
                <a:ea typeface="Courier New" pitchFamily="34" charset="-122"/>
                <a:cs typeface="Courier New" pitchFamily="34" charset="-120"/>
              </a:rPr>
              <a:t>log()</a:t>
            </a:r>
            <a:pPr indent="0" marL="0">
              <a:buNone/>
            </a:pPr>
            <a:r>
              <a:rPr lang="en-US" sz="1400" dirty="0">
                <a:solidFill>
                  <a:schemeClr val="accent5"/>
                </a:solidFill>
              </a:rPr>
              <a:t> and </a:t>
            </a:r>
            <a:pPr indent="0" marL="0">
              <a:buNone/>
            </a:pPr>
            <a:r>
              <a:rPr lang="en-US" sz="1400" dirty="0">
                <a:solidFill>
                  <a:schemeClr val="accent1"/>
                </a:solidFill>
                <a:latin typeface="Courier New" pitchFamily="34" charset="0"/>
                <a:ea typeface="Courier New" pitchFamily="34" charset="-122"/>
                <a:cs typeface="Courier New" pitchFamily="34" charset="-120"/>
              </a:rPr>
              <a:t>sqrt()</a:t>
            </a:r>
            <a:pPr indent="0" marL="0">
              <a:buNone/>
            </a:pPr>
            <a:r>
              <a:rPr lang="en-US" sz="1400" dirty="0">
                <a:solidFill>
                  <a:schemeClr val="accent5"/>
                </a:solidFill>
              </a:rPr>
              <a:t>, and the </a:t>
            </a:r>
            <a:pPr indent="0" marL="0">
              <a:buNone/>
            </a:pPr>
            <a:r>
              <a:rPr lang="en-US" sz="1400" dirty="0">
                <a:solidFill>
                  <a:schemeClr val="accent1"/>
                </a:solidFill>
                <a:latin typeface="Courier New" pitchFamily="34" charset="0"/>
                <a:ea typeface="Courier New" pitchFamily="34" charset="-122"/>
                <a:cs typeface="Courier New" pitchFamily="34" charset="-120"/>
              </a:rPr>
              <a:t>&lt;-</a:t>
            </a:r>
            <a:pPr indent="0" marL="0">
              <a:buNone/>
            </a:pPr>
            <a:r>
              <a:rPr lang="en-US" sz="1400" dirty="0">
                <a:solidFill>
                  <a:schemeClr val="accent5"/>
                </a:solidFill>
              </a:rPr>
              <a:t> arrow</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Tags">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Recognise data types</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Numeric, character, logical and factor values</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Table">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Build data structures</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Vectors, matrices, data frames and lists</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Code">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Write a small function</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Package a calculation you repeat into one call</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An identifier, a category and a measurement may all look like numbers but play different analytical roles.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Values and arithmetic</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R as a calculator, and storing results</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Arithmetic, functions and assignment</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4.8 * 2.5          # multiplication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2^10               # exponentiation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1:10               # every integer from 1 to 10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log(100)           # natural logarithm</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log10(100)         # logarithm to base 10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sqrt(144)          # square root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x &lt;- 2              # assign 2 to x</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 &lt;- 5</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x + y</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yield_t_ha &lt;- 4.8   # use _ not spaces in names</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Hashtag">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Comments</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R ignores everything after </a:t>
            </a:r>
            <a:pPr indent="0" marL="0">
              <a:buNone/>
            </a:pPr>
            <a:r>
              <a:rPr lang="en-US" sz="1400" dirty="0">
                <a:solidFill>
                  <a:schemeClr val="accent1"/>
                </a:solidFill>
                <a:latin typeface="Courier New" pitchFamily="34" charset="0"/>
                <a:ea typeface="Courier New" pitchFamily="34" charset="-122"/>
                <a:cs typeface="Courier New" pitchFamily="34" charset="-120"/>
              </a:rPr>
              <a:t>#</a:t>
            </a:r>
            <a:pPr indent="0" marL="0">
              <a:buNone/>
            </a:pPr>
            <a:r>
              <a:rPr lang="en-US" sz="1400" dirty="0">
                <a:solidFill>
                  <a:schemeClr val="tx1"/>
                </a:solidFill>
              </a:rPr>
              <a:t> on a line. Use comments to explain why, not just what.</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Font">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Names</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Names are case sensitive: </a:t>
            </a:r>
            <a:pPr indent="0" marL="0">
              <a:buNone/>
            </a:pPr>
            <a:r>
              <a:rPr lang="en-US" sz="1400" dirty="0">
                <a:solidFill>
                  <a:schemeClr val="accent1"/>
                </a:solidFill>
                <a:latin typeface="Courier New" pitchFamily="34" charset="0"/>
                <a:ea typeface="Courier New" pitchFamily="34" charset="-122"/>
                <a:cs typeface="Courier New" pitchFamily="34" charset="-120"/>
              </a:rPr>
              <a:t>Yield</a:t>
            </a:r>
            <a:pPr indent="0" marL="0">
              <a:buNone/>
            </a:pPr>
            <a:r>
              <a:rPr lang="en-US" sz="1400" dirty="0">
                <a:solidFill>
                  <a:schemeClr val="tx1"/>
                </a:solidFill>
              </a:rPr>
              <a:t> and </a:t>
            </a:r>
            <a:pPr indent="0" marL="0">
              <a:buNone/>
            </a:pPr>
            <a:r>
              <a:rPr lang="en-US" sz="1400" dirty="0">
                <a:solidFill>
                  <a:schemeClr val="accent1"/>
                </a:solidFill>
                <a:latin typeface="Courier New" pitchFamily="34" charset="0"/>
                <a:ea typeface="Courier New" pitchFamily="34" charset="-122"/>
                <a:cs typeface="Courier New" pitchFamily="34" charset="-120"/>
              </a:rPr>
              <a:t>yield</a:t>
            </a:r>
            <a:pPr indent="0" marL="0">
              <a:buNone/>
            </a:pPr>
            <a:r>
              <a:rPr lang="en-US" sz="1400" dirty="0">
                <a:solidFill>
                  <a:schemeClr val="tx1"/>
                </a:solidFill>
              </a:rPr>
              <a:t> are different objects. Start with a letter; use </a:t>
            </a:r>
            <a:pPr indent="0" marL="0">
              <a:buNone/>
            </a:pPr>
            <a:r>
              <a:rPr lang="en-US" sz="1400" dirty="0">
                <a:solidFill>
                  <a:schemeClr val="accent1"/>
                </a:solidFill>
                <a:latin typeface="Courier New" pitchFamily="34" charset="0"/>
                <a:ea typeface="Courier New" pitchFamily="34" charset="-122"/>
                <a:cs typeface="Courier New" pitchFamily="34" charset="-120"/>
              </a:rPr>
              <a:t>_</a:t>
            </a:r>
            <a:pPr indent="0" marL="0">
              <a:buNone/>
            </a:pPr>
            <a:r>
              <a:rPr lang="en-US" sz="1400" dirty="0">
                <a:solidFill>
                  <a:schemeClr val="tx1"/>
                </a:solidFill>
              </a:rPr>
              <a:t> instead of spaces.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Basic data types</a:t>
            </a:r>
            <a:endParaRPr lang="en-US" sz="3200" dirty="0"/>
          </a:p>
        </p:txBody>
      </p:sp>
      <p:sp>
        <p:nvSpPr>
          <p:cNvPr id="3" name="card"/>
          <p:cNvSpPr/>
          <p:nvPr/>
        </p:nvSpPr>
        <p:spPr>
          <a:xfrm>
            <a:off x="548640" y="1702841"/>
            <a:ext cx="2594610" cy="2756916"/>
          </a:xfrm>
          <a:prstGeom prst="roundRect">
            <a:avLst>
              <a:gd name="adj" fmla="val 4229"/>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931441"/>
            <a:ext cx="731520" cy="731520"/>
          </a:xfrm>
          <a:prstGeom prst="ellipse">
            <a:avLst/>
          </a:prstGeom>
          <a:solidFill>
            <a:schemeClr val="accent1"/>
          </a:solidFill>
          <a:ln/>
        </p:spPr>
      </p:sp>
      <p:pic>
        <p:nvPicPr>
          <p:cNvPr id="5" name="Image 0" descr="FaHashtag">    </p:cNvPr>
          <p:cNvPicPr>
            <a:picLocks noChangeAspect="1"/>
          </p:cNvPicPr>
          <p:nvPr/>
        </p:nvPicPr>
        <p:blipFill>
          <a:blip r:embed="rId1"/>
          <a:stretch>
            <a:fillRect/>
          </a:stretch>
        </p:blipFill>
        <p:spPr>
          <a:xfrm>
            <a:off x="960120" y="2114321"/>
            <a:ext cx="365760" cy="365760"/>
          </a:xfrm>
          <a:prstGeom prst="rect">
            <a:avLst/>
          </a:prstGeom>
        </p:spPr>
      </p:pic>
      <p:sp>
        <p:nvSpPr>
          <p:cNvPr id="6" name="Text 3"/>
          <p:cNvSpPr txBox="1"/>
          <p:nvPr/>
        </p:nvSpPr>
        <p:spPr>
          <a:xfrm>
            <a:off x="777240" y="2800121"/>
            <a:ext cx="2137410" cy="292608"/>
          </a:xfrm>
          <a:prstGeom prst="rect">
            <a:avLst/>
          </a:prstGeom>
          <a:noFill/>
          <a:ln/>
        </p:spPr>
        <p:txBody>
          <a:bodyPr wrap="square" lIns="0" tIns="0" rIns="0" bIns="0" rtlCol="0" anchor="t"/>
          <a:lstStyle/>
          <a:p>
            <a:pPr indent="0" marL="0">
              <a:buNone/>
            </a:pPr>
            <a:r>
              <a:rPr lang="en-US" sz="1700" b="1" dirty="0">
                <a:solidFill>
                  <a:schemeClr val="tx2"/>
                </a:solidFill>
              </a:rPr>
              <a:t>Numeric</a:t>
            </a:r>
            <a:endParaRPr lang="en-US" sz="1700" dirty="0"/>
          </a:p>
        </p:txBody>
      </p:sp>
      <p:sp>
        <p:nvSpPr>
          <p:cNvPr id="7" name="Text 4"/>
          <p:cNvSpPr txBox="1"/>
          <p:nvPr/>
        </p:nvSpPr>
        <p:spPr>
          <a:xfrm>
            <a:off x="777240" y="3202457"/>
            <a:ext cx="2137410" cy="1147572"/>
          </a:xfrm>
          <a:prstGeom prst="rect">
            <a:avLst/>
          </a:prstGeom>
          <a:noFill/>
          <a:ln/>
        </p:spPr>
        <p:txBody>
          <a:bodyPr wrap="square" lIns="0" tIns="0" rIns="0" bIns="0" rtlCol="0" anchor="t"/>
          <a:lstStyle/>
          <a:p>
            <a:pPr indent="0" marL="0">
              <a:buNone/>
            </a:pPr>
            <a:r>
              <a:rPr lang="en-US" sz="1800" dirty="0">
                <a:solidFill>
                  <a:schemeClr val="accent5"/>
                </a:solidFill>
              </a:rPr>
              <a:t>Measurements and counts: </a:t>
            </a:r>
            <a:pPr indent="0" marL="0">
              <a:buNone/>
            </a:pPr>
            <a:r>
              <a:rPr lang="en-US" sz="1800" dirty="0">
                <a:solidFill>
                  <a:schemeClr val="accent1"/>
                </a:solidFill>
                <a:latin typeface="Courier New" pitchFamily="34" charset="0"/>
                <a:ea typeface="Courier New" pitchFamily="34" charset="-122"/>
                <a:cs typeface="Courier New" pitchFamily="34" charset="-120"/>
              </a:rPr>
              <a:t>4.8</a:t>
            </a:r>
            <a:pPr indent="0" marL="0">
              <a:buNone/>
            </a:pPr>
            <a:r>
              <a:rPr lang="en-US" sz="1800" dirty="0">
                <a:solidFill>
                  <a:schemeClr val="accent5"/>
                </a:solidFill>
              </a:rPr>
              <a:t>, </a:t>
            </a:r>
            <a:pPr indent="0" marL="0">
              <a:buNone/>
            </a:pPr>
            <a:r>
              <a:rPr lang="en-US" sz="1800" dirty="0">
                <a:solidFill>
                  <a:schemeClr val="accent1"/>
                </a:solidFill>
                <a:latin typeface="Courier New" pitchFamily="34" charset="0"/>
                <a:ea typeface="Courier New" pitchFamily="34" charset="-122"/>
                <a:cs typeface="Courier New" pitchFamily="34" charset="-120"/>
              </a:rPr>
              <a:t>32</a:t>
            </a:r>
            <a:pPr indent="0" marL="0">
              <a:buNone/>
            </a:pPr>
            <a:r>
              <a:rPr lang="en-US" sz="1800" dirty="0">
                <a:solidFill>
                  <a:schemeClr val="accent5"/>
                </a:solidFill>
              </a:rPr>
              <a:t>. Arithmetic works.</a:t>
            </a:r>
            <a:endParaRPr lang="en-US" sz="1800" dirty="0"/>
          </a:p>
        </p:txBody>
      </p:sp>
      <p:sp>
        <p:nvSpPr>
          <p:cNvPr id="8" name="card"/>
          <p:cNvSpPr/>
          <p:nvPr/>
        </p:nvSpPr>
        <p:spPr>
          <a:xfrm>
            <a:off x="3371850" y="1702841"/>
            <a:ext cx="2594610" cy="2756916"/>
          </a:xfrm>
          <a:prstGeom prst="roundRect">
            <a:avLst>
              <a:gd name="adj" fmla="val 4229"/>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3600450" y="1931441"/>
            <a:ext cx="731520" cy="731520"/>
          </a:xfrm>
          <a:prstGeom prst="ellipse">
            <a:avLst/>
          </a:prstGeom>
          <a:solidFill>
            <a:schemeClr val="accent2"/>
          </a:solidFill>
          <a:ln/>
        </p:spPr>
      </p:sp>
      <p:pic>
        <p:nvPicPr>
          <p:cNvPr id="10" name="Image 1" descr="FaFont">    </p:cNvPr>
          <p:cNvPicPr>
            <a:picLocks noChangeAspect="1"/>
          </p:cNvPicPr>
          <p:nvPr/>
        </p:nvPicPr>
        <p:blipFill>
          <a:blip r:embed="rId2"/>
          <a:stretch>
            <a:fillRect/>
          </a:stretch>
        </p:blipFill>
        <p:spPr>
          <a:xfrm>
            <a:off x="3783330" y="2114321"/>
            <a:ext cx="365760" cy="365760"/>
          </a:xfrm>
          <a:prstGeom prst="rect">
            <a:avLst/>
          </a:prstGeom>
        </p:spPr>
      </p:pic>
      <p:sp>
        <p:nvSpPr>
          <p:cNvPr id="11" name="Text 7"/>
          <p:cNvSpPr txBox="1"/>
          <p:nvPr/>
        </p:nvSpPr>
        <p:spPr>
          <a:xfrm>
            <a:off x="3600450" y="2800121"/>
            <a:ext cx="2137410" cy="292608"/>
          </a:xfrm>
          <a:prstGeom prst="rect">
            <a:avLst/>
          </a:prstGeom>
          <a:noFill/>
          <a:ln/>
        </p:spPr>
        <p:txBody>
          <a:bodyPr wrap="square" lIns="0" tIns="0" rIns="0" bIns="0" rtlCol="0" anchor="t"/>
          <a:lstStyle/>
          <a:p>
            <a:pPr indent="0" marL="0">
              <a:buNone/>
            </a:pPr>
            <a:r>
              <a:rPr lang="en-US" sz="1700" b="1" dirty="0">
                <a:solidFill>
                  <a:schemeClr val="tx2"/>
                </a:solidFill>
              </a:rPr>
              <a:t>Character</a:t>
            </a:r>
            <a:endParaRPr lang="en-US" sz="1700" dirty="0"/>
          </a:p>
        </p:txBody>
      </p:sp>
      <p:sp>
        <p:nvSpPr>
          <p:cNvPr id="12" name="Text 8"/>
          <p:cNvSpPr txBox="1"/>
          <p:nvPr/>
        </p:nvSpPr>
        <p:spPr>
          <a:xfrm>
            <a:off x="3600450" y="3202457"/>
            <a:ext cx="2137410" cy="1147572"/>
          </a:xfrm>
          <a:prstGeom prst="rect">
            <a:avLst/>
          </a:prstGeom>
          <a:noFill/>
          <a:ln/>
        </p:spPr>
        <p:txBody>
          <a:bodyPr wrap="square" lIns="0" tIns="0" rIns="0" bIns="0" rtlCol="0" anchor="t"/>
          <a:lstStyle/>
          <a:p>
            <a:pPr indent="0" marL="0">
              <a:buNone/>
            </a:pPr>
            <a:r>
              <a:rPr lang="en-US" sz="1800" dirty="0">
                <a:solidFill>
                  <a:schemeClr val="accent5"/>
                </a:solidFill>
              </a:rPr>
              <a:t>Text in quotes: </a:t>
            </a:r>
            <a:pPr indent="0" marL="0">
              <a:buNone/>
            </a:pPr>
            <a:r>
              <a:rPr lang="en-US" sz="1800" dirty="0">
                <a:solidFill>
                  <a:schemeClr val="accent1"/>
                </a:solidFill>
                <a:latin typeface="Courier New" pitchFamily="34" charset="0"/>
                <a:ea typeface="Courier New" pitchFamily="34" charset="-122"/>
                <a:cs typeface="Courier New" pitchFamily="34" charset="-120"/>
              </a:rPr>
              <a:t>"Rice"</a:t>
            </a:r>
            <a:pPr indent="0" marL="0">
              <a:buNone/>
            </a:pPr>
            <a:r>
              <a:rPr lang="en-US" sz="1800" dirty="0">
                <a:solidFill>
                  <a:schemeClr val="accent5"/>
                </a:solidFill>
              </a:rPr>
              <a:t>, </a:t>
            </a:r>
            <a:pPr indent="0" marL="0">
              <a:buNone/>
            </a:pPr>
            <a:r>
              <a:rPr lang="en-US" sz="1800" dirty="0">
                <a:solidFill>
                  <a:schemeClr val="accent1"/>
                </a:solidFill>
                <a:latin typeface="Courier New" pitchFamily="34" charset="0"/>
                <a:ea typeface="Courier New" pitchFamily="34" charset="-122"/>
                <a:cs typeface="Courier New" pitchFamily="34" charset="-120"/>
              </a:rPr>
              <a:t>"P001"</a:t>
            </a:r>
            <a:pPr indent="0" marL="0">
              <a:buNone/>
            </a:pPr>
            <a:r>
              <a:rPr lang="en-US" sz="1800" dirty="0">
                <a:solidFill>
                  <a:schemeClr val="accent5"/>
                </a:solidFill>
              </a:rPr>
              <a:t>. Labels and identifiers.</a:t>
            </a:r>
            <a:endParaRPr lang="en-US" sz="1800" dirty="0"/>
          </a:p>
        </p:txBody>
      </p:sp>
      <p:sp>
        <p:nvSpPr>
          <p:cNvPr id="13" name="card"/>
          <p:cNvSpPr/>
          <p:nvPr/>
        </p:nvSpPr>
        <p:spPr>
          <a:xfrm>
            <a:off x="6195060" y="1702841"/>
            <a:ext cx="2594610" cy="2756916"/>
          </a:xfrm>
          <a:prstGeom prst="roundRect">
            <a:avLst>
              <a:gd name="adj" fmla="val 4229"/>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6423660" y="1931441"/>
            <a:ext cx="731520" cy="731520"/>
          </a:xfrm>
          <a:prstGeom prst="ellipse">
            <a:avLst/>
          </a:prstGeom>
          <a:solidFill>
            <a:schemeClr val="accent3"/>
          </a:solidFill>
          <a:ln/>
        </p:spPr>
      </p:sp>
      <p:pic>
        <p:nvPicPr>
          <p:cNvPr id="15" name="Image 2" descr="FaToggleOn">    </p:cNvPr>
          <p:cNvPicPr>
            <a:picLocks noChangeAspect="1"/>
          </p:cNvPicPr>
          <p:nvPr/>
        </p:nvPicPr>
        <p:blipFill>
          <a:blip r:embed="rId3"/>
          <a:stretch>
            <a:fillRect/>
          </a:stretch>
        </p:blipFill>
        <p:spPr>
          <a:xfrm>
            <a:off x="6606540" y="2114321"/>
            <a:ext cx="365760" cy="365760"/>
          </a:xfrm>
          <a:prstGeom prst="rect">
            <a:avLst/>
          </a:prstGeom>
        </p:spPr>
      </p:pic>
      <p:sp>
        <p:nvSpPr>
          <p:cNvPr id="16" name="Text 11"/>
          <p:cNvSpPr txBox="1"/>
          <p:nvPr/>
        </p:nvSpPr>
        <p:spPr>
          <a:xfrm>
            <a:off x="6423660" y="2800121"/>
            <a:ext cx="2137410" cy="292608"/>
          </a:xfrm>
          <a:prstGeom prst="rect">
            <a:avLst/>
          </a:prstGeom>
          <a:noFill/>
          <a:ln/>
        </p:spPr>
        <p:txBody>
          <a:bodyPr wrap="square" lIns="0" tIns="0" rIns="0" bIns="0" rtlCol="0" anchor="t"/>
          <a:lstStyle/>
          <a:p>
            <a:pPr indent="0" marL="0">
              <a:buNone/>
            </a:pPr>
            <a:r>
              <a:rPr lang="en-US" sz="1700" b="1" dirty="0">
                <a:solidFill>
                  <a:schemeClr val="tx2"/>
                </a:solidFill>
              </a:rPr>
              <a:t>Logical</a:t>
            </a:r>
            <a:endParaRPr lang="en-US" sz="1700" dirty="0"/>
          </a:p>
        </p:txBody>
      </p:sp>
      <p:sp>
        <p:nvSpPr>
          <p:cNvPr id="17" name="Text 12"/>
          <p:cNvSpPr txBox="1"/>
          <p:nvPr/>
        </p:nvSpPr>
        <p:spPr>
          <a:xfrm>
            <a:off x="6423660" y="3202457"/>
            <a:ext cx="2137410" cy="114757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TRUE</a:t>
            </a:r>
            <a:pPr indent="0" marL="0">
              <a:buNone/>
            </a:pPr>
            <a:r>
              <a:rPr lang="en-US" sz="1800" dirty="0">
                <a:solidFill>
                  <a:schemeClr val="accent5"/>
                </a:solidFill>
              </a:rPr>
              <a:t> or </a:t>
            </a:r>
            <a:pPr indent="0" marL="0">
              <a:buNone/>
            </a:pPr>
            <a:r>
              <a:rPr lang="en-US" sz="1800" dirty="0">
                <a:solidFill>
                  <a:schemeClr val="accent1"/>
                </a:solidFill>
                <a:latin typeface="Courier New" pitchFamily="34" charset="0"/>
                <a:ea typeface="Courier New" pitchFamily="34" charset="-122"/>
                <a:cs typeface="Courier New" pitchFamily="34" charset="-120"/>
              </a:rPr>
              <a:t>FALSE</a:t>
            </a:r>
            <a:pPr indent="0" marL="0">
              <a:buNone/>
            </a:pPr>
            <a:r>
              <a:rPr lang="en-US" sz="1800" dirty="0">
                <a:solidFill>
                  <a:schemeClr val="accent5"/>
                </a:solidFill>
              </a:rPr>
              <a:t>, often from a comparison such as </a:t>
            </a:r>
            <a:pPr indent="0" marL="0">
              <a:buNone/>
            </a:pPr>
            <a:r>
              <a:rPr lang="en-US" sz="1800" dirty="0">
                <a:solidFill>
                  <a:schemeClr val="accent1"/>
                </a:solidFill>
                <a:latin typeface="Courier New" pitchFamily="34" charset="0"/>
                <a:ea typeface="Courier New" pitchFamily="34" charset="-122"/>
                <a:cs typeface="Courier New" pitchFamily="34" charset="-120"/>
              </a:rPr>
              <a:t>yield &gt; 4</a:t>
            </a:r>
            <a:pPr indent="0" marL="0">
              <a:buNone/>
            </a:pPr>
            <a:r>
              <a:rPr lang="en-US" sz="1800" dirty="0">
                <a:solidFill>
                  <a:schemeClr val="accent5"/>
                </a:solidFill>
              </a:rPr>
              <a:t>.</a:t>
            </a:r>
            <a:endParaRPr lang="en-US" sz="1800" dirty="0"/>
          </a:p>
        </p:txBody>
      </p:sp>
      <p:sp>
        <p:nvSpPr>
          <p:cNvPr id="18" name="card"/>
          <p:cNvSpPr/>
          <p:nvPr/>
        </p:nvSpPr>
        <p:spPr>
          <a:xfrm>
            <a:off x="9018270" y="1702841"/>
            <a:ext cx="2594610" cy="2756916"/>
          </a:xfrm>
          <a:prstGeom prst="roundRect">
            <a:avLst>
              <a:gd name="adj" fmla="val 4229"/>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9246870" y="1931441"/>
            <a:ext cx="731520" cy="731520"/>
          </a:xfrm>
          <a:prstGeom prst="ellipse">
            <a:avLst/>
          </a:prstGeom>
          <a:solidFill>
            <a:schemeClr val="accent4"/>
          </a:solidFill>
          <a:ln/>
        </p:spPr>
      </p:sp>
      <p:pic>
        <p:nvPicPr>
          <p:cNvPr id="20" name="Image 3" descr="FaTags">    </p:cNvPr>
          <p:cNvPicPr>
            <a:picLocks noChangeAspect="1"/>
          </p:cNvPicPr>
          <p:nvPr/>
        </p:nvPicPr>
        <p:blipFill>
          <a:blip r:embed="rId4"/>
          <a:stretch>
            <a:fillRect/>
          </a:stretch>
        </p:blipFill>
        <p:spPr>
          <a:xfrm>
            <a:off x="9429750" y="2114321"/>
            <a:ext cx="365760" cy="365760"/>
          </a:xfrm>
          <a:prstGeom prst="rect">
            <a:avLst/>
          </a:prstGeom>
        </p:spPr>
      </p:pic>
      <p:sp>
        <p:nvSpPr>
          <p:cNvPr id="21" name="Text 15"/>
          <p:cNvSpPr txBox="1"/>
          <p:nvPr/>
        </p:nvSpPr>
        <p:spPr>
          <a:xfrm>
            <a:off x="9246870" y="2800121"/>
            <a:ext cx="2137410" cy="292608"/>
          </a:xfrm>
          <a:prstGeom prst="rect">
            <a:avLst/>
          </a:prstGeom>
          <a:noFill/>
          <a:ln/>
        </p:spPr>
        <p:txBody>
          <a:bodyPr wrap="square" lIns="0" tIns="0" rIns="0" bIns="0" rtlCol="0" anchor="t"/>
          <a:lstStyle/>
          <a:p>
            <a:pPr indent="0" marL="0">
              <a:buNone/>
            </a:pPr>
            <a:r>
              <a:rPr lang="en-US" sz="1700" b="1" dirty="0">
                <a:solidFill>
                  <a:schemeClr val="tx2"/>
                </a:solidFill>
              </a:rPr>
              <a:t>Factor</a:t>
            </a:r>
            <a:endParaRPr lang="en-US" sz="1700" dirty="0"/>
          </a:p>
        </p:txBody>
      </p:sp>
      <p:sp>
        <p:nvSpPr>
          <p:cNvPr id="22" name="Text 16"/>
          <p:cNvSpPr txBox="1"/>
          <p:nvPr/>
        </p:nvSpPr>
        <p:spPr>
          <a:xfrm>
            <a:off x="9246870" y="3202457"/>
            <a:ext cx="2137410" cy="1147572"/>
          </a:xfrm>
          <a:prstGeom prst="rect">
            <a:avLst/>
          </a:prstGeom>
          <a:noFill/>
          <a:ln/>
        </p:spPr>
        <p:txBody>
          <a:bodyPr wrap="square" lIns="0" tIns="0" rIns="0" bIns="0" rtlCol="0" anchor="t"/>
          <a:lstStyle/>
          <a:p>
            <a:pPr indent="0" marL="0">
              <a:buNone/>
            </a:pPr>
            <a:r>
              <a:rPr lang="en-US" sz="1800" dirty="0">
                <a:solidFill>
                  <a:schemeClr val="accent5"/>
                </a:solidFill>
              </a:rPr>
              <a:t>A category with defined levels: variety, treatment, block.</a:t>
            </a:r>
            <a:endParaRPr lang="en-US" sz="1800" dirty="0"/>
          </a:p>
        </p:txBody>
      </p:sp>
      <p:sp>
        <p:nvSpPr>
          <p:cNvPr id="23" name="key idea"/>
          <p:cNvSpPr/>
          <p:nvPr/>
        </p:nvSpPr>
        <p:spPr>
          <a:xfrm>
            <a:off x="548640" y="4734077"/>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34077"/>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accent1"/>
                </a:solidFill>
                <a:latin typeface="Courier New" pitchFamily="34" charset="0"/>
                <a:ea typeface="Courier New" pitchFamily="34" charset="-122"/>
                <a:cs typeface="Courier New" pitchFamily="34" charset="-120"/>
              </a:rPr>
              <a:t>class()</a:t>
            </a:r>
            <a:pPr indent="0" marL="0">
              <a:buNone/>
            </a:pPr>
            <a:r>
              <a:rPr lang="en-US" sz="1500" dirty="0">
                <a:solidFill>
                  <a:schemeClr val="tx1"/>
                </a:solidFill>
              </a:rPr>
              <a:t> and </a:t>
            </a:r>
            <a:pPr indent="0" marL="0">
              <a:buNone/>
            </a:pPr>
            <a:r>
              <a:rPr lang="en-US" sz="1500" dirty="0">
                <a:solidFill>
                  <a:schemeClr val="accent1"/>
                </a:solidFill>
                <a:latin typeface="Courier New" pitchFamily="34" charset="0"/>
                <a:ea typeface="Courier New" pitchFamily="34" charset="-122"/>
                <a:cs typeface="Courier New" pitchFamily="34" charset="-120"/>
              </a:rPr>
              <a:t>str()</a:t>
            </a:r>
            <a:pPr indent="0" marL="0">
              <a:buNone/>
            </a:pPr>
            <a:r>
              <a:rPr lang="en-US" sz="1500" dirty="0">
                <a:solidFill>
                  <a:schemeClr val="tx1"/>
                </a:solidFill>
              </a:rPr>
              <a:t> tell you how R has stored a value. Check them after every import.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B</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Data structures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Vectors, matrices, data frames and lists</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Vectors: one type, many values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yield &lt;- c(3.2, 3.8, 4.1, 3.5, 4.4)</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length(yield)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mean(yield)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yield[2]              # second value</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yield[c(1, 3)]        # first and third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yield[yield &gt; 3.6]    # condition inside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yield[-1]             # all except the first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c(1, "2")             # mixes become character!</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ListOl">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Indexing with [ ]</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Positions start at 1. A logical condition inside </a:t>
            </a:r>
            <a:pPr indent="0" marL="0">
              <a:buNone/>
            </a:pPr>
            <a:r>
              <a:rPr lang="en-US" sz="1400" dirty="0">
                <a:solidFill>
                  <a:schemeClr val="accent1"/>
                </a:solidFill>
                <a:latin typeface="Courier New" pitchFamily="34" charset="0"/>
                <a:ea typeface="Courier New" pitchFamily="34" charset="-122"/>
                <a:cs typeface="Courier New" pitchFamily="34" charset="-120"/>
              </a:rPr>
              <a:t>[ ]</a:t>
            </a:r>
            <a:pPr indent="0" marL="0">
              <a:buNone/>
            </a:pPr>
            <a:r>
              <a:rPr lang="en-US" sz="1400" dirty="0">
                <a:solidFill>
                  <a:schemeClr val="tx1"/>
                </a:solidFill>
              </a:rPr>
              <a:t> keeps the matching values.</a:t>
            </a:r>
            <a:endParaRPr lang="en-US" sz="1400" dirty="0"/>
          </a:p>
        </p:txBody>
      </p:sp>
      <p:sp>
        <p:nvSpPr>
          <p:cNvPr id="10" name="warn"/>
          <p:cNvSpPr/>
          <p:nvPr/>
        </p:nvSpPr>
        <p:spPr>
          <a:xfrm>
            <a:off x="7543800" y="3794760"/>
            <a:ext cx="4069080" cy="2240280"/>
          </a:xfrm>
          <a:prstGeom prst="roundRect">
            <a:avLst>
              <a:gd name="adj" fmla="val 4898"/>
            </a:avLst>
          </a:prstGeom>
          <a:solidFill>
            <a:schemeClr val="accent6"/>
          </a:solidFill>
          <a:ln/>
          <a:effectLst>
            <a:outerShdw sx="100000" sy="100000" kx="0" ky="0" algn="bl" rotWithShape="0" blurRad="76200" dist="25400" dir="5400000">
              <a:srgbClr val="8A97AB">
                <a:alpha val="25000"/>
              </a:srgbClr>
            </a:outerShdw>
          </a:effectLst>
        </p:spPr>
      </p:sp>
      <p:sp>
        <p:nvSpPr>
          <p:cNvPr id="11" name="Text 8"/>
          <p:cNvSpPr txBox="1"/>
          <p:nvPr/>
        </p:nvSpPr>
        <p:spPr>
          <a:xfrm>
            <a:off x="7772400" y="3977640"/>
            <a:ext cx="3657600" cy="548640"/>
          </a:xfrm>
          <a:prstGeom prst="rect">
            <a:avLst/>
          </a:prstGeom>
          <a:noFill/>
          <a:ln/>
        </p:spPr>
        <p:txBody>
          <a:bodyPr wrap="square" lIns="0" tIns="0" rIns="0" bIns="0" rtlCol="0" anchor="ctr"/>
          <a:lstStyle/>
          <a:p>
            <a:pPr indent="0" marL="0">
              <a:buNone/>
            </a:pPr>
            <a:r>
              <a:rPr lang="en-US" sz="1600" b="1" dirty="0">
                <a:solidFill>
                  <a:schemeClr val="accent4"/>
                </a:solidFill>
              </a:rPr>
              <a:t>Silent conversion</a:t>
            </a:r>
            <a:endParaRPr lang="en-US" sz="1600" dirty="0"/>
          </a:p>
        </p:txBody>
      </p:sp>
      <p:sp>
        <p:nvSpPr>
          <p:cNvPr id="12" name="Text 9"/>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A vector holds one type. Mixing a number and text turns everything into text, a common import problem.</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Matrices and data frames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m &lt;- matrix(1:20, nrow = 4, ncol = 5)</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rowMeans(m)</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m[2, 3]                 # row 2, column 3</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field &lt;- data.frame(</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plot = 1:6,</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variety = factor(rep(c("A", "B"), each = 3)),</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yield_t_ha = c(3.1, 3.4, 3.2, 3.8, 4.0, 3.9))</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str(field)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field$yield_t_ha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field[field$yield_t_ha &gt; 3.5, ]</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ThLarge">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Matrix</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Rows and columns of one type. Useful for calculations such as row means.</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Table">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Data frame</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One row per experimental unit; columns of different types. The structure of almost every dataset.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Lists, missing values and functions</a:t>
            </a:r>
            <a:endParaRPr lang="en-US" sz="3200" dirty="0"/>
          </a:p>
        </p:txBody>
      </p:sp>
      <p:sp>
        <p:nvSpPr>
          <p:cNvPr id="3" name="card"/>
          <p:cNvSpPr/>
          <p:nvPr/>
        </p:nvSpPr>
        <p:spPr>
          <a:xfrm>
            <a:off x="54864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LayerGroup">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Lists</a:t>
            </a:r>
            <a:endParaRPr lang="en-US" sz="1700" dirty="0"/>
          </a:p>
        </p:txBody>
      </p:sp>
      <p:sp>
        <p:nvSpPr>
          <p:cNvPr id="7" name="Text 4"/>
          <p:cNvSpPr txBox="1"/>
          <p:nvPr/>
        </p:nvSpPr>
        <p:spPr>
          <a:xfrm>
            <a:off x="77724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Hold objects of any kind together: a data frame, a description, a model. </a:t>
            </a:r>
            <a:pPr indent="0" marL="0">
              <a:buNone/>
            </a:pPr>
            <a:r>
              <a:rPr lang="en-US" sz="1800" dirty="0">
                <a:solidFill>
                  <a:schemeClr val="accent1"/>
                </a:solidFill>
                <a:latin typeface="Courier New" pitchFamily="34" charset="0"/>
                <a:ea typeface="Courier New" pitchFamily="34" charset="-122"/>
                <a:cs typeface="Courier New" pitchFamily="34" charset="-120"/>
              </a:rPr>
              <a:t>trial$data</a:t>
            </a:r>
            <a:pPr indent="0" marL="0">
              <a:buNone/>
            </a:pPr>
            <a:r>
              <a:rPr lang="en-US" sz="1800" dirty="0">
                <a:solidFill>
                  <a:schemeClr val="accent5"/>
                </a:solidFill>
              </a:rPr>
              <a:t>, </a:t>
            </a:r>
            <a:pPr indent="0" marL="0">
              <a:buNone/>
            </a:pPr>
            <a:r>
              <a:rPr lang="en-US" sz="1800" dirty="0">
                <a:solidFill>
                  <a:schemeClr val="accent1"/>
                </a:solidFill>
                <a:latin typeface="Courier New" pitchFamily="34" charset="0"/>
                <a:ea typeface="Courier New" pitchFamily="34" charset="-122"/>
                <a:cs typeface="Courier New" pitchFamily="34" charset="-120"/>
              </a:rPr>
              <a:t>trial$notes</a:t>
            </a:r>
            <a:pPr indent="0" marL="0">
              <a:buNone/>
            </a:pPr>
            <a:r>
              <a:rPr lang="en-US" sz="1800" dirty="0">
                <a:solidFill>
                  <a:schemeClr val="accent5"/>
                </a:solidFill>
              </a:rPr>
              <a:t>.</a:t>
            </a:r>
            <a:endParaRPr lang="en-US" sz="1800" dirty="0"/>
          </a:p>
        </p:txBody>
      </p:sp>
      <p:sp>
        <p:nvSpPr>
          <p:cNvPr id="8" name="card"/>
          <p:cNvSpPr/>
          <p:nvPr/>
        </p:nvSpPr>
        <p:spPr>
          <a:xfrm>
            <a:off x="431292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4"/>
          </a:solidFill>
          <a:ln/>
        </p:spPr>
      </p:sp>
      <p:pic>
        <p:nvPicPr>
          <p:cNvPr id="10" name="Image 1" descr="FaQuestion">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Missing values: NA</a:t>
            </a:r>
            <a:endParaRPr lang="en-US" sz="1700" dirty="0"/>
          </a:p>
        </p:txBody>
      </p:sp>
      <p:sp>
        <p:nvSpPr>
          <p:cNvPr id="12" name="Text 8"/>
          <p:cNvSpPr txBox="1"/>
          <p:nvPr/>
        </p:nvSpPr>
        <p:spPr>
          <a:xfrm>
            <a:off x="4541520" y="2871216"/>
            <a:ext cx="3078480" cy="144475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mean(c(4, NA))</a:t>
            </a:r>
            <a:pPr indent="0" marL="0">
              <a:buNone/>
            </a:pPr>
            <a:r>
              <a:rPr lang="en-US" sz="1800" dirty="0">
                <a:solidFill>
                  <a:schemeClr val="accent5"/>
                </a:solidFill>
              </a:rPr>
              <a:t> is </a:t>
            </a:r>
            <a:pPr indent="0" marL="0">
              <a:buNone/>
            </a:pPr>
            <a:r>
              <a:rPr lang="en-US" sz="1800" dirty="0">
                <a:solidFill>
                  <a:schemeClr val="accent1"/>
                </a:solidFill>
                <a:latin typeface="Courier New" pitchFamily="34" charset="0"/>
                <a:ea typeface="Courier New" pitchFamily="34" charset="-122"/>
                <a:cs typeface="Courier New" pitchFamily="34" charset="-120"/>
              </a:rPr>
              <a:t>NA</a:t>
            </a:r>
            <a:pPr indent="0" marL="0">
              <a:buNone/>
            </a:pPr>
            <a:r>
              <a:rPr lang="en-US" sz="1800" dirty="0">
                <a:solidFill>
                  <a:schemeClr val="accent5"/>
                </a:solidFill>
              </a:rPr>
              <a:t>. Use </a:t>
            </a:r>
            <a:pPr indent="0" marL="0">
              <a:buNone/>
            </a:pPr>
            <a:r>
              <a:rPr lang="en-US" sz="1800" dirty="0">
                <a:solidFill>
                  <a:schemeClr val="accent1"/>
                </a:solidFill>
                <a:latin typeface="Courier New" pitchFamily="34" charset="0"/>
                <a:ea typeface="Courier New" pitchFamily="34" charset="-122"/>
                <a:cs typeface="Courier New" pitchFamily="34" charset="-120"/>
              </a:rPr>
              <a:t>na.rm = TRUE</a:t>
            </a:r>
            <a:pPr indent="0" marL="0">
              <a:buNone/>
            </a:pPr>
            <a:r>
              <a:rPr lang="en-US" sz="1800" dirty="0">
                <a:solidFill>
                  <a:schemeClr val="accent5"/>
                </a:solidFill>
              </a:rPr>
              <a:t> only after counting how many are missing.</a:t>
            </a:r>
            <a:endParaRPr lang="en-US" sz="1800" dirty="0"/>
          </a:p>
        </p:txBody>
      </p:sp>
      <p:sp>
        <p:nvSpPr>
          <p:cNvPr id="13" name="card"/>
          <p:cNvSpPr/>
          <p:nvPr/>
        </p:nvSpPr>
        <p:spPr>
          <a:xfrm>
            <a:off x="807720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3"/>
          </a:solidFill>
          <a:ln/>
        </p:spPr>
      </p:sp>
      <p:pic>
        <p:nvPicPr>
          <p:cNvPr id="15" name="Image 2" descr="FaCode">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Functions</a:t>
            </a:r>
            <a:endParaRPr lang="en-US" sz="1700" dirty="0"/>
          </a:p>
        </p:txBody>
      </p:sp>
      <p:sp>
        <p:nvSpPr>
          <p:cNvPr id="17" name="Text 12"/>
          <p:cNvSpPr txBox="1"/>
          <p:nvPr/>
        </p:nvSpPr>
        <p:spPr>
          <a:xfrm>
            <a:off x="8305800" y="2871216"/>
            <a:ext cx="3078480" cy="144475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cv &lt;- function(x) 100 * sd(x) / mean(x)</a:t>
            </a:r>
            <a:pPr indent="0" marL="0">
              <a:buNone/>
            </a:pPr>
            <a:r>
              <a:rPr lang="en-US" sz="1800" dirty="0">
                <a:solidFill>
                  <a:schemeClr val="accent5"/>
                </a:solidFill>
              </a:rPr>
              <a:t> packages a repeated calculation into one call.</a:t>
            </a:r>
            <a:endParaRPr lang="en-US" sz="1800" dirty="0"/>
          </a:p>
        </p:txBody>
      </p:sp>
      <p:sp>
        <p:nvSpPr>
          <p:cNvPr id="18" name="key idea"/>
          <p:cNvSpPr/>
          <p:nvPr/>
        </p:nvSpPr>
        <p:spPr>
          <a:xfrm>
            <a:off x="548640" y="470001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70001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Choose a structure according to the information it represents.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2 and exercises</a:t>
            </a:r>
            <a:endParaRPr lang="en-US" sz="3200" dirty="0"/>
          </a:p>
        </p:txBody>
      </p:sp>
      <p:sp>
        <p:nvSpPr>
          <p:cNvPr id="3" name="card"/>
          <p:cNvSpPr/>
          <p:nvPr/>
        </p:nvSpPr>
        <p:spPr>
          <a:xfrm>
            <a:off x="548640" y="137160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531620"/>
            <a:ext cx="502920" cy="502920"/>
          </a:xfrm>
          <a:prstGeom prst="ellipse">
            <a:avLst/>
          </a:prstGeom>
          <a:solidFill>
            <a:schemeClr val="accent1"/>
          </a:solidFill>
          <a:ln/>
        </p:spPr>
      </p:sp>
      <p:sp>
        <p:nvSpPr>
          <p:cNvPr id="5" name="Text 3"/>
          <p:cNvSpPr txBox="1"/>
          <p:nvPr/>
        </p:nvSpPr>
        <p:spPr>
          <a:xfrm>
            <a:off x="749808" y="15316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731520"/>
          </a:xfrm>
          <a:prstGeom prst="rect">
            <a:avLst/>
          </a:prstGeom>
          <a:noFill/>
          <a:ln/>
        </p:spPr>
        <p:txBody>
          <a:bodyPr wrap="square" lIns="0" tIns="0" rIns="0" bIns="0" rtlCol="0" anchor="ctr"/>
          <a:lstStyle/>
          <a:p>
            <a:pPr indent="0" marL="0">
              <a:buNone/>
            </a:pPr>
            <a:r>
              <a:rPr lang="en-US" sz="1400" dirty="0">
                <a:solidFill>
                  <a:schemeClr val="tx1"/>
                </a:solidFill>
              </a:rPr>
              <a:t>Create a vector 1 to 30. Select values below 8, then below 8 or above 12, then 2, 6 and 12.</a:t>
            </a:r>
            <a:endParaRPr lang="en-US" sz="1400" dirty="0"/>
          </a:p>
        </p:txBody>
      </p:sp>
      <p:sp>
        <p:nvSpPr>
          <p:cNvPr id="7" name="card"/>
          <p:cNvSpPr/>
          <p:nvPr/>
        </p:nvSpPr>
        <p:spPr>
          <a:xfrm>
            <a:off x="548640" y="233172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491740"/>
            <a:ext cx="502920" cy="502920"/>
          </a:xfrm>
          <a:prstGeom prst="ellipse">
            <a:avLst/>
          </a:prstGeom>
          <a:solidFill>
            <a:schemeClr val="accent1"/>
          </a:solidFill>
          <a:ln/>
        </p:spPr>
      </p:sp>
      <p:sp>
        <p:nvSpPr>
          <p:cNvPr id="9" name="Text 7"/>
          <p:cNvSpPr txBox="1"/>
          <p:nvPr/>
        </p:nvSpPr>
        <p:spPr>
          <a:xfrm>
            <a:off x="749808" y="24917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377440"/>
            <a:ext cx="6629400" cy="731520"/>
          </a:xfrm>
          <a:prstGeom prst="rect">
            <a:avLst/>
          </a:prstGeom>
          <a:noFill/>
          <a:ln/>
        </p:spPr>
        <p:txBody>
          <a:bodyPr wrap="square" lIns="0" tIns="0" rIns="0" bIns="0" rtlCol="0" anchor="ctr"/>
          <a:lstStyle/>
          <a:p>
            <a:pPr indent="0" marL="0">
              <a:buNone/>
            </a:pPr>
            <a:r>
              <a:rPr lang="en-US" sz="1400" dirty="0">
                <a:solidFill>
                  <a:schemeClr val="tx1"/>
                </a:solidFill>
              </a:rPr>
              <a:t>Create a 4 × 5 matrix from 1 to 20. Calculate row means and select row 2, column 3.</a:t>
            </a:r>
            <a:endParaRPr lang="en-US" sz="1400" dirty="0"/>
          </a:p>
        </p:txBody>
      </p:sp>
      <p:sp>
        <p:nvSpPr>
          <p:cNvPr id="11" name="card"/>
          <p:cNvSpPr/>
          <p:nvPr/>
        </p:nvSpPr>
        <p:spPr>
          <a:xfrm>
            <a:off x="548640" y="329184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451860"/>
            <a:ext cx="502920" cy="502920"/>
          </a:xfrm>
          <a:prstGeom prst="ellipse">
            <a:avLst/>
          </a:prstGeom>
          <a:solidFill>
            <a:schemeClr val="accent1"/>
          </a:solidFill>
          <a:ln/>
        </p:spPr>
      </p:sp>
      <p:sp>
        <p:nvSpPr>
          <p:cNvPr id="13" name="Text 11"/>
          <p:cNvSpPr txBox="1"/>
          <p:nvPr/>
        </p:nvSpPr>
        <p:spPr>
          <a:xfrm>
            <a:off x="749808" y="34518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337560"/>
            <a:ext cx="6629400" cy="731520"/>
          </a:xfrm>
          <a:prstGeom prst="rect">
            <a:avLst/>
          </a:prstGeom>
          <a:noFill/>
          <a:ln/>
        </p:spPr>
        <p:txBody>
          <a:bodyPr wrap="square" lIns="0" tIns="0" rIns="0" bIns="0" rtlCol="0" anchor="ctr"/>
          <a:lstStyle/>
          <a:p>
            <a:pPr indent="0" marL="0">
              <a:buNone/>
            </a:pPr>
            <a:r>
              <a:rPr lang="en-US" sz="1400" dirty="0">
                <a:solidFill>
                  <a:schemeClr val="tx1"/>
                </a:solidFill>
              </a:rPr>
              <a:t>Build a six-plot data frame with an identifier, variety and yield. Select yields above the mean.</a:t>
            </a:r>
            <a:endParaRPr lang="en-US" sz="1400" dirty="0"/>
          </a:p>
        </p:txBody>
      </p:sp>
      <p:sp>
        <p:nvSpPr>
          <p:cNvPr id="15" name="card"/>
          <p:cNvSpPr/>
          <p:nvPr/>
        </p:nvSpPr>
        <p:spPr>
          <a:xfrm>
            <a:off x="548640" y="425196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4411980"/>
            <a:ext cx="502920" cy="502920"/>
          </a:xfrm>
          <a:prstGeom prst="ellipse">
            <a:avLst/>
          </a:prstGeom>
          <a:solidFill>
            <a:schemeClr val="accent1"/>
          </a:solidFill>
          <a:ln/>
        </p:spPr>
      </p:sp>
      <p:sp>
        <p:nvSpPr>
          <p:cNvPr id="17" name="Text 15"/>
          <p:cNvSpPr txBox="1"/>
          <p:nvPr/>
        </p:nvSpPr>
        <p:spPr>
          <a:xfrm>
            <a:off x="749808" y="44119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4297680"/>
            <a:ext cx="6629400" cy="731520"/>
          </a:xfrm>
          <a:prstGeom prst="rect">
            <a:avLst/>
          </a:prstGeom>
          <a:noFill/>
          <a:ln/>
        </p:spPr>
        <p:txBody>
          <a:bodyPr wrap="square" lIns="0" tIns="0" rIns="0" bIns="0" rtlCol="0" anchor="ctr"/>
          <a:lstStyle/>
          <a:p>
            <a:pPr indent="0" marL="0">
              <a:buNone/>
            </a:pPr>
            <a:r>
              <a:rPr lang="en-US" sz="1400" dirty="0">
                <a:solidFill>
                  <a:schemeClr val="tx1"/>
                </a:solidFill>
              </a:rPr>
              <a:t>Store the data frame and a description in a list. Why is a vector unsuitable?</a:t>
            </a:r>
            <a:endParaRPr lang="en-US" sz="1400" dirty="0"/>
          </a:p>
        </p:txBody>
      </p:sp>
      <p:sp>
        <p:nvSpPr>
          <p:cNvPr id="19" name="card"/>
          <p:cNvSpPr/>
          <p:nvPr/>
        </p:nvSpPr>
        <p:spPr>
          <a:xfrm>
            <a:off x="548640" y="521208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5372100"/>
            <a:ext cx="502920" cy="502920"/>
          </a:xfrm>
          <a:prstGeom prst="ellipse">
            <a:avLst/>
          </a:prstGeom>
          <a:solidFill>
            <a:schemeClr val="accent1"/>
          </a:solidFill>
          <a:ln/>
        </p:spPr>
      </p:sp>
      <p:sp>
        <p:nvSpPr>
          <p:cNvPr id="21" name="Text 19"/>
          <p:cNvSpPr txBox="1"/>
          <p:nvPr/>
        </p:nvSpPr>
        <p:spPr>
          <a:xfrm>
            <a:off x="749808" y="53721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5257800"/>
            <a:ext cx="6629400" cy="731520"/>
          </a:xfrm>
          <a:prstGeom prst="rect">
            <a:avLst/>
          </a:prstGeom>
          <a:noFill/>
          <a:ln/>
        </p:spPr>
        <p:txBody>
          <a:bodyPr wrap="square" lIns="0" tIns="0" rIns="0" bIns="0" rtlCol="0" anchor="ctr"/>
          <a:lstStyle/>
          <a:p>
            <a:pPr indent="0" marL="0">
              <a:buNone/>
            </a:pPr>
            <a:r>
              <a:rPr lang="en-US" sz="1400" dirty="0">
                <a:solidFill>
                  <a:schemeClr val="tx1"/>
                </a:solidFill>
              </a:rPr>
              <a:t>Predict the type of </a:t>
            </a:r>
            <a:pPr indent="0" marL="0">
              <a:buNone/>
            </a:pPr>
            <a:r>
              <a:rPr lang="en-US" sz="1400" dirty="0">
                <a:solidFill>
                  <a:schemeClr val="accent1"/>
                </a:solidFill>
                <a:latin typeface="Courier New" pitchFamily="34" charset="0"/>
                <a:ea typeface="Courier New" pitchFamily="34" charset="-122"/>
                <a:cs typeface="Courier New" pitchFamily="34" charset="-120"/>
              </a:rPr>
              <a:t>c(1, "2")</a:t>
            </a:r>
            <a:pPr indent="0" marL="0">
              <a:buNone/>
            </a:pPr>
            <a:r>
              <a:rPr lang="en-US" sz="1400" dirty="0">
                <a:solidFill>
                  <a:schemeClr val="tx1"/>
                </a:solidFill>
              </a:rPr>
              <a:t> and verify it. Why does this matter when importing data?</a:t>
            </a:r>
            <a:endParaRPr lang="en-US" sz="1400" dirty="0"/>
          </a:p>
        </p:txBody>
      </p:sp>
      <p:sp>
        <p:nvSpPr>
          <p:cNvPr id="23"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4"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5" name="Text 22"/>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26" name="Text 23"/>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437765"/>
          </a:xfrm>
          <a:prstGeom prst="roundRect">
            <a:avLst>
              <a:gd name="adj" fmla="val 3751"/>
            </a:avLst>
          </a:prstGeom>
          <a:solidFill>
            <a:schemeClr val="tx1"/>
          </a:solidFill>
          <a:ln/>
        </p:spPr>
      </p:sp>
      <p:sp>
        <p:nvSpPr>
          <p:cNvPr id="4" name="Text 2"/>
          <p:cNvSpPr txBox="1"/>
          <p:nvPr/>
        </p:nvSpPr>
        <p:spPr>
          <a:xfrm>
            <a:off x="822960" y="1572768"/>
            <a:ext cx="10515600" cy="2035429"/>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field &lt;- data.frame(</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plot = 1:6,</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variety = factor(rep(c("A", "B"), each = 3)),</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yield_t_ha = c(3.1, 3.4, 3.2, 3.8, 4.0, 3.9)</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str(field)</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aggregate(yield_t_ha ~ variety, field, mean)</a:t>
            </a:r>
            <a:endParaRPr lang="en-US" sz="1700" dirty="0"/>
          </a:p>
        </p:txBody>
      </p:sp>
      <p:sp>
        <p:nvSpPr>
          <p:cNvPr id="5" name="investigate"/>
          <p:cNvSpPr/>
          <p:nvPr/>
        </p:nvSpPr>
        <p:spPr>
          <a:xfrm>
            <a:off x="548640" y="4129405"/>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422013"/>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616323"/>
            <a:ext cx="388620" cy="388620"/>
          </a:xfrm>
          <a:prstGeom prst="rect">
            <a:avLst/>
          </a:prstGeom>
        </p:spPr>
      </p:pic>
      <p:sp>
        <p:nvSpPr>
          <p:cNvPr id="8" name="Text 5"/>
          <p:cNvSpPr txBox="1"/>
          <p:nvPr/>
        </p:nvSpPr>
        <p:spPr>
          <a:xfrm>
            <a:off x="1828800" y="4239133"/>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604893"/>
            <a:ext cx="9555480" cy="822960"/>
          </a:xfrm>
          <a:prstGeom prst="rect">
            <a:avLst/>
          </a:prstGeom>
          <a:noFill/>
          <a:ln/>
        </p:spPr>
        <p:txBody>
          <a:bodyPr wrap="square" lIns="0" tIns="0" rIns="0" bIns="0" rtlCol="0" anchor="t"/>
          <a:lstStyle/>
          <a:p>
            <a:pPr indent="0" marL="0">
              <a:buNone/>
            </a:pPr>
            <a:r>
              <a:rPr lang="en-US" sz="1500" dirty="0">
                <a:solidFill>
                  <a:schemeClr val="tx1"/>
                </a:solidFill>
              </a:rPr>
              <a:t>Identify the class of each column. Change one yield and explain why only one variety mean changes. These are simulated observations.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Calculator">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Assign with &lt;-</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Store results under meaningful, case-sensitive names.</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Tags">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Check types</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class()</a:t>
            </a:r>
            <a:pPr indent="0" marL="0">
              <a:buNone/>
            </a:pPr>
            <a:r>
              <a:rPr lang="en-US" sz="1400" dirty="0">
                <a:solidFill>
                  <a:schemeClr val="accent6"/>
                </a:solidFill>
              </a:rPr>
              <a:t> and </a:t>
            </a:r>
            <a:pPr indent="0" marL="0">
              <a:buNone/>
            </a:pPr>
            <a:r>
              <a:rPr lang="en-US" sz="1400" dirty="0">
                <a:solidFill>
                  <a:schemeClr val="accent2"/>
                </a:solidFill>
                <a:latin typeface="Courier New" pitchFamily="34" charset="0"/>
                <a:ea typeface="Courier New" pitchFamily="34" charset="-122"/>
                <a:cs typeface="Courier New" pitchFamily="34" charset="-120"/>
              </a:rPr>
              <a:t>str()</a:t>
            </a:r>
            <a:pPr indent="0" marL="0">
              <a:buNone/>
            </a:pPr>
            <a:r>
              <a:rPr lang="en-US" sz="1400" dirty="0">
                <a:solidFill>
                  <a:schemeClr val="accent6"/>
                </a:solidFill>
              </a:rPr>
              <a:t> after every import.</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Table">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One row per unit</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A data frame row is an experimental unit; columns are variables.</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Question">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Count NA first</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Know the denominator before using </a:t>
            </a:r>
            <a:pPr indent="0" marL="0">
              <a:buNone/>
            </a:pPr>
            <a:r>
              <a:rPr lang="en-US" sz="1400" dirty="0">
                <a:solidFill>
                  <a:schemeClr val="accent2"/>
                </a:solidFill>
                <a:latin typeface="Courier New" pitchFamily="34" charset="0"/>
                <a:ea typeface="Courier New" pitchFamily="34" charset="-122"/>
                <a:cs typeface="Courier New" pitchFamily="34" charset="-120"/>
              </a:rPr>
              <a:t>na.rm = TRUE</a:t>
            </a:r>
            <a:pPr indent="0" marL="0">
              <a:buNone/>
            </a:pPr>
            <a:r>
              <a:rPr lang="en-US" sz="1400" dirty="0">
                <a:solidFill>
                  <a:schemeClr val="accent6"/>
                </a:solidFill>
              </a:rPr>
              <a:t>.</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3 · Importing, validating and exporting data</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Objects, data structures, and functions</dc:title>
  <dc:subject>R Programming for Agricultural Data Analysis · Chapter 2</dc:subject>
  <dc:creator>Dr. Pratheesh P. Gopinath</dc:creator>
  <cp:lastModifiedBy>Dr. Pratheesh P. Gopinath</cp:lastModifiedBy>
  <cp:revision>1</cp:revision>
  <dcterms:created xsi:type="dcterms:W3CDTF">2026-10-20T10:13:41Z</dcterms:created>
  <dcterms:modified xsi:type="dcterms:W3CDTF">2026-10-20T10:13:41Z</dcterms:modified>
</cp:coreProperties>
</file>