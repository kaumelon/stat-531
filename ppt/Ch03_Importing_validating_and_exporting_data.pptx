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9c48547-42b9-f4c1-d9eb-32e96a0c727b}">
          <p14:sldIdLst>
            <p14:sldId id="256"/>
            <p14:sldId id="257"/>
          </p14:sldIdLst>
        </p14:section>
        <p14:section name="Preparing your file" id="{fafe266e-39a8-7390-0a1d-4abe1af563ba}">
          <p14:sldIdLst>
            <p14:sldId id="258"/>
            <p14:sldId id="259"/>
            <p14:sldId id="260"/>
          </p14:sldIdLst>
        </p14:section>
        <p14:section name="Importing and validating" id="{f8147aec-556c-030a-1c75-8ae263b8cdd7}">
          <p14:sldIdLst>
            <p14:sldId id="261"/>
            <p14:sldId id="262"/>
            <p14:sldId id="263"/>
            <p14:sldId id="264"/>
            <p14:sldId id="265"/>
            <p14:sldId id="266"/>
            <p14:sldId id="267"/>
          </p14:sldIdLst>
        </p14:section>
        <p14:section name="Review" id="{6848ba0c-6de0-07d8-2a31-1cb70042439d}">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three, importing, validating and exporting data. Real analyses start with a file: a spreadsheet from the field, a laboratory report, or a table downloaded from a database. In this chapter we prepare such files, bring them into R, check that they mean what we think they mean, and save results without damaging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chapter you will prepare a clean rectangular data file, import CSV and Excel files, validate the imported values, and export data in several formats. The key idea is that reading a file without an error message is not the same as importing it correctly. We must check meaning, units and structure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import problems are created in the spreadsheet, long before R sees the file. So let us begin with how to prepare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tables with one header row, one observational unit per row and one variable per column. Avoid merged cells, multi-row headers, colours that carry meaning, and subtotals mixed in with the data. Do not type units into cells; put them in the column name, such as yield underscore t underscore ha, or in a data dictionary. Use ISO dates, year month day, which are unambiguous. And use explicit plot identifiers rather than relying on row order. Keep the raw file unchanged: corrections belong in your R script, and outputs in a separate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Comma-separated values, or CSV, is the most portable format. It stores values in one plain-text table that any software can read. It does not keep formatting, formulas, colours or extra sheets. To create one in Excel, use Save As and choose CSV comma delimited. If your computer uses commas as decimal marks, the file may use semicolons as separators; read dot csv two handles that. Always open the file in a text editor once to see what it really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import the files into R and validate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file with read dot csv, declaring which entries mean missing. Then look at it: head shows the first rows, str shows each column's type, dim gives rows and columns, and summary gives ranges. Next, check it. Stop if not halts the script if any condition is false, so here it confirms that plot identifiers are unique, that there are sixty rows, and that every yield is positive. Finally, convert treatment to a factor with its levels in a sensible order, so tables and plots show control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Importing without an error message does not mean the data are right. A decimal comma or a value like five kg turns the whole column into text, which str reveals. A blank yield means unknown, not zero; turning it into zero would invent a crop failure. Compare the number of rows and unique plot identifiers with the field book. And use table to find inconsistent labels, and summary to spot impossible values. Chapter four takes these checks much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workbooks are read with read underscore excel from the readxl package, naming the sheet. Check that it has the same number of rows as the CSV. To export, create an outputs folder first. Write dot csv needs row dot names equals FALSE, otherwise it adds an unnamed column of row numbers that confuses the next reader. Write underscore xlsx writes an Excel file, and save RDS keeps R-specific information such as factor levels; reading it back gives an identical object. Use CSV for sharing, Excel when several sheets are needed, and RDS between R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ships with real datasets such as PlantGrowth, iris and ToothGrowth, which are useful for practice. Read their help pages before giving them an agricultural interpretation. Online agricultural databases offer CSV downloads or APIs. When you use one, record the source, the query, the units, the time period, the geographic level, and the date you downloaded it. A district's average yield is an administrative summary, not an individual farm's yield. Provenance is part of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three. Import both the CSV and the Excel version and compare them. Export three columns and reopen the file to confirm that no extra row-number column appeared. Explain why a blank yield is not zero. And, with your instructor, find an official crop-production table and record its provenance before importing it, considering whether its rows are independent experimental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the CSV is written directly inside the code, so no file upload is needed. Run it, look at the structure, and compute the mean. In RStudio you would replace text equals csv text with the path to your 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tidy your spreadsheet before import. Validate every file on arrival: rows, identifiers, types, labels and ranges. A blank is not a zero. And export cleanly, then reopen the file to check it. Next we clean messy agricultural observations.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3 · Importing, validating, and exporting data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1  ·  CHAPTER 3</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Importing, validating, and exporting data</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Table">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Prepare a rectangular file</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One header row, one unit per row, one variable per column</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FileImport">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Import CSV and Excel</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read.csv()</a:t>
            </a:r>
            <a:pPr indent="0" marL="0">
              <a:buNone/>
            </a:pPr>
            <a:r>
              <a:rPr lang="en-US" sz="1400" dirty="0">
                <a:solidFill>
                  <a:schemeClr val="accent5"/>
                </a:solidFill>
              </a:rPr>
              <a:t> and </a:t>
            </a:r>
            <a:pPr indent="0" marL="0">
              <a:buNone/>
            </a:pPr>
            <a:r>
              <a:rPr lang="en-US" sz="1400" dirty="0">
                <a:solidFill>
                  <a:schemeClr val="accent1"/>
                </a:solidFill>
                <a:latin typeface="Courier New" pitchFamily="34" charset="0"/>
                <a:ea typeface="Courier New" pitchFamily="34" charset="-122"/>
                <a:cs typeface="Courier New" pitchFamily="34" charset="-120"/>
              </a:rPr>
              <a:t>readxl::read_excel()</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CheckDouble">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Validate on arrival</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Rows, identifiers, types, ranges and labels</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FileExport">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Export safely</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CSV, Excel and RDS, without stray row numbers</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Successful data exchange is a check of meaning, units and structure, not just a successful read command.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Preparing your file</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Spreadsheets that R can read reliably</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 table R can read</a:t>
            </a:r>
            <a:endParaRPr lang="en-US" sz="3200" dirty="0"/>
          </a:p>
        </p:txBody>
      </p:sp>
      <p:sp>
        <p:nvSpPr>
          <p:cNvPr id="3" name="card"/>
          <p:cNvSpPr/>
          <p:nvPr/>
        </p:nvSpPr>
        <p:spPr>
          <a:xfrm>
            <a:off x="548640" y="1371600"/>
            <a:ext cx="5440680" cy="3886200"/>
          </a:xfrm>
          <a:prstGeom prst="roundRect">
            <a:avLst>
              <a:gd name="adj" fmla="val 2824"/>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68680" y="1645920"/>
            <a:ext cx="731520" cy="731520"/>
          </a:xfrm>
          <a:prstGeom prst="ellipse">
            <a:avLst/>
          </a:prstGeom>
          <a:solidFill>
            <a:schemeClr val="accent4"/>
          </a:solidFill>
          <a:ln/>
        </p:spPr>
      </p:sp>
      <p:pic>
        <p:nvPicPr>
          <p:cNvPr id="5" name="Image 0" descr="FaTimes">    </p:cNvPr>
          <p:cNvPicPr>
            <a:picLocks noChangeAspect="1"/>
          </p:cNvPicPr>
          <p:nvPr/>
        </p:nvPicPr>
        <p:blipFill>
          <a:blip r:embed="rId1"/>
          <a:stretch>
            <a:fillRect/>
          </a:stretch>
        </p:blipFill>
        <p:spPr>
          <a:xfrm>
            <a:off x="1051560" y="1828800"/>
            <a:ext cx="365760" cy="365760"/>
          </a:xfrm>
          <a:prstGeom prst="rect">
            <a:avLst/>
          </a:prstGeom>
        </p:spPr>
      </p:pic>
      <p:sp>
        <p:nvSpPr>
          <p:cNvPr id="6" name="Text 3"/>
          <p:cNvSpPr txBox="1"/>
          <p:nvPr/>
        </p:nvSpPr>
        <p:spPr>
          <a:xfrm>
            <a:off x="1783080" y="1645920"/>
            <a:ext cx="4023360" cy="731520"/>
          </a:xfrm>
          <a:prstGeom prst="rect">
            <a:avLst/>
          </a:prstGeom>
          <a:noFill/>
          <a:ln/>
        </p:spPr>
        <p:txBody>
          <a:bodyPr wrap="square" lIns="0" tIns="0" rIns="0" bIns="0" rtlCol="0" anchor="ctr"/>
          <a:lstStyle/>
          <a:p>
            <a:pPr indent="0" marL="0">
              <a:buNone/>
            </a:pPr>
            <a:r>
              <a:rPr lang="en-US" sz="2000" b="1" dirty="0">
                <a:solidFill>
                  <a:schemeClr val="tx2"/>
                </a:solidFill>
              </a:rPr>
              <a:t>Avoid</a:t>
            </a:r>
            <a:endParaRPr lang="en-US" sz="2000" dirty="0"/>
          </a:p>
        </p:txBody>
      </p:sp>
      <p:sp>
        <p:nvSpPr>
          <p:cNvPr id="7" name="Text 4"/>
          <p:cNvSpPr txBox="1"/>
          <p:nvPr/>
        </p:nvSpPr>
        <p:spPr>
          <a:xfrm>
            <a:off x="86868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Merged cells and multi-row headers</a:t>
            </a:r>
            <a:endParaRPr lang="en-US" sz="1600" dirty="0"/>
          </a:p>
          <a:p>
            <a:pPr marL="228600" indent="-228600">
              <a:spcAft>
                <a:spcPts val="800"/>
              </a:spcAft>
              <a:buSzPct val="100000"/>
              <a:buChar char="•"/>
            </a:pPr>
            <a:r>
              <a:rPr lang="en-US" sz="1600" dirty="0">
                <a:solidFill>
                  <a:schemeClr val="tx1"/>
                </a:solidFill>
              </a:rPr>
              <a:t>Colour used as data</a:t>
            </a:r>
            <a:endParaRPr lang="en-US" sz="1600" dirty="0"/>
          </a:p>
          <a:p>
            <a:pPr marL="228600" indent="-228600">
              <a:spcAft>
                <a:spcPts val="800"/>
              </a:spcAft>
              <a:buSzPct val="100000"/>
              <a:buChar char="•"/>
            </a:pPr>
            <a:r>
              <a:rPr lang="en-US" sz="1600" dirty="0">
                <a:solidFill>
                  <a:schemeClr val="tx1"/>
                </a:solidFill>
              </a:rPr>
              <a:t>Subtotals mixed with observations</a:t>
            </a:r>
            <a:endParaRPr lang="en-US" sz="1600" dirty="0"/>
          </a:p>
          <a:p>
            <a:pPr marL="228600" indent="-228600">
              <a:spcAft>
                <a:spcPts val="800"/>
              </a:spcAft>
              <a:buSzPct val="100000"/>
              <a:buChar char="•"/>
            </a:pPr>
            <a:r>
              <a:rPr lang="en-US" sz="1600" dirty="0">
                <a:solidFill>
                  <a:schemeClr val="tx1"/>
                </a:solidFill>
              </a:rPr>
              <a:t>Units typed into cells: "5 kg"</a:t>
            </a:r>
            <a:endParaRPr lang="en-US" sz="1600" dirty="0"/>
          </a:p>
          <a:p>
            <a:pPr marL="228600" indent="-228600">
              <a:spcAft>
                <a:spcPts val="800"/>
              </a:spcAft>
              <a:buSzPct val="100000"/>
              <a:buChar char="•"/>
            </a:pPr>
            <a:r>
              <a:rPr lang="en-US" sz="1600" dirty="0">
                <a:solidFill>
                  <a:schemeClr val="tx1"/>
                </a:solidFill>
              </a:rPr>
              <a:t>Dates like 03/04/2024</a:t>
            </a:r>
            <a:endParaRPr lang="en-US" sz="1600" dirty="0"/>
          </a:p>
        </p:txBody>
      </p:sp>
      <p:sp>
        <p:nvSpPr>
          <p:cNvPr id="8" name="card"/>
          <p:cNvSpPr/>
          <p:nvPr/>
        </p:nvSpPr>
        <p:spPr>
          <a:xfrm>
            <a:off x="6172200" y="1371600"/>
            <a:ext cx="5440680" cy="3886200"/>
          </a:xfrm>
          <a:prstGeom prst="roundRect">
            <a:avLst>
              <a:gd name="adj" fmla="val 2824"/>
            </a:avLst>
          </a:prstGeom>
          <a:solidFill>
            <a:schemeClr val="tx2"/>
          </a:solidFill>
          <a:ln/>
          <a:effectLst>
            <a:outerShdw sx="100000" sy="100000" kx="0" ky="0" algn="bl" rotWithShape="0" blurRad="76200" dist="25400" dir="5400000">
              <a:srgbClr val="8A97AB">
                <a:alpha val="25000"/>
              </a:srgbClr>
            </a:outerShdw>
          </a:effectLst>
        </p:spPr>
      </p:sp>
      <p:sp>
        <p:nvSpPr>
          <p:cNvPr id="9" name="icon circle"/>
          <p:cNvSpPr/>
          <p:nvPr/>
        </p:nvSpPr>
        <p:spPr>
          <a:xfrm>
            <a:off x="6492240" y="1645920"/>
            <a:ext cx="731520" cy="731520"/>
          </a:xfrm>
          <a:prstGeom prst="ellipse">
            <a:avLst/>
          </a:prstGeom>
          <a:solidFill>
            <a:schemeClr val="accent2"/>
          </a:solidFill>
          <a:ln/>
        </p:spPr>
      </p:sp>
      <p:pic>
        <p:nvPicPr>
          <p:cNvPr id="10" name="Image 1" descr="FaCheck">    </p:cNvPr>
          <p:cNvPicPr>
            <a:picLocks noChangeAspect="1"/>
          </p:cNvPicPr>
          <p:nvPr/>
        </p:nvPicPr>
        <p:blipFill>
          <a:blip r:embed="rId2"/>
          <a:stretch>
            <a:fillRect/>
          </a:stretch>
        </p:blipFill>
        <p:spPr>
          <a:xfrm>
            <a:off x="6675120" y="1828800"/>
            <a:ext cx="365760" cy="365760"/>
          </a:xfrm>
          <a:prstGeom prst="rect">
            <a:avLst/>
          </a:prstGeom>
        </p:spPr>
      </p:pic>
      <p:sp>
        <p:nvSpPr>
          <p:cNvPr id="11" name="Text 7"/>
          <p:cNvSpPr txBox="1"/>
          <p:nvPr/>
        </p:nvSpPr>
        <p:spPr>
          <a:xfrm>
            <a:off x="7406640" y="1645920"/>
            <a:ext cx="4023360" cy="731520"/>
          </a:xfrm>
          <a:prstGeom prst="rect">
            <a:avLst/>
          </a:prstGeom>
          <a:noFill/>
          <a:ln/>
        </p:spPr>
        <p:txBody>
          <a:bodyPr wrap="square" lIns="0" tIns="0" rIns="0" bIns="0" rtlCol="0" anchor="ctr"/>
          <a:lstStyle/>
          <a:p>
            <a:pPr indent="0" marL="0">
              <a:buNone/>
            </a:pPr>
            <a:r>
              <a:rPr lang="en-US" sz="2000" b="1" dirty="0">
                <a:solidFill>
                  <a:schemeClr val="bg1"/>
                </a:solidFill>
              </a:rPr>
              <a:t>Prefer</a:t>
            </a:r>
            <a:endParaRPr lang="en-US" sz="2000" dirty="0"/>
          </a:p>
        </p:txBody>
      </p:sp>
      <p:sp>
        <p:nvSpPr>
          <p:cNvPr id="12" name="Text 8"/>
          <p:cNvSpPr txBox="1"/>
          <p:nvPr/>
        </p:nvSpPr>
        <p:spPr>
          <a:xfrm>
            <a:off x="649224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One header row; one plot per row</a:t>
            </a:r>
            <a:endParaRPr lang="en-US" sz="1600" dirty="0"/>
          </a:p>
          <a:p>
            <a:pPr marL="228600" indent="-228600">
              <a:spcAft>
                <a:spcPts val="800"/>
              </a:spcAft>
              <a:buSzPct val="100000"/>
              <a:buChar char="•"/>
            </a:pPr>
            <a:r>
              <a:rPr lang="en-US" sz="1600" dirty="0">
                <a:solidFill>
                  <a:schemeClr val="bg1"/>
                </a:solidFill>
              </a:rPr>
              <a:t>Simple unique names: yield_t_ha</a:t>
            </a:r>
            <a:endParaRPr lang="en-US" sz="1600" dirty="0"/>
          </a:p>
          <a:p>
            <a:pPr marL="228600" indent="-228600">
              <a:spcAft>
                <a:spcPts val="800"/>
              </a:spcAft>
              <a:buSzPct val="100000"/>
              <a:buChar char="•"/>
            </a:pPr>
            <a:r>
              <a:rPr lang="en-US" sz="1600" dirty="0">
                <a:solidFill>
                  <a:schemeClr val="bg1"/>
                </a:solidFill>
              </a:rPr>
              <a:t>Units in the name or a data dictionary</a:t>
            </a:r>
            <a:endParaRPr lang="en-US" sz="1600" dirty="0"/>
          </a:p>
          <a:p>
            <a:pPr marL="228600" indent="-228600">
              <a:spcAft>
                <a:spcPts val="800"/>
              </a:spcAft>
              <a:buSzPct val="100000"/>
              <a:buChar char="•"/>
            </a:pPr>
            <a:r>
              <a:rPr lang="en-US" sz="1600" dirty="0">
                <a:solidFill>
                  <a:schemeClr val="bg1"/>
                </a:solidFill>
              </a:rPr>
              <a:t>ISO dates: 2024-06-15</a:t>
            </a:r>
            <a:endParaRPr lang="en-US" sz="1600" dirty="0"/>
          </a:p>
          <a:p>
            <a:pPr marL="228600" indent="-228600">
              <a:spcAft>
                <a:spcPts val="800"/>
              </a:spcAft>
              <a:buSzPct val="100000"/>
              <a:buChar char="•"/>
            </a:pPr>
            <a:r>
              <a:rPr lang="en-US" sz="1600" dirty="0">
                <a:solidFill>
                  <a:schemeClr val="bg1"/>
                </a:solidFill>
              </a:rPr>
              <a:t>Explicit identifiers, not row order</a:t>
            </a:r>
            <a:endParaRPr lang="en-US" sz="1600" dirty="0"/>
          </a:p>
        </p:txBody>
      </p:sp>
      <p:sp>
        <p:nvSpPr>
          <p:cNvPr id="13" name="key idea"/>
          <p:cNvSpPr/>
          <p:nvPr/>
        </p:nvSpPr>
        <p:spPr>
          <a:xfrm>
            <a:off x="548640" y="5440680"/>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Keep raw files unchanged. Store corrections in code and outputs in a separate folder.</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Saving as CSV</a:t>
            </a:r>
            <a:endParaRPr lang="en-US" sz="3200" dirty="0"/>
          </a:p>
        </p:txBody>
      </p:sp>
      <p:sp>
        <p:nvSpPr>
          <p:cNvPr id="3" name="card"/>
          <p:cNvSpPr/>
          <p:nvPr/>
        </p:nvSpPr>
        <p:spPr>
          <a:xfrm>
            <a:off x="548640" y="1646834"/>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875434"/>
            <a:ext cx="731520" cy="731520"/>
          </a:xfrm>
          <a:prstGeom prst="ellipse">
            <a:avLst/>
          </a:prstGeom>
          <a:solidFill>
            <a:schemeClr val="accent1"/>
          </a:solidFill>
          <a:ln/>
        </p:spPr>
      </p:sp>
      <p:pic>
        <p:nvPicPr>
          <p:cNvPr id="5" name="Image 0" descr="FaFileCsv">    </p:cNvPr>
          <p:cNvPicPr>
            <a:picLocks noChangeAspect="1"/>
          </p:cNvPicPr>
          <p:nvPr/>
        </p:nvPicPr>
        <p:blipFill>
          <a:blip r:embed="rId1"/>
          <a:stretch>
            <a:fillRect/>
          </a:stretch>
        </p:blipFill>
        <p:spPr>
          <a:xfrm>
            <a:off x="960120" y="2058314"/>
            <a:ext cx="365760" cy="365760"/>
          </a:xfrm>
          <a:prstGeom prst="rect">
            <a:avLst/>
          </a:prstGeom>
        </p:spPr>
      </p:pic>
      <p:sp>
        <p:nvSpPr>
          <p:cNvPr id="6" name="Text 3"/>
          <p:cNvSpPr txBox="1"/>
          <p:nvPr/>
        </p:nvSpPr>
        <p:spPr>
          <a:xfrm>
            <a:off x="777240" y="2744114"/>
            <a:ext cx="3078480" cy="292608"/>
          </a:xfrm>
          <a:prstGeom prst="rect">
            <a:avLst/>
          </a:prstGeom>
          <a:noFill/>
          <a:ln/>
        </p:spPr>
        <p:txBody>
          <a:bodyPr wrap="square" lIns="0" tIns="0" rIns="0" bIns="0" rtlCol="0" anchor="t"/>
          <a:lstStyle/>
          <a:p>
            <a:pPr indent="0" marL="0">
              <a:buNone/>
            </a:pPr>
            <a:r>
              <a:rPr lang="en-US" sz="1700" b="1" dirty="0">
                <a:solidFill>
                  <a:schemeClr val="tx2"/>
                </a:solidFill>
              </a:rPr>
              <a:t>What CSV keeps</a:t>
            </a:r>
            <a:endParaRPr lang="en-US" sz="1700" dirty="0"/>
          </a:p>
        </p:txBody>
      </p:sp>
      <p:sp>
        <p:nvSpPr>
          <p:cNvPr id="7" name="Text 4"/>
          <p:cNvSpPr txBox="1"/>
          <p:nvPr/>
        </p:nvSpPr>
        <p:spPr>
          <a:xfrm>
            <a:off x="777240" y="3146450"/>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Values in one plain-text table. Any software can read it, now and in twenty years.</a:t>
            </a:r>
            <a:endParaRPr lang="en-US" sz="1800" dirty="0"/>
          </a:p>
        </p:txBody>
      </p:sp>
      <p:sp>
        <p:nvSpPr>
          <p:cNvPr id="8" name="card"/>
          <p:cNvSpPr/>
          <p:nvPr/>
        </p:nvSpPr>
        <p:spPr>
          <a:xfrm>
            <a:off x="4312920" y="1646834"/>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875434"/>
            <a:ext cx="731520" cy="731520"/>
          </a:xfrm>
          <a:prstGeom prst="ellipse">
            <a:avLst/>
          </a:prstGeom>
          <a:solidFill>
            <a:schemeClr val="accent4"/>
          </a:solidFill>
          <a:ln/>
        </p:spPr>
      </p:sp>
      <p:pic>
        <p:nvPicPr>
          <p:cNvPr id="10" name="Image 1" descr="FaEraser">    </p:cNvPr>
          <p:cNvPicPr>
            <a:picLocks noChangeAspect="1"/>
          </p:cNvPicPr>
          <p:nvPr/>
        </p:nvPicPr>
        <p:blipFill>
          <a:blip r:embed="rId2"/>
          <a:stretch>
            <a:fillRect/>
          </a:stretch>
        </p:blipFill>
        <p:spPr>
          <a:xfrm>
            <a:off x="4724400" y="2058314"/>
            <a:ext cx="365760" cy="365760"/>
          </a:xfrm>
          <a:prstGeom prst="rect">
            <a:avLst/>
          </a:prstGeom>
        </p:spPr>
      </p:pic>
      <p:sp>
        <p:nvSpPr>
          <p:cNvPr id="11" name="Text 7"/>
          <p:cNvSpPr txBox="1"/>
          <p:nvPr/>
        </p:nvSpPr>
        <p:spPr>
          <a:xfrm>
            <a:off x="4541520" y="2744114"/>
            <a:ext cx="3078480" cy="292608"/>
          </a:xfrm>
          <a:prstGeom prst="rect">
            <a:avLst/>
          </a:prstGeom>
          <a:noFill/>
          <a:ln/>
        </p:spPr>
        <p:txBody>
          <a:bodyPr wrap="square" lIns="0" tIns="0" rIns="0" bIns="0" rtlCol="0" anchor="t"/>
          <a:lstStyle/>
          <a:p>
            <a:pPr indent="0" marL="0">
              <a:buNone/>
            </a:pPr>
            <a:r>
              <a:rPr lang="en-US" sz="1700" b="1" dirty="0">
                <a:solidFill>
                  <a:schemeClr val="tx2"/>
                </a:solidFill>
              </a:rPr>
              <a:t>What CSV loses</a:t>
            </a:r>
            <a:endParaRPr lang="en-US" sz="1700" dirty="0"/>
          </a:p>
        </p:txBody>
      </p:sp>
      <p:sp>
        <p:nvSpPr>
          <p:cNvPr id="12" name="Text 8"/>
          <p:cNvSpPr txBox="1"/>
          <p:nvPr/>
        </p:nvSpPr>
        <p:spPr>
          <a:xfrm>
            <a:off x="4541520" y="3146450"/>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Formatting, formulas, colours, factor levels and every sheet except one.</a:t>
            </a:r>
            <a:endParaRPr lang="en-US" sz="1800" dirty="0"/>
          </a:p>
        </p:txBody>
      </p:sp>
      <p:sp>
        <p:nvSpPr>
          <p:cNvPr id="13" name="card"/>
          <p:cNvSpPr/>
          <p:nvPr/>
        </p:nvSpPr>
        <p:spPr>
          <a:xfrm>
            <a:off x="8077200" y="1646834"/>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875434"/>
            <a:ext cx="731520" cy="731520"/>
          </a:xfrm>
          <a:prstGeom prst="ellipse">
            <a:avLst/>
          </a:prstGeom>
          <a:solidFill>
            <a:schemeClr val="accent3"/>
          </a:solidFill>
          <a:ln/>
        </p:spPr>
      </p:sp>
      <p:pic>
        <p:nvPicPr>
          <p:cNvPr id="15" name="Image 2" descr="FaFileExcel">    </p:cNvPr>
          <p:cNvPicPr>
            <a:picLocks noChangeAspect="1"/>
          </p:cNvPicPr>
          <p:nvPr/>
        </p:nvPicPr>
        <p:blipFill>
          <a:blip r:embed="rId3"/>
          <a:stretch>
            <a:fillRect/>
          </a:stretch>
        </p:blipFill>
        <p:spPr>
          <a:xfrm>
            <a:off x="8488680" y="2058314"/>
            <a:ext cx="365760" cy="365760"/>
          </a:xfrm>
          <a:prstGeom prst="rect">
            <a:avLst/>
          </a:prstGeom>
        </p:spPr>
      </p:pic>
      <p:sp>
        <p:nvSpPr>
          <p:cNvPr id="16" name="Text 11"/>
          <p:cNvSpPr txBox="1"/>
          <p:nvPr/>
        </p:nvSpPr>
        <p:spPr>
          <a:xfrm>
            <a:off x="8305800" y="2744114"/>
            <a:ext cx="3078480" cy="292608"/>
          </a:xfrm>
          <a:prstGeom prst="rect">
            <a:avLst/>
          </a:prstGeom>
          <a:noFill/>
          <a:ln/>
        </p:spPr>
        <p:txBody>
          <a:bodyPr wrap="square" lIns="0" tIns="0" rIns="0" bIns="0" rtlCol="0" anchor="t"/>
          <a:lstStyle/>
          <a:p>
            <a:pPr indent="0" marL="0">
              <a:buNone/>
            </a:pPr>
            <a:r>
              <a:rPr lang="en-US" sz="1700" b="1" dirty="0">
                <a:solidFill>
                  <a:schemeClr val="tx2"/>
                </a:solidFill>
              </a:rPr>
              <a:t>From Excel</a:t>
            </a:r>
            <a:endParaRPr lang="en-US" sz="1700" dirty="0"/>
          </a:p>
        </p:txBody>
      </p:sp>
      <p:sp>
        <p:nvSpPr>
          <p:cNvPr id="17" name="Text 12"/>
          <p:cNvSpPr txBox="1"/>
          <p:nvPr/>
        </p:nvSpPr>
        <p:spPr>
          <a:xfrm>
            <a:off x="8305800" y="3146450"/>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File &gt; Save As &gt; CSV (Comma delimited). Check decimal separators if your system uses commas.</a:t>
            </a:r>
            <a:endParaRPr lang="en-US" sz="1800" dirty="0"/>
          </a:p>
        </p:txBody>
      </p:sp>
      <p:sp>
        <p:nvSpPr>
          <p:cNvPr id="18" name="Text 13"/>
          <p:cNvSpPr txBox="1"/>
          <p:nvPr/>
        </p:nvSpPr>
        <p:spPr>
          <a:xfrm>
            <a:off x="548640" y="4975250"/>
            <a:ext cx="11064240" cy="548640"/>
          </a:xfrm>
          <a:prstGeom prst="rect">
            <a:avLst/>
          </a:prstGeom>
          <a:noFill/>
          <a:ln/>
        </p:spPr>
        <p:txBody>
          <a:bodyPr wrap="square" lIns="0" tIns="0" rIns="0" bIns="0" rtlCol="0" anchor="ctr"/>
          <a:lstStyle/>
          <a:p>
            <a:pPr indent="0" marL="0">
              <a:buNone/>
            </a:pPr>
            <a:r>
              <a:rPr lang="en-US" sz="1500" i="1" dirty="0">
                <a:solidFill>
                  <a:schemeClr val="accent1"/>
                </a:solidFill>
                <a:latin typeface="Courier New" pitchFamily="34" charset="0"/>
                <a:ea typeface="Courier New" pitchFamily="34" charset="-122"/>
                <a:cs typeface="Courier New" pitchFamily="34" charset="-120"/>
              </a:rPr>
              <a:t>read.csv2()</a:t>
            </a:r>
            <a:pPr indent="0" marL="0">
              <a:buNone/>
            </a:pPr>
            <a:r>
              <a:rPr lang="en-US" sz="1500" i="1" dirty="0">
                <a:solidFill>
                  <a:schemeClr val="accent5"/>
                </a:solidFill>
              </a:rPr>
              <a:t> reads semicolon-separated files with decimal commas. Inspect the actual file rather than guessing.</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B</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Importing and validating</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Reading is not the same as checking</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Import and inspect a CSV</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crop &lt;- read.csv("data/crop_trial.csv",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na.strings = c("", "NA"))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head(crop)</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str(crop)</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dim(crop)</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summary(crop)</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stopifnot(!anyDuplicated(crop$plot_id),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nrow(crop) == 60,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all(crop$yield_t_ha &gt; 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crop$treatment &lt;- factor(crop$treatment,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levels = c("Control", "Compost", "Mineral"))</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Eye">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Look</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head()</a:t>
            </a:r>
            <a:pPr indent="0" marL="0">
              <a:buNone/>
            </a:pPr>
            <a:r>
              <a:rPr lang="en-US" sz="1400" dirty="0">
                <a:solidFill>
                  <a:schemeClr val="tx1"/>
                </a:solidFill>
              </a:rPr>
              <a:t>, </a:t>
            </a:r>
            <a:pPr indent="0" marL="0">
              <a:buNone/>
            </a:pPr>
            <a:r>
              <a:rPr lang="en-US" sz="1400" dirty="0">
                <a:solidFill>
                  <a:schemeClr val="accent1"/>
                </a:solidFill>
                <a:latin typeface="Courier New" pitchFamily="34" charset="0"/>
                <a:ea typeface="Courier New" pitchFamily="34" charset="-122"/>
                <a:cs typeface="Courier New" pitchFamily="34" charset="-120"/>
              </a:rPr>
              <a:t>str()</a:t>
            </a:r>
            <a:pPr indent="0" marL="0">
              <a:buNone/>
            </a:pPr>
            <a:r>
              <a:rPr lang="en-US" sz="1400" dirty="0">
                <a:solidFill>
                  <a:schemeClr val="tx1"/>
                </a:solidFill>
              </a:rPr>
              <a:t>, </a:t>
            </a:r>
            <a:pPr indent="0" marL="0">
              <a:buNone/>
            </a:pPr>
            <a:r>
              <a:rPr lang="en-US" sz="1400" dirty="0">
                <a:solidFill>
                  <a:schemeClr val="accent1"/>
                </a:solidFill>
                <a:latin typeface="Courier New" pitchFamily="34" charset="0"/>
                <a:ea typeface="Courier New" pitchFamily="34" charset="-122"/>
                <a:cs typeface="Courier New" pitchFamily="34" charset="-120"/>
              </a:rPr>
              <a:t>dim()</a:t>
            </a:r>
            <a:pPr indent="0" marL="0">
              <a:buNone/>
            </a:pPr>
            <a:r>
              <a:rPr lang="en-US" sz="1400" dirty="0">
                <a:solidFill>
                  <a:schemeClr val="tx1"/>
                </a:solidFill>
              </a:rPr>
              <a:t> and </a:t>
            </a:r>
            <a:pPr indent="0" marL="0">
              <a:buNone/>
            </a:pPr>
            <a:r>
              <a:rPr lang="en-US" sz="1400" dirty="0">
                <a:solidFill>
                  <a:schemeClr val="accent1"/>
                </a:solidFill>
                <a:latin typeface="Courier New" pitchFamily="34" charset="0"/>
                <a:ea typeface="Courier New" pitchFamily="34" charset="-122"/>
                <a:cs typeface="Courier New" pitchFamily="34" charset="-120"/>
              </a:rPr>
              <a:t>summary()</a:t>
            </a:r>
            <a:pPr indent="0" marL="0">
              <a:buNone/>
            </a:pPr>
            <a:r>
              <a:rPr lang="en-US" sz="1400" dirty="0">
                <a:solidFill>
                  <a:schemeClr val="tx1"/>
                </a:solidFill>
              </a:rPr>
              <a:t> show rows, types and ranges.</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3"/>
          </a:solidFill>
          <a:ln/>
        </p:spPr>
      </p:sp>
      <p:pic>
        <p:nvPicPr>
          <p:cNvPr id="12" name="Image 1" descr="FaCheckDouble">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Check</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stopifnot()</a:t>
            </a:r>
            <a:pPr indent="0" marL="0">
              <a:buNone/>
            </a:pPr>
            <a:r>
              <a:rPr lang="en-US" sz="1400" dirty="0">
                <a:solidFill>
                  <a:schemeClr val="tx1"/>
                </a:solidFill>
              </a:rPr>
              <a:t> halts the script if identifiers repeat, rows are missing or a yield is impossible.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Importing is not validation</a:t>
            </a:r>
            <a:endParaRPr lang="en-US" sz="3200" dirty="0"/>
          </a:p>
        </p:txBody>
      </p:sp>
      <p:sp>
        <p:nvSpPr>
          <p:cNvPr id="3" name="card"/>
          <p:cNvSpPr/>
          <p:nvPr/>
        </p:nvSpPr>
        <p:spPr>
          <a:xfrm>
            <a:off x="548640" y="1371600"/>
            <a:ext cx="5417820" cy="2217420"/>
          </a:xfrm>
          <a:prstGeom prst="roundRect">
            <a:avLst>
              <a:gd name="adj" fmla="val 4948"/>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09574" cy="709574"/>
          </a:xfrm>
          <a:prstGeom prst="ellipse">
            <a:avLst/>
          </a:prstGeom>
          <a:solidFill>
            <a:schemeClr val="accent4"/>
          </a:solidFill>
          <a:ln/>
        </p:spPr>
      </p:sp>
      <p:pic>
        <p:nvPicPr>
          <p:cNvPr id="5" name="Image 0" descr="FaFont">    </p:cNvPr>
          <p:cNvPicPr>
            <a:picLocks noChangeAspect="1"/>
          </p:cNvPicPr>
          <p:nvPr/>
        </p:nvPicPr>
        <p:blipFill>
          <a:blip r:embed="rId1"/>
          <a:stretch>
            <a:fillRect/>
          </a:stretch>
        </p:blipFill>
        <p:spPr>
          <a:xfrm>
            <a:off x="954634" y="1777594"/>
            <a:ext cx="354787" cy="354787"/>
          </a:xfrm>
          <a:prstGeom prst="rect">
            <a:avLst/>
          </a:prstGeom>
        </p:spPr>
      </p:pic>
      <p:sp>
        <p:nvSpPr>
          <p:cNvPr id="6" name="Text 3"/>
          <p:cNvSpPr txBox="1"/>
          <p:nvPr/>
        </p:nvSpPr>
        <p:spPr>
          <a:xfrm>
            <a:off x="1669694" y="1600200"/>
            <a:ext cx="4068166" cy="709574"/>
          </a:xfrm>
          <a:prstGeom prst="rect">
            <a:avLst/>
          </a:prstGeom>
          <a:noFill/>
          <a:ln/>
        </p:spPr>
        <p:txBody>
          <a:bodyPr wrap="square" lIns="0" tIns="0" rIns="0" bIns="0" rtlCol="0" anchor="ctr"/>
          <a:lstStyle/>
          <a:p>
            <a:pPr indent="0" marL="0">
              <a:buNone/>
            </a:pPr>
            <a:r>
              <a:rPr lang="en-US" sz="1700" b="1" dirty="0">
                <a:solidFill>
                  <a:schemeClr val="tx2"/>
                </a:solidFill>
              </a:rPr>
              <a:t>Numbers read as text</a:t>
            </a:r>
            <a:endParaRPr lang="en-US" sz="1700" dirty="0"/>
          </a:p>
        </p:txBody>
      </p:sp>
      <p:sp>
        <p:nvSpPr>
          <p:cNvPr id="7" name="Text 4"/>
          <p:cNvSpPr txBox="1"/>
          <p:nvPr/>
        </p:nvSpPr>
        <p:spPr>
          <a:xfrm>
            <a:off x="777240" y="2492654"/>
            <a:ext cx="4960620" cy="986638"/>
          </a:xfrm>
          <a:prstGeom prst="rect">
            <a:avLst/>
          </a:prstGeom>
          <a:noFill/>
          <a:ln/>
        </p:spPr>
        <p:txBody>
          <a:bodyPr wrap="square" lIns="0" tIns="0" rIns="0" bIns="0" rtlCol="0" anchor="t"/>
          <a:lstStyle/>
          <a:p>
            <a:pPr indent="0" marL="0">
              <a:buNone/>
            </a:pPr>
            <a:r>
              <a:rPr lang="en-US" sz="1600" dirty="0">
                <a:solidFill>
                  <a:schemeClr val="accent5"/>
                </a:solidFill>
              </a:rPr>
              <a:t>A decimal comma or an entry such as </a:t>
            </a:r>
            <a:pPr indent="0" marL="0">
              <a:buNone/>
            </a:pPr>
            <a:r>
              <a:rPr lang="en-US" sz="1600" dirty="0">
                <a:solidFill>
                  <a:schemeClr val="accent1"/>
                </a:solidFill>
                <a:latin typeface="Courier New" pitchFamily="34" charset="0"/>
                <a:ea typeface="Courier New" pitchFamily="34" charset="-122"/>
                <a:cs typeface="Courier New" pitchFamily="34" charset="-120"/>
              </a:rPr>
              <a:t>"5 kg"</a:t>
            </a:r>
            <a:pPr indent="0" marL="0">
              <a:buNone/>
            </a:pPr>
            <a:r>
              <a:rPr lang="en-US" sz="1600" dirty="0">
                <a:solidFill>
                  <a:schemeClr val="accent5"/>
                </a:solidFill>
              </a:rPr>
              <a:t> turns a whole yield column into character. </a:t>
            </a:r>
            <a:pPr indent="0" marL="0">
              <a:buNone/>
            </a:pPr>
            <a:r>
              <a:rPr lang="en-US" sz="1600" dirty="0">
                <a:solidFill>
                  <a:schemeClr val="accent1"/>
                </a:solidFill>
                <a:latin typeface="Courier New" pitchFamily="34" charset="0"/>
                <a:ea typeface="Courier New" pitchFamily="34" charset="-122"/>
                <a:cs typeface="Courier New" pitchFamily="34" charset="-120"/>
              </a:rPr>
              <a:t>str()</a:t>
            </a:r>
            <a:pPr indent="0" marL="0">
              <a:buNone/>
            </a:pPr>
            <a:r>
              <a:rPr lang="en-US" sz="1600" dirty="0">
                <a:solidFill>
                  <a:schemeClr val="accent5"/>
                </a:solidFill>
              </a:rPr>
              <a:t> reveals it.</a:t>
            </a:r>
            <a:endParaRPr lang="en-US" sz="1600" dirty="0"/>
          </a:p>
        </p:txBody>
      </p:sp>
      <p:sp>
        <p:nvSpPr>
          <p:cNvPr id="8" name="card"/>
          <p:cNvSpPr/>
          <p:nvPr/>
        </p:nvSpPr>
        <p:spPr>
          <a:xfrm>
            <a:off x="6195060" y="1371600"/>
            <a:ext cx="5417820" cy="2217420"/>
          </a:xfrm>
          <a:prstGeom prst="roundRect">
            <a:avLst>
              <a:gd name="adj" fmla="val 4948"/>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1600200"/>
            <a:ext cx="709574" cy="709574"/>
          </a:xfrm>
          <a:prstGeom prst="ellipse">
            <a:avLst/>
          </a:prstGeom>
          <a:solidFill>
            <a:schemeClr val="accent2"/>
          </a:solidFill>
          <a:ln/>
        </p:spPr>
      </p:sp>
      <p:pic>
        <p:nvPicPr>
          <p:cNvPr id="10" name="Image 1" descr="FaQuestion">    </p:cNvPr>
          <p:cNvPicPr>
            <a:picLocks noChangeAspect="1"/>
          </p:cNvPicPr>
          <p:nvPr/>
        </p:nvPicPr>
        <p:blipFill>
          <a:blip r:embed="rId2"/>
          <a:stretch>
            <a:fillRect/>
          </a:stretch>
        </p:blipFill>
        <p:spPr>
          <a:xfrm>
            <a:off x="6601054" y="1777594"/>
            <a:ext cx="354787" cy="354787"/>
          </a:xfrm>
          <a:prstGeom prst="rect">
            <a:avLst/>
          </a:prstGeom>
        </p:spPr>
      </p:pic>
      <p:sp>
        <p:nvSpPr>
          <p:cNvPr id="11" name="Text 7"/>
          <p:cNvSpPr txBox="1"/>
          <p:nvPr/>
        </p:nvSpPr>
        <p:spPr>
          <a:xfrm>
            <a:off x="7316114" y="1600200"/>
            <a:ext cx="4068166" cy="709574"/>
          </a:xfrm>
          <a:prstGeom prst="rect">
            <a:avLst/>
          </a:prstGeom>
          <a:noFill/>
          <a:ln/>
        </p:spPr>
        <p:txBody>
          <a:bodyPr wrap="square" lIns="0" tIns="0" rIns="0" bIns="0" rtlCol="0" anchor="ctr"/>
          <a:lstStyle/>
          <a:p>
            <a:pPr indent="0" marL="0">
              <a:buNone/>
            </a:pPr>
            <a:r>
              <a:rPr lang="en-US" sz="1700" b="1" dirty="0">
                <a:solidFill>
                  <a:schemeClr val="tx2"/>
                </a:solidFill>
              </a:rPr>
              <a:t>Blanks are not zeros</a:t>
            </a:r>
            <a:endParaRPr lang="en-US" sz="1700" dirty="0"/>
          </a:p>
        </p:txBody>
      </p:sp>
      <p:sp>
        <p:nvSpPr>
          <p:cNvPr id="12" name="Text 8"/>
          <p:cNvSpPr txBox="1"/>
          <p:nvPr/>
        </p:nvSpPr>
        <p:spPr>
          <a:xfrm>
            <a:off x="6423660" y="2492654"/>
            <a:ext cx="4960620" cy="986638"/>
          </a:xfrm>
          <a:prstGeom prst="rect">
            <a:avLst/>
          </a:prstGeom>
          <a:noFill/>
          <a:ln/>
        </p:spPr>
        <p:txBody>
          <a:bodyPr wrap="square" lIns="0" tIns="0" rIns="0" bIns="0" rtlCol="0" anchor="t"/>
          <a:lstStyle/>
          <a:p>
            <a:pPr indent="0" marL="0">
              <a:buNone/>
            </a:pPr>
            <a:r>
              <a:rPr lang="en-US" sz="1600" dirty="0">
                <a:solidFill>
                  <a:schemeClr val="accent5"/>
                </a:solidFill>
              </a:rPr>
              <a:t>A blank yield is unknown, not zero. Changing it to zero invents a crop failure.</a:t>
            </a:r>
            <a:endParaRPr lang="en-US" sz="1600" dirty="0"/>
          </a:p>
        </p:txBody>
      </p:sp>
      <p:sp>
        <p:nvSpPr>
          <p:cNvPr id="13" name="card"/>
          <p:cNvSpPr/>
          <p:nvPr/>
        </p:nvSpPr>
        <p:spPr>
          <a:xfrm>
            <a:off x="548640" y="3817620"/>
            <a:ext cx="5417820" cy="2217420"/>
          </a:xfrm>
          <a:prstGeom prst="roundRect">
            <a:avLst>
              <a:gd name="adj" fmla="val 4948"/>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777240" y="4046220"/>
            <a:ext cx="709574" cy="709574"/>
          </a:xfrm>
          <a:prstGeom prst="ellipse">
            <a:avLst/>
          </a:prstGeom>
          <a:solidFill>
            <a:schemeClr val="accent1"/>
          </a:solidFill>
          <a:ln/>
        </p:spPr>
      </p:sp>
      <p:pic>
        <p:nvPicPr>
          <p:cNvPr id="15" name="Image 2" descr="FaListOl">    </p:cNvPr>
          <p:cNvPicPr>
            <a:picLocks noChangeAspect="1"/>
          </p:cNvPicPr>
          <p:nvPr/>
        </p:nvPicPr>
        <p:blipFill>
          <a:blip r:embed="rId3"/>
          <a:stretch>
            <a:fillRect/>
          </a:stretch>
        </p:blipFill>
        <p:spPr>
          <a:xfrm>
            <a:off x="954634" y="4223614"/>
            <a:ext cx="354787" cy="354787"/>
          </a:xfrm>
          <a:prstGeom prst="rect">
            <a:avLst/>
          </a:prstGeom>
        </p:spPr>
      </p:pic>
      <p:sp>
        <p:nvSpPr>
          <p:cNvPr id="16" name="Text 11"/>
          <p:cNvSpPr txBox="1"/>
          <p:nvPr/>
        </p:nvSpPr>
        <p:spPr>
          <a:xfrm>
            <a:off x="1669694" y="4046220"/>
            <a:ext cx="4068166" cy="709574"/>
          </a:xfrm>
          <a:prstGeom prst="rect">
            <a:avLst/>
          </a:prstGeom>
          <a:noFill/>
          <a:ln/>
        </p:spPr>
        <p:txBody>
          <a:bodyPr wrap="square" lIns="0" tIns="0" rIns="0" bIns="0" rtlCol="0" anchor="ctr"/>
          <a:lstStyle/>
          <a:p>
            <a:pPr indent="0" marL="0">
              <a:buNone/>
            </a:pPr>
            <a:r>
              <a:rPr lang="en-US" sz="1700" b="1" dirty="0">
                <a:solidFill>
                  <a:schemeClr val="tx2"/>
                </a:solidFill>
              </a:rPr>
              <a:t>Counts and identifiers</a:t>
            </a:r>
            <a:endParaRPr lang="en-US" sz="1700" dirty="0"/>
          </a:p>
        </p:txBody>
      </p:sp>
      <p:sp>
        <p:nvSpPr>
          <p:cNvPr id="17" name="Text 12"/>
          <p:cNvSpPr txBox="1"/>
          <p:nvPr/>
        </p:nvSpPr>
        <p:spPr>
          <a:xfrm>
            <a:off x="777240" y="4938674"/>
            <a:ext cx="4960620" cy="986638"/>
          </a:xfrm>
          <a:prstGeom prst="rect">
            <a:avLst/>
          </a:prstGeom>
          <a:noFill/>
          <a:ln/>
        </p:spPr>
        <p:txBody>
          <a:bodyPr wrap="square" lIns="0" tIns="0" rIns="0" bIns="0" rtlCol="0" anchor="t"/>
          <a:lstStyle/>
          <a:p>
            <a:pPr indent="0" marL="0">
              <a:buNone/>
            </a:pPr>
            <a:r>
              <a:rPr lang="en-US" sz="1600" dirty="0">
                <a:solidFill>
                  <a:schemeClr val="accent5"/>
                </a:solidFill>
              </a:rPr>
              <a:t>Compare the number of rows and unique plot IDs with the field book.</a:t>
            </a:r>
            <a:endParaRPr lang="en-US" sz="1600" dirty="0"/>
          </a:p>
        </p:txBody>
      </p:sp>
      <p:sp>
        <p:nvSpPr>
          <p:cNvPr id="18" name="card"/>
          <p:cNvSpPr/>
          <p:nvPr/>
        </p:nvSpPr>
        <p:spPr>
          <a:xfrm>
            <a:off x="6195060" y="3817620"/>
            <a:ext cx="5417820" cy="2217420"/>
          </a:xfrm>
          <a:prstGeom prst="roundRect">
            <a:avLst>
              <a:gd name="adj" fmla="val 4948"/>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23660" y="4046220"/>
            <a:ext cx="709574" cy="709574"/>
          </a:xfrm>
          <a:prstGeom prst="ellipse">
            <a:avLst/>
          </a:prstGeom>
          <a:solidFill>
            <a:schemeClr val="accent3"/>
          </a:solidFill>
          <a:ln/>
        </p:spPr>
      </p:sp>
      <p:pic>
        <p:nvPicPr>
          <p:cNvPr id="20" name="Image 3" descr="FaTags">    </p:cNvPr>
          <p:cNvPicPr>
            <a:picLocks noChangeAspect="1"/>
          </p:cNvPicPr>
          <p:nvPr/>
        </p:nvPicPr>
        <p:blipFill>
          <a:blip r:embed="rId4"/>
          <a:stretch>
            <a:fillRect/>
          </a:stretch>
        </p:blipFill>
        <p:spPr>
          <a:xfrm>
            <a:off x="6601054" y="4223614"/>
            <a:ext cx="354787" cy="354787"/>
          </a:xfrm>
          <a:prstGeom prst="rect">
            <a:avLst/>
          </a:prstGeom>
        </p:spPr>
      </p:pic>
      <p:sp>
        <p:nvSpPr>
          <p:cNvPr id="21" name="Text 15"/>
          <p:cNvSpPr txBox="1"/>
          <p:nvPr/>
        </p:nvSpPr>
        <p:spPr>
          <a:xfrm>
            <a:off x="7316114" y="4046220"/>
            <a:ext cx="4068166" cy="709574"/>
          </a:xfrm>
          <a:prstGeom prst="rect">
            <a:avLst/>
          </a:prstGeom>
          <a:noFill/>
          <a:ln/>
        </p:spPr>
        <p:txBody>
          <a:bodyPr wrap="square" lIns="0" tIns="0" rIns="0" bIns="0" rtlCol="0" anchor="ctr"/>
          <a:lstStyle/>
          <a:p>
            <a:pPr indent="0" marL="0">
              <a:buNone/>
            </a:pPr>
            <a:r>
              <a:rPr lang="en-US" sz="1700" b="1" dirty="0">
                <a:solidFill>
                  <a:schemeClr val="tx2"/>
                </a:solidFill>
              </a:rPr>
              <a:t>Labels and ranges</a:t>
            </a:r>
            <a:endParaRPr lang="en-US" sz="1700" dirty="0"/>
          </a:p>
        </p:txBody>
      </p:sp>
      <p:sp>
        <p:nvSpPr>
          <p:cNvPr id="22" name="Text 16"/>
          <p:cNvSpPr txBox="1"/>
          <p:nvPr/>
        </p:nvSpPr>
        <p:spPr>
          <a:xfrm>
            <a:off x="6423660" y="4938674"/>
            <a:ext cx="4960620" cy="986638"/>
          </a:xfrm>
          <a:prstGeom prst="rect">
            <a:avLst/>
          </a:prstGeom>
          <a:noFill/>
          <a:ln/>
        </p:spPr>
        <p:txBody>
          <a:bodyPr wrap="square" lIns="0" tIns="0" rIns="0" bIns="0" rtlCol="0" anchor="t"/>
          <a:lstStyle/>
          <a:p>
            <a:pPr indent="0" marL="0">
              <a:buNone/>
            </a:pPr>
            <a:r>
              <a:rPr lang="en-US" sz="1600" dirty="0">
                <a:solidFill>
                  <a:schemeClr val="accent1"/>
                </a:solidFill>
                <a:latin typeface="Courier New" pitchFamily="34" charset="0"/>
                <a:ea typeface="Courier New" pitchFamily="34" charset="-122"/>
                <a:cs typeface="Courier New" pitchFamily="34" charset="-120"/>
              </a:rPr>
              <a:t>table()</a:t>
            </a:r>
            <a:pPr indent="0" marL="0">
              <a:buNone/>
            </a:pPr>
            <a:r>
              <a:rPr lang="en-US" sz="1600" dirty="0">
                <a:solidFill>
                  <a:schemeClr val="accent5"/>
                </a:solidFill>
              </a:rPr>
              <a:t> exposes </a:t>
            </a:r>
            <a:pPr indent="0" marL="0">
              <a:buNone/>
            </a:pPr>
            <a:r>
              <a:rPr lang="en-US" sz="1600" dirty="0">
                <a:solidFill>
                  <a:schemeClr val="accent1"/>
                </a:solidFill>
                <a:latin typeface="Courier New" pitchFamily="34" charset="0"/>
                <a:ea typeface="Courier New" pitchFamily="34" charset="-122"/>
                <a:cs typeface="Courier New" pitchFamily="34" charset="-120"/>
              </a:rPr>
              <a:t>" control "</a:t>
            </a:r>
            <a:pPr indent="0" marL="0">
              <a:buNone/>
            </a:pPr>
            <a:r>
              <a:rPr lang="en-US" sz="1600" dirty="0">
                <a:solidFill>
                  <a:schemeClr val="accent5"/>
                </a:solidFill>
              </a:rPr>
              <a:t> beside </a:t>
            </a:r>
            <a:pPr indent="0" marL="0">
              <a:buNone/>
            </a:pPr>
            <a:r>
              <a:rPr lang="en-US" sz="1600" dirty="0">
                <a:solidFill>
                  <a:schemeClr val="accent1"/>
                </a:solidFill>
                <a:latin typeface="Courier New" pitchFamily="34" charset="0"/>
                <a:ea typeface="Courier New" pitchFamily="34" charset="-122"/>
                <a:cs typeface="Courier New" pitchFamily="34" charset="-120"/>
              </a:rPr>
              <a:t>"Control"</a:t>
            </a:r>
            <a:pPr indent="0" marL="0">
              <a:buNone/>
            </a:pPr>
            <a:r>
              <a:rPr lang="en-US" sz="1600" dirty="0">
                <a:solidFill>
                  <a:schemeClr val="accent5"/>
                </a:solidFill>
              </a:rPr>
              <a:t>; </a:t>
            </a:r>
            <a:pPr indent="0" marL="0">
              <a:buNone/>
            </a:pPr>
            <a:r>
              <a:rPr lang="en-US" sz="1600" dirty="0">
                <a:solidFill>
                  <a:schemeClr val="accent1"/>
                </a:solidFill>
                <a:latin typeface="Courier New" pitchFamily="34" charset="0"/>
                <a:ea typeface="Courier New" pitchFamily="34" charset="-122"/>
                <a:cs typeface="Courier New" pitchFamily="34" charset="-120"/>
              </a:rPr>
              <a:t>summary()</a:t>
            </a:r>
            <a:pPr indent="0" marL="0">
              <a:buNone/>
            </a:pPr>
            <a:r>
              <a:rPr lang="en-US" sz="1600" dirty="0">
                <a:solidFill>
                  <a:schemeClr val="accent5"/>
                </a:solidFill>
              </a:rPr>
              <a:t> exposes impossible values.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Excel and exporting</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excel_crop &lt;- readxl::read_excel("data/crop_trial.xlsx",</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sheet = "trial")</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stopifnot(nrow(excel_crop) == nrow(crop))</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dir.create("outputs", showWarnings = FALSE)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write.csv(crop, "outputs/crop_export.csv",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row.names = FALSE)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writexl::write_xlsx(list(trial = crop),</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"outputs/crop_export.xlsx")</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saveRDS(crop, "outputs/crop.rds")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identical(crop, readRDS("outputs/crop.rds"))</a:t>
            </a:r>
            <a:endParaRPr lang="en-US" sz="14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ExchangeAlt">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Which format?</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b="1" dirty="0">
                <a:solidFill>
                  <a:schemeClr val="tx1"/>
                </a:solidFill>
              </a:rPr>
              <a:t>CSV</a:t>
            </a:r>
            <a:pPr indent="0" marL="0">
              <a:buNone/>
            </a:pPr>
            <a:r>
              <a:rPr lang="en-US" sz="1400" dirty="0">
                <a:solidFill>
                  <a:schemeClr val="tx1"/>
                </a:solidFill>
              </a:rPr>
              <a:t> for sharing; </a:t>
            </a:r>
            <a:pPr indent="0" marL="0">
              <a:buNone/>
            </a:pPr>
            <a:r>
              <a:rPr lang="en-US" sz="1400" b="1" dirty="0">
                <a:solidFill>
                  <a:schemeClr val="tx1"/>
                </a:solidFill>
              </a:rPr>
              <a:t>Excel</a:t>
            </a:r>
            <a:pPr indent="0" marL="0">
              <a:buNone/>
            </a:pPr>
            <a:r>
              <a:rPr lang="en-US" sz="1400" dirty="0">
                <a:solidFill>
                  <a:schemeClr val="tx1"/>
                </a:solidFill>
              </a:rPr>
              <a:t> for several sheets; </a:t>
            </a:r>
            <a:pPr indent="0" marL="0">
              <a:buNone/>
            </a:pPr>
            <a:r>
              <a:rPr lang="en-US" sz="1400" b="1" dirty="0">
                <a:solidFill>
                  <a:schemeClr val="tx1"/>
                </a:solidFill>
              </a:rPr>
              <a:t>RDS</a:t>
            </a:r>
            <a:pPr indent="0" marL="0">
              <a:buNone/>
            </a:pPr>
            <a:r>
              <a:rPr lang="en-US" sz="1400" dirty="0">
                <a:solidFill>
                  <a:schemeClr val="tx1"/>
                </a:solidFill>
              </a:rPr>
              <a:t> to keep R classes such as factor levels.</a:t>
            </a:r>
            <a:endParaRPr lang="en-US" sz="1400" dirty="0"/>
          </a:p>
        </p:txBody>
      </p:sp>
      <p:sp>
        <p:nvSpPr>
          <p:cNvPr id="10" name="warn"/>
          <p:cNvSpPr/>
          <p:nvPr/>
        </p:nvSpPr>
        <p:spPr>
          <a:xfrm>
            <a:off x="7543800" y="3794760"/>
            <a:ext cx="4069080" cy="2240280"/>
          </a:xfrm>
          <a:prstGeom prst="roundRect">
            <a:avLst>
              <a:gd name="adj" fmla="val 4898"/>
            </a:avLst>
          </a:prstGeom>
          <a:solidFill>
            <a:schemeClr val="accent6"/>
          </a:solidFill>
          <a:ln/>
          <a:effectLst>
            <a:outerShdw sx="100000" sy="100000" kx="0" ky="0" algn="bl" rotWithShape="0" blurRad="76200" dist="25400" dir="5400000">
              <a:srgbClr val="8A97AB">
                <a:alpha val="25000"/>
              </a:srgbClr>
            </a:outerShdw>
          </a:effectLst>
        </p:spPr>
      </p:sp>
      <p:sp>
        <p:nvSpPr>
          <p:cNvPr id="11" name="Text 8"/>
          <p:cNvSpPr txBox="1"/>
          <p:nvPr/>
        </p:nvSpPr>
        <p:spPr>
          <a:xfrm>
            <a:off x="7772400" y="3977640"/>
            <a:ext cx="3657600" cy="548640"/>
          </a:xfrm>
          <a:prstGeom prst="rect">
            <a:avLst/>
          </a:prstGeom>
          <a:noFill/>
          <a:ln/>
        </p:spPr>
        <p:txBody>
          <a:bodyPr wrap="square" lIns="0" tIns="0" rIns="0" bIns="0" rtlCol="0" anchor="ctr"/>
          <a:lstStyle/>
          <a:p>
            <a:pPr indent="0" marL="0">
              <a:buNone/>
            </a:pPr>
            <a:r>
              <a:rPr lang="en-US" sz="1600" b="1" dirty="0">
                <a:solidFill>
                  <a:schemeClr val="accent4"/>
                </a:solidFill>
              </a:rPr>
              <a:t>row.names = FALSE</a:t>
            </a:r>
            <a:endParaRPr lang="en-US" sz="1600" dirty="0"/>
          </a:p>
        </p:txBody>
      </p:sp>
      <p:sp>
        <p:nvSpPr>
          <p:cNvPr id="12" name="Text 9"/>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Without it, </a:t>
            </a:r>
            <a:pPr indent="0" marL="0">
              <a:buNone/>
            </a:pPr>
            <a:r>
              <a:rPr lang="en-US" sz="1400" dirty="0">
                <a:solidFill>
                  <a:schemeClr val="accent1"/>
                </a:solidFill>
                <a:latin typeface="Courier New" pitchFamily="34" charset="0"/>
                <a:ea typeface="Courier New" pitchFamily="34" charset="-122"/>
                <a:cs typeface="Courier New" pitchFamily="34" charset="-120"/>
              </a:rPr>
              <a:t>write.csv()</a:t>
            </a:r>
            <a:pPr indent="0" marL="0">
              <a:buNone/>
            </a:pPr>
            <a:r>
              <a:rPr lang="en-US" sz="1400" dirty="0">
                <a:solidFill>
                  <a:schemeClr val="tx1"/>
                </a:solidFill>
              </a:rPr>
              <a:t> adds an unnamed column of row numbers.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Built-in datasets and online sources</a:t>
            </a:r>
            <a:endParaRPr lang="en-US" sz="3200" dirty="0"/>
          </a:p>
        </p:txBody>
      </p:sp>
      <p:sp>
        <p:nvSpPr>
          <p:cNvPr id="3" name="card"/>
          <p:cNvSpPr/>
          <p:nvPr/>
        </p:nvSpPr>
        <p:spPr>
          <a:xfrm>
            <a:off x="548640" y="1827657"/>
            <a:ext cx="5417820" cy="2400300"/>
          </a:xfrm>
          <a:prstGeom prst="roundRect">
            <a:avLst>
              <a:gd name="adj" fmla="val 4571"/>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2056257"/>
            <a:ext cx="731520" cy="731520"/>
          </a:xfrm>
          <a:prstGeom prst="ellipse">
            <a:avLst/>
          </a:prstGeom>
          <a:solidFill>
            <a:schemeClr val="accent1"/>
          </a:solidFill>
          <a:ln/>
        </p:spPr>
      </p:sp>
      <p:pic>
        <p:nvPicPr>
          <p:cNvPr id="5" name="Image 0" descr="FaDatabase">    </p:cNvPr>
          <p:cNvPicPr>
            <a:picLocks noChangeAspect="1"/>
          </p:cNvPicPr>
          <p:nvPr/>
        </p:nvPicPr>
        <p:blipFill>
          <a:blip r:embed="rId1"/>
          <a:stretch>
            <a:fillRect/>
          </a:stretch>
        </p:blipFill>
        <p:spPr>
          <a:xfrm>
            <a:off x="960120" y="2239137"/>
            <a:ext cx="365760" cy="365760"/>
          </a:xfrm>
          <a:prstGeom prst="rect">
            <a:avLst/>
          </a:prstGeom>
        </p:spPr>
      </p:pic>
      <p:sp>
        <p:nvSpPr>
          <p:cNvPr id="6" name="Text 3"/>
          <p:cNvSpPr txBox="1"/>
          <p:nvPr/>
        </p:nvSpPr>
        <p:spPr>
          <a:xfrm>
            <a:off x="1691640" y="2056257"/>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Datasets shipped with R</a:t>
            </a:r>
            <a:endParaRPr lang="en-US" sz="1700" dirty="0"/>
          </a:p>
        </p:txBody>
      </p:sp>
      <p:sp>
        <p:nvSpPr>
          <p:cNvPr id="7" name="Text 4"/>
          <p:cNvSpPr txBox="1"/>
          <p:nvPr/>
        </p:nvSpPr>
        <p:spPr>
          <a:xfrm>
            <a:off x="777240" y="2970657"/>
            <a:ext cx="4960620" cy="114757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PlantGrowth</a:t>
            </a:r>
            <a:pPr indent="0" marL="0">
              <a:buNone/>
            </a:pPr>
            <a:r>
              <a:rPr lang="en-US" sz="1800" dirty="0">
                <a:solidFill>
                  <a:schemeClr val="accent5"/>
                </a:solidFill>
              </a:rPr>
              <a:t>, </a:t>
            </a:r>
            <a:pPr indent="0" marL="0">
              <a:buNone/>
            </a:pPr>
            <a:r>
              <a:rPr lang="en-US" sz="1800" dirty="0">
                <a:solidFill>
                  <a:schemeClr val="accent1"/>
                </a:solidFill>
                <a:latin typeface="Courier New" pitchFamily="34" charset="0"/>
                <a:ea typeface="Courier New" pitchFamily="34" charset="-122"/>
                <a:cs typeface="Courier New" pitchFamily="34" charset="-120"/>
              </a:rPr>
              <a:t>iris</a:t>
            </a:r>
            <a:pPr indent="0" marL="0">
              <a:buNone/>
            </a:pPr>
            <a:r>
              <a:rPr lang="en-US" sz="1800" dirty="0">
                <a:solidFill>
                  <a:schemeClr val="accent5"/>
                </a:solidFill>
              </a:rPr>
              <a:t>, </a:t>
            </a:r>
            <a:pPr indent="0" marL="0">
              <a:buNone/>
            </a:pPr>
            <a:r>
              <a:rPr lang="en-US" sz="1800" dirty="0">
                <a:solidFill>
                  <a:schemeClr val="accent1"/>
                </a:solidFill>
                <a:latin typeface="Courier New" pitchFamily="34" charset="0"/>
                <a:ea typeface="Courier New" pitchFamily="34" charset="-122"/>
                <a:cs typeface="Courier New" pitchFamily="34" charset="-120"/>
              </a:rPr>
              <a:t>mtcars</a:t>
            </a:r>
            <a:pPr indent="0" marL="0">
              <a:buNone/>
            </a:pPr>
            <a:r>
              <a:rPr lang="en-US" sz="1800" dirty="0">
                <a:solidFill>
                  <a:schemeClr val="accent5"/>
                </a:solidFill>
              </a:rPr>
              <a:t>, </a:t>
            </a:r>
            <a:pPr indent="0" marL="0">
              <a:buNone/>
            </a:pPr>
            <a:r>
              <a:rPr lang="en-US" sz="1800" dirty="0">
                <a:solidFill>
                  <a:schemeClr val="accent1"/>
                </a:solidFill>
                <a:latin typeface="Courier New" pitchFamily="34" charset="0"/>
                <a:ea typeface="Courier New" pitchFamily="34" charset="-122"/>
                <a:cs typeface="Courier New" pitchFamily="34" charset="-120"/>
              </a:rPr>
              <a:t>ToothGrowth</a:t>
            </a:r>
            <a:pPr indent="0" marL="0">
              <a:buNone/>
            </a:pPr>
            <a:r>
              <a:rPr lang="en-US" sz="1800" dirty="0">
                <a:solidFill>
                  <a:schemeClr val="accent5"/>
                </a:solidFill>
              </a:rPr>
              <a:t>. Load with </a:t>
            </a:r>
            <a:pPr indent="0" marL="0">
              <a:buNone/>
            </a:pPr>
            <a:r>
              <a:rPr lang="en-US" sz="1800" dirty="0">
                <a:solidFill>
                  <a:schemeClr val="accent1"/>
                </a:solidFill>
                <a:latin typeface="Courier New" pitchFamily="34" charset="0"/>
                <a:ea typeface="Courier New" pitchFamily="34" charset="-122"/>
                <a:cs typeface="Courier New" pitchFamily="34" charset="-120"/>
              </a:rPr>
              <a:t>data()</a:t>
            </a:r>
            <a:pPr indent="0" marL="0">
              <a:buNone/>
            </a:pPr>
            <a:r>
              <a:rPr lang="en-US" sz="1800" dirty="0">
                <a:solidFill>
                  <a:schemeClr val="accent5"/>
                </a:solidFill>
              </a:rPr>
              <a:t>; read their origin with </a:t>
            </a:r>
            <a:pPr indent="0" marL="0">
              <a:buNone/>
            </a:pPr>
            <a:r>
              <a:rPr lang="en-US" sz="1800" dirty="0">
                <a:solidFill>
                  <a:schemeClr val="accent1"/>
                </a:solidFill>
                <a:latin typeface="Courier New" pitchFamily="34" charset="0"/>
                <a:ea typeface="Courier New" pitchFamily="34" charset="-122"/>
                <a:cs typeface="Courier New" pitchFamily="34" charset="-120"/>
              </a:rPr>
              <a:t>?PlantGrowth</a:t>
            </a:r>
            <a:pPr indent="0" marL="0">
              <a:buNone/>
            </a:pPr>
            <a:r>
              <a:rPr lang="en-US" sz="1800" dirty="0">
                <a:solidFill>
                  <a:schemeClr val="accent5"/>
                </a:solidFill>
              </a:rPr>
              <a:t> before interpreting them.</a:t>
            </a:r>
            <a:endParaRPr lang="en-US" sz="1800" dirty="0"/>
          </a:p>
        </p:txBody>
      </p:sp>
      <p:sp>
        <p:nvSpPr>
          <p:cNvPr id="8" name="card"/>
          <p:cNvSpPr/>
          <p:nvPr/>
        </p:nvSpPr>
        <p:spPr>
          <a:xfrm>
            <a:off x="6195060" y="1827657"/>
            <a:ext cx="5417820" cy="2400300"/>
          </a:xfrm>
          <a:prstGeom prst="roundRect">
            <a:avLst>
              <a:gd name="adj" fmla="val 4571"/>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2056257"/>
            <a:ext cx="731520" cy="731520"/>
          </a:xfrm>
          <a:prstGeom prst="ellipse">
            <a:avLst/>
          </a:prstGeom>
          <a:solidFill>
            <a:schemeClr val="accent2"/>
          </a:solidFill>
          <a:ln/>
        </p:spPr>
      </p:sp>
      <p:pic>
        <p:nvPicPr>
          <p:cNvPr id="10" name="Image 1" descr="FaGlobe">    </p:cNvPr>
          <p:cNvPicPr>
            <a:picLocks noChangeAspect="1"/>
          </p:cNvPicPr>
          <p:nvPr/>
        </p:nvPicPr>
        <p:blipFill>
          <a:blip r:embed="rId2"/>
          <a:stretch>
            <a:fillRect/>
          </a:stretch>
        </p:blipFill>
        <p:spPr>
          <a:xfrm>
            <a:off x="6606540" y="2239137"/>
            <a:ext cx="365760" cy="365760"/>
          </a:xfrm>
          <a:prstGeom prst="rect">
            <a:avLst/>
          </a:prstGeom>
        </p:spPr>
      </p:pic>
      <p:sp>
        <p:nvSpPr>
          <p:cNvPr id="11" name="Text 7"/>
          <p:cNvSpPr txBox="1"/>
          <p:nvPr/>
        </p:nvSpPr>
        <p:spPr>
          <a:xfrm>
            <a:off x="7338060" y="2056257"/>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Online agricultural data</a:t>
            </a:r>
            <a:endParaRPr lang="en-US" sz="1700" dirty="0"/>
          </a:p>
        </p:txBody>
      </p:sp>
      <p:sp>
        <p:nvSpPr>
          <p:cNvPr id="12" name="Text 8"/>
          <p:cNvSpPr txBox="1"/>
          <p:nvPr/>
        </p:nvSpPr>
        <p:spPr>
          <a:xfrm>
            <a:off x="6423660" y="2970657"/>
            <a:ext cx="4960620" cy="1147572"/>
          </a:xfrm>
          <a:prstGeom prst="rect">
            <a:avLst/>
          </a:prstGeom>
          <a:noFill/>
          <a:ln/>
        </p:spPr>
        <p:txBody>
          <a:bodyPr wrap="square" lIns="0" tIns="0" rIns="0" bIns="0" rtlCol="0" anchor="t"/>
          <a:lstStyle/>
          <a:p>
            <a:pPr indent="0" marL="0">
              <a:buNone/>
            </a:pPr>
            <a:r>
              <a:rPr lang="en-US" sz="1800" dirty="0">
                <a:solidFill>
                  <a:schemeClr val="accent5"/>
                </a:solidFill>
              </a:rPr>
              <a:t>Record the source, query, unit, time period, geographic level and retrieval date. A district yield is not a farmer's yield.</a:t>
            </a:r>
            <a:endParaRPr lang="en-US" sz="1800" dirty="0"/>
          </a:p>
        </p:txBody>
      </p:sp>
      <p:sp>
        <p:nvSpPr>
          <p:cNvPr id="13" name="key idea"/>
          <p:cNvSpPr/>
          <p:nvPr/>
        </p:nvSpPr>
        <p:spPr>
          <a:xfrm>
            <a:off x="548640" y="4502277"/>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4502277"/>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Provenance is part of the data. Save the source and retrieval date beside every downloaded file.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3 and exercises</a:t>
            </a:r>
            <a:endParaRPr lang="en-US" sz="3200" dirty="0"/>
          </a:p>
        </p:txBody>
      </p:sp>
      <p:sp>
        <p:nvSpPr>
          <p:cNvPr id="3" name="card"/>
          <p:cNvSpPr/>
          <p:nvPr/>
        </p:nvSpPr>
        <p:spPr>
          <a:xfrm>
            <a:off x="548640" y="137160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554480"/>
            <a:ext cx="502920" cy="502920"/>
          </a:xfrm>
          <a:prstGeom prst="ellipse">
            <a:avLst/>
          </a:prstGeom>
          <a:solidFill>
            <a:schemeClr val="accent1"/>
          </a:solidFill>
          <a:ln/>
        </p:spPr>
      </p:sp>
      <p:sp>
        <p:nvSpPr>
          <p:cNvPr id="5" name="Text 3"/>
          <p:cNvSpPr txBox="1"/>
          <p:nvPr/>
        </p:nvSpPr>
        <p:spPr>
          <a:xfrm>
            <a:off x="749808" y="15544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777240"/>
          </a:xfrm>
          <a:prstGeom prst="rect">
            <a:avLst/>
          </a:prstGeom>
          <a:noFill/>
          <a:ln/>
        </p:spPr>
        <p:txBody>
          <a:bodyPr wrap="square" lIns="0" tIns="0" rIns="0" bIns="0" rtlCol="0" anchor="ctr"/>
          <a:lstStyle/>
          <a:p>
            <a:pPr indent="0" marL="0">
              <a:buNone/>
            </a:pPr>
            <a:r>
              <a:rPr lang="en-US" sz="1400" dirty="0">
                <a:solidFill>
                  <a:schemeClr val="tx1"/>
                </a:solidFill>
              </a:rPr>
              <a:t>Import the CSV and Excel files. Compare dimensions, column names and the first six yields.</a:t>
            </a:r>
            <a:endParaRPr lang="en-US" sz="1400" dirty="0"/>
          </a:p>
        </p:txBody>
      </p:sp>
      <p:sp>
        <p:nvSpPr>
          <p:cNvPr id="7" name="card"/>
          <p:cNvSpPr/>
          <p:nvPr/>
        </p:nvSpPr>
        <p:spPr>
          <a:xfrm>
            <a:off x="548640" y="237744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560320"/>
            <a:ext cx="502920" cy="502920"/>
          </a:xfrm>
          <a:prstGeom prst="ellipse">
            <a:avLst/>
          </a:prstGeom>
          <a:solidFill>
            <a:schemeClr val="accent1"/>
          </a:solidFill>
          <a:ln/>
        </p:spPr>
      </p:sp>
      <p:sp>
        <p:nvSpPr>
          <p:cNvPr id="9" name="Text 7"/>
          <p:cNvSpPr txBox="1"/>
          <p:nvPr/>
        </p:nvSpPr>
        <p:spPr>
          <a:xfrm>
            <a:off x="749808" y="25603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423160"/>
            <a:ext cx="6629400" cy="777240"/>
          </a:xfrm>
          <a:prstGeom prst="rect">
            <a:avLst/>
          </a:prstGeom>
          <a:noFill/>
          <a:ln/>
        </p:spPr>
        <p:txBody>
          <a:bodyPr wrap="square" lIns="0" tIns="0" rIns="0" bIns="0" rtlCol="0" anchor="ctr"/>
          <a:lstStyle/>
          <a:p>
            <a:pPr indent="0" marL="0">
              <a:buNone/>
            </a:pPr>
            <a:r>
              <a:rPr lang="en-US" sz="1400" dirty="0">
                <a:solidFill>
                  <a:schemeClr val="tx1"/>
                </a:solidFill>
              </a:rPr>
              <a:t>Export only </a:t>
            </a:r>
            <a:pPr indent="0" marL="0">
              <a:buNone/>
            </a:pPr>
            <a:r>
              <a:rPr lang="en-US" sz="1400" dirty="0">
                <a:solidFill>
                  <a:schemeClr val="accent1"/>
                </a:solidFill>
                <a:latin typeface="Courier New" pitchFamily="34" charset="0"/>
                <a:ea typeface="Courier New" pitchFamily="34" charset="-122"/>
                <a:cs typeface="Courier New" pitchFamily="34" charset="-120"/>
              </a:rPr>
              <a:t>plot_id</a:t>
            </a:r>
            <a:pPr indent="0" marL="0">
              <a:buNone/>
            </a:pPr>
            <a:r>
              <a:rPr lang="en-US" sz="1400" dirty="0">
                <a:solidFill>
                  <a:schemeClr val="tx1"/>
                </a:solidFill>
              </a:rPr>
              <a:t>, </a:t>
            </a:r>
            <a:pPr indent="0" marL="0">
              <a:buNone/>
            </a:pPr>
            <a:r>
              <a:rPr lang="en-US" sz="1400" dirty="0">
                <a:solidFill>
                  <a:schemeClr val="accent1"/>
                </a:solidFill>
                <a:latin typeface="Courier New" pitchFamily="34" charset="0"/>
                <a:ea typeface="Courier New" pitchFamily="34" charset="-122"/>
                <a:cs typeface="Courier New" pitchFamily="34" charset="-120"/>
              </a:rPr>
              <a:t>treatment</a:t>
            </a:r>
            <a:pPr indent="0" marL="0">
              <a:buNone/>
            </a:pPr>
            <a:r>
              <a:rPr lang="en-US" sz="1400" dirty="0">
                <a:solidFill>
                  <a:schemeClr val="tx1"/>
                </a:solidFill>
              </a:rPr>
              <a:t> and </a:t>
            </a:r>
            <a:pPr indent="0" marL="0">
              <a:buNone/>
            </a:pPr>
            <a:r>
              <a:rPr lang="en-US" sz="1400" dirty="0">
                <a:solidFill>
                  <a:schemeClr val="accent1"/>
                </a:solidFill>
                <a:latin typeface="Courier New" pitchFamily="34" charset="0"/>
                <a:ea typeface="Courier New" pitchFamily="34" charset="-122"/>
                <a:cs typeface="Courier New" pitchFamily="34" charset="-120"/>
              </a:rPr>
              <a:t>yield_t_ha</a:t>
            </a:r>
            <a:pPr indent="0" marL="0">
              <a:buNone/>
            </a:pPr>
            <a:r>
              <a:rPr lang="en-US" sz="1400" dirty="0">
                <a:solidFill>
                  <a:schemeClr val="tx1"/>
                </a:solidFill>
              </a:rPr>
              <a:t>; reopen it and confirm no row-number column appeared.</a:t>
            </a:r>
            <a:endParaRPr lang="en-US" sz="1400" dirty="0"/>
          </a:p>
        </p:txBody>
      </p:sp>
      <p:sp>
        <p:nvSpPr>
          <p:cNvPr id="11" name="card"/>
          <p:cNvSpPr/>
          <p:nvPr/>
        </p:nvSpPr>
        <p:spPr>
          <a:xfrm>
            <a:off x="548640" y="338328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566160"/>
            <a:ext cx="502920" cy="502920"/>
          </a:xfrm>
          <a:prstGeom prst="ellipse">
            <a:avLst/>
          </a:prstGeom>
          <a:solidFill>
            <a:schemeClr val="accent1"/>
          </a:solidFill>
          <a:ln/>
        </p:spPr>
      </p:sp>
      <p:sp>
        <p:nvSpPr>
          <p:cNvPr id="13" name="Text 11"/>
          <p:cNvSpPr txBox="1"/>
          <p:nvPr/>
        </p:nvSpPr>
        <p:spPr>
          <a:xfrm>
            <a:off x="749808" y="35661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429000"/>
            <a:ext cx="6629400" cy="777240"/>
          </a:xfrm>
          <a:prstGeom prst="rect">
            <a:avLst/>
          </a:prstGeom>
          <a:noFill/>
          <a:ln/>
        </p:spPr>
        <p:txBody>
          <a:bodyPr wrap="square" lIns="0" tIns="0" rIns="0" bIns="0" rtlCol="0" anchor="ctr"/>
          <a:lstStyle/>
          <a:p>
            <a:pPr indent="0" marL="0">
              <a:buNone/>
            </a:pPr>
            <a:r>
              <a:rPr lang="en-US" sz="1400" dirty="0">
                <a:solidFill>
                  <a:schemeClr val="tx1"/>
                </a:solidFill>
              </a:rPr>
              <a:t>Explain why a blank yield cannot safely be changed to zero.</a:t>
            </a:r>
            <a:endParaRPr lang="en-US" sz="1400" dirty="0"/>
          </a:p>
        </p:txBody>
      </p:sp>
      <p:sp>
        <p:nvSpPr>
          <p:cNvPr id="15" name="card"/>
          <p:cNvSpPr/>
          <p:nvPr/>
        </p:nvSpPr>
        <p:spPr>
          <a:xfrm>
            <a:off x="548640" y="438912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4572000"/>
            <a:ext cx="502920" cy="502920"/>
          </a:xfrm>
          <a:prstGeom prst="ellipse">
            <a:avLst/>
          </a:prstGeom>
          <a:solidFill>
            <a:schemeClr val="accent1"/>
          </a:solidFill>
          <a:ln/>
        </p:spPr>
      </p:sp>
      <p:sp>
        <p:nvSpPr>
          <p:cNvPr id="17" name="Text 15"/>
          <p:cNvSpPr txBox="1"/>
          <p:nvPr/>
        </p:nvSpPr>
        <p:spPr>
          <a:xfrm>
            <a:off x="749808" y="45720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4434840"/>
            <a:ext cx="6629400" cy="777240"/>
          </a:xfrm>
          <a:prstGeom prst="rect">
            <a:avLst/>
          </a:prstGeom>
          <a:noFill/>
          <a:ln/>
        </p:spPr>
        <p:txBody>
          <a:bodyPr wrap="square" lIns="0" tIns="0" rIns="0" bIns="0" rtlCol="0" anchor="ctr"/>
          <a:lstStyle/>
          <a:p>
            <a:pPr indent="0" marL="0">
              <a:buNone/>
            </a:pPr>
            <a:r>
              <a:rPr lang="en-US" sz="1400" dirty="0">
                <a:solidFill>
                  <a:schemeClr val="tx1"/>
                </a:solidFill>
              </a:rPr>
              <a:t>Locate an official crop-production table. Record its source, coverage, unit, level and reuse conditions. Are its rows experimental units?</a:t>
            </a:r>
            <a:endParaRPr lang="en-US" sz="1400" dirty="0"/>
          </a:p>
        </p:txBody>
      </p:sp>
      <p:sp>
        <p:nvSpPr>
          <p:cNvPr id="19"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0"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1" name="Text 18"/>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22" name="Text 19"/>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707640"/>
          </a:xfrm>
          <a:prstGeom prst="roundRect">
            <a:avLst>
              <a:gd name="adj" fmla="val 3377"/>
            </a:avLst>
          </a:prstGeom>
          <a:solidFill>
            <a:schemeClr val="tx1"/>
          </a:solidFill>
          <a:ln/>
        </p:spPr>
      </p:sp>
      <p:sp>
        <p:nvSpPr>
          <p:cNvPr id="4" name="Text 2"/>
          <p:cNvSpPr txBox="1"/>
          <p:nvPr/>
        </p:nvSpPr>
        <p:spPr>
          <a:xfrm>
            <a:off x="822960" y="1572768"/>
            <a:ext cx="10515600" cy="2305304"/>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csv_text &lt;- "plot,crop,yield_t_ha</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1,Rice,4.2</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2,Rice,4.8</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3,Maize,5.1"</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harvest &lt;- read.csv(text = csv_text)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harvest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str(harvest)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mean(harvest$yield_t_ha)</a:t>
            </a:r>
            <a:endParaRPr lang="en-US" sz="1700" dirty="0"/>
          </a:p>
        </p:txBody>
      </p:sp>
      <p:sp>
        <p:nvSpPr>
          <p:cNvPr id="5" name="investigate"/>
          <p:cNvSpPr/>
          <p:nvPr/>
        </p:nvSpPr>
        <p:spPr>
          <a:xfrm>
            <a:off x="548640" y="439928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69188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886198"/>
            <a:ext cx="388620" cy="388620"/>
          </a:xfrm>
          <a:prstGeom prst="rect">
            <a:avLst/>
          </a:prstGeom>
        </p:spPr>
      </p:pic>
      <p:sp>
        <p:nvSpPr>
          <p:cNvPr id="8" name="Text 5"/>
          <p:cNvSpPr txBox="1"/>
          <p:nvPr/>
        </p:nvSpPr>
        <p:spPr>
          <a:xfrm>
            <a:off x="1828800" y="450900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874768"/>
            <a:ext cx="9555480" cy="822960"/>
          </a:xfrm>
          <a:prstGeom prst="rect">
            <a:avLst/>
          </a:prstGeom>
          <a:noFill/>
          <a:ln/>
        </p:spPr>
        <p:txBody>
          <a:bodyPr wrap="square" lIns="0" tIns="0" rIns="0" bIns="0" rtlCol="0" anchor="t"/>
          <a:lstStyle/>
          <a:p>
            <a:pPr indent="0" marL="0">
              <a:buNone/>
            </a:pPr>
            <a:r>
              <a:rPr lang="en-US" sz="1500" dirty="0">
                <a:solidFill>
                  <a:schemeClr val="tx1"/>
                </a:solidFill>
              </a:rPr>
              <a:t>The CSV is written inside the code, so no upload is needed. In RStudio, replace </a:t>
            </a:r>
            <a:pPr indent="0" marL="0">
              <a:buNone/>
            </a:pPr>
            <a:r>
              <a:rPr lang="en-US" sz="1500" dirty="0">
                <a:solidFill>
                  <a:schemeClr val="accent1"/>
                </a:solidFill>
                <a:latin typeface="Courier New" pitchFamily="34" charset="0"/>
                <a:ea typeface="Courier New" pitchFamily="34" charset="-122"/>
                <a:cs typeface="Courier New" pitchFamily="34" charset="-120"/>
              </a:rPr>
              <a:t>text = csv_text</a:t>
            </a:r>
            <a:pPr indent="0" marL="0">
              <a:buNone/>
            </a:pPr>
            <a:r>
              <a:rPr lang="en-US" sz="1500" dirty="0">
                <a:solidFill>
                  <a:schemeClr val="tx1"/>
                </a:solidFill>
              </a:rPr>
              <a:t> with a quoted file path to read your own data.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Table">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Tidy before import</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One header, one unit per row, units documented.</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CheckDouble">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Validate on arrival</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Rows, IDs, types, labels and ranges.</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Question">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Blank is not zero</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Missing stays missing, with a reason.</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FileExport">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Export cleanly</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row.names = FALSE</a:t>
            </a:r>
            <a:pPr indent="0" marL="0">
              <a:buNone/>
            </a:pPr>
            <a:r>
              <a:rPr lang="en-US" sz="1400" dirty="0">
                <a:solidFill>
                  <a:schemeClr val="accent6"/>
                </a:solidFill>
              </a:rPr>
              <a:t>; reopen and inspect.</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4 · Cleaning agricultural observations</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Importing, validating, and exporting data</dc:title>
  <dc:subject>R Programming for Agricultural Data Analysis · Chapter 3</dc:subject>
  <dc:creator>Dr. Pratheesh P. Gopinath</dc:creator>
  <cp:lastModifiedBy>Dr. Pratheesh P. Gopinath</cp:lastModifiedBy>
  <cp:revision>1</cp:revision>
  <dcterms:created xsi:type="dcterms:W3CDTF">2026-10-20T10:13:41Z</dcterms:created>
  <dcterms:modified xsi:type="dcterms:W3CDTF">2026-10-20T10:13:41Z</dcterms:modified>
</cp:coreProperties>
</file>