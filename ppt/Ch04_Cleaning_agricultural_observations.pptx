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b21623-bcb9-d048-d692-a755578c6bf8}">
          <p14:sldIdLst>
            <p14:sldId id="256"/>
            <p14:sldId id="257"/>
          </p14:sldIdLst>
        </p14:section>
        <p14:section name="Problems and principles" id="{da772246-c165-6a26-6595-13f3463f2882}">
          <p14:sldIdLst>
            <p14:sldId id="258"/>
            <p14:sldId id="259"/>
            <p14:sldId id="260"/>
            <p14:sldId id="261"/>
          </p14:sldIdLst>
        </p14:section>
        <p14:section name="A messy field book, step by step" id="{a0130ee8-6f6d-d474-ff45-b4e48b4eca30}">
          <p14:sldIdLst>
            <p14:sldId id="262"/>
            <p14:sldId id="263"/>
            <p14:sldId id="264"/>
            <p14:sldId id="265"/>
            <p14:sldId id="266"/>
            <p14:sldId id="267"/>
            <p14:sldId id="268"/>
          </p14:sldIdLst>
        </p14:section>
        <p14:section name="Review" id="{71c792d3-55ce-d818-4a05-50831471048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four, cleaning agricultural observations. Field books are typed quickly, often from handwritten sheets, and they contain duplicates, misspelt labels, missing values and the occasional decimal slip. In this chapter we learn to find these problems, correct only what we can justify, and keep a record of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find duplicates, missing values, inconsistent labels and unusual values. You will repair column types, labels, dates and units. You will check values against plausible ranges, and you will keep a cleaning log. The principle behind all of it: cleaning should preserve evidence. Every correction needs a reason, every exclusion needs justification, and every missing value needs to be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the common problems and the principles for handling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file crop dirty has sixty-one rows for sixty plots, a misspelt treatment label, two missing yields and one suspicious value. Count missing values per column with col sums of is dot na. Find repeated plot identifiers with duplicated, looking both forwards and backwards. Use table to expose inconsistent labels such as control with a lowercase c and extra spaces. An exact duplicate, where every field repeats, can be removed with unique. But a repeated identifier with different values must be checked against the field sheet, never deleted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entries that look similar mean different things. An empty cell means the measurement is unavailable; record it as NA, report how many are missing, and do not replace them with the mean or with zero. A zero claims that the quantity really is zero, which for yield is a crop failure. And a value like less than two means the laboratory could not quantify it below its reporting limit. Remember that na dot rm equals TRUE simply excludes missing values from a calculation. It does not repair the experiment, and missingness can itself be informative, for example when flooded plots are both harder to harvest and lower yielding.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outlier is unusual relative to the rest of the data. It may be a data-entry error, an unusually productive plot, or a sign that groups should be analysed separately. The interquartile range rule flags values more than one and a half interquartile ranges beyond the quartiles, but flagging does not prove a value is wrong. In this exercise a correction ledger, representing a checked field sheet, confirms that plot P010 had a decimal error, and we apply the correction from that ledger. Genuine biological extremes stay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work through a realistic messy field book in seven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simulated file field book messy contains twelve plots with the problems you meet most often. Step one: import it, declaring the missing-value codes used in this field book, then look at str. Step two: height was read as text because one entry used a comma as the decimal mark; inspect the entries that fail conversion, replace the comma, then convert. Step three: standardize labels with trim white space and to upper, which turns six variety labels into three. Step four: convert dates with an explicit day, month, year format, and confirm that none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applies validation rules: plausible ranges for each variable, chosen from agronomic knowledge rather than from the data themselves. The code loops over the rules and lists every value outside its range. Two plots are flagged. P07 has a grain weight of two point four three, impossible in grams for a five square metre plot, and the remarks say it was weighed in kilograms. P10 has a height of eight hundred and fifty centimetres, ten times the other plants of the same variety, which suggests a missing decimal point. Flagged values are checked, not changed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applies only documented corrections. We assume the field sheets were checked: P07 was two point four three kilograms, and P10 was eighty-five centimetres. The corrections are stored in a table with their reasons and applied from that table, so the log and the data cannot drift apart. The stop if not line confirms that each plot exists once and still holds the old value, so running the script twice never applies a correction twice. Step seven converts grams per plot to tonnes per hectare and saves the clean file and the log in the outputs folder. The raw file is never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cleaning checklist in six points. Keep the raw file unchanged and clean with a script. Declare missing-value codes when importing, and read str. Inspect any text that fails numeric conversion before converting it. Check labels against the list of valid levels, and give date formats explicitly. Check values against plausible ranges, and check the design: every expected plot present and none duplicated. Finally, correct only with evidence, from a corrections table, and save the log beside the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four. Reproduce the cleaning workflow with the crop data and report row counts. Compare the mean before and after the verified correction, and explain why that difference says nothing about treatments. Count missing yields by treatment. Clean the messy field book with all seven steps. Add a validation rule for days to harvest. And think about what you would do if the field sheet for P10 could not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a tiny soil table has a duplicate row, a missing pH and an impossible pH of sixty-five. The code flags them instead of deleting them, then computes a temporary mean of the rest. Explain which rows were excluded and why sixty-five still needs checking against the field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preserve evidence by keeping raw files unchanged and making corrections in code. Missing values have a denominator; count them and never replace them with zero. Flag unusual values and verify them, rather than deleting them. And log every decision with its reason and evidence. Next we transform and summarise data with dplyr.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4 · Cleaning agricultural observations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2  ·  CHAPTER 4</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Cleaning agricultural observations</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Search">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Find problems</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Duplicates, missing values, inconsistent labels and outliers</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Wrench">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Repair structure</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Column types, labels, dates and units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Ruler">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Apply validation rules</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Plausible ranges from agronomic knowledge</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ClipboardLis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Keep a cleaning log</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Every correction with its reason and evidence</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Cleaning should preserve evidence. Every correction needs a reason; exclusions need justification; missingness needs a denominator.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Problems and principles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Duplicates, missing values and outliers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Finding duplicates and inconsistent labels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dirty &lt;- read.csv("data/crop_dirty.csv",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na.strings = c("", "NA"))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colSums(is.na(dirty))     # missing per column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dirty[duplicated(dirty$plot_id)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duplicated(dirty$plot_id, fromLast = TRUE),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table(dirty$treatment, useNA = "ifany")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clean &lt;- unique(dirty)    # exact duplicates only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clean$treatment &lt;- trimws(clean$treatment)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clean$treatment[clean$treatment == "control"] &lt;-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"Control"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ok &lt;- c("Control", "Compost", "Mineral")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stopifnot(all(clean$treatment %in% ok))</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lon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Exact duplicate</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Every field repeated: safe to remove after checking.</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Same ID, different values</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Investigate against the field sheet. Never delete one automatically.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Missing, zero, and below detection are different</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Question">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Empty cell → NA</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The measurement is unavailable. Report the denominator; do not replace with the mean or zero.</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Circle">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0</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A claim that the quantity is zero on the stated scale. A crop failure, not a lost harvest.</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Flask">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"&lt;2"</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Below the laboratory's reporting limit. Keep an indicator; do not substitute half the limit by habit.</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accent1"/>
                </a:solidFill>
                <a:latin typeface="Courier New" pitchFamily="34" charset="0"/>
                <a:ea typeface="Courier New" pitchFamily="34" charset="-122"/>
                <a:cs typeface="Courier New" pitchFamily="34" charset="-120"/>
              </a:rPr>
              <a:t>na.rm = TRUE</a:t>
            </a:r>
            <a:pPr indent="0" marL="0">
              <a:buNone/>
            </a:pPr>
            <a:r>
              <a:rPr lang="en-US" sz="1500" dirty="0">
                <a:solidFill>
                  <a:schemeClr val="tx1"/>
                </a:solidFill>
              </a:rPr>
              <a:t> excludes missing values from a calculation; it does not repair the experiment. Flood-damaged plots may be missing for a reason.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Flag outliers; do not delete them</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q &lt;- quantile(clean$yield_t_ha, c(.25, .75), na.rm = TRUE)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spread &lt;- diff(q)</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clean$flag &lt;- !is.na(clean$yield_t_ha) &amp;</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(clean$yield_t_ha &lt; q[1] - 1.5 * spread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clean$yield_t_ha &gt; q[2] + 1.5 * spread)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clean[clean$flag, c("plot_id", "yield_t_ha")]</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accent2"/>
                </a:solidFill>
                <a:latin typeface="Courier New" pitchFamily="34" charset="0"/>
                <a:ea typeface="Courier New" pitchFamily="34" charset="-122"/>
                <a:cs typeface="Courier New" pitchFamily="34" charset="-120"/>
              </a:rPr>
              <a:t># Correct only from a verified ledger</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ledger &lt;- read.csv("data/corrections.csv")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clean$yield_t_ha[match(ledger$plot_id, clean$plot_id)] &lt;-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ledger$correct_yield_t_ha</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Flag">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The IQR rule</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Flags values beyond 1.5 × IQR from the quartiles. It does not prove they are wrong.</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3"/>
          </a:solidFill>
          <a:ln/>
        </p:spPr>
      </p:sp>
      <p:pic>
        <p:nvPicPr>
          <p:cNvPr id="12" name="Image 1" descr="FaSeedling">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Biological extremes stay</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An unusually productive plot is data. A decimal slip confirmed on the field sheet is an error.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A messy field book, step by step</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Seven steps from raw entries to a clean file</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Cleaning field_book_messy.csv: steps 1 to 4</a:t>
            </a:r>
            <a:endParaRPr lang="en-US" sz="3200" dirty="0"/>
          </a:p>
        </p:txBody>
      </p:sp>
      <p:sp>
        <p:nvSpPr>
          <p:cNvPr id="3" name="card"/>
          <p:cNvSpPr/>
          <p:nvPr/>
        </p:nvSpPr>
        <p:spPr>
          <a:xfrm>
            <a:off x="548640" y="1371600"/>
            <a:ext cx="2560320" cy="466344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594360" cy="594360"/>
          </a:xfrm>
          <a:prstGeom prst="ellipse">
            <a:avLst/>
          </a:prstGeom>
          <a:solidFill>
            <a:schemeClr val="tx2"/>
          </a:solidFill>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icon circle"/>
          <p:cNvSpPr/>
          <p:nvPr/>
        </p:nvSpPr>
        <p:spPr>
          <a:xfrm>
            <a:off x="2286000" y="1600200"/>
            <a:ext cx="594360" cy="594360"/>
          </a:xfrm>
          <a:prstGeom prst="ellipse">
            <a:avLst/>
          </a:prstGeom>
          <a:solidFill>
            <a:schemeClr val="accent2"/>
          </a:solidFill>
          <a:ln/>
        </p:spPr>
      </p:sp>
      <p:pic>
        <p:nvPicPr>
          <p:cNvPr id="7" name="Image 0" descr="FaFileImport">    </p:cNvPr>
          <p:cNvPicPr>
            <a:picLocks noChangeAspect="1"/>
          </p:cNvPicPr>
          <p:nvPr/>
        </p:nvPicPr>
        <p:blipFill>
          <a:blip r:embed="rId1"/>
          <a:stretch>
            <a:fillRect/>
          </a:stretch>
        </p:blipFill>
        <p:spPr>
          <a:xfrm>
            <a:off x="2434590" y="1748790"/>
            <a:ext cx="297180" cy="297180"/>
          </a:xfrm>
          <a:prstGeom prst="rect">
            <a:avLst/>
          </a:prstGeom>
        </p:spPr>
      </p:pic>
      <p:sp>
        <p:nvSpPr>
          <p:cNvPr id="8" name="Text 5"/>
          <p:cNvSpPr txBox="1"/>
          <p:nvPr/>
        </p:nvSpPr>
        <p:spPr>
          <a:xfrm>
            <a:off x="77724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Import</a:t>
            </a:r>
            <a:endParaRPr lang="en-US" sz="1800" dirty="0"/>
          </a:p>
        </p:txBody>
      </p:sp>
      <p:sp>
        <p:nvSpPr>
          <p:cNvPr id="9" name="Text 6"/>
          <p:cNvSpPr txBox="1"/>
          <p:nvPr/>
        </p:nvSpPr>
        <p:spPr>
          <a:xfrm>
            <a:off x="777240" y="3063240"/>
            <a:ext cx="210312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na.strings</a:t>
            </a:r>
            <a:endParaRPr lang="en-US" sz="1300" dirty="0"/>
          </a:p>
        </p:txBody>
      </p:sp>
      <p:sp>
        <p:nvSpPr>
          <p:cNvPr id="10" name="Text 7"/>
          <p:cNvSpPr txBox="1"/>
          <p:nvPr/>
        </p:nvSpPr>
        <p:spPr>
          <a:xfrm>
            <a:off x="777240" y="3520440"/>
            <a:ext cx="2103120" cy="2423160"/>
          </a:xfrm>
          <a:prstGeom prst="rect">
            <a:avLst/>
          </a:prstGeom>
          <a:noFill/>
          <a:ln/>
        </p:spPr>
        <p:txBody>
          <a:bodyPr wrap="square" lIns="0" tIns="0" rIns="0" bIns="0" rtlCol="0" anchor="t"/>
          <a:lstStyle/>
          <a:p>
            <a:pPr indent="0" marL="0">
              <a:buNone/>
            </a:pPr>
            <a:r>
              <a:rPr lang="en-US" sz="1400" dirty="0">
                <a:solidFill>
                  <a:schemeClr val="accent5"/>
                </a:solidFill>
              </a:rPr>
              <a:t>Declare the codes that mean missing: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accent5"/>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"n/a"</a:t>
            </a:r>
            <a:pPr indent="0" marL="0">
              <a:buNone/>
            </a:pPr>
            <a:r>
              <a:rPr lang="en-US" sz="1400" dirty="0">
                <a:solidFill>
                  <a:schemeClr val="accent5"/>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accent5"/>
                </a:solidFill>
              </a:rPr>
              <a:t>. Then read </a:t>
            </a:r>
            <a:pPr indent="0" marL="0">
              <a:buNone/>
            </a:pPr>
            <a:r>
              <a:rPr lang="en-US" sz="1400" dirty="0">
                <a:solidFill>
                  <a:schemeClr val="accent1"/>
                </a:solidFill>
                <a:latin typeface="Courier New" pitchFamily="34" charset="0"/>
                <a:ea typeface="Courier New" pitchFamily="34" charset="-122"/>
                <a:cs typeface="Courier New" pitchFamily="34" charset="-120"/>
              </a:rPr>
              <a:t>str()</a:t>
            </a:r>
            <a:pPr indent="0" marL="0">
              <a:buNone/>
            </a:pPr>
            <a:r>
              <a:rPr lang="en-US" sz="1400" dirty="0">
                <a:solidFill>
                  <a:schemeClr val="accent5"/>
                </a:solidFill>
              </a:rPr>
              <a:t>.</a:t>
            </a:r>
            <a:endParaRPr lang="en-US" sz="1400" dirty="0"/>
          </a:p>
        </p:txBody>
      </p:sp>
      <p:sp>
        <p:nvSpPr>
          <p:cNvPr id="11" name="Shape 8"/>
          <p:cNvSpPr/>
          <p:nvPr/>
        </p:nvSpPr>
        <p:spPr>
          <a:xfrm>
            <a:off x="3127248" y="1892808"/>
            <a:ext cx="237744" cy="0"/>
          </a:xfrm>
          <a:prstGeom prst="line">
            <a:avLst/>
          </a:prstGeom>
          <a:noFill/>
          <a:ln w="25400">
            <a:solidFill>
              <a:schemeClr val="accent2"/>
            </a:solidFill>
            <a:prstDash val="solid"/>
            <a:tailEnd type="triangle"/>
          </a:ln>
        </p:spPr>
      </p:sp>
      <p:sp>
        <p:nvSpPr>
          <p:cNvPr id="12" name="card"/>
          <p:cNvSpPr/>
          <p:nvPr/>
        </p:nvSpPr>
        <p:spPr>
          <a:xfrm>
            <a:off x="3383280" y="1371600"/>
            <a:ext cx="2560320" cy="466344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13" name="Shape 10"/>
          <p:cNvSpPr/>
          <p:nvPr/>
        </p:nvSpPr>
        <p:spPr>
          <a:xfrm>
            <a:off x="3611880" y="1600200"/>
            <a:ext cx="594360" cy="594360"/>
          </a:xfrm>
          <a:prstGeom prst="ellipse">
            <a:avLst/>
          </a:prstGeom>
          <a:solidFill>
            <a:schemeClr val="tx2"/>
          </a:solidFill>
          <a:ln/>
        </p:spPr>
      </p:sp>
      <p:sp>
        <p:nvSpPr>
          <p:cNvPr id="14" name="Text 11"/>
          <p:cNvSpPr txBox="1"/>
          <p:nvPr/>
        </p:nvSpPr>
        <p:spPr>
          <a:xfrm>
            <a:off x="361188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5" name="icon circle"/>
          <p:cNvSpPr/>
          <p:nvPr/>
        </p:nvSpPr>
        <p:spPr>
          <a:xfrm>
            <a:off x="5120640" y="1600200"/>
            <a:ext cx="594360" cy="594360"/>
          </a:xfrm>
          <a:prstGeom prst="ellipse">
            <a:avLst/>
          </a:prstGeom>
          <a:solidFill>
            <a:schemeClr val="accent2"/>
          </a:solidFill>
          <a:ln/>
        </p:spPr>
      </p:sp>
      <p:pic>
        <p:nvPicPr>
          <p:cNvPr id="16" name="Image 1" descr="FaWrench">    </p:cNvPr>
          <p:cNvPicPr>
            <a:picLocks noChangeAspect="1"/>
          </p:cNvPicPr>
          <p:nvPr/>
        </p:nvPicPr>
        <p:blipFill>
          <a:blip r:embed="rId2"/>
          <a:stretch>
            <a:fillRect/>
          </a:stretch>
        </p:blipFill>
        <p:spPr>
          <a:xfrm>
            <a:off x="5269230" y="1748790"/>
            <a:ext cx="297180" cy="297180"/>
          </a:xfrm>
          <a:prstGeom prst="rect">
            <a:avLst/>
          </a:prstGeom>
        </p:spPr>
      </p:pic>
      <p:sp>
        <p:nvSpPr>
          <p:cNvPr id="17" name="Text 13"/>
          <p:cNvSpPr txBox="1"/>
          <p:nvPr/>
        </p:nvSpPr>
        <p:spPr>
          <a:xfrm>
            <a:off x="361188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Repair types</a:t>
            </a:r>
            <a:endParaRPr lang="en-US" sz="1800" dirty="0"/>
          </a:p>
        </p:txBody>
      </p:sp>
      <p:sp>
        <p:nvSpPr>
          <p:cNvPr id="18" name="Text 14"/>
          <p:cNvSpPr txBox="1"/>
          <p:nvPr/>
        </p:nvSpPr>
        <p:spPr>
          <a:xfrm>
            <a:off x="3611880" y="3063240"/>
            <a:ext cx="210312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gsub(",", ".", x)</a:t>
            </a:r>
            <a:endParaRPr lang="en-US" sz="1300" dirty="0"/>
          </a:p>
        </p:txBody>
      </p:sp>
      <p:sp>
        <p:nvSpPr>
          <p:cNvPr id="19" name="Text 15"/>
          <p:cNvSpPr txBox="1"/>
          <p:nvPr/>
        </p:nvSpPr>
        <p:spPr>
          <a:xfrm>
            <a:off x="3611880" y="3520440"/>
            <a:ext cx="2103120" cy="2423160"/>
          </a:xfrm>
          <a:prstGeom prst="rect">
            <a:avLst/>
          </a:prstGeom>
          <a:noFill/>
          <a:ln/>
        </p:spPr>
        <p:txBody>
          <a:bodyPr wrap="square" lIns="0" tIns="0" rIns="0" bIns="0" rtlCol="0" anchor="t"/>
          <a:lstStyle/>
          <a:p>
            <a:pPr indent="0" marL="0">
              <a:buNone/>
            </a:pPr>
            <a:r>
              <a:rPr lang="en-US" sz="1400" dirty="0">
                <a:solidFill>
                  <a:schemeClr val="accent5"/>
                </a:solidFill>
              </a:rPr>
              <a:t>Height was read as text because of </a:t>
            </a:r>
            <a:pPr indent="0" marL="0">
              <a:buNone/>
            </a:pPr>
            <a:r>
              <a:rPr lang="en-US" sz="1400" dirty="0">
                <a:solidFill>
                  <a:schemeClr val="accent1"/>
                </a:solidFill>
                <a:latin typeface="Courier New" pitchFamily="34" charset="0"/>
                <a:ea typeface="Courier New" pitchFamily="34" charset="-122"/>
                <a:cs typeface="Courier New" pitchFamily="34" charset="-120"/>
              </a:rPr>
              <a:t>"79,8"</a:t>
            </a:r>
            <a:pPr indent="0" marL="0">
              <a:buNone/>
            </a:pPr>
            <a:r>
              <a:rPr lang="en-US" sz="1400" dirty="0">
                <a:solidFill>
                  <a:schemeClr val="accent5"/>
                </a:solidFill>
              </a:rPr>
              <a:t>. Inspect failures before </a:t>
            </a:r>
            <a:pPr indent="0" marL="0">
              <a:buNone/>
            </a:pPr>
            <a:r>
              <a:rPr lang="en-US" sz="1400" dirty="0">
                <a:solidFill>
                  <a:schemeClr val="accent1"/>
                </a:solidFill>
                <a:latin typeface="Courier New" pitchFamily="34" charset="0"/>
                <a:ea typeface="Courier New" pitchFamily="34" charset="-122"/>
                <a:cs typeface="Courier New" pitchFamily="34" charset="-120"/>
              </a:rPr>
              <a:t>as.numeric()</a:t>
            </a:r>
            <a:pPr indent="0" marL="0">
              <a:buNone/>
            </a:pPr>
            <a:r>
              <a:rPr lang="en-US" sz="1400" dirty="0">
                <a:solidFill>
                  <a:schemeClr val="accent5"/>
                </a:solidFill>
              </a:rPr>
              <a:t>.</a:t>
            </a:r>
            <a:endParaRPr lang="en-US" sz="1400" dirty="0"/>
          </a:p>
        </p:txBody>
      </p:sp>
      <p:sp>
        <p:nvSpPr>
          <p:cNvPr id="20" name="Shape 16"/>
          <p:cNvSpPr/>
          <p:nvPr/>
        </p:nvSpPr>
        <p:spPr>
          <a:xfrm>
            <a:off x="5961888" y="1892808"/>
            <a:ext cx="237744" cy="0"/>
          </a:xfrm>
          <a:prstGeom prst="line">
            <a:avLst/>
          </a:prstGeom>
          <a:noFill/>
          <a:ln w="25400">
            <a:solidFill>
              <a:schemeClr val="accent2"/>
            </a:solidFill>
            <a:prstDash val="solid"/>
            <a:tailEnd type="triangle"/>
          </a:ln>
        </p:spPr>
      </p:sp>
      <p:sp>
        <p:nvSpPr>
          <p:cNvPr id="21" name="card"/>
          <p:cNvSpPr/>
          <p:nvPr/>
        </p:nvSpPr>
        <p:spPr>
          <a:xfrm>
            <a:off x="6217920" y="1371600"/>
            <a:ext cx="2560320" cy="466344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22" name="Shape 18"/>
          <p:cNvSpPr/>
          <p:nvPr/>
        </p:nvSpPr>
        <p:spPr>
          <a:xfrm>
            <a:off x="6446520" y="1600200"/>
            <a:ext cx="594360" cy="594360"/>
          </a:xfrm>
          <a:prstGeom prst="ellipse">
            <a:avLst/>
          </a:prstGeom>
          <a:solidFill>
            <a:schemeClr val="tx2"/>
          </a:solidFill>
          <a:ln/>
        </p:spPr>
      </p:sp>
      <p:sp>
        <p:nvSpPr>
          <p:cNvPr id="23" name="Text 19"/>
          <p:cNvSpPr txBox="1"/>
          <p:nvPr/>
        </p:nvSpPr>
        <p:spPr>
          <a:xfrm>
            <a:off x="644652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4" name="icon circle"/>
          <p:cNvSpPr/>
          <p:nvPr/>
        </p:nvSpPr>
        <p:spPr>
          <a:xfrm>
            <a:off x="7955280" y="1600200"/>
            <a:ext cx="594360" cy="594360"/>
          </a:xfrm>
          <a:prstGeom prst="ellipse">
            <a:avLst/>
          </a:prstGeom>
          <a:solidFill>
            <a:schemeClr val="accent2"/>
          </a:solidFill>
          <a:ln/>
        </p:spPr>
      </p:sp>
      <p:pic>
        <p:nvPicPr>
          <p:cNvPr id="25" name="Image 2" descr="FaTags">    </p:cNvPr>
          <p:cNvPicPr>
            <a:picLocks noChangeAspect="1"/>
          </p:cNvPicPr>
          <p:nvPr/>
        </p:nvPicPr>
        <p:blipFill>
          <a:blip r:embed="rId3"/>
          <a:stretch>
            <a:fillRect/>
          </a:stretch>
        </p:blipFill>
        <p:spPr>
          <a:xfrm>
            <a:off x="8103870" y="1748790"/>
            <a:ext cx="297180" cy="297180"/>
          </a:xfrm>
          <a:prstGeom prst="rect">
            <a:avLst/>
          </a:prstGeom>
        </p:spPr>
      </p:pic>
      <p:sp>
        <p:nvSpPr>
          <p:cNvPr id="26" name="Text 21"/>
          <p:cNvSpPr txBox="1"/>
          <p:nvPr/>
        </p:nvSpPr>
        <p:spPr>
          <a:xfrm>
            <a:off x="644652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Standardize labels</a:t>
            </a:r>
            <a:endParaRPr lang="en-US" sz="1800" dirty="0"/>
          </a:p>
        </p:txBody>
      </p:sp>
      <p:sp>
        <p:nvSpPr>
          <p:cNvPr id="27" name="Text 22"/>
          <p:cNvSpPr txBox="1"/>
          <p:nvPr/>
        </p:nvSpPr>
        <p:spPr>
          <a:xfrm>
            <a:off x="6446520" y="3063240"/>
            <a:ext cx="210312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toupper(trimws(x))</a:t>
            </a:r>
            <a:endParaRPr lang="en-US" sz="1300" dirty="0"/>
          </a:p>
        </p:txBody>
      </p:sp>
      <p:sp>
        <p:nvSpPr>
          <p:cNvPr id="28" name="Text 23"/>
          <p:cNvSpPr txBox="1"/>
          <p:nvPr/>
        </p:nvSpPr>
        <p:spPr>
          <a:xfrm>
            <a:off x="6446520" y="3520440"/>
            <a:ext cx="2103120" cy="2423160"/>
          </a:xfrm>
          <a:prstGeom prst="rect">
            <a:avLst/>
          </a:prstGeom>
          <a:noFill/>
          <a:ln/>
        </p:spPr>
        <p:txBody>
          <a:bodyPr wrap="square" lIns="0" tIns="0" rIns="0" bIns="0" rtlCol="0" anchor="t"/>
          <a:lstStyle/>
          <a:p>
            <a:pPr indent="0" marL="0">
              <a:buNone/>
            </a:pPr>
            <a:r>
              <a:rPr lang="en-US" sz="1400" dirty="0">
                <a:solidFill>
                  <a:schemeClr val="accent5"/>
                </a:solidFill>
              </a:rPr>
              <a:t>Six variety labels become three: </a:t>
            </a:r>
            <a:pPr indent="0" marL="0">
              <a:buNone/>
            </a:pPr>
            <a:r>
              <a:rPr lang="en-US" sz="1400" dirty="0">
                <a:solidFill>
                  <a:schemeClr val="accent1"/>
                </a:solidFill>
                <a:latin typeface="Courier New" pitchFamily="34" charset="0"/>
                <a:ea typeface="Courier New" pitchFamily="34" charset="-122"/>
                <a:cs typeface="Courier New" pitchFamily="34" charset="-120"/>
              </a:rPr>
              <a:t>"v1 "</a:t>
            </a:r>
            <a:pPr indent="0" marL="0">
              <a:buNone/>
            </a:pPr>
            <a:r>
              <a:rPr lang="en-US" sz="1400" dirty="0">
                <a:solidFill>
                  <a:schemeClr val="accent5"/>
                </a:solidFill>
              </a:rPr>
              <a:t>, </a:t>
            </a:r>
            <a:pPr indent="0" marL="0">
              <a:buNone/>
            </a:pPr>
            <a:r>
              <a:rPr lang="en-US" sz="1400" dirty="0">
                <a:solidFill>
                  <a:schemeClr val="accent1"/>
                </a:solidFill>
                <a:latin typeface="Courier New" pitchFamily="34" charset="0"/>
                <a:ea typeface="Courier New" pitchFamily="34" charset="-122"/>
                <a:cs typeface="Courier New" pitchFamily="34" charset="-120"/>
              </a:rPr>
              <a:t>" V3"</a:t>
            </a:r>
            <a:pPr indent="0" marL="0">
              <a:buNone/>
            </a:pPr>
            <a:r>
              <a:rPr lang="en-US" sz="1400" dirty="0">
                <a:solidFill>
                  <a:schemeClr val="accent5"/>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"v3"</a:t>
            </a:r>
            <a:pPr indent="0" marL="0">
              <a:buNone/>
            </a:pPr>
            <a:r>
              <a:rPr lang="en-US" sz="1400" dirty="0">
                <a:solidFill>
                  <a:schemeClr val="accent5"/>
                </a:solidFill>
              </a:rPr>
              <a:t> were typing variants.</a:t>
            </a:r>
            <a:endParaRPr lang="en-US" sz="1400" dirty="0"/>
          </a:p>
        </p:txBody>
      </p:sp>
      <p:sp>
        <p:nvSpPr>
          <p:cNvPr id="29" name="Shape 24"/>
          <p:cNvSpPr/>
          <p:nvPr/>
        </p:nvSpPr>
        <p:spPr>
          <a:xfrm>
            <a:off x="8796528" y="1892808"/>
            <a:ext cx="237744" cy="0"/>
          </a:xfrm>
          <a:prstGeom prst="line">
            <a:avLst/>
          </a:prstGeom>
          <a:noFill/>
          <a:ln w="25400">
            <a:solidFill>
              <a:schemeClr val="accent2"/>
            </a:solidFill>
            <a:prstDash val="solid"/>
            <a:tailEnd type="triangle"/>
          </a:ln>
        </p:spPr>
      </p:sp>
      <p:sp>
        <p:nvSpPr>
          <p:cNvPr id="30" name="card"/>
          <p:cNvSpPr/>
          <p:nvPr/>
        </p:nvSpPr>
        <p:spPr>
          <a:xfrm>
            <a:off x="9052560" y="1371600"/>
            <a:ext cx="2560320" cy="466344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31" name="Shape 26"/>
          <p:cNvSpPr/>
          <p:nvPr/>
        </p:nvSpPr>
        <p:spPr>
          <a:xfrm>
            <a:off x="9281160" y="1600200"/>
            <a:ext cx="594360" cy="594360"/>
          </a:xfrm>
          <a:prstGeom prst="ellipse">
            <a:avLst/>
          </a:prstGeom>
          <a:solidFill>
            <a:schemeClr val="tx2"/>
          </a:solidFill>
          <a:ln/>
        </p:spPr>
      </p:sp>
      <p:sp>
        <p:nvSpPr>
          <p:cNvPr id="32" name="Text 27"/>
          <p:cNvSpPr txBox="1"/>
          <p:nvPr/>
        </p:nvSpPr>
        <p:spPr>
          <a:xfrm>
            <a:off x="928116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33" name="icon circle"/>
          <p:cNvSpPr/>
          <p:nvPr/>
        </p:nvSpPr>
        <p:spPr>
          <a:xfrm>
            <a:off x="10789920" y="1600200"/>
            <a:ext cx="594360" cy="594360"/>
          </a:xfrm>
          <a:prstGeom prst="ellipse">
            <a:avLst/>
          </a:prstGeom>
          <a:solidFill>
            <a:schemeClr val="accent2"/>
          </a:solidFill>
          <a:ln/>
        </p:spPr>
      </p:sp>
      <p:pic>
        <p:nvPicPr>
          <p:cNvPr id="34" name="Image 3" descr="FaCalendarAlt">    </p:cNvPr>
          <p:cNvPicPr>
            <a:picLocks noChangeAspect="1"/>
          </p:cNvPicPr>
          <p:nvPr/>
        </p:nvPicPr>
        <p:blipFill>
          <a:blip r:embed="rId4"/>
          <a:stretch>
            <a:fillRect/>
          </a:stretch>
        </p:blipFill>
        <p:spPr>
          <a:xfrm>
            <a:off x="10938510" y="1748790"/>
            <a:ext cx="297180" cy="297180"/>
          </a:xfrm>
          <a:prstGeom prst="rect">
            <a:avLst/>
          </a:prstGeom>
        </p:spPr>
      </p:pic>
      <p:sp>
        <p:nvSpPr>
          <p:cNvPr id="35" name="Text 29"/>
          <p:cNvSpPr txBox="1"/>
          <p:nvPr/>
        </p:nvSpPr>
        <p:spPr>
          <a:xfrm>
            <a:off x="928116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Convert dates</a:t>
            </a:r>
            <a:endParaRPr lang="en-US" sz="1800" dirty="0"/>
          </a:p>
        </p:txBody>
      </p:sp>
      <p:sp>
        <p:nvSpPr>
          <p:cNvPr id="36" name="Text 30"/>
          <p:cNvSpPr txBox="1"/>
          <p:nvPr/>
        </p:nvSpPr>
        <p:spPr>
          <a:xfrm>
            <a:off x="9281160" y="3063240"/>
            <a:ext cx="2103120" cy="36576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format = "%d/%m/%Y"</a:t>
            </a:r>
            <a:endParaRPr lang="en-US" sz="1300" dirty="0"/>
          </a:p>
        </p:txBody>
      </p:sp>
      <p:sp>
        <p:nvSpPr>
          <p:cNvPr id="37" name="Text 31"/>
          <p:cNvSpPr txBox="1"/>
          <p:nvPr/>
        </p:nvSpPr>
        <p:spPr>
          <a:xfrm>
            <a:off x="9281160" y="3520440"/>
            <a:ext cx="2103120" cy="2423160"/>
          </a:xfrm>
          <a:prstGeom prst="rect">
            <a:avLst/>
          </a:prstGeom>
          <a:noFill/>
          <a:ln/>
        </p:spPr>
        <p:txBody>
          <a:bodyPr wrap="square" lIns="0" tIns="0" rIns="0" bIns="0" rtlCol="0" anchor="t"/>
          <a:lstStyle/>
          <a:p>
            <a:pPr indent="0" marL="0">
              <a:buNone/>
            </a:pPr>
            <a:r>
              <a:rPr lang="en-US" sz="1400" dirty="0">
                <a:solidFill>
                  <a:schemeClr val="accent5"/>
                </a:solidFill>
              </a:rPr>
              <a:t>State the day/month order explicitly; check that no date became </a:t>
            </a:r>
            <a:pPr indent="0" marL="0">
              <a:buNone/>
            </a:pPr>
            <a:r>
              <a:rPr lang="en-US" sz="1400" dirty="0">
                <a:solidFill>
                  <a:schemeClr val="accent1"/>
                </a:solidFill>
                <a:latin typeface="Courier New" pitchFamily="34" charset="0"/>
                <a:ea typeface="Courier New" pitchFamily="34" charset="-122"/>
                <a:cs typeface="Courier New" pitchFamily="34" charset="-120"/>
              </a:rPr>
              <a:t>NA</a:t>
            </a:r>
            <a:pPr indent="0" marL="0">
              <a:buNone/>
            </a:pPr>
            <a:r>
              <a:rPr lang="en-US" sz="1400"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Step 5: validation rules flag implausible values</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rules &lt;- data.frame(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variable = c("plant_height_cm", "tillers",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"grain_wt_g_plot"),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min = c(30, 1, 500), max = c(150, 40, 5000))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check &lt;- function(i)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v &lt;- rules$variable[i]; x &lt;- fb[[v]]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bad &lt;- which(!is.na(x) &amp;</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(x &lt; rules$min[i] | x &gt; rules$max[i]))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if (length(bad)) data.frame(plot = fb$plot[bad],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variable = v, value = x[bad])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flags &lt;- do.call(rbind, lapply(seq_len(nrow(rules)), check))</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flags</a:t>
            </a:r>
            <a:endParaRPr lang="en-US" sz="13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4"/>
          </a:solidFill>
          <a:ln/>
        </p:spPr>
      </p:sp>
      <p:pic>
        <p:nvPicPr>
          <p:cNvPr id="7" name="Image 0" descr="FaWeigh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P07: 2.43</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Impossible in grams for a 5 m² plot; the remarks say it was weighed in kilograms.</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4"/>
          </a:solidFill>
          <a:ln/>
        </p:spPr>
      </p:sp>
      <p:pic>
        <p:nvPicPr>
          <p:cNvPr id="12" name="Image 1" descr="FaRulerVertical">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P10: 850 cm</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Ten times the other V1 plants: a probable missing decimal point.</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Limits come from agronomic knowledge, not from the data. A value outside the range is flagged for checking, not changed.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Steps 6 and 7: documented corrections, units, and saving</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fixes &lt;- data.frame(plot = c("P07", "P10"),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variable = c("grain_wt_g_plot", "plant_height_cm"),</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old_value = c(2.43, 850), new_value = c(2430, 85.0),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reason = c("Weighed in kg (field sheet checked)",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"Decimal point omitted (field sheet checked)"))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for (i in seq_len(nrow(fixes)))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row &lt;- fb$plot == fixes$plot[i]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v &lt;- fixes$variable[i]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stopifnot(sum(row) == 1, fb[row, v] == fixes$old_value[i])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fb[row, v] &lt;- fixes$new_value[i]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fb$yield_t_ha &lt;- fb$grain_wt_g_plot / 5 * 10000 / 1e6</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write.csv(fb, "outputs/field_book_clean.csv",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row.names = FALSE)</a:t>
            </a:r>
            <a:endParaRPr lang="en-US" sz="13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lipboardLis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The log is the data</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Corrections are applied from the table, so the log and the data cannot drift apart.</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3"/>
          </a:solidFill>
          <a:ln/>
        </p:spPr>
      </p:sp>
      <p:pic>
        <p:nvPicPr>
          <p:cNvPr id="12" name="Image 1" descr="FaShieldAlt">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Safe to rerun</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stopifnot()</a:t>
            </a:r>
            <a:pPr indent="0" marL="0">
              <a:buNone/>
            </a:pPr>
            <a:r>
              <a:rPr lang="en-US" sz="1400" dirty="0">
                <a:solidFill>
                  <a:schemeClr val="tx1"/>
                </a:solidFill>
              </a:rPr>
              <a:t> checks the old value first, so a correction is never applied twice.</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g per 5 m² plot ÷ 5 m² × 10,000 m²/ha ÷ 1,000,000 g/t = t/ha. The raw file in data/ is never overwritten.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cleaning checklist</a:t>
            </a:r>
            <a:endParaRPr lang="en-US" sz="3200" dirty="0"/>
          </a:p>
        </p:txBody>
      </p:sp>
      <p:sp>
        <p:nvSpPr>
          <p:cNvPr id="3" name="card"/>
          <p:cNvSpPr/>
          <p:nvPr/>
        </p:nvSpPr>
        <p:spPr>
          <a:xfrm>
            <a:off x="548640" y="137160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448666" cy="448666"/>
          </a:xfrm>
          <a:prstGeom prst="ellipse">
            <a:avLst/>
          </a:prstGeom>
          <a:solidFill>
            <a:schemeClr val="tx2"/>
          </a:solidFill>
          <a:ln/>
        </p:spPr>
      </p:sp>
      <p:sp>
        <p:nvSpPr>
          <p:cNvPr id="5" name="Text 3"/>
          <p:cNvSpPr txBox="1"/>
          <p:nvPr/>
        </p:nvSpPr>
        <p:spPr>
          <a:xfrm>
            <a:off x="777240" y="160020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408786" y="160020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Raw stays raw</a:t>
            </a:r>
            <a:endParaRPr lang="en-US" sz="1700" dirty="0"/>
          </a:p>
        </p:txBody>
      </p:sp>
      <p:sp>
        <p:nvSpPr>
          <p:cNvPr id="7" name="Text 5"/>
          <p:cNvSpPr txBox="1"/>
          <p:nvPr/>
        </p:nvSpPr>
        <p:spPr>
          <a:xfrm>
            <a:off x="777240" y="223174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Clean with a script; never edit the original file.</a:t>
            </a:r>
            <a:endParaRPr lang="en-US" sz="1400" dirty="0"/>
          </a:p>
        </p:txBody>
      </p:sp>
      <p:sp>
        <p:nvSpPr>
          <p:cNvPr id="8" name="card"/>
          <p:cNvSpPr/>
          <p:nvPr/>
        </p:nvSpPr>
        <p:spPr>
          <a:xfrm>
            <a:off x="6195060" y="137160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9" name="Shape 7"/>
          <p:cNvSpPr/>
          <p:nvPr/>
        </p:nvSpPr>
        <p:spPr>
          <a:xfrm>
            <a:off x="6423660" y="1600200"/>
            <a:ext cx="448666" cy="448666"/>
          </a:xfrm>
          <a:prstGeom prst="ellipse">
            <a:avLst/>
          </a:prstGeom>
          <a:solidFill>
            <a:schemeClr val="tx2"/>
          </a:solidFill>
          <a:ln/>
        </p:spPr>
      </p:sp>
      <p:sp>
        <p:nvSpPr>
          <p:cNvPr id="10" name="Text 8"/>
          <p:cNvSpPr txBox="1"/>
          <p:nvPr/>
        </p:nvSpPr>
        <p:spPr>
          <a:xfrm>
            <a:off x="6423660" y="160020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7055206" y="160020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Declare missing codes</a:t>
            </a:r>
            <a:endParaRPr lang="en-US" sz="1700" dirty="0"/>
          </a:p>
        </p:txBody>
      </p:sp>
      <p:sp>
        <p:nvSpPr>
          <p:cNvPr id="12" name="Text 10"/>
          <p:cNvSpPr txBox="1"/>
          <p:nvPr/>
        </p:nvSpPr>
        <p:spPr>
          <a:xfrm>
            <a:off x="6423660" y="223174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At import; then read </a:t>
            </a:r>
            <a:pPr indent="0" marL="0">
              <a:buNone/>
            </a:pPr>
            <a:r>
              <a:rPr lang="en-US" sz="1400" dirty="0">
                <a:solidFill>
                  <a:schemeClr val="accent1"/>
                </a:solidFill>
                <a:latin typeface="Courier New" pitchFamily="34" charset="0"/>
                <a:ea typeface="Courier New" pitchFamily="34" charset="-122"/>
                <a:cs typeface="Courier New" pitchFamily="34" charset="-120"/>
              </a:rPr>
              <a:t>str()</a:t>
            </a:r>
            <a:pPr indent="0" marL="0">
              <a:buNone/>
            </a:pPr>
            <a:r>
              <a:rPr lang="en-US" sz="1400" dirty="0">
                <a:solidFill>
                  <a:schemeClr val="accent5"/>
                </a:solidFill>
              </a:rPr>
              <a:t>.</a:t>
            </a:r>
            <a:endParaRPr lang="en-US" sz="1400" dirty="0"/>
          </a:p>
        </p:txBody>
      </p:sp>
      <p:sp>
        <p:nvSpPr>
          <p:cNvPr id="13" name="card"/>
          <p:cNvSpPr/>
          <p:nvPr/>
        </p:nvSpPr>
        <p:spPr>
          <a:xfrm>
            <a:off x="548640" y="300228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14" name="Shape 12"/>
          <p:cNvSpPr/>
          <p:nvPr/>
        </p:nvSpPr>
        <p:spPr>
          <a:xfrm>
            <a:off x="777240" y="3230880"/>
            <a:ext cx="448666" cy="448666"/>
          </a:xfrm>
          <a:prstGeom prst="ellipse">
            <a:avLst/>
          </a:prstGeom>
          <a:solidFill>
            <a:schemeClr val="tx2"/>
          </a:solidFill>
          <a:ln/>
        </p:spPr>
      </p:sp>
      <p:sp>
        <p:nvSpPr>
          <p:cNvPr id="15" name="Text 13"/>
          <p:cNvSpPr txBox="1"/>
          <p:nvPr/>
        </p:nvSpPr>
        <p:spPr>
          <a:xfrm>
            <a:off x="777240" y="323088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408786" y="323088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Inspect before converting</a:t>
            </a:r>
            <a:endParaRPr lang="en-US" sz="1700" dirty="0"/>
          </a:p>
        </p:txBody>
      </p:sp>
      <p:sp>
        <p:nvSpPr>
          <p:cNvPr id="17" name="Text 15"/>
          <p:cNvSpPr txBox="1"/>
          <p:nvPr/>
        </p:nvSpPr>
        <p:spPr>
          <a:xfrm>
            <a:off x="777240" y="386242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Text that fails </a:t>
            </a:r>
            <a:pPr indent="0" marL="0">
              <a:buNone/>
            </a:pPr>
            <a:r>
              <a:rPr lang="en-US" sz="1400" dirty="0">
                <a:solidFill>
                  <a:schemeClr val="accent1"/>
                </a:solidFill>
                <a:latin typeface="Courier New" pitchFamily="34" charset="0"/>
                <a:ea typeface="Courier New" pitchFamily="34" charset="-122"/>
                <a:cs typeface="Courier New" pitchFamily="34" charset="-120"/>
              </a:rPr>
              <a:t>as.numeric()</a:t>
            </a:r>
            <a:pPr indent="0" marL="0">
              <a:buNone/>
            </a:pPr>
            <a:r>
              <a:rPr lang="en-US" sz="1400" dirty="0">
                <a:solidFill>
                  <a:schemeClr val="accent5"/>
                </a:solidFill>
              </a:rPr>
              <a:t> hides information.</a:t>
            </a:r>
            <a:endParaRPr lang="en-US" sz="1400" dirty="0"/>
          </a:p>
        </p:txBody>
      </p:sp>
      <p:sp>
        <p:nvSpPr>
          <p:cNvPr id="18" name="card"/>
          <p:cNvSpPr/>
          <p:nvPr/>
        </p:nvSpPr>
        <p:spPr>
          <a:xfrm>
            <a:off x="6195060" y="300228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19" name="Shape 17"/>
          <p:cNvSpPr/>
          <p:nvPr/>
        </p:nvSpPr>
        <p:spPr>
          <a:xfrm>
            <a:off x="6423660" y="3230880"/>
            <a:ext cx="448666" cy="448666"/>
          </a:xfrm>
          <a:prstGeom prst="ellipse">
            <a:avLst/>
          </a:prstGeom>
          <a:solidFill>
            <a:schemeClr val="tx2"/>
          </a:solidFill>
          <a:ln/>
        </p:spPr>
      </p:sp>
      <p:sp>
        <p:nvSpPr>
          <p:cNvPr id="20" name="Text 18"/>
          <p:cNvSpPr txBox="1"/>
          <p:nvPr/>
        </p:nvSpPr>
        <p:spPr>
          <a:xfrm>
            <a:off x="6423660" y="323088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7055206" y="323088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Labels and dates</a:t>
            </a:r>
            <a:endParaRPr lang="en-US" sz="1700" dirty="0"/>
          </a:p>
        </p:txBody>
      </p:sp>
      <p:sp>
        <p:nvSpPr>
          <p:cNvPr id="22" name="Text 20"/>
          <p:cNvSpPr txBox="1"/>
          <p:nvPr/>
        </p:nvSpPr>
        <p:spPr>
          <a:xfrm>
            <a:off x="6423660" y="386242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Check against valid levels; give date formats explicitly.</a:t>
            </a:r>
            <a:endParaRPr lang="en-US" sz="1400" dirty="0"/>
          </a:p>
        </p:txBody>
      </p:sp>
      <p:sp>
        <p:nvSpPr>
          <p:cNvPr id="23" name="card"/>
          <p:cNvSpPr/>
          <p:nvPr/>
        </p:nvSpPr>
        <p:spPr>
          <a:xfrm>
            <a:off x="548640" y="463296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77240" y="4861560"/>
            <a:ext cx="448666" cy="448666"/>
          </a:xfrm>
          <a:prstGeom prst="ellipse">
            <a:avLst/>
          </a:prstGeom>
          <a:solidFill>
            <a:schemeClr val="tx2"/>
          </a:solidFill>
          <a:ln/>
        </p:spPr>
      </p:sp>
      <p:sp>
        <p:nvSpPr>
          <p:cNvPr id="25" name="Text 23"/>
          <p:cNvSpPr txBox="1"/>
          <p:nvPr/>
        </p:nvSpPr>
        <p:spPr>
          <a:xfrm>
            <a:off x="777240" y="486156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26" name="Text 24"/>
          <p:cNvSpPr txBox="1"/>
          <p:nvPr/>
        </p:nvSpPr>
        <p:spPr>
          <a:xfrm>
            <a:off x="1408786" y="486156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Ranges and design</a:t>
            </a:r>
            <a:endParaRPr lang="en-US" sz="1700" dirty="0"/>
          </a:p>
        </p:txBody>
      </p:sp>
      <p:sp>
        <p:nvSpPr>
          <p:cNvPr id="27" name="Text 25"/>
          <p:cNvSpPr txBox="1"/>
          <p:nvPr/>
        </p:nvSpPr>
        <p:spPr>
          <a:xfrm>
            <a:off x="777240" y="549310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Plausible limits; every expected plot present, no duplicates.</a:t>
            </a:r>
            <a:endParaRPr lang="en-US" sz="1400" dirty="0"/>
          </a:p>
        </p:txBody>
      </p:sp>
      <p:sp>
        <p:nvSpPr>
          <p:cNvPr id="28" name="card"/>
          <p:cNvSpPr/>
          <p:nvPr/>
        </p:nvSpPr>
        <p:spPr>
          <a:xfrm>
            <a:off x="6195060" y="4632960"/>
            <a:ext cx="5417820" cy="1402080"/>
          </a:xfrm>
          <a:prstGeom prst="roundRect">
            <a:avLst>
              <a:gd name="adj" fmla="val 7826"/>
            </a:avLst>
          </a:prstGeom>
          <a:solidFill>
            <a:schemeClr val="bg2"/>
          </a:solidFill>
          <a:ln/>
          <a:effectLst>
            <a:outerShdw sx="100000" sy="100000" kx="0" ky="0" algn="bl" rotWithShape="0" blurRad="76200" dist="25400" dir="5400000">
              <a:srgbClr val="8A97AB">
                <a:alpha val="25000"/>
              </a:srgbClr>
            </a:outerShdw>
          </a:effectLst>
        </p:spPr>
      </p:sp>
      <p:sp>
        <p:nvSpPr>
          <p:cNvPr id="29" name="Shape 27"/>
          <p:cNvSpPr/>
          <p:nvPr/>
        </p:nvSpPr>
        <p:spPr>
          <a:xfrm>
            <a:off x="6423660" y="4861560"/>
            <a:ext cx="448666" cy="448666"/>
          </a:xfrm>
          <a:prstGeom prst="ellipse">
            <a:avLst/>
          </a:prstGeom>
          <a:solidFill>
            <a:schemeClr val="tx2"/>
          </a:solidFill>
          <a:ln/>
        </p:spPr>
      </p:sp>
      <p:sp>
        <p:nvSpPr>
          <p:cNvPr id="30" name="Text 28"/>
          <p:cNvSpPr txBox="1"/>
          <p:nvPr/>
        </p:nvSpPr>
        <p:spPr>
          <a:xfrm>
            <a:off x="6423660" y="4861560"/>
            <a:ext cx="448666" cy="448666"/>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6</a:t>
            </a:r>
            <a:endParaRPr lang="en-US" sz="1400" dirty="0"/>
          </a:p>
        </p:txBody>
      </p:sp>
      <p:sp>
        <p:nvSpPr>
          <p:cNvPr id="31" name="Text 29"/>
          <p:cNvSpPr txBox="1"/>
          <p:nvPr/>
        </p:nvSpPr>
        <p:spPr>
          <a:xfrm>
            <a:off x="7055206" y="4861560"/>
            <a:ext cx="4329074" cy="448666"/>
          </a:xfrm>
          <a:prstGeom prst="rect">
            <a:avLst/>
          </a:prstGeom>
          <a:noFill/>
          <a:ln/>
        </p:spPr>
        <p:txBody>
          <a:bodyPr wrap="square" lIns="0" tIns="0" rIns="0" bIns="0" rtlCol="0" anchor="ctr"/>
          <a:lstStyle/>
          <a:p>
            <a:pPr indent="0" marL="0">
              <a:buNone/>
            </a:pPr>
            <a:r>
              <a:rPr lang="en-US" sz="1700" b="1" dirty="0">
                <a:solidFill>
                  <a:schemeClr val="tx2"/>
                </a:solidFill>
              </a:rPr>
              <a:t>Correct with evidence</a:t>
            </a:r>
            <a:endParaRPr lang="en-US" sz="1700" dirty="0"/>
          </a:p>
        </p:txBody>
      </p:sp>
      <p:sp>
        <p:nvSpPr>
          <p:cNvPr id="32" name="Text 30"/>
          <p:cNvSpPr txBox="1"/>
          <p:nvPr/>
        </p:nvSpPr>
        <p:spPr>
          <a:xfrm>
            <a:off x="6423660" y="5493106"/>
            <a:ext cx="4960620" cy="432206"/>
          </a:xfrm>
          <a:prstGeom prst="rect">
            <a:avLst/>
          </a:prstGeom>
          <a:noFill/>
          <a:ln/>
        </p:spPr>
        <p:txBody>
          <a:bodyPr wrap="square" lIns="0" tIns="0" rIns="0" bIns="0" rtlCol="0" anchor="t"/>
          <a:lstStyle/>
          <a:p>
            <a:pPr indent="0" marL="0">
              <a:buNone/>
            </a:pPr>
            <a:r>
              <a:rPr lang="en-US" sz="1400" dirty="0">
                <a:solidFill>
                  <a:schemeClr val="accent5"/>
                </a:solidFill>
              </a:rPr>
              <a:t>From a corrections table; save the log beside the clean data.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4 and exercises</a:t>
            </a:r>
            <a:endParaRPr lang="en-US" sz="3200" dirty="0"/>
          </a:p>
        </p:txBody>
      </p:sp>
      <p:sp>
        <p:nvSpPr>
          <p:cNvPr id="3" name="card"/>
          <p:cNvSpPr/>
          <p:nvPr/>
        </p:nvSpPr>
        <p:spPr>
          <a:xfrm>
            <a:off x="548640" y="13716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451610"/>
            <a:ext cx="502920" cy="502920"/>
          </a:xfrm>
          <a:prstGeom prst="ellipse">
            <a:avLst/>
          </a:prstGeom>
          <a:solidFill>
            <a:schemeClr val="accent1"/>
          </a:solidFill>
          <a:ln/>
        </p:spPr>
      </p:sp>
      <p:sp>
        <p:nvSpPr>
          <p:cNvPr id="5" name="Text 3"/>
          <p:cNvSpPr txBox="1"/>
          <p:nvPr/>
        </p:nvSpPr>
        <p:spPr>
          <a:xfrm>
            <a:off x="749808" y="14516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571500"/>
          </a:xfrm>
          <a:prstGeom prst="rect">
            <a:avLst/>
          </a:prstGeom>
          <a:noFill/>
          <a:ln/>
        </p:spPr>
        <p:txBody>
          <a:bodyPr wrap="square" lIns="0" tIns="0" rIns="0" bIns="0" rtlCol="0" anchor="ctr"/>
          <a:lstStyle/>
          <a:p>
            <a:pPr indent="0" marL="0">
              <a:buNone/>
            </a:pPr>
            <a:r>
              <a:rPr lang="en-US" sz="1300" dirty="0">
                <a:solidFill>
                  <a:schemeClr val="tx1"/>
                </a:solidFill>
              </a:rPr>
              <a:t>Reproduce the cleaning workflow and report row counts before and after duplicate removal.</a:t>
            </a:r>
            <a:endParaRPr lang="en-US" sz="1300" dirty="0"/>
          </a:p>
        </p:txBody>
      </p:sp>
      <p:sp>
        <p:nvSpPr>
          <p:cNvPr id="7" name="card"/>
          <p:cNvSpPr/>
          <p:nvPr/>
        </p:nvSpPr>
        <p:spPr>
          <a:xfrm>
            <a:off x="548640" y="21717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251710"/>
            <a:ext cx="502920" cy="502920"/>
          </a:xfrm>
          <a:prstGeom prst="ellipse">
            <a:avLst/>
          </a:prstGeom>
          <a:solidFill>
            <a:schemeClr val="accent1"/>
          </a:solidFill>
          <a:ln/>
        </p:spPr>
      </p:sp>
      <p:sp>
        <p:nvSpPr>
          <p:cNvPr id="9" name="Text 7"/>
          <p:cNvSpPr txBox="1"/>
          <p:nvPr/>
        </p:nvSpPr>
        <p:spPr>
          <a:xfrm>
            <a:off x="749808" y="22517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2174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the mean before and after the verified correction. Why is the difference not a treatment effect?</a:t>
            </a:r>
            <a:endParaRPr lang="en-US" sz="1300" dirty="0"/>
          </a:p>
        </p:txBody>
      </p:sp>
      <p:sp>
        <p:nvSpPr>
          <p:cNvPr id="11" name="card"/>
          <p:cNvSpPr/>
          <p:nvPr/>
        </p:nvSpPr>
        <p:spPr>
          <a:xfrm>
            <a:off x="548640" y="29718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051810"/>
            <a:ext cx="502920" cy="502920"/>
          </a:xfrm>
          <a:prstGeom prst="ellipse">
            <a:avLst/>
          </a:prstGeom>
          <a:solidFill>
            <a:schemeClr val="accent1"/>
          </a:solidFill>
          <a:ln/>
        </p:spPr>
      </p:sp>
      <p:sp>
        <p:nvSpPr>
          <p:cNvPr id="13" name="Text 11"/>
          <p:cNvSpPr txBox="1"/>
          <p:nvPr/>
        </p:nvSpPr>
        <p:spPr>
          <a:xfrm>
            <a:off x="749808" y="30518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0175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Count missing yields by treatment. How could unequal missingness affect comparisons?</a:t>
            </a:r>
            <a:endParaRPr lang="en-US" sz="1300" dirty="0"/>
          </a:p>
        </p:txBody>
      </p:sp>
      <p:sp>
        <p:nvSpPr>
          <p:cNvPr id="15" name="card"/>
          <p:cNvSpPr/>
          <p:nvPr/>
        </p:nvSpPr>
        <p:spPr>
          <a:xfrm>
            <a:off x="548640" y="37719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851910"/>
            <a:ext cx="502920" cy="502920"/>
          </a:xfrm>
          <a:prstGeom prst="ellipse">
            <a:avLst/>
          </a:prstGeom>
          <a:solidFill>
            <a:schemeClr val="accent1"/>
          </a:solidFill>
          <a:ln/>
        </p:spPr>
      </p:sp>
      <p:sp>
        <p:nvSpPr>
          <p:cNvPr id="17" name="Text 15"/>
          <p:cNvSpPr txBox="1"/>
          <p:nvPr/>
        </p:nvSpPr>
        <p:spPr>
          <a:xfrm>
            <a:off x="749808" y="38519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8176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Clean </a:t>
            </a:r>
            <a:pPr indent="0" marL="0">
              <a:buNone/>
            </a:pPr>
            <a:r>
              <a:rPr lang="en-US" sz="1300" dirty="0">
                <a:solidFill>
                  <a:schemeClr val="accent1"/>
                </a:solidFill>
                <a:latin typeface="Courier New" pitchFamily="34" charset="0"/>
                <a:ea typeface="Courier New" pitchFamily="34" charset="-122"/>
                <a:cs typeface="Courier New" pitchFamily="34" charset="-120"/>
              </a:rPr>
              <a:t>field_book_messy.csv</a:t>
            </a:r>
            <a:pPr indent="0" marL="0">
              <a:buNone/>
            </a:pPr>
            <a:r>
              <a:rPr lang="en-US" sz="1300" dirty="0">
                <a:solidFill>
                  <a:schemeClr val="tx1"/>
                </a:solidFill>
              </a:rPr>
              <a:t> with the seven steps. Report values converted, corrected and left missing.</a:t>
            </a:r>
            <a:endParaRPr lang="en-US" sz="1300" dirty="0"/>
          </a:p>
        </p:txBody>
      </p:sp>
      <p:sp>
        <p:nvSpPr>
          <p:cNvPr id="19" name="card"/>
          <p:cNvSpPr/>
          <p:nvPr/>
        </p:nvSpPr>
        <p:spPr>
          <a:xfrm>
            <a:off x="548640" y="45720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652010"/>
            <a:ext cx="502920" cy="502920"/>
          </a:xfrm>
          <a:prstGeom prst="ellipse">
            <a:avLst/>
          </a:prstGeom>
          <a:solidFill>
            <a:schemeClr val="accent1"/>
          </a:solidFill>
          <a:ln/>
        </p:spPr>
      </p:sp>
      <p:sp>
        <p:nvSpPr>
          <p:cNvPr id="21" name="Text 19"/>
          <p:cNvSpPr txBox="1"/>
          <p:nvPr/>
        </p:nvSpPr>
        <p:spPr>
          <a:xfrm>
            <a:off x="749808" y="46520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617720"/>
            <a:ext cx="6629400" cy="571500"/>
          </a:xfrm>
          <a:prstGeom prst="rect">
            <a:avLst/>
          </a:prstGeom>
          <a:noFill/>
          <a:ln/>
        </p:spPr>
        <p:txBody>
          <a:bodyPr wrap="square" lIns="0" tIns="0" rIns="0" bIns="0" rtlCol="0" anchor="ctr"/>
          <a:lstStyle/>
          <a:p>
            <a:pPr indent="0" marL="0">
              <a:buNone/>
            </a:pPr>
            <a:r>
              <a:rPr lang="en-US" sz="1300" dirty="0">
                <a:solidFill>
                  <a:schemeClr val="tx1"/>
                </a:solidFill>
              </a:rPr>
              <a:t>Add a validation rule for </a:t>
            </a:r>
            <a:pPr indent="0" marL="0">
              <a:buNone/>
            </a:pPr>
            <a:r>
              <a:rPr lang="en-US" sz="1300" dirty="0">
                <a:solidFill>
                  <a:schemeClr val="accent1"/>
                </a:solidFill>
                <a:latin typeface="Courier New" pitchFamily="34" charset="0"/>
                <a:ea typeface="Courier New" pitchFamily="34" charset="-122"/>
                <a:cs typeface="Courier New" pitchFamily="34" charset="-120"/>
              </a:rPr>
              <a:t>days_to_harvest</a:t>
            </a:r>
            <a:pPr indent="0" marL="0">
              <a:buNone/>
            </a:pPr>
            <a:r>
              <a:rPr lang="en-US" sz="1300" dirty="0">
                <a:solidFill>
                  <a:schemeClr val="tx1"/>
                </a:solidFill>
              </a:rPr>
              <a:t> and explain how you chose its limits.</a:t>
            </a:r>
            <a:endParaRPr lang="en-US" sz="1300" dirty="0"/>
          </a:p>
        </p:txBody>
      </p:sp>
      <p:sp>
        <p:nvSpPr>
          <p:cNvPr id="23" name="card"/>
          <p:cNvSpPr/>
          <p:nvPr/>
        </p:nvSpPr>
        <p:spPr>
          <a:xfrm>
            <a:off x="548640" y="53721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5452110"/>
            <a:ext cx="502920" cy="502920"/>
          </a:xfrm>
          <a:prstGeom prst="ellipse">
            <a:avLst/>
          </a:prstGeom>
          <a:solidFill>
            <a:schemeClr val="accent1"/>
          </a:solidFill>
          <a:ln/>
        </p:spPr>
      </p:sp>
      <p:sp>
        <p:nvSpPr>
          <p:cNvPr id="25" name="Text 23"/>
          <p:cNvSpPr txBox="1"/>
          <p:nvPr/>
        </p:nvSpPr>
        <p:spPr>
          <a:xfrm>
            <a:off x="749808" y="54521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5417820"/>
            <a:ext cx="6629400" cy="571500"/>
          </a:xfrm>
          <a:prstGeom prst="rect">
            <a:avLst/>
          </a:prstGeom>
          <a:noFill/>
          <a:ln/>
        </p:spPr>
        <p:txBody>
          <a:bodyPr wrap="square" lIns="0" tIns="0" rIns="0" bIns="0" rtlCol="0" anchor="ctr"/>
          <a:lstStyle/>
          <a:p>
            <a:pPr indent="0" marL="0">
              <a:buNone/>
            </a:pPr>
            <a:r>
              <a:rPr lang="en-US" sz="1300" dirty="0">
                <a:solidFill>
                  <a:schemeClr val="tx1"/>
                </a:solidFill>
              </a:rPr>
              <a:t>If P10's field sheet could not be found, what would you do with its height, and how would you report it?</a:t>
            </a:r>
            <a:endParaRPr lang="en-US" sz="1300" dirty="0"/>
          </a:p>
        </p:txBody>
      </p:sp>
      <p:sp>
        <p:nvSpPr>
          <p:cNvPr id="27"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8"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9" name="Text 26"/>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0" name="Text 27"/>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437765"/>
          </a:xfrm>
          <a:prstGeom prst="roundRect">
            <a:avLst>
              <a:gd name="adj" fmla="val 3751"/>
            </a:avLst>
          </a:prstGeom>
          <a:solidFill>
            <a:schemeClr val="tx1"/>
          </a:solidFill>
          <a:ln/>
        </p:spPr>
      </p:sp>
      <p:sp>
        <p:nvSpPr>
          <p:cNvPr id="4" name="Text 2"/>
          <p:cNvSpPr txBox="1"/>
          <p:nvPr/>
        </p:nvSpPr>
        <p:spPr>
          <a:xfrm>
            <a:off x="822960" y="1572768"/>
            <a:ext cx="10515600" cy="2035429"/>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soil &lt;- data.frame(plot = c(1, 2, 2, 3, 4),</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pH = c(5.8, 6.2, 6.2, NA, 65))</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soil$duplicate &lt;- duplicated(soil[c("plot", "pH")])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soil$needs_check &lt;- is.na(soil$pH) | soil$pH &lt; 0 | soil$pH &gt; 14</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soil</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clean &lt;- subset(soil, !duplicate &amp; !needs_check)</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mean(clean$pH)</a:t>
            </a:r>
            <a:endParaRPr lang="en-US" sz="1700" dirty="0"/>
          </a:p>
        </p:txBody>
      </p:sp>
      <p:sp>
        <p:nvSpPr>
          <p:cNvPr id="5" name="investigate"/>
          <p:cNvSpPr/>
          <p:nvPr/>
        </p:nvSpPr>
        <p:spPr>
          <a:xfrm>
            <a:off x="548640" y="4129405"/>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422013"/>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616323"/>
            <a:ext cx="388620" cy="388620"/>
          </a:xfrm>
          <a:prstGeom prst="rect">
            <a:avLst/>
          </a:prstGeom>
        </p:spPr>
      </p:pic>
      <p:sp>
        <p:nvSpPr>
          <p:cNvPr id="8" name="Text 5"/>
          <p:cNvSpPr txBox="1"/>
          <p:nvPr/>
        </p:nvSpPr>
        <p:spPr>
          <a:xfrm>
            <a:off x="1828800" y="4239133"/>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604893"/>
            <a:ext cx="9555480" cy="822960"/>
          </a:xfrm>
          <a:prstGeom prst="rect">
            <a:avLst/>
          </a:prstGeom>
          <a:noFill/>
          <a:ln/>
        </p:spPr>
        <p:txBody>
          <a:bodyPr wrap="square" lIns="0" tIns="0" rIns="0" bIns="0" rtlCol="0" anchor="t"/>
          <a:lstStyle/>
          <a:p>
            <a:pPr indent="0" marL="0">
              <a:buNone/>
            </a:pPr>
            <a:r>
              <a:rPr lang="en-US" sz="1500" dirty="0">
                <a:solidFill>
                  <a:schemeClr val="tx1"/>
                </a:solidFill>
              </a:rPr>
              <a:t>The value 65 needs verification against the field record. Flagging it does not establish its correct replacement. Explain which rows were excluded from this temporary summary.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ShieldAlt">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Preserve evidence</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Raw files unchanged; corrections in code.</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Question">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Missing has a denominator</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Count it; never replace it with zero.</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Flag">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Flag, then verify</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Outliers and range failures are checked, not deleted.</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ClipboardLis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Log every decision</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Reason, evidence and who checked it.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5 · Transforming and summarizing data with dplyr</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Cleaning agricultural observations</dc:title>
  <dc:subject>R Programming for Agricultural Data Analysis · Chapter 4</dc:subject>
  <dc:creator>Dr. Pratheesh P. Gopinath</dc:creator>
  <cp:lastModifiedBy>Dr. Pratheesh P. Gopinath</cp:lastModifiedBy>
  <cp:revision>1</cp:revision>
  <dcterms:created xsi:type="dcterms:W3CDTF">2026-10-20T10:13:42Z</dcterms:created>
  <dcterms:modified xsi:type="dcterms:W3CDTF">2026-10-20T10:13:42Z</dcterms:modified>
</cp:coreProperties>
</file>