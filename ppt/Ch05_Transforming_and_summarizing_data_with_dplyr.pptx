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58eef0a-6ec2-bcfb-afc5-d664143767d3}">
          <p14:sldIdLst>
            <p14:sldId id="256"/>
            <p14:sldId id="257"/>
          </p14:sldIdLst>
        </p14:section>
        <p14:section name="The core verbs" id="{399e58db-5bc8-c81d-da29-77b8163d4ac9}">
          <p14:sldIdLst>
            <p14:sldId id="258"/>
            <p14:sldId id="259"/>
            <p14:sldId id="260"/>
            <p14:sldId id="261"/>
          </p14:sldIdLst>
        </p14:section>
        <p14:section name="Combining and reshaping" id="{cf3b4565-acfb-9f0c-9cc8-04c3d96ed0de}">
          <p14:sldIdLst>
            <p14:sldId id="262"/>
            <p14:sldId id="263"/>
            <p14:sldId id="264"/>
            <p14:sldId id="265"/>
            <p14:sldId id="266"/>
            <p14:sldId id="267"/>
            <p14:sldId id="268"/>
          </p14:sldIdLst>
        </p14:section>
        <p14:section name="Review" id="{f6c3eb10-023e-3bea-70b9-d9f08ff2504c}">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five, transforming and summarising data with dplyr. Once data are clean, most analysis questions start with reshaping them: choosing plots, creating new variables, summarising by treatment, joining soil and yield tables, or arranging a field book. The dplyr and tidyr packages give us a small set of verbs for all of these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select, filter and mutate data, group and summarise it, join and stack tables safely, and reshape it between long and wide forms. The guiding idea is that every grouping or joining step changes the level of the question, so we must keep checking keys, denominators, units and completeness.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core dplyr verbs and the pipe.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chooses columns, filter chooses rows, mutate creates or changes columns, arrange orders rows, and summarise reduces many rows to a summary. The native pipe, a vertical bar followed by a greater-than sign, passes each result to the next step; read it as then. Here we take the crop trial, then keep non-control plots yielding over four tonnes, then select three columns, then sort by yield. Note that filter keeps only rows where the condition is TRUE, so a row with a missing yield is dropped unless you say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marks the groups, and summarise then reduces each group to one row. Notice two counts: n gives the number of rows in each group, while the sum of not is na gives the number of observed yields. Report both, because a group can have ten plots but only eight harvested. The point about levels is important: the summary has one row per treatment, so it can no longer support an analysis that needs plot-to-plot variation. Dot groups equals drop removes the grouping so later steps are not affected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classic trap. Two farms harvest one hectare and nine hectares, with yields of two and six tonnes per hectare. Their arithmetic mean is four tonnes per hectare, giving each farm equal weight. But total production is fifty-six tonnes on ten hectares, so production per hectare is five point six. Both calculations are correct; they answer different questions. Before you summarise, ask what should receive equal weight: each farm, or each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combine tables and reshape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join links two tables by a key such as plot identifier. Before joining, check that the key is unique and use anti join to list rows that will not match. Left join keeps every row of the first table, and the row count check confirms nothing was multiplied. Never combine tables by row position with cbind: if one table was sorted differently, values attach to the wrong plots. To stack tables with the same columns, such as two seasons, use bind rows, and always keep an identifier of where each row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Plot-level data are stored long, one row per plot. For checking a design or calculating by hand, the traditional layout is wide, with one row per block and one column per treatment. Pivot wider makes that table, and column sums give treatment totals. Pivot longer reverses it. A missing plot shows up as an empty cell in the wide table. And if pivot wider warns that values are not uniquely identified, that is a design check: it means block and treatment together do not identify one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verbs cover most remaining tasks. Count and distinct check layouts; count of treatment and variety should be the same for every combination in a balanced factorial. Case when recodes values with several conditions, using the first that is TRUE. Across applies the same functions to many columns, such as all the soil nutrients. Separate and unite split and join codes such as T2 hyphen R3. Slice max picks the top rows in each group. And lag compares each row with the previous one, which gives crop growth rates between sampling dates, provided the rows are sorted by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verbs combine into the standard descriptive table: number of observations, mean, standard deviation, standard error and coefficient of variation for each treatment and variety. Across rounds several columns at once; the backslash x is a short way of writing function of x. Round only at the end, for display. And note the warning: this coefficient of variation describes spread within each group. It is not the experiment's CV, which comes from the error mean square of the design-based analysis in chapter thirteen.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five has six tasks. Build treatment-by-variety summaries; join crop and soil data; calculate annual rainfall only for complete years and explain why removing missing months understates the total; introduce a duplicate key on purpose and watch the join multiply rows; summarise soil nutrients with across; and calculate crop growth rates with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laboratory uses base R's aggregate function, which mirrors the grouped summaries we built with dplyr. Run it, then change a yield and see which summary changes. Remember that the difference between compost and control here is descriptive; causal interpretation needs a randomized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chain the verbs in a readable pipeline. Know the level of each table: plot rows and treatment rows answer different questions. Join by key, after checking uniqueness and unmatched rows. And decide what deserves equal weight before averaging. Next we turn data into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5 · Transforming and summarizing data with dplyr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2  ·  CHAPTER 5</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Transforming and summarizing data with dplyr</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Filter">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Select, filter and mutate</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Choose columns and rows; create new variables</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LayerGroup">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Group and summarise</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Treatment tables that keep sample sizes honest</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Link">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Join and stack tables</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By keys, never by row position</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ExchangeAl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Reshape</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Field-book layouts with </a:t>
            </a:r>
            <a:pPr indent="0" marL="0">
              <a:buNone/>
            </a:pPr>
            <a:r>
              <a:rPr lang="en-US" sz="1400" dirty="0">
                <a:solidFill>
                  <a:schemeClr val="accent1"/>
                </a:solidFill>
                <a:latin typeface="Courier New" pitchFamily="34" charset="0"/>
                <a:ea typeface="Courier New" pitchFamily="34" charset="-122"/>
                <a:cs typeface="Courier New" pitchFamily="34" charset="-120"/>
              </a:rPr>
              <a:t>pivot_wider()</a:t>
            </a:r>
            <a:pPr indent="0" marL="0">
              <a:buNone/>
            </a:pPr>
            <a:r>
              <a:rPr lang="en-US" sz="1400" dirty="0">
                <a:solidFill>
                  <a:schemeClr val="accent5"/>
                </a:solidFill>
              </a:rPr>
              <a:t> and back again</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Grouping changes the level of a question. Check keys, denominators, units and completeness whenever observations are combined.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The core verbs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select, filter, mutate, arrange, summarise</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grammar of data manipulation</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library(dplyr)</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read.csv("data/crop_trial.csv")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filter(treatment != "Control", yield_t_ha &gt; 4)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select(plot_id, treatment, yield_t_ha)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arrange(desc(yield_t_ha))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head()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crop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mutate(yield_kg_ha = yield_t_ha * 1000)</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ArrowRigh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The pipe |&gt;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Passes the result of each step to the next. Read it as "then".</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ListUl">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Five verbs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select()</a:t>
            </a:r>
            <a:pPr indent="0" marL="0">
              <a:buNone/>
            </a:pPr>
            <a:r>
              <a:rPr lang="en-US" sz="1400" dirty="0">
                <a:solidFill>
                  <a:schemeClr val="tx1"/>
                </a:solidFill>
              </a:rPr>
              <a:t> columns · </a:t>
            </a:r>
            <a:pPr indent="0" marL="0">
              <a:buNone/>
            </a:pPr>
            <a:r>
              <a:rPr lang="en-US" sz="1400" dirty="0">
                <a:solidFill>
                  <a:schemeClr val="accent1"/>
                </a:solidFill>
                <a:latin typeface="Courier New" pitchFamily="34" charset="0"/>
                <a:ea typeface="Courier New" pitchFamily="34" charset="-122"/>
                <a:cs typeface="Courier New" pitchFamily="34" charset="-120"/>
              </a:rPr>
              <a:t>filter()</a:t>
            </a:r>
            <a:pPr indent="0" marL="0">
              <a:buNone/>
            </a:pPr>
            <a:r>
              <a:rPr lang="en-US" sz="1400" dirty="0">
                <a:solidFill>
                  <a:schemeClr val="tx1"/>
                </a:solidFill>
              </a:rPr>
              <a:t> rows · </a:t>
            </a:r>
            <a:pPr indent="0" marL="0">
              <a:buNone/>
            </a:pPr>
            <a:r>
              <a:rPr lang="en-US" sz="1400" dirty="0">
                <a:solidFill>
                  <a:schemeClr val="accent1"/>
                </a:solidFill>
                <a:latin typeface="Courier New" pitchFamily="34" charset="0"/>
                <a:ea typeface="Courier New" pitchFamily="34" charset="-122"/>
                <a:cs typeface="Courier New" pitchFamily="34" charset="-120"/>
              </a:rPr>
              <a:t>mutate()</a:t>
            </a:r>
            <a:pPr indent="0" marL="0">
              <a:buNone/>
            </a:pPr>
            <a:r>
              <a:rPr lang="en-US" sz="1400" dirty="0">
                <a:solidFill>
                  <a:schemeClr val="tx1"/>
                </a:solidFill>
              </a:rPr>
              <a:t> new columns · </a:t>
            </a:r>
            <a:pPr indent="0" marL="0">
              <a:buNone/>
            </a:pPr>
            <a:r>
              <a:rPr lang="en-US" sz="1400" dirty="0">
                <a:solidFill>
                  <a:schemeClr val="accent1"/>
                </a:solidFill>
                <a:latin typeface="Courier New" pitchFamily="34" charset="0"/>
                <a:ea typeface="Courier New" pitchFamily="34" charset="-122"/>
                <a:cs typeface="Courier New" pitchFamily="34" charset="-120"/>
              </a:rPr>
              <a:t>arrange()</a:t>
            </a:r>
            <a:pPr indent="0" marL="0">
              <a:buNone/>
            </a:pPr>
            <a:r>
              <a:rPr lang="en-US" sz="1400" dirty="0">
                <a:solidFill>
                  <a:schemeClr val="tx1"/>
                </a:solidFill>
              </a:rPr>
              <a:t> order · </a:t>
            </a:r>
            <a:pPr indent="0" marL="0">
              <a:buNone/>
            </a:pPr>
            <a:r>
              <a:rPr lang="en-US" sz="1400" dirty="0">
                <a:solidFill>
                  <a:schemeClr val="accent1"/>
                </a:solidFill>
                <a:latin typeface="Courier New" pitchFamily="34" charset="0"/>
                <a:ea typeface="Courier New" pitchFamily="34" charset="-122"/>
                <a:cs typeface="Courier New" pitchFamily="34" charset="-120"/>
              </a:rPr>
              <a:t>summarise()</a:t>
            </a:r>
            <a:pPr indent="0" marL="0">
              <a:buNone/>
            </a:pPr>
            <a:r>
              <a:rPr lang="en-US" sz="1400" dirty="0">
                <a:solidFill>
                  <a:schemeClr val="tx1"/>
                </a:solidFill>
              </a:rPr>
              <a:t> reduce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Grouped summaries with honest denominators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crop |&gt;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group_by(treatment) |&gt;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summarise(n_plots = 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n_yield = sum(!is.na(yield_t_ha)),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mean_yield = mean(yield_t_ha, na.rm = TRUE),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sd_yield = sd(yield_t_ha, na.rm = TRUE),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.groups = "drop")</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4"/>
          </a:solidFill>
          <a:ln/>
        </p:spPr>
      </p:sp>
      <p:pic>
        <p:nvPicPr>
          <p:cNvPr id="7" name="Image 0" descr="FaQuestion">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n() is not n observed</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n()</a:t>
            </a:r>
            <a:pPr indent="0" marL="0">
              <a:buNone/>
            </a:pPr>
            <a:r>
              <a:rPr lang="en-US" sz="1400" dirty="0">
                <a:solidFill>
                  <a:schemeClr val="tx1"/>
                </a:solidFill>
              </a:rPr>
              <a:t> counts rows. Count non-missing yields separately and report both.</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1"/>
          </a:solidFill>
          <a:ln/>
        </p:spPr>
      </p:sp>
      <p:pic>
        <p:nvPicPr>
          <p:cNvPr id="12" name="Image 1" descr="FaLayerGroup">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Changing the level</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The result has one row per treatment, not per plot. It cannot support analyses that need plot-to-plot variation.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Means need the right weights</a:t>
            </a:r>
            <a:endParaRPr lang="en-US" sz="3200" dirty="0"/>
          </a:p>
        </p:txBody>
      </p:sp>
      <p:sp>
        <p:nvSpPr>
          <p:cNvPr id="3" name="card"/>
          <p:cNvSpPr/>
          <p:nvPr/>
        </p:nvSpPr>
        <p:spPr>
          <a:xfrm>
            <a:off x="54864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56257"/>
            <a:ext cx="731520" cy="731520"/>
          </a:xfrm>
          <a:prstGeom prst="ellipse">
            <a:avLst/>
          </a:prstGeom>
          <a:solidFill>
            <a:schemeClr val="accent1"/>
          </a:solidFill>
          <a:ln/>
        </p:spPr>
      </p:sp>
      <p:pic>
        <p:nvPicPr>
          <p:cNvPr id="5" name="Image 0" descr="FaBalanceScale">    </p:cNvPr>
          <p:cNvPicPr>
            <a:picLocks noChangeAspect="1"/>
          </p:cNvPicPr>
          <p:nvPr/>
        </p:nvPicPr>
        <p:blipFill>
          <a:blip r:embed="rId1"/>
          <a:stretch>
            <a:fillRect/>
          </a:stretch>
        </p:blipFill>
        <p:spPr>
          <a:xfrm>
            <a:off x="960120" y="2239137"/>
            <a:ext cx="365760" cy="365760"/>
          </a:xfrm>
          <a:prstGeom prst="rect">
            <a:avLst/>
          </a:prstGeom>
        </p:spPr>
      </p:pic>
      <p:sp>
        <p:nvSpPr>
          <p:cNvPr id="6" name="Text 3"/>
          <p:cNvSpPr txBox="1"/>
          <p:nvPr/>
        </p:nvSpPr>
        <p:spPr>
          <a:xfrm>
            <a:off x="169164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Arithmetic mean of farms</a:t>
            </a:r>
            <a:endParaRPr lang="en-US" sz="1700" dirty="0"/>
          </a:p>
        </p:txBody>
      </p:sp>
      <p:sp>
        <p:nvSpPr>
          <p:cNvPr id="7" name="Text 4"/>
          <p:cNvSpPr txBox="1"/>
          <p:nvPr/>
        </p:nvSpPr>
        <p:spPr>
          <a:xfrm>
            <a:off x="77724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Two farms of 1 ha and 9 ha yield 2 and 6 t/ha. Mean farm yield = 4 t/ha: each farm counts equally.</a:t>
            </a:r>
            <a:endParaRPr lang="en-US" sz="1800" dirty="0"/>
          </a:p>
        </p:txBody>
      </p:sp>
      <p:sp>
        <p:nvSpPr>
          <p:cNvPr id="8" name="card"/>
          <p:cNvSpPr/>
          <p:nvPr/>
        </p:nvSpPr>
        <p:spPr>
          <a:xfrm>
            <a:off x="619506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56257"/>
            <a:ext cx="731520" cy="731520"/>
          </a:xfrm>
          <a:prstGeom prst="ellipse">
            <a:avLst/>
          </a:prstGeom>
          <a:solidFill>
            <a:schemeClr val="accent2"/>
          </a:solidFill>
          <a:ln/>
        </p:spPr>
      </p:sp>
      <p:pic>
        <p:nvPicPr>
          <p:cNvPr id="10" name="Image 1" descr="FaWeightHanging">    </p:cNvPr>
          <p:cNvPicPr>
            <a:picLocks noChangeAspect="1"/>
          </p:cNvPicPr>
          <p:nvPr/>
        </p:nvPicPr>
        <p:blipFill>
          <a:blip r:embed="rId2"/>
          <a:stretch>
            <a:fillRect/>
          </a:stretch>
        </p:blipFill>
        <p:spPr>
          <a:xfrm>
            <a:off x="6606540" y="2239137"/>
            <a:ext cx="365760" cy="365760"/>
          </a:xfrm>
          <a:prstGeom prst="rect">
            <a:avLst/>
          </a:prstGeom>
        </p:spPr>
      </p:pic>
      <p:sp>
        <p:nvSpPr>
          <p:cNvPr id="11" name="Text 7"/>
          <p:cNvSpPr txBox="1"/>
          <p:nvPr/>
        </p:nvSpPr>
        <p:spPr>
          <a:xfrm>
            <a:off x="733806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Area-weighted yield</a:t>
            </a:r>
            <a:endParaRPr lang="en-US" sz="1700" dirty="0"/>
          </a:p>
        </p:txBody>
      </p:sp>
      <p:sp>
        <p:nvSpPr>
          <p:cNvPr id="12" name="Text 8"/>
          <p:cNvSpPr txBox="1"/>
          <p:nvPr/>
        </p:nvSpPr>
        <p:spPr>
          <a:xfrm>
            <a:off x="642366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Total 56 t on 10 ha = 5.6 t/ha. </a:t>
            </a:r>
            <a:pPr indent="0" marL="0">
              <a:buNone/>
            </a:pPr>
            <a:r>
              <a:rPr lang="en-US" sz="1800" dirty="0">
                <a:solidFill>
                  <a:schemeClr val="accent1"/>
                </a:solidFill>
                <a:latin typeface="Courier New" pitchFamily="34" charset="0"/>
                <a:ea typeface="Courier New" pitchFamily="34" charset="-122"/>
                <a:cs typeface="Courier New" pitchFamily="34" charset="-120"/>
              </a:rPr>
              <a:t>weighted.mean(yield, area)</a:t>
            </a:r>
            <a:pPr indent="0" marL="0">
              <a:buNone/>
            </a:pPr>
            <a:r>
              <a:rPr lang="en-US" sz="1800" dirty="0">
                <a:solidFill>
                  <a:schemeClr val="accent5"/>
                </a:solidFill>
              </a:rPr>
              <a:t> answers "production per hectare".</a:t>
            </a:r>
            <a:endParaRPr lang="en-US" sz="1800" dirty="0"/>
          </a:p>
        </p:txBody>
      </p:sp>
      <p:sp>
        <p:nvSpPr>
          <p:cNvPr id="13" name="key idea"/>
          <p:cNvSpPr/>
          <p:nvPr/>
        </p:nvSpPr>
        <p:spPr>
          <a:xfrm>
            <a:off x="548640" y="45022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5022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Both are correct; they answer different questions. Ask what should receive equal weight before you summarise.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Combining and reshaping</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Joins, stacks and field-book layouts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Joining tables by key, not by row order</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soil &lt;- read.csv("data/soil.csv")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stopifnot(!anyDuplicated(soil$plot_id))  # unique keys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anti_join(crop, soil, by = "plot_id")    # unmatched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linked &lt;- left_join(crop, soil, by = "plot_id")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stopifnot(nrow(linked) == nrow(crop))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kharif &lt;- data.frame(plot_id = c("P01", "P02"),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yield = c(4.1, 4.4))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rabi &lt;- data.frame(plot_id = c("P01", "P02"),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yield = c(3.2, 3.6))</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bind_rows(kharif = kharif, rabi = rabi, .id = "season")</a:t>
            </a:r>
            <a:endParaRPr lang="en-US" sz="14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Key">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Before a join</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Check that keys are unique and find unmatched rows with </a:t>
            </a:r>
            <a:pPr indent="0" marL="0">
              <a:buNone/>
            </a:pPr>
            <a:r>
              <a:rPr lang="en-US" sz="1400" dirty="0">
                <a:solidFill>
                  <a:schemeClr val="accent1"/>
                </a:solidFill>
                <a:latin typeface="Courier New" pitchFamily="34" charset="0"/>
                <a:ea typeface="Courier New" pitchFamily="34" charset="-122"/>
                <a:cs typeface="Courier New" pitchFamily="34" charset="-120"/>
              </a:rPr>
              <a:t>anti_join()</a:t>
            </a:r>
            <a:pPr indent="0" marL="0">
              <a:buNone/>
            </a:pPr>
            <a:r>
              <a:rPr lang="en-US" sz="1400" dirty="0">
                <a:solidFill>
                  <a:schemeClr val="tx1"/>
                </a:solidFill>
              </a:rPr>
              <a:t>. Many-to-many joins silently multiply rows.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LayerGroup">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Stacking</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bind_rows(.id =)</a:t>
            </a:r>
            <a:pPr indent="0" marL="0">
              <a:buNone/>
            </a:pPr>
            <a:r>
              <a:rPr lang="en-US" sz="1400" dirty="0">
                <a:solidFill>
                  <a:schemeClr val="tx1"/>
                </a:solidFill>
              </a:rPr>
              <a:t> keeps the source of each row, such as the season.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Reshaping a field book</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rcbd &lt;- read.csv("data/rcbd.csv")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field_table &lt;- rcbd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select(block, treatment, yield_t_ha)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tidyr::pivot_wider(names_from = 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values_from = yield_t_ha)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field_table                 # one row per block</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colSums(field_table[, -1])  # treatment totals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field_table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tidyr::pivot_longer(-block, names_to = "treatment",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values_to = "yield_t_ha")</a:t>
            </a:r>
            <a:endParaRPr lang="en-US" sz="15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GripLines">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Long</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One row per plot. Best for analysis and grouped graphics.</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2"/>
          </a:solidFill>
          <a:ln/>
        </p:spPr>
      </p:sp>
      <p:pic>
        <p:nvPicPr>
          <p:cNvPr id="12" name="Image 1" descr="FaTable">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Wide</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Block × treatment, as in a hand-calculated ANOVA. A missing plot shows as an empty cell.</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A warning that values are not uniquely identified is a design check: block and treatment do not identify one plot.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More verbs you will use often</a:t>
            </a:r>
            <a:endParaRPr lang="en-US" sz="3200" dirty="0"/>
          </a:p>
        </p:txBody>
      </p:sp>
      <p:sp>
        <p:nvSpPr>
          <p:cNvPr id="3" name="card"/>
          <p:cNvSpPr/>
          <p:nvPr/>
        </p:nvSpPr>
        <p:spPr>
          <a:xfrm>
            <a:off x="548640" y="137160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09574" cy="709574"/>
          </a:xfrm>
          <a:prstGeom prst="ellipse">
            <a:avLst/>
          </a:prstGeom>
          <a:solidFill>
            <a:schemeClr val="accent1"/>
          </a:solidFill>
          <a:ln/>
        </p:spPr>
      </p:sp>
      <p:pic>
        <p:nvPicPr>
          <p:cNvPr id="5" name="Image 0" descr="FaListOl">    </p:cNvPr>
          <p:cNvPicPr>
            <a:picLocks noChangeAspect="1"/>
          </p:cNvPicPr>
          <p:nvPr/>
        </p:nvPicPr>
        <p:blipFill>
          <a:blip r:embed="rId1"/>
          <a:stretch>
            <a:fillRect/>
          </a:stretch>
        </p:blipFill>
        <p:spPr>
          <a:xfrm>
            <a:off x="954634" y="1777594"/>
            <a:ext cx="354787" cy="354787"/>
          </a:xfrm>
          <a:prstGeom prst="rect">
            <a:avLst/>
          </a:prstGeom>
        </p:spPr>
      </p:pic>
      <p:sp>
        <p:nvSpPr>
          <p:cNvPr id="6" name="Text 3"/>
          <p:cNvSpPr txBox="1"/>
          <p:nvPr/>
        </p:nvSpPr>
        <p:spPr>
          <a:xfrm>
            <a:off x="1669694" y="160020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count() · distinct()</a:t>
            </a:r>
            <a:endParaRPr lang="en-US" sz="1700" dirty="0"/>
          </a:p>
        </p:txBody>
      </p:sp>
      <p:sp>
        <p:nvSpPr>
          <p:cNvPr id="7" name="Text 4"/>
          <p:cNvSpPr txBox="1"/>
          <p:nvPr/>
        </p:nvSpPr>
        <p:spPr>
          <a:xfrm>
            <a:off x="777240" y="2492654"/>
            <a:ext cx="3078480" cy="986638"/>
          </a:xfrm>
          <a:prstGeom prst="rect">
            <a:avLst/>
          </a:prstGeom>
          <a:noFill/>
          <a:ln/>
        </p:spPr>
        <p:txBody>
          <a:bodyPr wrap="square" lIns="0" tIns="0" rIns="0" bIns="0" rtlCol="0" anchor="t"/>
          <a:lstStyle/>
          <a:p>
            <a:pPr indent="0" marL="0">
              <a:buNone/>
            </a:pPr>
            <a:r>
              <a:rPr lang="en-US" sz="1600" dirty="0">
                <a:solidFill>
                  <a:schemeClr val="accent1"/>
                </a:solidFill>
                <a:latin typeface="Courier New" pitchFamily="34" charset="0"/>
                <a:ea typeface="Courier New" pitchFamily="34" charset="-122"/>
                <a:cs typeface="Courier New" pitchFamily="34" charset="-120"/>
              </a:rPr>
              <a:t>count(treatment, variety)</a:t>
            </a:r>
            <a:pPr indent="0" marL="0">
              <a:buNone/>
            </a:pPr>
            <a:r>
              <a:rPr lang="en-US" sz="1600" dirty="0">
                <a:solidFill>
                  <a:schemeClr val="accent5"/>
                </a:solidFill>
              </a:rPr>
              <a:t> checks a factorial layout is balanced.</a:t>
            </a:r>
            <a:endParaRPr lang="en-US" sz="1600" dirty="0"/>
          </a:p>
        </p:txBody>
      </p:sp>
      <p:sp>
        <p:nvSpPr>
          <p:cNvPr id="8" name="card"/>
          <p:cNvSpPr/>
          <p:nvPr/>
        </p:nvSpPr>
        <p:spPr>
          <a:xfrm>
            <a:off x="4312920" y="137160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09574" cy="709574"/>
          </a:xfrm>
          <a:prstGeom prst="ellipse">
            <a:avLst/>
          </a:prstGeom>
          <a:solidFill>
            <a:schemeClr val="accent2"/>
          </a:solidFill>
          <a:ln/>
        </p:spPr>
      </p:sp>
      <p:pic>
        <p:nvPicPr>
          <p:cNvPr id="10" name="Image 1" descr="FaRandom">    </p:cNvPr>
          <p:cNvPicPr>
            <a:picLocks noChangeAspect="1"/>
          </p:cNvPicPr>
          <p:nvPr/>
        </p:nvPicPr>
        <p:blipFill>
          <a:blip r:embed="rId2"/>
          <a:stretch>
            <a:fillRect/>
          </a:stretch>
        </p:blipFill>
        <p:spPr>
          <a:xfrm>
            <a:off x="4718914" y="1777594"/>
            <a:ext cx="354787" cy="354787"/>
          </a:xfrm>
          <a:prstGeom prst="rect">
            <a:avLst/>
          </a:prstGeom>
        </p:spPr>
      </p:pic>
      <p:sp>
        <p:nvSpPr>
          <p:cNvPr id="11" name="Text 7"/>
          <p:cNvSpPr txBox="1"/>
          <p:nvPr/>
        </p:nvSpPr>
        <p:spPr>
          <a:xfrm>
            <a:off x="5433974" y="160020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case_when()</a:t>
            </a:r>
            <a:endParaRPr lang="en-US" sz="1700" dirty="0"/>
          </a:p>
        </p:txBody>
      </p:sp>
      <p:sp>
        <p:nvSpPr>
          <p:cNvPr id="12" name="Text 8"/>
          <p:cNvSpPr txBox="1"/>
          <p:nvPr/>
        </p:nvSpPr>
        <p:spPr>
          <a:xfrm>
            <a:off x="4541520" y="2492654"/>
            <a:ext cx="3078480" cy="986638"/>
          </a:xfrm>
          <a:prstGeom prst="rect">
            <a:avLst/>
          </a:prstGeom>
          <a:noFill/>
          <a:ln/>
        </p:spPr>
        <p:txBody>
          <a:bodyPr wrap="square" lIns="0" tIns="0" rIns="0" bIns="0" rtlCol="0" anchor="t"/>
          <a:lstStyle/>
          <a:p>
            <a:pPr indent="0" marL="0">
              <a:buNone/>
            </a:pPr>
            <a:r>
              <a:rPr lang="en-US" sz="1600" dirty="0">
                <a:solidFill>
                  <a:schemeClr val="accent5"/>
                </a:solidFill>
              </a:rPr>
              <a:t>Recode doses into Low / Medium / High; the first TRUE condition wins.</a:t>
            </a:r>
            <a:endParaRPr lang="en-US" sz="1600" dirty="0"/>
          </a:p>
        </p:txBody>
      </p:sp>
      <p:sp>
        <p:nvSpPr>
          <p:cNvPr id="13" name="card"/>
          <p:cNvSpPr/>
          <p:nvPr/>
        </p:nvSpPr>
        <p:spPr>
          <a:xfrm>
            <a:off x="8077200" y="137160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09574" cy="709574"/>
          </a:xfrm>
          <a:prstGeom prst="ellipse">
            <a:avLst/>
          </a:prstGeom>
          <a:solidFill>
            <a:schemeClr val="accent3"/>
          </a:solidFill>
          <a:ln/>
        </p:spPr>
      </p:sp>
      <p:pic>
        <p:nvPicPr>
          <p:cNvPr id="15" name="Image 2" descr="FaClone">    </p:cNvPr>
          <p:cNvPicPr>
            <a:picLocks noChangeAspect="1"/>
          </p:cNvPicPr>
          <p:nvPr/>
        </p:nvPicPr>
        <p:blipFill>
          <a:blip r:embed="rId3"/>
          <a:stretch>
            <a:fillRect/>
          </a:stretch>
        </p:blipFill>
        <p:spPr>
          <a:xfrm>
            <a:off x="8483194" y="1777594"/>
            <a:ext cx="354787" cy="354787"/>
          </a:xfrm>
          <a:prstGeom prst="rect">
            <a:avLst/>
          </a:prstGeom>
        </p:spPr>
      </p:pic>
      <p:sp>
        <p:nvSpPr>
          <p:cNvPr id="16" name="Text 11"/>
          <p:cNvSpPr txBox="1"/>
          <p:nvPr/>
        </p:nvSpPr>
        <p:spPr>
          <a:xfrm>
            <a:off x="9198254" y="160020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across()</a:t>
            </a:r>
            <a:endParaRPr lang="en-US" sz="1700" dirty="0"/>
          </a:p>
        </p:txBody>
      </p:sp>
      <p:sp>
        <p:nvSpPr>
          <p:cNvPr id="17" name="Text 12"/>
          <p:cNvSpPr txBox="1"/>
          <p:nvPr/>
        </p:nvSpPr>
        <p:spPr>
          <a:xfrm>
            <a:off x="8305800" y="2492654"/>
            <a:ext cx="3078480" cy="986638"/>
          </a:xfrm>
          <a:prstGeom prst="rect">
            <a:avLst/>
          </a:prstGeom>
          <a:noFill/>
          <a:ln/>
        </p:spPr>
        <p:txBody>
          <a:bodyPr wrap="square" lIns="0" tIns="0" rIns="0" bIns="0" rtlCol="0" anchor="t"/>
          <a:lstStyle/>
          <a:p>
            <a:pPr indent="0" marL="0">
              <a:buNone/>
            </a:pPr>
            <a:r>
              <a:rPr lang="en-US" sz="1600" dirty="0">
                <a:solidFill>
                  <a:schemeClr val="accent5"/>
                </a:solidFill>
              </a:rPr>
              <a:t>Apply </a:t>
            </a:r>
            <a:pPr indent="0" marL="0">
              <a:buNone/>
            </a:pPr>
            <a:r>
              <a:rPr lang="en-US" sz="1600" dirty="0">
                <a:solidFill>
                  <a:schemeClr val="accent1"/>
                </a:solidFill>
                <a:latin typeface="Courier New" pitchFamily="34" charset="0"/>
                <a:ea typeface="Courier New" pitchFamily="34" charset="-122"/>
                <a:cs typeface="Courier New" pitchFamily="34" charset="-120"/>
              </a:rPr>
              <a:t>mean</a:t>
            </a:r>
            <a:pPr indent="0" marL="0">
              <a:buNone/>
            </a:pPr>
            <a:r>
              <a:rPr lang="en-US" sz="1600" dirty="0">
                <a:solidFill>
                  <a:schemeClr val="accent5"/>
                </a:solidFill>
              </a:rPr>
              <a:t> and </a:t>
            </a:r>
            <a:pPr indent="0" marL="0">
              <a:buNone/>
            </a:pPr>
            <a:r>
              <a:rPr lang="en-US" sz="1600" dirty="0">
                <a:solidFill>
                  <a:schemeClr val="accent1"/>
                </a:solidFill>
                <a:latin typeface="Courier New" pitchFamily="34" charset="0"/>
                <a:ea typeface="Courier New" pitchFamily="34" charset="-122"/>
                <a:cs typeface="Courier New" pitchFamily="34" charset="-120"/>
              </a:rPr>
              <a:t>sd</a:t>
            </a:r>
            <a:pPr indent="0" marL="0">
              <a:buNone/>
            </a:pPr>
            <a:r>
              <a:rPr lang="en-US" sz="1600" dirty="0">
                <a:solidFill>
                  <a:schemeClr val="accent5"/>
                </a:solidFill>
              </a:rPr>
              <a:t> to many nutrient columns in one call.</a:t>
            </a:r>
            <a:endParaRPr lang="en-US" sz="1600" dirty="0"/>
          </a:p>
        </p:txBody>
      </p:sp>
      <p:sp>
        <p:nvSpPr>
          <p:cNvPr id="18" name="card"/>
          <p:cNvSpPr/>
          <p:nvPr/>
        </p:nvSpPr>
        <p:spPr>
          <a:xfrm>
            <a:off x="548640" y="381762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777240" y="4046220"/>
            <a:ext cx="709574" cy="709574"/>
          </a:xfrm>
          <a:prstGeom prst="ellipse">
            <a:avLst/>
          </a:prstGeom>
          <a:solidFill>
            <a:schemeClr val="accent1"/>
          </a:solidFill>
          <a:ln/>
        </p:spPr>
      </p:sp>
      <p:pic>
        <p:nvPicPr>
          <p:cNvPr id="20" name="Image 3" descr="FaCut">    </p:cNvPr>
          <p:cNvPicPr>
            <a:picLocks noChangeAspect="1"/>
          </p:cNvPicPr>
          <p:nvPr/>
        </p:nvPicPr>
        <p:blipFill>
          <a:blip r:embed="rId4"/>
          <a:stretch>
            <a:fillRect/>
          </a:stretch>
        </p:blipFill>
        <p:spPr>
          <a:xfrm>
            <a:off x="954634" y="4223614"/>
            <a:ext cx="354787" cy="354787"/>
          </a:xfrm>
          <a:prstGeom prst="rect">
            <a:avLst/>
          </a:prstGeom>
        </p:spPr>
      </p:pic>
      <p:sp>
        <p:nvSpPr>
          <p:cNvPr id="21" name="Text 15"/>
          <p:cNvSpPr txBox="1"/>
          <p:nvPr/>
        </p:nvSpPr>
        <p:spPr>
          <a:xfrm>
            <a:off x="1669694" y="404622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separate · unite</a:t>
            </a:r>
            <a:endParaRPr lang="en-US" sz="1700" dirty="0"/>
          </a:p>
        </p:txBody>
      </p:sp>
      <p:sp>
        <p:nvSpPr>
          <p:cNvPr id="22" name="Text 16"/>
          <p:cNvSpPr txBox="1"/>
          <p:nvPr/>
        </p:nvSpPr>
        <p:spPr>
          <a:xfrm>
            <a:off x="777240" y="4938674"/>
            <a:ext cx="3078480" cy="986638"/>
          </a:xfrm>
          <a:prstGeom prst="rect">
            <a:avLst/>
          </a:prstGeom>
          <a:noFill/>
          <a:ln/>
        </p:spPr>
        <p:txBody>
          <a:bodyPr wrap="square" lIns="0" tIns="0" rIns="0" bIns="0" rtlCol="0" anchor="t"/>
          <a:lstStyle/>
          <a:p>
            <a:pPr indent="0" marL="0">
              <a:buNone/>
            </a:pPr>
            <a:r>
              <a:rPr lang="en-US" sz="1600" dirty="0">
                <a:solidFill>
                  <a:schemeClr val="accent5"/>
                </a:solidFill>
              </a:rPr>
              <a:t>Split a code such as </a:t>
            </a:r>
            <a:pPr indent="0" marL="0">
              <a:buNone/>
            </a:pPr>
            <a:r>
              <a:rPr lang="en-US" sz="1600" dirty="0">
                <a:solidFill>
                  <a:schemeClr val="accent1"/>
                </a:solidFill>
                <a:latin typeface="Courier New" pitchFamily="34" charset="0"/>
                <a:ea typeface="Courier New" pitchFamily="34" charset="-122"/>
                <a:cs typeface="Courier New" pitchFamily="34" charset="-120"/>
              </a:rPr>
              <a:t>T2-R3</a:t>
            </a:r>
            <a:pPr indent="0" marL="0">
              <a:buNone/>
            </a:pPr>
            <a:r>
              <a:rPr lang="en-US" sz="1600" dirty="0">
                <a:solidFill>
                  <a:schemeClr val="accent5"/>
                </a:solidFill>
              </a:rPr>
              <a:t> into treatment and replicate, and back.</a:t>
            </a:r>
            <a:endParaRPr lang="en-US" sz="1600" dirty="0"/>
          </a:p>
        </p:txBody>
      </p:sp>
      <p:sp>
        <p:nvSpPr>
          <p:cNvPr id="23" name="card"/>
          <p:cNvSpPr/>
          <p:nvPr/>
        </p:nvSpPr>
        <p:spPr>
          <a:xfrm>
            <a:off x="4312920" y="381762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24" name="icon circle"/>
          <p:cNvSpPr/>
          <p:nvPr/>
        </p:nvSpPr>
        <p:spPr>
          <a:xfrm>
            <a:off x="4541520" y="4046220"/>
            <a:ext cx="709574" cy="709574"/>
          </a:xfrm>
          <a:prstGeom prst="ellipse">
            <a:avLst/>
          </a:prstGeom>
          <a:solidFill>
            <a:schemeClr val="accent2"/>
          </a:solidFill>
          <a:ln/>
        </p:spPr>
      </p:sp>
      <p:pic>
        <p:nvPicPr>
          <p:cNvPr id="25" name="Image 4" descr="FaTrophy">    </p:cNvPr>
          <p:cNvPicPr>
            <a:picLocks noChangeAspect="1"/>
          </p:cNvPicPr>
          <p:nvPr/>
        </p:nvPicPr>
        <p:blipFill>
          <a:blip r:embed="rId5"/>
          <a:stretch>
            <a:fillRect/>
          </a:stretch>
        </p:blipFill>
        <p:spPr>
          <a:xfrm>
            <a:off x="4718914" y="4223614"/>
            <a:ext cx="354787" cy="354787"/>
          </a:xfrm>
          <a:prstGeom prst="rect">
            <a:avLst/>
          </a:prstGeom>
        </p:spPr>
      </p:pic>
      <p:sp>
        <p:nvSpPr>
          <p:cNvPr id="26" name="Text 19"/>
          <p:cNvSpPr txBox="1"/>
          <p:nvPr/>
        </p:nvSpPr>
        <p:spPr>
          <a:xfrm>
            <a:off x="5433974" y="404622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slice_max()</a:t>
            </a:r>
            <a:endParaRPr lang="en-US" sz="1700" dirty="0"/>
          </a:p>
        </p:txBody>
      </p:sp>
      <p:sp>
        <p:nvSpPr>
          <p:cNvPr id="27" name="Text 20"/>
          <p:cNvSpPr txBox="1"/>
          <p:nvPr/>
        </p:nvSpPr>
        <p:spPr>
          <a:xfrm>
            <a:off x="4541520" y="4938674"/>
            <a:ext cx="3078480" cy="986638"/>
          </a:xfrm>
          <a:prstGeom prst="rect">
            <a:avLst/>
          </a:prstGeom>
          <a:noFill/>
          <a:ln/>
        </p:spPr>
        <p:txBody>
          <a:bodyPr wrap="square" lIns="0" tIns="0" rIns="0" bIns="0" rtlCol="0" anchor="t"/>
          <a:lstStyle/>
          <a:p>
            <a:pPr indent="0" marL="0">
              <a:buNone/>
            </a:pPr>
            <a:r>
              <a:rPr lang="en-US" sz="1600" dirty="0">
                <a:solidFill>
                  <a:schemeClr val="accent5"/>
                </a:solidFill>
              </a:rPr>
              <a:t>The two highest-yielding plots in each treatment (ties are kept).</a:t>
            </a:r>
            <a:endParaRPr lang="en-US" sz="1600" dirty="0"/>
          </a:p>
        </p:txBody>
      </p:sp>
      <p:sp>
        <p:nvSpPr>
          <p:cNvPr id="28" name="card"/>
          <p:cNvSpPr/>
          <p:nvPr/>
        </p:nvSpPr>
        <p:spPr>
          <a:xfrm>
            <a:off x="8077200" y="3817620"/>
            <a:ext cx="3535680" cy="2217420"/>
          </a:xfrm>
          <a:prstGeom prst="roundRect">
            <a:avLst>
              <a:gd name="adj" fmla="val 4948"/>
            </a:avLst>
          </a:prstGeom>
          <a:solidFill>
            <a:schemeClr val="bg2"/>
          </a:solidFill>
          <a:ln/>
          <a:effectLst>
            <a:outerShdw sx="100000" sy="100000" kx="0" ky="0" algn="bl" rotWithShape="0" blurRad="76200" dist="25400" dir="5400000">
              <a:srgbClr val="8A97AB">
                <a:alpha val="25000"/>
              </a:srgbClr>
            </a:outerShdw>
          </a:effectLst>
        </p:spPr>
      </p:sp>
      <p:sp>
        <p:nvSpPr>
          <p:cNvPr id="29" name="icon circle"/>
          <p:cNvSpPr/>
          <p:nvPr/>
        </p:nvSpPr>
        <p:spPr>
          <a:xfrm>
            <a:off x="8305800" y="4046220"/>
            <a:ext cx="709574" cy="709574"/>
          </a:xfrm>
          <a:prstGeom prst="ellipse">
            <a:avLst/>
          </a:prstGeom>
          <a:solidFill>
            <a:schemeClr val="accent3"/>
          </a:solidFill>
          <a:ln/>
        </p:spPr>
      </p:sp>
      <p:pic>
        <p:nvPicPr>
          <p:cNvPr id="30" name="Image 5" descr="FaChartLine">    </p:cNvPr>
          <p:cNvPicPr>
            <a:picLocks noChangeAspect="1"/>
          </p:cNvPicPr>
          <p:nvPr/>
        </p:nvPicPr>
        <p:blipFill>
          <a:blip r:embed="rId6"/>
          <a:stretch>
            <a:fillRect/>
          </a:stretch>
        </p:blipFill>
        <p:spPr>
          <a:xfrm>
            <a:off x="8483194" y="4223614"/>
            <a:ext cx="354787" cy="354787"/>
          </a:xfrm>
          <a:prstGeom prst="rect">
            <a:avLst/>
          </a:prstGeom>
        </p:spPr>
      </p:pic>
      <p:sp>
        <p:nvSpPr>
          <p:cNvPr id="31" name="Text 23"/>
          <p:cNvSpPr txBox="1"/>
          <p:nvPr/>
        </p:nvSpPr>
        <p:spPr>
          <a:xfrm>
            <a:off x="9198254" y="4046220"/>
            <a:ext cx="2186026" cy="709574"/>
          </a:xfrm>
          <a:prstGeom prst="rect">
            <a:avLst/>
          </a:prstGeom>
          <a:noFill/>
          <a:ln/>
        </p:spPr>
        <p:txBody>
          <a:bodyPr wrap="square" lIns="0" tIns="0" rIns="0" bIns="0" rtlCol="0" anchor="ctr"/>
          <a:lstStyle/>
          <a:p>
            <a:pPr indent="0" marL="0">
              <a:buNone/>
            </a:pPr>
            <a:r>
              <a:rPr lang="en-US" sz="1700" b="1" dirty="0">
                <a:solidFill>
                  <a:schemeClr val="tx2"/>
                </a:solidFill>
              </a:rPr>
              <a:t>lag()</a:t>
            </a:r>
            <a:endParaRPr lang="en-US" sz="1700" dirty="0"/>
          </a:p>
        </p:txBody>
      </p:sp>
      <p:sp>
        <p:nvSpPr>
          <p:cNvPr id="32" name="Text 24"/>
          <p:cNvSpPr txBox="1"/>
          <p:nvPr/>
        </p:nvSpPr>
        <p:spPr>
          <a:xfrm>
            <a:off x="8305800" y="4938674"/>
            <a:ext cx="3078480" cy="986638"/>
          </a:xfrm>
          <a:prstGeom prst="rect">
            <a:avLst/>
          </a:prstGeom>
          <a:noFill/>
          <a:ln/>
        </p:spPr>
        <p:txBody>
          <a:bodyPr wrap="square" lIns="0" tIns="0" rIns="0" bIns="0" rtlCol="0" anchor="t"/>
          <a:lstStyle/>
          <a:p>
            <a:pPr indent="0" marL="0">
              <a:buNone/>
            </a:pPr>
            <a:r>
              <a:rPr lang="en-US" sz="1600" dirty="0">
                <a:solidFill>
                  <a:schemeClr val="accent5"/>
                </a:solidFill>
              </a:rPr>
              <a:t>Crop growth rate = gain since the last sampling ÷ days between them.</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 summary table for an experiment report</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group_by(treatment, variety)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summarise(n = sum(!is.na(yield_t_ha)),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mean = mean(yield_t_ha, na.rm = TRUE),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sd = sd(yield_t_ha, na.rm = TRUE),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.groups = "drop")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mutate(se = sd / sqrt(n),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cv_percent = 100 * sd / mean) |&gt;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mutate(across(c(mean, sd, se, cv_percent),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\(x) round(x, 2)))</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alculator">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Round last</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Round only for display, never before calculating.</a:t>
            </a:r>
            <a:endParaRPr lang="en-US" sz="1400" dirty="0"/>
          </a:p>
        </p:txBody>
      </p:sp>
      <p:sp>
        <p:nvSpPr>
          <p:cNvPr id="10" name="warn"/>
          <p:cNvSpPr/>
          <p:nvPr/>
        </p:nvSpPr>
        <p:spPr>
          <a:xfrm>
            <a:off x="7543800" y="3794760"/>
            <a:ext cx="40690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11" name="Text 8"/>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accent4"/>
                </a:solidFill>
              </a:rPr>
              <a:t>Not the experiment CV</a:t>
            </a:r>
            <a:endParaRPr lang="en-US" sz="1600" dirty="0"/>
          </a:p>
        </p:txBody>
      </p:sp>
      <p:sp>
        <p:nvSpPr>
          <p:cNvPr id="12" name="Text 9"/>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This CV describes spread within groups. The experiment's CV comes from the ANOVA error mean square (Chapter 13).</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5 and exercises</a:t>
            </a:r>
            <a:endParaRPr lang="en-US" sz="3200" dirty="0"/>
          </a:p>
        </p:txBody>
      </p:sp>
      <p:sp>
        <p:nvSpPr>
          <p:cNvPr id="3" name="card"/>
          <p:cNvSpPr/>
          <p:nvPr/>
        </p:nvSpPr>
        <p:spPr>
          <a:xfrm>
            <a:off x="548640" y="13716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451610"/>
            <a:ext cx="502920" cy="502920"/>
          </a:xfrm>
          <a:prstGeom prst="ellipse">
            <a:avLst/>
          </a:prstGeom>
          <a:solidFill>
            <a:schemeClr val="accent1"/>
          </a:solidFill>
          <a:ln/>
        </p:spPr>
      </p:sp>
      <p:sp>
        <p:nvSpPr>
          <p:cNvPr id="5" name="Text 3"/>
          <p:cNvSpPr txBox="1"/>
          <p:nvPr/>
        </p:nvSpPr>
        <p:spPr>
          <a:xfrm>
            <a:off x="749808" y="14516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571500"/>
          </a:xfrm>
          <a:prstGeom prst="rect">
            <a:avLst/>
          </a:prstGeom>
          <a:noFill/>
          <a:ln/>
        </p:spPr>
        <p:txBody>
          <a:bodyPr wrap="square" lIns="0" tIns="0" rIns="0" bIns="0" rtlCol="0" anchor="ctr"/>
          <a:lstStyle/>
          <a:p>
            <a:pPr indent="0" marL="0">
              <a:buNone/>
            </a:pPr>
            <a:r>
              <a:rPr lang="en-US" sz="1300" dirty="0">
                <a:solidFill>
                  <a:schemeClr val="tx1"/>
                </a:solidFill>
              </a:rPr>
              <a:t>Produce treatment-by-variety summaries with sample size, mean and SD.</a:t>
            </a:r>
            <a:endParaRPr lang="en-US" sz="1300" dirty="0"/>
          </a:p>
        </p:txBody>
      </p:sp>
      <p:sp>
        <p:nvSpPr>
          <p:cNvPr id="7" name="card"/>
          <p:cNvSpPr/>
          <p:nvPr/>
        </p:nvSpPr>
        <p:spPr>
          <a:xfrm>
            <a:off x="548640" y="21717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251710"/>
            <a:ext cx="502920" cy="502920"/>
          </a:xfrm>
          <a:prstGeom prst="ellipse">
            <a:avLst/>
          </a:prstGeom>
          <a:solidFill>
            <a:schemeClr val="accent1"/>
          </a:solidFill>
          <a:ln/>
        </p:spPr>
      </p:sp>
      <p:sp>
        <p:nvSpPr>
          <p:cNvPr id="9" name="Text 7"/>
          <p:cNvSpPr txBox="1"/>
          <p:nvPr/>
        </p:nvSpPr>
        <p:spPr>
          <a:xfrm>
            <a:off x="749808" y="22517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217420"/>
            <a:ext cx="6629400" cy="571500"/>
          </a:xfrm>
          <a:prstGeom prst="rect">
            <a:avLst/>
          </a:prstGeom>
          <a:noFill/>
          <a:ln/>
        </p:spPr>
        <p:txBody>
          <a:bodyPr wrap="square" lIns="0" tIns="0" rIns="0" bIns="0" rtlCol="0" anchor="ctr"/>
          <a:lstStyle/>
          <a:p>
            <a:pPr indent="0" marL="0">
              <a:buNone/>
            </a:pPr>
            <a:r>
              <a:rPr lang="en-US" sz="1300" dirty="0">
                <a:solidFill>
                  <a:schemeClr val="tx1"/>
                </a:solidFill>
              </a:rPr>
              <a:t>Join crop and soil data, then summarise available nitrogen by treatment.</a:t>
            </a:r>
            <a:endParaRPr lang="en-US" sz="1300" dirty="0"/>
          </a:p>
        </p:txBody>
      </p:sp>
      <p:sp>
        <p:nvSpPr>
          <p:cNvPr id="11" name="card"/>
          <p:cNvSpPr/>
          <p:nvPr/>
        </p:nvSpPr>
        <p:spPr>
          <a:xfrm>
            <a:off x="548640" y="29718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051810"/>
            <a:ext cx="502920" cy="502920"/>
          </a:xfrm>
          <a:prstGeom prst="ellipse">
            <a:avLst/>
          </a:prstGeom>
          <a:solidFill>
            <a:schemeClr val="accent1"/>
          </a:solidFill>
          <a:ln/>
        </p:spPr>
      </p:sp>
      <p:sp>
        <p:nvSpPr>
          <p:cNvPr id="13" name="Text 11"/>
          <p:cNvSpPr txBox="1"/>
          <p:nvPr/>
        </p:nvSpPr>
        <p:spPr>
          <a:xfrm>
            <a:off x="749808" y="30518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0175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annual rainfall only for years with 12 recorded months. Why could </a:t>
            </a:r>
            <a:pPr indent="0" marL="0">
              <a:buNone/>
            </a:pPr>
            <a:r>
              <a:rPr lang="en-US" sz="1300" dirty="0">
                <a:solidFill>
                  <a:schemeClr val="accent1"/>
                </a:solidFill>
                <a:latin typeface="Courier New" pitchFamily="34" charset="0"/>
                <a:ea typeface="Courier New" pitchFamily="34" charset="-122"/>
                <a:cs typeface="Courier New" pitchFamily="34" charset="-120"/>
              </a:rPr>
              <a:t>na.rm = TRUE</a:t>
            </a:r>
            <a:pPr indent="0" marL="0">
              <a:buNone/>
            </a:pPr>
            <a:r>
              <a:rPr lang="en-US" sz="1300" dirty="0">
                <a:solidFill>
                  <a:schemeClr val="tx1"/>
                </a:solidFill>
              </a:rPr>
              <a:t> understate it?</a:t>
            </a:r>
            <a:endParaRPr lang="en-US" sz="1300" dirty="0"/>
          </a:p>
        </p:txBody>
      </p:sp>
      <p:sp>
        <p:nvSpPr>
          <p:cNvPr id="15" name="card"/>
          <p:cNvSpPr/>
          <p:nvPr/>
        </p:nvSpPr>
        <p:spPr>
          <a:xfrm>
            <a:off x="548640" y="37719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851910"/>
            <a:ext cx="502920" cy="502920"/>
          </a:xfrm>
          <a:prstGeom prst="ellipse">
            <a:avLst/>
          </a:prstGeom>
          <a:solidFill>
            <a:schemeClr val="accent1"/>
          </a:solidFill>
          <a:ln/>
        </p:spPr>
      </p:sp>
      <p:sp>
        <p:nvSpPr>
          <p:cNvPr id="17" name="Text 15"/>
          <p:cNvSpPr txBox="1"/>
          <p:nvPr/>
        </p:nvSpPr>
        <p:spPr>
          <a:xfrm>
            <a:off x="749808" y="38519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817620"/>
            <a:ext cx="6629400" cy="571500"/>
          </a:xfrm>
          <a:prstGeom prst="rect">
            <a:avLst/>
          </a:prstGeom>
          <a:noFill/>
          <a:ln/>
        </p:spPr>
        <p:txBody>
          <a:bodyPr wrap="square" lIns="0" tIns="0" rIns="0" bIns="0" rtlCol="0" anchor="ctr"/>
          <a:lstStyle/>
          <a:p>
            <a:pPr indent="0" marL="0">
              <a:buNone/>
            </a:pPr>
            <a:r>
              <a:rPr lang="en-US" sz="1300" dirty="0">
                <a:solidFill>
                  <a:schemeClr val="tx1"/>
                </a:solidFill>
              </a:rPr>
              <a:t>Introduce a repeated key into a copy of the soil table and see what happens to the joined row count.</a:t>
            </a:r>
            <a:endParaRPr lang="en-US" sz="1300" dirty="0"/>
          </a:p>
        </p:txBody>
      </p:sp>
      <p:sp>
        <p:nvSpPr>
          <p:cNvPr id="19" name="card"/>
          <p:cNvSpPr/>
          <p:nvPr/>
        </p:nvSpPr>
        <p:spPr>
          <a:xfrm>
            <a:off x="548640" y="45720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652010"/>
            <a:ext cx="502920" cy="502920"/>
          </a:xfrm>
          <a:prstGeom prst="ellipse">
            <a:avLst/>
          </a:prstGeom>
          <a:solidFill>
            <a:schemeClr val="accent1"/>
          </a:solidFill>
          <a:ln/>
        </p:spPr>
      </p:sp>
      <p:sp>
        <p:nvSpPr>
          <p:cNvPr id="21" name="Text 19"/>
          <p:cNvSpPr txBox="1"/>
          <p:nvPr/>
        </p:nvSpPr>
        <p:spPr>
          <a:xfrm>
            <a:off x="749808" y="46520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617720"/>
            <a:ext cx="6629400" cy="571500"/>
          </a:xfrm>
          <a:prstGeom prst="rect">
            <a:avLst/>
          </a:prstGeom>
          <a:noFill/>
          <a:ln/>
        </p:spPr>
        <p:txBody>
          <a:bodyPr wrap="square" lIns="0" tIns="0" rIns="0" bIns="0" rtlCol="0" anchor="ctr"/>
          <a:lstStyle/>
          <a:p>
            <a:pPr indent="0" marL="0">
              <a:buNone/>
            </a:pPr>
            <a:r>
              <a:rPr lang="en-US" sz="1300" dirty="0">
                <a:solidFill>
                  <a:schemeClr val="tx1"/>
                </a:solidFill>
              </a:rPr>
              <a:t>Summarise mean, SD and SE of available N, P and K by soil class with one </a:t>
            </a:r>
            <a:pPr indent="0" marL="0">
              <a:buNone/>
            </a:pPr>
            <a:r>
              <a:rPr lang="en-US" sz="1300" dirty="0">
                <a:solidFill>
                  <a:schemeClr val="accent1"/>
                </a:solidFill>
                <a:latin typeface="Courier New" pitchFamily="34" charset="0"/>
                <a:ea typeface="Courier New" pitchFamily="34" charset="-122"/>
                <a:cs typeface="Courier New" pitchFamily="34" charset="-120"/>
              </a:rPr>
              <a:t>across()</a:t>
            </a:r>
            <a:pPr indent="0" marL="0">
              <a:buNone/>
            </a:pPr>
            <a:r>
              <a:rPr lang="en-US" sz="1300" dirty="0">
                <a:solidFill>
                  <a:schemeClr val="tx1"/>
                </a:solidFill>
              </a:rPr>
              <a:t> call.</a:t>
            </a:r>
            <a:endParaRPr lang="en-US" sz="1300" dirty="0"/>
          </a:p>
        </p:txBody>
      </p:sp>
      <p:sp>
        <p:nvSpPr>
          <p:cNvPr id="23" name="card"/>
          <p:cNvSpPr/>
          <p:nvPr/>
        </p:nvSpPr>
        <p:spPr>
          <a:xfrm>
            <a:off x="548640" y="5372100"/>
            <a:ext cx="7680960" cy="662940"/>
          </a:xfrm>
          <a:prstGeom prst="roundRect">
            <a:avLst>
              <a:gd name="adj" fmla="val 16552"/>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5452110"/>
            <a:ext cx="502920" cy="502920"/>
          </a:xfrm>
          <a:prstGeom prst="ellipse">
            <a:avLst/>
          </a:prstGeom>
          <a:solidFill>
            <a:schemeClr val="accent1"/>
          </a:solidFill>
          <a:ln/>
        </p:spPr>
      </p:sp>
      <p:sp>
        <p:nvSpPr>
          <p:cNvPr id="25" name="Text 23"/>
          <p:cNvSpPr txBox="1"/>
          <p:nvPr/>
        </p:nvSpPr>
        <p:spPr>
          <a:xfrm>
            <a:off x="749808" y="545211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5417820"/>
            <a:ext cx="6629400" cy="571500"/>
          </a:xfrm>
          <a:prstGeom prst="rect">
            <a:avLst/>
          </a:prstGeom>
          <a:noFill/>
          <a:ln/>
        </p:spPr>
        <p:txBody>
          <a:bodyPr wrap="square" lIns="0" tIns="0" rIns="0" bIns="0" rtlCol="0" anchor="ctr"/>
          <a:lstStyle/>
          <a:p>
            <a:pPr indent="0" marL="0">
              <a:buNone/>
            </a:pPr>
            <a:r>
              <a:rPr lang="en-US" sz="1300" dirty="0">
                <a:solidFill>
                  <a:schemeClr val="tx1"/>
                </a:solidFill>
              </a:rPr>
              <a:t>Calculate crop growth rate between sampling dates from </a:t>
            </a:r>
            <a:pPr indent="0" marL="0">
              <a:buNone/>
            </a:pPr>
            <a:r>
              <a:rPr lang="en-US" sz="1300" dirty="0">
                <a:solidFill>
                  <a:schemeClr val="accent1"/>
                </a:solidFill>
                <a:latin typeface="Courier New" pitchFamily="34" charset="0"/>
                <a:ea typeface="Courier New" pitchFamily="34" charset="-122"/>
                <a:cs typeface="Courier New" pitchFamily="34" charset="-120"/>
              </a:rPr>
              <a:t>growth.csv</a:t>
            </a:r>
            <a:pPr indent="0" marL="0">
              <a:buNone/>
            </a:pPr>
            <a:r>
              <a:rPr lang="en-US" sz="1300" dirty="0">
                <a:solidFill>
                  <a:schemeClr val="tx1"/>
                </a:solidFill>
              </a:rPr>
              <a:t>. When is it highest?</a:t>
            </a:r>
            <a:endParaRPr lang="en-US" sz="1300" dirty="0"/>
          </a:p>
        </p:txBody>
      </p:sp>
      <p:sp>
        <p:nvSpPr>
          <p:cNvPr id="27"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8"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9" name="Text 26"/>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0" name="Text 27"/>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167890"/>
          </a:xfrm>
          <a:prstGeom prst="roundRect">
            <a:avLst>
              <a:gd name="adj" fmla="val 4218"/>
            </a:avLst>
          </a:prstGeom>
          <a:solidFill>
            <a:schemeClr val="tx1"/>
          </a:solidFill>
          <a:ln/>
        </p:spPr>
      </p:sp>
      <p:sp>
        <p:nvSpPr>
          <p:cNvPr id="4" name="Text 2"/>
          <p:cNvSpPr txBox="1"/>
          <p:nvPr/>
        </p:nvSpPr>
        <p:spPr>
          <a:xfrm>
            <a:off x="822960" y="1572768"/>
            <a:ext cx="10515600" cy="176555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trial &lt;- data.frame(</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treatment = rep(c("Control", "Compost"), each = 4),</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yield_t_ha = c(3.1, 3.4, 3.2, 3.5, 3.9, 4.1, 3.8, 4.2)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aggregate(yield_t_ha ~ treatment, trial,</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function(x) c(n = length(x), mean = mean(x), sd = sd(x)))</a:t>
            </a:r>
            <a:endParaRPr lang="en-US" sz="1700" dirty="0"/>
          </a:p>
        </p:txBody>
      </p:sp>
      <p:sp>
        <p:nvSpPr>
          <p:cNvPr id="5" name="investigate"/>
          <p:cNvSpPr/>
          <p:nvPr/>
        </p:nvSpPr>
        <p:spPr>
          <a:xfrm>
            <a:off x="548640" y="385953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15213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346448"/>
            <a:ext cx="388620" cy="388620"/>
          </a:xfrm>
          <a:prstGeom prst="rect">
            <a:avLst/>
          </a:prstGeom>
        </p:spPr>
      </p:pic>
      <p:sp>
        <p:nvSpPr>
          <p:cNvPr id="8" name="Text 5"/>
          <p:cNvSpPr txBox="1"/>
          <p:nvPr/>
        </p:nvSpPr>
        <p:spPr>
          <a:xfrm>
            <a:off x="1828800" y="396925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335018"/>
            <a:ext cx="9555480" cy="822960"/>
          </a:xfrm>
          <a:prstGeom prst="rect">
            <a:avLst/>
          </a:prstGeom>
          <a:noFill/>
          <a:ln/>
        </p:spPr>
        <p:txBody>
          <a:bodyPr wrap="square" lIns="0" tIns="0" rIns="0" bIns="0" rtlCol="0" anchor="t"/>
          <a:lstStyle/>
          <a:p>
            <a:pPr indent="0" marL="0">
              <a:buNone/>
            </a:pPr>
            <a:r>
              <a:rPr lang="en-US" sz="1500" dirty="0">
                <a:solidFill>
                  <a:schemeClr val="tx1"/>
                </a:solidFill>
              </a:rPr>
              <a:t>This base R example mirrors the grouped summaries done with dplyr in the chapter. The simulated difference is descriptive; an experimental design is needed for causal interpretation.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Filter">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Verbs in a pipeline</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Select, filter, mutate, arrange, summarise.</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LayerGroup">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Know your level</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Plot rows and treatment rows answer different questions.</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Key">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Join by key</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Unique keys, unmatched rows checked, row counts confirmed.</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BalanceScale">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Weights matter</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Decide what deserves equal weight.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6 · Visualizing agricultural data</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and summarizing data with dplyr</dc:title>
  <dc:subject>R Programming for Agricultural Data Analysis · Chapter 5</dc:subject>
  <dc:creator>Dr. Pratheesh P. Gopinath</dc:creator>
  <cp:lastModifiedBy>Dr. Pratheesh P. Gopinath</cp:lastModifiedBy>
  <cp:revision>1</cp:revision>
  <dcterms:created xsi:type="dcterms:W3CDTF">2026-10-20T10:13:42Z</dcterms:created>
  <dcterms:modified xsi:type="dcterms:W3CDTF">2026-10-20T10:13:42Z</dcterms:modified>
</cp:coreProperties>
</file>