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67f5cbc-818d-fa20-c329-7feb48e60f9c}">
          <p14:sldIdLst>
            <p14:sldId id="256"/>
            <p14:sldId id="257"/>
            <p14:sldId id="258"/>
          </p14:sldIdLst>
        </p14:section>
        <p14:section name="Base R graphics" id="{73f05c0d-5023-bf10-5b9b-a7f75f0e90c8}">
          <p14:sldIdLst>
            <p14:sldId id="259"/>
            <p14:sldId id="260"/>
            <p14:sldId id="261"/>
          </p14:sldIdLst>
        </p14:section>
        <p14:section name="ggplot2 and honest summaries" id="{2cf7c6a8-859c-5f84-b7fd-6483639c0ece}">
          <p14:sldIdLst>
            <p14:sldId id="262"/>
            <p14:sldId id="263"/>
            <p14:sldId id="264"/>
            <p14:sldId id="265"/>
            <p14:sldId id="266"/>
            <p14:sldId id="267"/>
          </p14:sldIdLst>
        </p14:section>
        <p14:section name="Review" id="{63fafb81-f776-0529-2843-8e8a724f9e90}">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68"/>
                </a:solidFill>
                <a:latin typeface="+mn-lt"/>
              </a:defRPr>
            </a:pPr>
            <a:r>
              <a:rPr sz="1400" b="0" i="0" u="none" strike="noStrike">
                <a:solidFill>
                  <a:srgbClr val="1F3A68"/>
                </a:solidFill>
                <a:latin typeface="+mn-lt"/>
              </a:rPr>
              <a:t>Simulated nitrogen response (t/ha)</a:t>
            </a:r>
          </a:p>
        </c:rich>
      </c:tx>
      <c:layout/>
      <c:overlay val="0"/>
    </c:title>
    <c:autoTitleDeleted val="0"/>
    <c:plotArea>
      <c:layout/>
      <c:lineChart>
        <c:varyColors val="0"/>
        <c:ser>
          <c:idx val="0"/>
          <c:order val="0"/>
          <c:tx>
            <c:strRef>
              <c:f>Sheet1!$B$1</c:f>
              <c:strCache>
                <c:ptCount val="1"/>
                <c:pt idx="0">
                  <c:v>Yield</c:v>
                </c:pt>
              </c:strCache>
            </c:strRef>
          </c:tx>
          <c:spPr>
            <a:solidFill>
              <a:srgbClr val="1F4E8C"/>
            </a:solidFill>
            <a:ln w="38100" cap="flat">
              <a:solidFill>
                <a:srgbClr val="1F4E8C"/>
              </a:solidFill>
              <a:prstDash val="solid"/>
              <a:round/>
            </a:ln>
            <a:effectLst/>
          </c:spPr>
          <c:invertIfNegative val="0"/>
          <c:dLbls>
            <c:numFmt formatCode="0.0" sourceLinked="0"/>
            <c:txPr>
              <a:bodyPr/>
              <a:lstStyle/>
              <a:p>
                <a:pPr>
                  <a:defRPr b="0" i="0" strike="noStrike" sz="1100" u="none">
                    <a:solidFill>
                      <a:srgbClr val="1B2A41"/>
                    </a:solidFill>
                    <a:latin typeface="+mn-lt"/>
                  </a:defRPr>
                </a:pPr>
              </a:p>
            </c:txPr>
            <c:showLegendKey val="0"/>
            <c:showVal val="0"/>
            <c:showCatName val="0"/>
            <c:showSerName val="0"/>
            <c:showPercent val="0"/>
            <c:showBubbleSize val="0"/>
            <c:showLeaderLines val="0"/>
          </c:dLbls>
          <c:marker>
            <c:symbol val="circle"/>
            <c:size val="9"/>
            <c:spPr>
              <a:solidFill>
                <a:srgbClr val="1F4E8C"/>
              </a:solidFill>
              <a:ln w="9525" cap="flat">
                <a:solidFill>
                  <a:srgbClr val="1F4E8C"/>
                </a:solidFill>
                <a:prstDash val="solid"/>
                <a:round/>
              </a:ln>
              <a:effectLst/>
            </c:spPr>
          </c:marker>
          <c:cat>
            <c:multiLvlStrRef>
              <c:f>Sheet1!$A$2:$A$7</c:f>
              <c:multiLvlStrCache>
                <c:ptCount val="6"/>
                <c:lvl>
                  <c:pt idx="0">
                    <c:v>0</c:v>
                  </c:pt>
                  <c:pt idx="1">
                    <c:v>30</c:v>
                  </c:pt>
                  <c:pt idx="2">
                    <c:v>60</c:v>
                  </c:pt>
                  <c:pt idx="3">
                    <c:v>90</c:v>
                  </c:pt>
                  <c:pt idx="4">
                    <c:v>120</c:v>
                  </c:pt>
                  <c:pt idx="5">
                    <c:v>150</c:v>
                  </c:pt>
                </c:lvl>
              </c:multiLvlStrCache>
            </c:multiLvlStrRef>
          </c:cat>
          <c:val>
            <c:numRef>
              <c:f>Sheet1!$B$2:$B$7</c:f>
              <c:numCache>
                <c:formatCode>General</c:formatCode>
                <c:ptCount val="6"/>
                <c:pt idx="0">
                  <c:v>2.1</c:v>
                </c:pt>
                <c:pt idx="1">
                  <c:v>2.9</c:v>
                </c:pt>
                <c:pt idx="2">
                  <c:v>3.6</c:v>
                </c:pt>
                <c:pt idx="3">
                  <c:v>4</c:v>
                </c:pt>
                <c:pt idx="4">
                  <c:v>4.2</c:v>
                </c:pt>
                <c:pt idx="5">
                  <c:v>4.1</c:v>
                </c:pt>
              </c:numCache>
            </c:numRef>
          </c:val>
          <c:smooth val="0"/>
        </c:ser>
        <c:dLbls>
          <c:numFmt formatCode="0.0" sourceLinked="0"/>
          <c:txPr>
            <a:bodyPr/>
            <a:lstStyle/>
            <a:p>
              <a:pPr>
                <a:defRPr b="0" i="0" strike="noStrike" sz="1100" u="none">
                  <a:solidFill>
                    <a:srgbClr val="1B2A41"/>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B82"/>
                    </a:solidFill>
                    <a:latin typeface="+mn-lt"/>
                  </a:defRPr>
                </a:pPr>
                <a:r>
                  <a:rPr sz="1200" b="0" i="0" u="none" strike="noStrike">
                    <a:solidFill>
                      <a:srgbClr val="5B6B82"/>
                    </a:solidFill>
                    <a:latin typeface="+mn-lt"/>
                  </a:rPr>
                  <a:t>Nitrogen (kg/ha)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2"/>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6350" cap="flat">
              <a:solidFill>
                <a:srgbClr val="E1E6EE"/>
              </a:solidFill>
              <a:prstDash val="solid"/>
              <a:round/>
            </a:ln>
          </c:spPr>
        </c:majorGridlines>
        <c:title>
          <c:tx>
            <c:rich>
              <a:bodyPr/>
              <a:lstStyle/>
              <a:p>
                <a:pPr>
                  <a:defRPr sz="1200" b="0" i="0" u="none" strike="noStrike">
                    <a:solidFill>
                      <a:srgbClr val="5B6B82"/>
                    </a:solidFill>
                    <a:latin typeface="+mn-lt"/>
                  </a:defRPr>
                </a:pPr>
                <a:r>
                  <a:rPr sz="1200" b="0" i="0" u="none" strike="noStrike">
                    <a:solidFill>
                      <a:srgbClr val="5B6B82"/>
                    </a:solidFill>
                    <a:latin typeface="+mn-lt"/>
                  </a:rPr>
                  <a:t>Yield (t/ha)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chapter six, visualizing agricultural data. A good graph shows a comparison at a glance; a poor one hides the data or misleads with its scale. In this chapter we match graph types to questions, build plots in base R and in ggplot2, and learn to show distributions and individual observations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chapter you will choose a graph that matches the question and the variable types, build and customize plots in base R and ggplot2, show distributions and individual observations rather than only bars of means, and assemble panels, heatmaps and publication-quality exports. A good figure makes comparisons clear and preserves units and grouping; no amount of decoration can rescue a misleading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every graph with the question. To see how yields are distributed, use a histogram. To compare treatments in both centre and spread, use a box plot with the individual points on top. To see how yield changes with nitrogen, a scatter plot. For counts of a category, such as plots per soil class, a bar chart. For change over time, a line plot. Pie charts show parts of one whole; use them sparingly because people compare angles poorly.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R can draw every standard graph with a single function call. Let us look at the essentials.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base R, plot draws a scatter plot, hist a histogram and boxplot a box plot. The same arguments recur: x lab and y lab for axis labels, which must include units; col for colours, often given as hex codes such as hash two three seven f eight three; pch for the point symbol; and breaks for histogram bins. Remember the anatomy of a box plot: the line is the median, the box runs from the first to the third quartile, the whiskers reach the most extreme points within one and a half interquartile ranges, and anything beyond is drawn as a separate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graph should make the pattern obvious. In this simulated nitrogen response, yield rises steeply at low doses and levels off after about ninety to one hundred and twenty kilograms per hectare. That is what the curve suggests. What it cannot show is an optimum dose: six illustrative points without replication or a design do not establish one. Always describe what a graph shows and what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ggplot2, which builds plots in layers, and the habits that keep figures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ggplot2 builds a graph in layers. Start with the data and the aesthetics, which map columns to the x axis, the y axis and colour. Then add geometric layers with the plus sign: points, lines, box plots or smoothed curves. Finish with labels that include units and a theme with readable text size. Once you know this pattern, every other ggplot2 graph is a variation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misleading figure in agricultural reports is a bar of treatment means. It hides the spread and the sample size, two very different distributions can produce the same bar, and the error bars are often unlabelled. A box plot with the individual plots jittered on top shows every observation and how much the treatments overlap. If you do show means, always state whether the error bar is a standard deviation, a standard error or a confidence interval, and give the number of observations.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Facets create comparable panels from groups, with shared axes so the eye can compare them fairly. Heatmaps use colour to encode values; with soil nutrients on different scales, standardize them first, and remember that a standardized value is relative to these plots, not a deficiency threshold. For publication, export with ggsave at three hundred dots per inch, combine plots with patchwork, and make interactive versions with plotly. Use readable labels, good contrast, and shapes as well as colours, so readers with colour-vision deficiency can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Practicals six and seven. Draw the three basic graphs and write what each reveals and one limitation. Compare histogram bin widths and note which features persist. Create panels by treatment coloured by variety. Export a two-panel figure at three hundred dots per inch. And explain why a standardized heatmap cannot diagnose nitrogen deficiency.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laboratory you draw the nitrogen response curve in base R. Change the point symbol and colour, then describe the apparent plateau in words, remembering that these points are illustrative and cannot establish an optimum dose.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review: choose the graph from the question. Show the data and their distribution, not only bars of means. Use honest scales with units, labelled error bars and sample sizes. And make figures readable by everyone. Next we describe agricultural variation with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93268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9326880" cy="73152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377440" y="2560320"/>
            <a:ext cx="877824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2377440" y="3794760"/>
            <a:ext cx="8778240" cy="6400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355080"/>
            <a:ext cx="10058400" cy="274320"/>
          </a:xfrm>
          <a:prstGeom prst="rect">
            <a:avLst/>
          </a:prstGeom>
          <a:noFill/>
          <a:ln/>
        </p:spPr>
        <p:txBody>
          <a:bodyPr wrap="square" lIns="0" tIns="0" rIns="0" bIns="0" rtlCol="0" anchor="ctr"/>
          <a:lstStyle/>
          <a:p>
            <a:pPr indent="0" marL="0">
              <a:buNone/>
            </a:pPr>
            <a:r>
              <a:rPr lang="en-US" sz="1000" dirty="0">
                <a:solidFill>
                  <a:schemeClr val="accent5"/>
                </a:solidFill>
              </a:rPr>
              <a:t>Chapter 6 · Visualizing agricultural data  ·  R Programming for Agricultural Data Analysis</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9144000" cy="365760"/>
          </a:xfrm>
          <a:prstGeom prst="rect">
            <a:avLst/>
          </a:prstGeom>
          <a:noFill/>
          <a:ln/>
        </p:spPr>
        <p:txBody>
          <a:bodyPr wrap="square" lIns="0" tIns="0" rIns="0" bIns="0" rtlCol="0" anchor="t"/>
          <a:lstStyle/>
          <a:p>
            <a:pPr indent="0" marL="0">
              <a:buNone/>
            </a:pPr>
            <a:r>
              <a:rPr lang="en-US" sz="1600" b="1" spc="300" kern="0" dirty="0">
                <a:solidFill>
                  <a:schemeClr val="accent2"/>
                </a:solidFill>
              </a:rPr>
              <a:t>MODULE 3  ·  CHAPTER 6</a:t>
            </a:r>
            <a:endParaRPr lang="en-US" sz="1600" dirty="0"/>
          </a:p>
        </p:txBody>
      </p:sp>
      <p:sp>
        <p:nvSpPr>
          <p:cNvPr id="3" name="Text 0"/>
          <p:cNvSpPr/>
          <p:nvPr>
            <p:ph idx="100" type="title" hasCustomPrompt="1"/>
          </p:nvPr>
        </p:nvSpPr>
        <p:spPr>
          <a:xfrm>
            <a:off x="731520" y="2103120"/>
            <a:ext cx="9326880" cy="1463040"/>
          </a:xfrm>
          <a:prstGeom prst="rect">
            <a:avLst/>
          </a:prstGeom>
          <a:noFill/>
          <a:ln/>
        </p:spPr>
        <p:txBody>
          <a:bodyPr wrap="square" lIns="0" tIns="0" rIns="0" bIns="0" rtlCol="0" anchor="t"/>
          <a:lstStyle/>
          <a:p>
            <a:pPr algn="l" indent="0" marL="0">
              <a:buNone/>
            </a:pPr>
            <a:r>
              <a:rPr lang="en-US" sz="4400" b="1" dirty="0">
                <a:solidFill>
                  <a:schemeClr val="bg1"/>
                </a:solidFill>
              </a:rPr>
              <a:t>Visualizing agricultural data</a:t>
            </a:r>
            <a:endParaRPr lang="en-US" sz="4400" dirty="0"/>
          </a:p>
        </p:txBody>
      </p:sp>
      <p:sp>
        <p:nvSpPr>
          <p:cNvPr id="4" name="Text 0"/>
          <p:cNvSpPr/>
          <p:nvPr>
            <p:ph idx="101" type="body" hasCustomPrompt="1"/>
          </p:nvPr>
        </p:nvSpPr>
        <p:spPr>
          <a:xfrm>
            <a:off x="731520" y="3657600"/>
            <a:ext cx="9326880" cy="731520"/>
          </a:xfrm>
          <a:prstGeom prst="rect">
            <a:avLst/>
          </a:prstGeom>
          <a:noFill/>
          <a:ln/>
        </p:spPr>
        <p:txBody>
          <a:bodyPr wrap="square" lIns="0" tIns="0" rIns="0" bIns="0" rtlCol="0" anchor="t"/>
          <a:lstStyle/>
          <a:p>
            <a:pPr indent="0" marL="0">
              <a:buNone/>
            </a:pPr>
            <a:r>
              <a:rPr lang="en-US" sz="2200" dirty="0">
                <a:solidFill>
                  <a:schemeClr val="accent6"/>
                </a:solidFill>
              </a:rPr>
              <a:t>R Programming for Agricultural Data Analysis</a:t>
            </a:r>
            <a:endParaRPr lang="en-US" sz="2200" dirty="0"/>
          </a:p>
        </p:txBody>
      </p:sp>
      <p:sp>
        <p:nvSpPr>
          <p:cNvPr id="5" name="Text 3"/>
          <p:cNvSpPr txBox="1"/>
          <p:nvPr/>
        </p:nvSpPr>
        <p:spPr>
          <a:xfrm>
            <a:off x="731520" y="4937760"/>
            <a:ext cx="10515600" cy="731520"/>
          </a:xfrm>
          <a:prstGeom prst="rect">
            <a:avLst/>
          </a:prstGeom>
          <a:noFill/>
          <a:ln/>
        </p:spPr>
        <p:txBody>
          <a:bodyPr wrap="square" lIns="0" tIns="0" rIns="0" bIns="0" rtlCol="0" anchor="t"/>
          <a:lstStyle/>
          <a:p>
            <a:pPr indent="0" marL="0">
              <a:buNone/>
            </a:pPr>
            <a:r>
              <a:rPr lang="en-US" sz="1500" b="1" dirty="0">
                <a:solidFill>
                  <a:schemeClr val="bg1"/>
                </a:solidFill>
              </a:rPr>
              <a:t>Dr. Pratheesh P. Gopinath</a:t>
            </a:r>
            <a:endParaRPr lang="en-US" sz="1500" dirty="0"/>
          </a:p>
          <a:p>
            <a:pPr indent="0" marL="0">
              <a:buNone/>
            </a:pPr>
            <a:r>
              <a:rPr lang="en-US" sz="1500" dirty="0">
                <a:solidFill>
                  <a:schemeClr val="bg1"/>
                </a:solidFill>
              </a:rPr>
              <a:t>Department of Agricultural Statistics · College of Agriculture, Vellayani · Kerala Agricultural University</a:t>
            </a:r>
            <a:endParaRPr lang="en-US" sz="1500" dirty="0"/>
          </a:p>
        </p:txBody>
      </p:sp>
      <p:pic>
        <p:nvPicPr>
          <p:cNvPr id="6" name="Image 0" descr="chapter icon">    </p:cNvPr>
          <p:cNvPicPr>
            <a:picLocks noChangeAspect="1"/>
          </p:cNvPicPr>
          <p:nvPr/>
        </p:nvPicPr>
        <p:blipFill>
          <a:blip r:embed="rId1"/>
          <a:stretch>
            <a:fillRect/>
          </a:stretch>
        </p:blipFill>
        <p:spPr>
          <a:xfrm>
            <a:off x="10149840" y="11887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In this chapter you will</a:t>
            </a:r>
            <a:endParaRPr lang="en-US" sz="3200" dirty="0"/>
          </a:p>
        </p:txBody>
      </p:sp>
      <p:sp>
        <p:nvSpPr>
          <p:cNvPr id="3" name="card"/>
          <p:cNvSpPr/>
          <p:nvPr/>
        </p:nvSpPr>
        <p:spPr>
          <a:xfrm>
            <a:off x="54864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22960" y="1691640"/>
            <a:ext cx="731520" cy="731520"/>
          </a:xfrm>
          <a:prstGeom prst="ellipse">
            <a:avLst/>
          </a:prstGeom>
          <a:solidFill>
            <a:schemeClr val="accent1"/>
          </a:solidFill>
          <a:ln/>
        </p:spPr>
      </p:sp>
      <p:pic>
        <p:nvPicPr>
          <p:cNvPr id="5" name="Image 0" descr="FaChartBar">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178308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Match graph to question</a:t>
            </a:r>
            <a:endParaRPr lang="en-US" sz="1800" dirty="0"/>
          </a:p>
        </p:txBody>
      </p:sp>
      <p:sp>
        <p:nvSpPr>
          <p:cNvPr id="7" name="Text 4"/>
          <p:cNvSpPr txBox="1"/>
          <p:nvPr/>
        </p:nvSpPr>
        <p:spPr>
          <a:xfrm>
            <a:off x="178308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Bar, histogram, box plot, scatter and line plots</a:t>
            </a:r>
            <a:endParaRPr lang="en-US" sz="1400" dirty="0"/>
          </a:p>
        </p:txBody>
      </p:sp>
      <p:sp>
        <p:nvSpPr>
          <p:cNvPr id="8" name="card"/>
          <p:cNvSpPr/>
          <p:nvPr/>
        </p:nvSpPr>
        <p:spPr>
          <a:xfrm>
            <a:off x="617220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46520" y="1691640"/>
            <a:ext cx="731520" cy="731520"/>
          </a:xfrm>
          <a:prstGeom prst="ellipse">
            <a:avLst/>
          </a:prstGeom>
          <a:solidFill>
            <a:schemeClr val="accent1"/>
          </a:solidFill>
          <a:ln/>
        </p:spPr>
      </p:sp>
      <p:pic>
        <p:nvPicPr>
          <p:cNvPr id="10" name="Image 1" descr="FaPaintBrush">    </p:cNvPr>
          <p:cNvPicPr>
            <a:picLocks noChangeAspect="1"/>
          </p:cNvPicPr>
          <p:nvPr/>
        </p:nvPicPr>
        <p:blipFill>
          <a:blip r:embed="rId2"/>
          <a:stretch>
            <a:fillRect/>
          </a:stretch>
        </p:blipFill>
        <p:spPr>
          <a:xfrm>
            <a:off x="6629400" y="1874520"/>
            <a:ext cx="365760" cy="365760"/>
          </a:xfrm>
          <a:prstGeom prst="rect">
            <a:avLst/>
          </a:prstGeom>
        </p:spPr>
      </p:pic>
      <p:sp>
        <p:nvSpPr>
          <p:cNvPr id="11" name="Text 7"/>
          <p:cNvSpPr txBox="1"/>
          <p:nvPr/>
        </p:nvSpPr>
        <p:spPr>
          <a:xfrm>
            <a:off x="740664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Build and customize</a:t>
            </a:r>
            <a:endParaRPr lang="en-US" sz="1800" dirty="0"/>
          </a:p>
        </p:txBody>
      </p:sp>
      <p:sp>
        <p:nvSpPr>
          <p:cNvPr id="12" name="Text 8"/>
          <p:cNvSpPr txBox="1"/>
          <p:nvPr/>
        </p:nvSpPr>
        <p:spPr>
          <a:xfrm>
            <a:off x="740664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Base R plots and ggplot2 layers, labels and colours</a:t>
            </a:r>
            <a:endParaRPr lang="en-US" sz="1400" dirty="0"/>
          </a:p>
        </p:txBody>
      </p:sp>
      <p:sp>
        <p:nvSpPr>
          <p:cNvPr id="13" name="card"/>
          <p:cNvSpPr/>
          <p:nvPr/>
        </p:nvSpPr>
        <p:spPr>
          <a:xfrm>
            <a:off x="54864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22960" y="3337560"/>
            <a:ext cx="731520" cy="731520"/>
          </a:xfrm>
          <a:prstGeom prst="ellipse">
            <a:avLst/>
          </a:prstGeom>
          <a:solidFill>
            <a:schemeClr val="accent1"/>
          </a:solidFill>
          <a:ln/>
        </p:spPr>
      </p:sp>
      <p:pic>
        <p:nvPicPr>
          <p:cNvPr id="15" name="Image 2" descr="FaEye">    </p:cNvPr>
          <p:cNvPicPr>
            <a:picLocks noChangeAspect="1"/>
          </p:cNvPicPr>
          <p:nvPr/>
        </p:nvPicPr>
        <p:blipFill>
          <a:blip r:embed="rId3"/>
          <a:stretch>
            <a:fillRect/>
          </a:stretch>
        </p:blipFill>
        <p:spPr>
          <a:xfrm>
            <a:off x="1005840" y="3520440"/>
            <a:ext cx="365760" cy="365760"/>
          </a:xfrm>
          <a:prstGeom prst="rect">
            <a:avLst/>
          </a:prstGeom>
        </p:spPr>
      </p:pic>
      <p:sp>
        <p:nvSpPr>
          <p:cNvPr id="16" name="Text 11"/>
          <p:cNvSpPr txBox="1"/>
          <p:nvPr/>
        </p:nvSpPr>
        <p:spPr>
          <a:xfrm>
            <a:off x="178308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Show the data</a:t>
            </a:r>
            <a:endParaRPr lang="en-US" sz="1800" dirty="0"/>
          </a:p>
        </p:txBody>
      </p:sp>
      <p:sp>
        <p:nvSpPr>
          <p:cNvPr id="17" name="Text 12"/>
          <p:cNvSpPr txBox="1"/>
          <p:nvPr/>
        </p:nvSpPr>
        <p:spPr>
          <a:xfrm>
            <a:off x="178308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Distributions and points, not only bars of means</a:t>
            </a:r>
            <a:endParaRPr lang="en-US" sz="1400" dirty="0"/>
          </a:p>
        </p:txBody>
      </p:sp>
      <p:sp>
        <p:nvSpPr>
          <p:cNvPr id="18" name="card"/>
          <p:cNvSpPr/>
          <p:nvPr/>
        </p:nvSpPr>
        <p:spPr>
          <a:xfrm>
            <a:off x="617220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9" name="icon circle"/>
          <p:cNvSpPr/>
          <p:nvPr/>
        </p:nvSpPr>
        <p:spPr>
          <a:xfrm>
            <a:off x="6446520" y="3337560"/>
            <a:ext cx="731520" cy="731520"/>
          </a:xfrm>
          <a:prstGeom prst="ellipse">
            <a:avLst/>
          </a:prstGeom>
          <a:solidFill>
            <a:schemeClr val="accent1"/>
          </a:solidFill>
          <a:ln/>
        </p:spPr>
      </p:sp>
      <p:pic>
        <p:nvPicPr>
          <p:cNvPr id="20" name="Image 3" descr="FaThLarge">    </p:cNvPr>
          <p:cNvPicPr>
            <a:picLocks noChangeAspect="1"/>
          </p:cNvPicPr>
          <p:nvPr/>
        </p:nvPicPr>
        <p:blipFill>
          <a:blip r:embed="rId4"/>
          <a:stretch>
            <a:fillRect/>
          </a:stretch>
        </p:blipFill>
        <p:spPr>
          <a:xfrm>
            <a:off x="6629400" y="3520440"/>
            <a:ext cx="365760" cy="365760"/>
          </a:xfrm>
          <a:prstGeom prst="rect">
            <a:avLst/>
          </a:prstGeom>
        </p:spPr>
      </p:pic>
      <p:sp>
        <p:nvSpPr>
          <p:cNvPr id="21" name="Text 15"/>
          <p:cNvSpPr txBox="1"/>
          <p:nvPr/>
        </p:nvSpPr>
        <p:spPr>
          <a:xfrm>
            <a:off x="740664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Panels and heatmaps</a:t>
            </a:r>
            <a:endParaRPr lang="en-US" sz="1800" dirty="0"/>
          </a:p>
        </p:txBody>
      </p:sp>
      <p:sp>
        <p:nvSpPr>
          <p:cNvPr id="22" name="Text 16"/>
          <p:cNvSpPr txBox="1"/>
          <p:nvPr/>
        </p:nvSpPr>
        <p:spPr>
          <a:xfrm>
            <a:off x="740664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Facets, combined figures and export at 300 dpi</a:t>
            </a:r>
            <a:endParaRPr lang="en-US" sz="1400" dirty="0"/>
          </a:p>
        </p:txBody>
      </p:sp>
      <p:sp>
        <p:nvSpPr>
          <p:cNvPr id="23" name="key idea"/>
          <p:cNvSpPr/>
          <p:nvPr/>
        </p:nvSpPr>
        <p:spPr>
          <a:xfrm>
            <a:off x="548640" y="4709160"/>
            <a:ext cx="11064240" cy="822960"/>
          </a:xfrm>
          <a:prstGeom prst="roundRect">
            <a:avLst>
              <a:gd name="adj" fmla="val 13333"/>
            </a:avLst>
          </a:prstGeom>
          <a:solidFill>
            <a:schemeClr val="accent6"/>
          </a:solidFill>
          <a:ln/>
          <a:effectLst>
            <a:outerShdw sx="100000" sy="100000" kx="0" ky="0" algn="bl" rotWithShape="0" blurRad="76200" dist="25400" dir="5400000">
              <a:srgbClr val="8A97AB">
                <a:alpha val="25000"/>
              </a:srgbClr>
            </a:outerShdw>
          </a:effectLst>
        </p:spPr>
      </p:sp>
      <p:sp>
        <p:nvSpPr>
          <p:cNvPr id="24" name="Text 18"/>
          <p:cNvSpPr txBox="1"/>
          <p:nvPr/>
        </p:nvSpPr>
        <p:spPr>
          <a:xfrm>
            <a:off x="822960" y="4709160"/>
            <a:ext cx="10515600" cy="82296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A good figure makes comparisons clear and preserves units, distributions and grouping. Decoration cannot rescue a misleading scale.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Match the graph to the question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291840"/>
                <a:gridCol w="2743200"/>
                <a:gridCol w="2194560"/>
                <a:gridCol w="2834640"/>
              </a:tblGrid>
              <a:tr h="640080">
                <a:tc>
                  <a:txBody>
                    <a:bodyPr/>
                    <a:lstStyle/>
                    <a:p>
                      <a:pPr indent="0" marL="0">
                        <a:buNone/>
                      </a:pPr>
                      <a:r>
                        <a:rPr lang="en-US" sz="1500" b="1" dirty="0">
                          <a:solidFill>
                            <a:schemeClr val="bg1"/>
                          </a:solidFill>
                        </a:rPr>
                        <a:t>Question</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Variables</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Graph</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R function</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r>
              <a:tr h="640080">
                <a:tc>
                  <a:txBody>
                    <a:bodyPr/>
                    <a:lstStyle/>
                    <a:p>
                      <a:pPr indent="0" marL="0">
                        <a:buNone/>
                      </a:pPr>
                      <a:r>
                        <a:rPr lang="en-US" sz="1400" b="1" dirty="0">
                          <a:solidFill>
                            <a:schemeClr val="tx2"/>
                          </a:solidFill>
                        </a:rPr>
                        <a:t>How are yields distributed?</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One quantitative</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Histogram</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hist() · geom_histogram()</a:t>
                      </a:r>
                      <a:endParaRPr lang="en-US" sz="1400" dirty="0">
                        <a:latin typeface="Courier New" charset="0"/>
                        <a:ea typeface="Courier New" charset="0"/>
                        <a:cs typeface="Courier New" charset="0"/>
                      </a:endParaRPr>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2"/>
                          </a:solidFill>
                        </a:rPr>
                        <a:t>Do treatments differ in spread and centre?</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Quantitative by group</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Box plot + points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boxplot() · geom_boxplot()</a:t>
                      </a:r>
                      <a:endParaRPr lang="en-US" sz="1400" dirty="0">
                        <a:latin typeface="Courier New" charset="0"/>
                        <a:ea typeface="Courier New" charset="0"/>
                        <a:cs typeface="Courier New" charset="0"/>
                      </a:endParaRPr>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2"/>
                          </a:solidFill>
                        </a:rPr>
                        <a:t>How does yield change with nitrogen?</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Two quantitative</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Scatter plot</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plot() · geom_point()</a:t>
                      </a:r>
                      <a:endParaRPr lang="en-US" sz="1400" dirty="0">
                        <a:latin typeface="Courier New" charset="0"/>
                        <a:ea typeface="Courier New" charset="0"/>
                        <a:cs typeface="Courier New" charset="0"/>
                      </a:endParaRPr>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2"/>
                          </a:solidFill>
                        </a:rPr>
                        <a:t>How many plots per soil class?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One categorical</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Bar chart</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barplot() · geom_bar()</a:t>
                      </a:r>
                      <a:endParaRPr lang="en-US" sz="1400" dirty="0">
                        <a:latin typeface="Courier New" charset="0"/>
                        <a:ea typeface="Courier New" charset="0"/>
                        <a:cs typeface="Courier New" charset="0"/>
                      </a:endParaRPr>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r>
              <a:tr h="640080">
                <a:tc>
                  <a:txBody>
                    <a:bodyPr/>
                    <a:lstStyle/>
                    <a:p>
                      <a:pPr indent="0" marL="0">
                        <a:buNone/>
                      </a:pPr>
                      <a:r>
                        <a:rPr lang="en-US" sz="1400" b="1" dirty="0">
                          <a:solidFill>
                            <a:schemeClr val="tx2"/>
                          </a:solidFill>
                        </a:rPr>
                        <a:t>How does rainfall change over months?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Quantity over time</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Line plot</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plot(type = "l") · geom_line()</a:t>
                      </a:r>
                      <a:endParaRPr lang="en-US" sz="1400" dirty="0">
                        <a:latin typeface="Courier New" charset="0"/>
                        <a:ea typeface="Courier New" charset="0"/>
                        <a:cs typeface="Courier New" charset="0"/>
                      </a:endParaRPr>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r h="640080">
                <a:tc>
                  <a:txBody>
                    <a:bodyPr/>
                    <a:lstStyle/>
                    <a:p>
                      <a:pPr indent="0" marL="0">
                        <a:buNone/>
                      </a:pPr>
                      <a:r>
                        <a:rPr lang="en-US" sz="1400" b="1" dirty="0">
                          <a:solidFill>
                            <a:schemeClr val="tx2"/>
                          </a:solidFill>
                        </a:rPr>
                        <a:t>What share of a whole?</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Parts of one total</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Pie (use sparingly)</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ourier New" pitchFamily="34" charset="0"/>
                          <a:ea typeface="Courier New" pitchFamily="34" charset="-122"/>
                          <a:cs typeface="Courier New" pitchFamily="34" charset="-120"/>
                        </a:rPr>
                        <a:t>pie()</a:t>
                      </a:r>
                      <a:endParaRPr lang="en-US" sz="1400" dirty="0">
                        <a:latin typeface="Courier New" charset="0"/>
                        <a:ea typeface="Courier New" charset="0"/>
                        <a:cs typeface="Courier New" charset="0"/>
                      </a:endParaRPr>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A</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Base R graphics</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Quick plots with a few arguments</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Base R: scatter, histogram and box plot</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crop &lt;- read.csv("data/crop_trial.csv")</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plot(crop$nitrogen_kg_ha, crop$yield_t_ha, pch = 19,</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col = "#237f83", xlab = "Nitrogen (kg/ha)",</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ylab = "Yield (t/ha)")</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hist(crop$yield_t_ha, breaks = 10, col = "#4C956C",</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xlab = "Yield (t/ha)", main = "Plot yields")</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boxplot(yield_t_ha ~ treatment, data = crop,</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col = c("#abc4e2", "#ebc276", "#87c4a3"),</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ylab = "Yield (t/ha)")</a:t>
            </a:r>
            <a:endParaRPr lang="en-US" sz="15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SlidersH">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Arguments you will reuse</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xlab, ylab, main: labels with units</a:t>
            </a:r>
            <a:endParaRPr lang="en-US" sz="1400" dirty="0"/>
          </a:p>
          <a:p>
            <a:pPr marL="228600" indent="-228600">
              <a:spcAft>
                <a:spcPts val="800"/>
              </a:spcAft>
              <a:buSzPct val="100000"/>
              <a:buChar char="•"/>
            </a:pPr>
            <a:r>
              <a:rPr lang="en-US" sz="1400" dirty="0">
                <a:solidFill>
                  <a:schemeClr val="tx1"/>
                </a:solidFill>
              </a:rPr>
              <a:t>col: colours, often as hex codes</a:t>
            </a:r>
            <a:endParaRPr lang="en-US" sz="1400" dirty="0"/>
          </a:p>
          <a:p>
            <a:pPr marL="228600" indent="-228600">
              <a:spcAft>
                <a:spcPts val="800"/>
              </a:spcAft>
              <a:buSzPct val="100000"/>
              <a:buChar char="•"/>
            </a:pPr>
            <a:r>
              <a:rPr lang="en-US" sz="1400" dirty="0">
                <a:solidFill>
                  <a:schemeClr val="tx1"/>
                </a:solidFill>
              </a:rPr>
              <a:t>pch: point symbol</a:t>
            </a:r>
            <a:endParaRPr lang="en-US" sz="1400" dirty="0"/>
          </a:p>
          <a:p>
            <a:pPr marL="228600" indent="-228600">
              <a:spcAft>
                <a:spcPts val="800"/>
              </a:spcAft>
              <a:buSzPct val="100000"/>
              <a:buChar char="•"/>
            </a:pPr>
            <a:r>
              <a:rPr lang="en-US" sz="1400" dirty="0">
                <a:solidFill>
                  <a:schemeClr val="tx1"/>
                </a:solidFill>
              </a:rPr>
              <a:t>breaks: histogram bins</a:t>
            </a:r>
            <a:endParaRPr lang="en-US" sz="1400" dirty="0"/>
          </a:p>
        </p:txBody>
      </p:sp>
      <p:sp>
        <p:nvSpPr>
          <p:cNvPr id="10"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995928"/>
            <a:ext cx="548640" cy="548640"/>
          </a:xfrm>
          <a:prstGeom prst="ellipse">
            <a:avLst/>
          </a:prstGeom>
          <a:solidFill>
            <a:schemeClr val="accent2"/>
          </a:solidFill>
          <a:ln/>
        </p:spPr>
      </p:sp>
      <p:pic>
        <p:nvPicPr>
          <p:cNvPr id="12" name="Image 1" descr="FaGripLines">    </p:cNvPr>
          <p:cNvPicPr>
            <a:picLocks noChangeAspect="1"/>
          </p:cNvPicPr>
          <p:nvPr/>
        </p:nvPicPr>
        <p:blipFill>
          <a:blip r:embed="rId2"/>
          <a:stretch>
            <a:fillRect/>
          </a:stretch>
        </p:blipFill>
        <p:spPr>
          <a:xfrm>
            <a:off x="7909560" y="4133088"/>
            <a:ext cx="274320" cy="274320"/>
          </a:xfrm>
          <a:prstGeom prst="rect">
            <a:avLst/>
          </a:prstGeom>
        </p:spPr>
      </p:pic>
      <p:sp>
        <p:nvSpPr>
          <p:cNvPr id="13" name="Text 9"/>
          <p:cNvSpPr txBox="1"/>
          <p:nvPr/>
        </p:nvSpPr>
        <p:spPr>
          <a:xfrm>
            <a:off x="8458200" y="397764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Anatomy of a box plot</a:t>
            </a:r>
            <a:endParaRPr lang="en-US" sz="1600" dirty="0"/>
          </a:p>
        </p:txBody>
      </p:sp>
      <p:sp>
        <p:nvSpPr>
          <p:cNvPr id="14" name="Text 10"/>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Median line, box from Q1 to Q3, whiskers to the most extreme points within 1.5 × IQR; points beyond are drawn separately.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Read the shape, not just the points</a:t>
            </a:r>
            <a:endParaRPr lang="en-US" sz="3200" dirty="0"/>
          </a:p>
        </p:txBody>
      </p:sp>
      <p:graphicFrame>
        <p:nvGraphicFramePr>
          <p:cNvPr id="3" name="Chart 0" descr=""/>
          <p:cNvGraphicFramePr/>
          <p:nvPr/>
        </p:nvGraphicFramePr>
        <p:xfrm>
          <a:off x="548640" y="1325880"/>
          <a:ext cx="6949440" cy="470916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772400" y="1325880"/>
            <a:ext cx="38404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5" name="Text 2"/>
          <p:cNvSpPr txBox="1"/>
          <p:nvPr/>
        </p:nvSpPr>
        <p:spPr>
          <a:xfrm>
            <a:off x="8001000" y="1463040"/>
            <a:ext cx="3383280" cy="411480"/>
          </a:xfrm>
          <a:prstGeom prst="rect">
            <a:avLst/>
          </a:prstGeom>
          <a:noFill/>
          <a:ln/>
        </p:spPr>
        <p:txBody>
          <a:bodyPr wrap="square" lIns="0" tIns="0" rIns="0" bIns="0" rtlCol="0" anchor="t"/>
          <a:lstStyle/>
          <a:p>
            <a:pPr indent="0" marL="0">
              <a:buNone/>
            </a:pPr>
            <a:r>
              <a:rPr lang="en-US" sz="1600" b="1" dirty="0">
                <a:solidFill>
                  <a:schemeClr val="tx2"/>
                </a:solidFill>
              </a:rPr>
              <a:t>What the curve suggests</a:t>
            </a:r>
            <a:endParaRPr lang="en-US" sz="1600" dirty="0"/>
          </a:p>
        </p:txBody>
      </p:sp>
      <p:sp>
        <p:nvSpPr>
          <p:cNvPr id="6" name="Text 3"/>
          <p:cNvSpPr txBox="1"/>
          <p:nvPr/>
        </p:nvSpPr>
        <p:spPr>
          <a:xfrm>
            <a:off x="8001000" y="1874520"/>
            <a:ext cx="3383280" cy="1600200"/>
          </a:xfrm>
          <a:prstGeom prst="rect">
            <a:avLst/>
          </a:prstGeom>
          <a:noFill/>
          <a:ln/>
        </p:spPr>
        <p:txBody>
          <a:bodyPr wrap="square" lIns="0" tIns="0" rIns="0" bIns="0" rtlCol="0" anchor="t"/>
          <a:lstStyle/>
          <a:p>
            <a:pPr indent="0" marL="0">
              <a:buNone/>
            </a:pPr>
            <a:r>
              <a:rPr lang="en-US" sz="1400" dirty="0">
                <a:solidFill>
                  <a:schemeClr val="tx1"/>
                </a:solidFill>
              </a:rPr>
              <a:t>Yield rises steeply at first, then levels off after about 90–120 kg/ha.</a:t>
            </a:r>
            <a:endParaRPr lang="en-US" sz="1400" dirty="0"/>
          </a:p>
        </p:txBody>
      </p:sp>
      <p:sp>
        <p:nvSpPr>
          <p:cNvPr id="7" name="card"/>
          <p:cNvSpPr/>
          <p:nvPr/>
        </p:nvSpPr>
        <p:spPr>
          <a:xfrm>
            <a:off x="7772400" y="3794760"/>
            <a:ext cx="3840480" cy="2240280"/>
          </a:xfrm>
          <a:prstGeom prst="roundRect">
            <a:avLst>
              <a:gd name="adj" fmla="val 4898"/>
            </a:avLst>
          </a:prstGeom>
          <a:solidFill>
            <a:schemeClr val="accent6"/>
          </a:solidFill>
          <a:ln/>
          <a:effectLst>
            <a:outerShdw sx="100000" sy="100000" kx="0" ky="0" algn="bl" rotWithShape="0" blurRad="76200" dist="25400" dir="5400000">
              <a:srgbClr val="8A97AB">
                <a:alpha val="25000"/>
              </a:srgbClr>
            </a:outerShdw>
          </a:effectLst>
        </p:spPr>
      </p:sp>
      <p:sp>
        <p:nvSpPr>
          <p:cNvPr id="8" name="Text 5"/>
          <p:cNvSpPr txBox="1"/>
          <p:nvPr/>
        </p:nvSpPr>
        <p:spPr>
          <a:xfrm>
            <a:off x="8001000" y="3931920"/>
            <a:ext cx="3383280" cy="411480"/>
          </a:xfrm>
          <a:prstGeom prst="rect">
            <a:avLst/>
          </a:prstGeom>
          <a:noFill/>
          <a:ln/>
        </p:spPr>
        <p:txBody>
          <a:bodyPr wrap="square" lIns="0" tIns="0" rIns="0" bIns="0" rtlCol="0" anchor="t"/>
          <a:lstStyle/>
          <a:p>
            <a:pPr indent="0" marL="0">
              <a:buNone/>
            </a:pPr>
            <a:r>
              <a:rPr lang="en-US" sz="1600" b="1" dirty="0">
                <a:solidFill>
                  <a:schemeClr val="accent4"/>
                </a:solidFill>
              </a:rPr>
              <a:t>What it cannot show</a:t>
            </a:r>
            <a:endParaRPr lang="en-US" sz="1600" dirty="0"/>
          </a:p>
        </p:txBody>
      </p:sp>
      <p:sp>
        <p:nvSpPr>
          <p:cNvPr id="9" name="Text 6"/>
          <p:cNvSpPr txBox="1"/>
          <p:nvPr/>
        </p:nvSpPr>
        <p:spPr>
          <a:xfrm>
            <a:off x="8001000" y="4343400"/>
            <a:ext cx="3383280" cy="1600200"/>
          </a:xfrm>
          <a:prstGeom prst="rect">
            <a:avLst/>
          </a:prstGeom>
          <a:noFill/>
          <a:ln/>
        </p:spPr>
        <p:txBody>
          <a:bodyPr wrap="square" lIns="0" tIns="0" rIns="0" bIns="0" rtlCol="0" anchor="t"/>
          <a:lstStyle/>
          <a:p>
            <a:pPr indent="0" marL="0">
              <a:buNone/>
            </a:pPr>
            <a:r>
              <a:rPr lang="en-US" sz="1400" dirty="0">
                <a:solidFill>
                  <a:schemeClr val="tx1"/>
                </a:solidFill>
              </a:rPr>
              <a:t>Six illustrative points do not establish an optimum dose. That needs a designed experiment and a response model.</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B</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ggplot2 and honest summaries</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Layers, distributions, panels and export</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Building a plot in layers with ggplot2</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library(ggplot2)</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ggplot(crop, aes(nitrogen_kg_ha, yield_t_ha,</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colour = treatment))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geom_point(size = 2, alpha = 0.8)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labs(x = "Nitrogen (kg/ha)", y = "Yield (t/ha)",</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colour = "Treatment")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theme_minimal(base_size = 13)</a:t>
            </a:r>
            <a:endParaRPr lang="en-US" sz="1500" dirty="0"/>
          </a:p>
        </p:txBody>
      </p:sp>
      <p:sp>
        <p:nvSpPr>
          <p:cNvPr id="5" name="note"/>
          <p:cNvSpPr/>
          <p:nvPr/>
        </p:nvSpPr>
        <p:spPr>
          <a:xfrm>
            <a:off x="7543800" y="1325880"/>
            <a:ext cx="4069080" cy="1417320"/>
          </a:xfrm>
          <a:prstGeom prst="roundRect">
            <a:avLst>
              <a:gd name="adj" fmla="val 7742"/>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Database">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Data + aesthetics</a:t>
            </a:r>
            <a:endParaRPr lang="en-US" sz="1600" dirty="0"/>
          </a:p>
        </p:txBody>
      </p:sp>
      <p:sp>
        <p:nvSpPr>
          <p:cNvPr id="9" name="Text 6"/>
          <p:cNvSpPr txBox="1"/>
          <p:nvPr/>
        </p:nvSpPr>
        <p:spPr>
          <a:xfrm>
            <a:off x="7772400" y="2148840"/>
            <a:ext cx="3611880" cy="50292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aes()</a:t>
            </a:r>
            <a:pPr indent="0" marL="0">
              <a:buNone/>
            </a:pPr>
            <a:r>
              <a:rPr lang="en-US" sz="1400" dirty="0">
                <a:solidFill>
                  <a:schemeClr val="tx1"/>
                </a:solidFill>
              </a:rPr>
              <a:t> maps columns to x, y and colour.</a:t>
            </a:r>
            <a:endParaRPr lang="en-US" sz="1400" dirty="0"/>
          </a:p>
        </p:txBody>
      </p:sp>
      <p:sp>
        <p:nvSpPr>
          <p:cNvPr id="10" name="note"/>
          <p:cNvSpPr/>
          <p:nvPr/>
        </p:nvSpPr>
        <p:spPr>
          <a:xfrm>
            <a:off x="7543800" y="2971800"/>
            <a:ext cx="4069080" cy="1417320"/>
          </a:xfrm>
          <a:prstGeom prst="roundRect">
            <a:avLst>
              <a:gd name="adj" fmla="val 7742"/>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172968"/>
            <a:ext cx="548640" cy="548640"/>
          </a:xfrm>
          <a:prstGeom prst="ellipse">
            <a:avLst/>
          </a:prstGeom>
          <a:solidFill>
            <a:schemeClr val="accent2"/>
          </a:solidFill>
          <a:ln/>
        </p:spPr>
      </p:sp>
      <p:pic>
        <p:nvPicPr>
          <p:cNvPr id="12" name="Image 1" descr="FaLayerGroup">    </p:cNvPr>
          <p:cNvPicPr>
            <a:picLocks noChangeAspect="1"/>
          </p:cNvPicPr>
          <p:nvPr/>
        </p:nvPicPr>
        <p:blipFill>
          <a:blip r:embed="rId2"/>
          <a:stretch>
            <a:fillRect/>
          </a:stretch>
        </p:blipFill>
        <p:spPr>
          <a:xfrm>
            <a:off x="7909560" y="3310128"/>
            <a:ext cx="274320" cy="274320"/>
          </a:xfrm>
          <a:prstGeom prst="rect">
            <a:avLst/>
          </a:prstGeom>
        </p:spPr>
      </p:pic>
      <p:sp>
        <p:nvSpPr>
          <p:cNvPr id="13" name="Text 9"/>
          <p:cNvSpPr txBox="1"/>
          <p:nvPr/>
        </p:nvSpPr>
        <p:spPr>
          <a:xfrm>
            <a:off x="8458200" y="315468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Geoms are layers</a:t>
            </a:r>
            <a:endParaRPr lang="en-US" sz="1600" dirty="0"/>
          </a:p>
        </p:txBody>
      </p:sp>
      <p:sp>
        <p:nvSpPr>
          <p:cNvPr id="14" name="Text 10"/>
          <p:cNvSpPr txBox="1"/>
          <p:nvPr/>
        </p:nvSpPr>
        <p:spPr>
          <a:xfrm>
            <a:off x="7772400" y="3794760"/>
            <a:ext cx="3611880" cy="502920"/>
          </a:xfrm>
          <a:prstGeom prst="rect">
            <a:avLst/>
          </a:prstGeom>
          <a:noFill/>
          <a:ln/>
        </p:spPr>
        <p:txBody>
          <a:bodyPr wrap="square" lIns="0" tIns="0" rIns="0" bIns="0" rtlCol="0" anchor="t"/>
          <a:lstStyle/>
          <a:p>
            <a:pPr indent="0" marL="0">
              <a:buNone/>
            </a:pPr>
            <a:r>
              <a:rPr lang="en-US" sz="1400" dirty="0">
                <a:solidFill>
                  <a:schemeClr val="tx1"/>
                </a:solidFill>
              </a:rPr>
              <a:t>Add points, lines, boxes or smooths with </a:t>
            </a:r>
            <a:pPr indent="0" marL="0">
              <a:buNone/>
            </a:pPr>
            <a:r>
              <a:rPr lang="en-US" sz="1400" dirty="0">
                <a:solidFill>
                  <a:schemeClr val="accent1"/>
                </a:solidFill>
                <a:latin typeface="Courier New" pitchFamily="34" charset="0"/>
                <a:ea typeface="Courier New" pitchFamily="34" charset="-122"/>
                <a:cs typeface="Courier New" pitchFamily="34" charset="-120"/>
              </a:rPr>
              <a:t>+</a:t>
            </a:r>
            <a:pPr indent="0" marL="0">
              <a:buNone/>
            </a:pPr>
            <a:r>
              <a:rPr lang="en-US" sz="1400" dirty="0">
                <a:solidFill>
                  <a:schemeClr val="tx1"/>
                </a:solidFill>
              </a:rPr>
              <a:t>.</a:t>
            </a:r>
            <a:endParaRPr lang="en-US" sz="1400" dirty="0"/>
          </a:p>
        </p:txBody>
      </p:sp>
      <p:sp>
        <p:nvSpPr>
          <p:cNvPr id="15" name="note"/>
          <p:cNvSpPr/>
          <p:nvPr/>
        </p:nvSpPr>
        <p:spPr>
          <a:xfrm>
            <a:off x="7543800" y="4617720"/>
            <a:ext cx="4069080" cy="1417320"/>
          </a:xfrm>
          <a:prstGeom prst="roundRect">
            <a:avLst>
              <a:gd name="adj" fmla="val 7742"/>
            </a:avLst>
          </a:prstGeom>
          <a:solidFill>
            <a:schemeClr val="bg2"/>
          </a:solidFill>
          <a:ln/>
          <a:effectLst>
            <a:outerShdw sx="100000" sy="100000" kx="0" ky="0" algn="bl" rotWithShape="0" blurRad="76200" dist="25400" dir="5400000">
              <a:srgbClr val="8A97AB">
                <a:alpha val="25000"/>
              </a:srgbClr>
            </a:outerShdw>
          </a:effectLst>
        </p:spPr>
      </p:sp>
      <p:sp>
        <p:nvSpPr>
          <p:cNvPr id="16" name="icon circle"/>
          <p:cNvSpPr/>
          <p:nvPr/>
        </p:nvSpPr>
        <p:spPr>
          <a:xfrm>
            <a:off x="7772400" y="4818888"/>
            <a:ext cx="548640" cy="548640"/>
          </a:xfrm>
          <a:prstGeom prst="ellipse">
            <a:avLst/>
          </a:prstGeom>
          <a:solidFill>
            <a:schemeClr val="accent3"/>
          </a:solidFill>
          <a:ln/>
        </p:spPr>
      </p:sp>
      <p:pic>
        <p:nvPicPr>
          <p:cNvPr id="17" name="Image 2" descr="FaFont">    </p:cNvPr>
          <p:cNvPicPr>
            <a:picLocks noChangeAspect="1"/>
          </p:cNvPicPr>
          <p:nvPr/>
        </p:nvPicPr>
        <p:blipFill>
          <a:blip r:embed="rId3"/>
          <a:stretch>
            <a:fillRect/>
          </a:stretch>
        </p:blipFill>
        <p:spPr>
          <a:xfrm>
            <a:off x="7909560" y="4956048"/>
            <a:ext cx="274320" cy="274320"/>
          </a:xfrm>
          <a:prstGeom prst="rect">
            <a:avLst/>
          </a:prstGeom>
        </p:spPr>
      </p:pic>
      <p:sp>
        <p:nvSpPr>
          <p:cNvPr id="18" name="Text 13"/>
          <p:cNvSpPr txBox="1"/>
          <p:nvPr/>
        </p:nvSpPr>
        <p:spPr>
          <a:xfrm>
            <a:off x="8458200" y="480060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Labels and theme</a:t>
            </a:r>
            <a:endParaRPr lang="en-US" sz="1600" dirty="0"/>
          </a:p>
        </p:txBody>
      </p:sp>
      <p:sp>
        <p:nvSpPr>
          <p:cNvPr id="19" name="Text 14"/>
          <p:cNvSpPr txBox="1"/>
          <p:nvPr/>
        </p:nvSpPr>
        <p:spPr>
          <a:xfrm>
            <a:off x="7772400" y="5440680"/>
            <a:ext cx="3611880" cy="50292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labs()</a:t>
            </a:r>
            <a:pPr indent="0" marL="0">
              <a:buNone/>
            </a:pPr>
            <a:r>
              <a:rPr lang="en-US" sz="1400" dirty="0">
                <a:solidFill>
                  <a:schemeClr val="tx1"/>
                </a:solidFill>
              </a:rPr>
              <a:t> for units; a theme for readable text.</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Show distributions, not only means</a:t>
            </a:r>
            <a:endParaRPr lang="en-US" sz="3200" dirty="0"/>
          </a:p>
        </p:txBody>
      </p:sp>
      <p:sp>
        <p:nvSpPr>
          <p:cNvPr id="3" name="card"/>
          <p:cNvSpPr/>
          <p:nvPr/>
        </p:nvSpPr>
        <p:spPr>
          <a:xfrm>
            <a:off x="548640" y="1371600"/>
            <a:ext cx="5440680" cy="3886200"/>
          </a:xfrm>
          <a:prstGeom prst="roundRect">
            <a:avLst>
              <a:gd name="adj" fmla="val 2824"/>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68680" y="1645920"/>
            <a:ext cx="731520" cy="731520"/>
          </a:xfrm>
          <a:prstGeom prst="ellipse">
            <a:avLst/>
          </a:prstGeom>
          <a:solidFill>
            <a:schemeClr val="accent4"/>
          </a:solidFill>
          <a:ln/>
        </p:spPr>
      </p:sp>
      <p:pic>
        <p:nvPicPr>
          <p:cNvPr id="5" name="Image 0" descr="FaChartBar">    </p:cNvPr>
          <p:cNvPicPr>
            <a:picLocks noChangeAspect="1"/>
          </p:cNvPicPr>
          <p:nvPr/>
        </p:nvPicPr>
        <p:blipFill>
          <a:blip r:embed="rId1"/>
          <a:stretch>
            <a:fillRect/>
          </a:stretch>
        </p:blipFill>
        <p:spPr>
          <a:xfrm>
            <a:off x="1051560" y="1828800"/>
            <a:ext cx="365760" cy="365760"/>
          </a:xfrm>
          <a:prstGeom prst="rect">
            <a:avLst/>
          </a:prstGeom>
        </p:spPr>
      </p:pic>
      <p:sp>
        <p:nvSpPr>
          <p:cNvPr id="6" name="Text 3"/>
          <p:cNvSpPr txBox="1"/>
          <p:nvPr/>
        </p:nvSpPr>
        <p:spPr>
          <a:xfrm>
            <a:off x="1783080" y="1645920"/>
            <a:ext cx="4023360" cy="731520"/>
          </a:xfrm>
          <a:prstGeom prst="rect">
            <a:avLst/>
          </a:prstGeom>
          <a:noFill/>
          <a:ln/>
        </p:spPr>
        <p:txBody>
          <a:bodyPr wrap="square" lIns="0" tIns="0" rIns="0" bIns="0" rtlCol="0" anchor="ctr"/>
          <a:lstStyle/>
          <a:p>
            <a:pPr indent="0" marL="0">
              <a:buNone/>
            </a:pPr>
            <a:r>
              <a:rPr lang="en-US" sz="2000" b="1" dirty="0">
                <a:solidFill>
                  <a:schemeClr val="tx2"/>
                </a:solidFill>
              </a:rPr>
              <a:t>Bar of means</a:t>
            </a:r>
            <a:endParaRPr lang="en-US" sz="2000" dirty="0"/>
          </a:p>
        </p:txBody>
      </p:sp>
      <p:sp>
        <p:nvSpPr>
          <p:cNvPr id="7" name="Text 4"/>
          <p:cNvSpPr txBox="1"/>
          <p:nvPr/>
        </p:nvSpPr>
        <p:spPr>
          <a:xfrm>
            <a:off x="868680" y="2606040"/>
            <a:ext cx="4846320" cy="25146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Hides spread and sample size</a:t>
            </a:r>
            <a:endParaRPr lang="en-US" sz="1600" dirty="0"/>
          </a:p>
          <a:p>
            <a:pPr marL="228600" indent="-228600">
              <a:spcAft>
                <a:spcPts val="800"/>
              </a:spcAft>
              <a:buSzPct val="100000"/>
              <a:buChar char="•"/>
            </a:pPr>
            <a:r>
              <a:rPr lang="en-US" sz="1600" dirty="0">
                <a:solidFill>
                  <a:schemeClr val="tx1"/>
                </a:solidFill>
              </a:rPr>
              <a:t>Two very different distributions can give the same bar</a:t>
            </a:r>
            <a:endParaRPr lang="en-US" sz="1600" dirty="0"/>
          </a:p>
          <a:p>
            <a:pPr marL="228600" indent="-228600">
              <a:spcAft>
                <a:spcPts val="800"/>
              </a:spcAft>
              <a:buSzPct val="100000"/>
              <a:buChar char="•"/>
            </a:pPr>
            <a:r>
              <a:rPr lang="en-US" sz="1600" dirty="0">
                <a:solidFill>
                  <a:schemeClr val="tx1"/>
                </a:solidFill>
              </a:rPr>
              <a:t>Error bars are often mislabelled: SD, SE or CI?</a:t>
            </a:r>
            <a:endParaRPr lang="en-US" sz="1600" dirty="0"/>
          </a:p>
        </p:txBody>
      </p:sp>
      <p:sp>
        <p:nvSpPr>
          <p:cNvPr id="8" name="card"/>
          <p:cNvSpPr/>
          <p:nvPr/>
        </p:nvSpPr>
        <p:spPr>
          <a:xfrm>
            <a:off x="6172200" y="1371600"/>
            <a:ext cx="5440680" cy="3886200"/>
          </a:xfrm>
          <a:prstGeom prst="roundRect">
            <a:avLst>
              <a:gd name="adj" fmla="val 2824"/>
            </a:avLst>
          </a:prstGeom>
          <a:solidFill>
            <a:schemeClr val="tx2"/>
          </a:solidFill>
          <a:ln/>
          <a:effectLst>
            <a:outerShdw sx="100000" sy="100000" kx="0" ky="0" algn="bl" rotWithShape="0" blurRad="76200" dist="25400" dir="5400000">
              <a:srgbClr val="8A97AB">
                <a:alpha val="25000"/>
              </a:srgbClr>
            </a:outerShdw>
          </a:effectLst>
        </p:spPr>
      </p:sp>
      <p:sp>
        <p:nvSpPr>
          <p:cNvPr id="9" name="icon circle"/>
          <p:cNvSpPr/>
          <p:nvPr/>
        </p:nvSpPr>
        <p:spPr>
          <a:xfrm>
            <a:off x="6492240" y="1645920"/>
            <a:ext cx="731520" cy="731520"/>
          </a:xfrm>
          <a:prstGeom prst="ellipse">
            <a:avLst/>
          </a:prstGeom>
          <a:solidFill>
            <a:schemeClr val="accent2"/>
          </a:solidFill>
          <a:ln/>
        </p:spPr>
      </p:sp>
      <p:pic>
        <p:nvPicPr>
          <p:cNvPr id="10" name="Image 1" descr="FaBraille">    </p:cNvPr>
          <p:cNvPicPr>
            <a:picLocks noChangeAspect="1"/>
          </p:cNvPicPr>
          <p:nvPr/>
        </p:nvPicPr>
        <p:blipFill>
          <a:blip r:embed="rId2"/>
          <a:stretch>
            <a:fillRect/>
          </a:stretch>
        </p:blipFill>
        <p:spPr>
          <a:xfrm>
            <a:off x="6675120" y="1828800"/>
            <a:ext cx="365760" cy="365760"/>
          </a:xfrm>
          <a:prstGeom prst="rect">
            <a:avLst/>
          </a:prstGeom>
        </p:spPr>
      </p:pic>
      <p:sp>
        <p:nvSpPr>
          <p:cNvPr id="11" name="Text 7"/>
          <p:cNvSpPr txBox="1"/>
          <p:nvPr/>
        </p:nvSpPr>
        <p:spPr>
          <a:xfrm>
            <a:off x="7406640" y="1645920"/>
            <a:ext cx="4023360" cy="731520"/>
          </a:xfrm>
          <a:prstGeom prst="rect">
            <a:avLst/>
          </a:prstGeom>
          <a:noFill/>
          <a:ln/>
        </p:spPr>
        <p:txBody>
          <a:bodyPr wrap="square" lIns="0" tIns="0" rIns="0" bIns="0" rtlCol="0" anchor="ctr"/>
          <a:lstStyle/>
          <a:p>
            <a:pPr indent="0" marL="0">
              <a:buNone/>
            </a:pPr>
            <a:r>
              <a:rPr lang="en-US" sz="2000" b="1" dirty="0">
                <a:solidFill>
                  <a:schemeClr val="bg1"/>
                </a:solidFill>
              </a:rPr>
              <a:t>Box plot + jittered points</a:t>
            </a:r>
            <a:endParaRPr lang="en-US" sz="2000" dirty="0"/>
          </a:p>
        </p:txBody>
      </p:sp>
      <p:sp>
        <p:nvSpPr>
          <p:cNvPr id="12" name="Text 8"/>
          <p:cNvSpPr txBox="1"/>
          <p:nvPr/>
        </p:nvSpPr>
        <p:spPr>
          <a:xfrm>
            <a:off x="6492240" y="2606040"/>
            <a:ext cx="4846320" cy="25146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1"/>
                </a:solidFill>
              </a:rPr>
              <a:t>Shows every plot and the overlap between treatments</a:t>
            </a:r>
            <a:endParaRPr lang="en-US" sz="1600" dirty="0"/>
          </a:p>
          <a:p>
            <a:pPr marL="228600" indent="-228600">
              <a:spcAft>
                <a:spcPts val="800"/>
              </a:spcAft>
              <a:buSzPct val="100000"/>
              <a:buChar char="•"/>
            </a:pPr>
            <a:r>
              <a:rPr lang="en-US" sz="1600" dirty="0">
                <a:solidFill>
                  <a:schemeClr val="bg1"/>
                </a:solidFill>
              </a:rPr>
              <a:t>Reveals skewness, outliers and small samples</a:t>
            </a:r>
            <a:endParaRPr lang="en-US" sz="1600" dirty="0"/>
          </a:p>
          <a:p>
            <a:pPr marL="228600" indent="-228600">
              <a:spcAft>
                <a:spcPts val="800"/>
              </a:spcAft>
              <a:buSzPct val="100000"/>
              <a:buChar char="•"/>
            </a:pPr>
            <a:r>
              <a:rPr lang="en-US" sz="1600" dirty="0">
                <a:solidFill>
                  <a:schemeClr val="bg1"/>
                </a:solidFill>
              </a:rPr>
              <a:t>geom_boxplot(outlier.shape = NA) + geom_point(position = position_jitter(width = .12))</a:t>
            </a:r>
            <a:endParaRPr lang="en-US" sz="1600" dirty="0"/>
          </a:p>
        </p:txBody>
      </p:sp>
      <p:sp>
        <p:nvSpPr>
          <p:cNvPr id="13" name="key idea"/>
          <p:cNvSpPr/>
          <p:nvPr/>
        </p:nvSpPr>
        <p:spPr>
          <a:xfrm>
            <a:off x="548640" y="5440680"/>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4" name="Text 10"/>
          <p:cNvSpPr txBox="1"/>
          <p:nvPr/>
        </p:nvSpPr>
        <p:spPr>
          <a:xfrm>
            <a:off x="822960" y="5440680"/>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If you show means, label the error bar (SD, SE or 95% CI) and give 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Panels, heatmaps and export</a:t>
            </a:r>
            <a:endParaRPr lang="en-US" sz="3200" dirty="0"/>
          </a:p>
        </p:txBody>
      </p:sp>
      <p:sp>
        <p:nvSpPr>
          <p:cNvPr id="3" name="card"/>
          <p:cNvSpPr/>
          <p:nvPr/>
        </p:nvSpPr>
        <p:spPr>
          <a:xfrm>
            <a:off x="548640" y="1371600"/>
            <a:ext cx="3535680" cy="3351276"/>
          </a:xfrm>
          <a:prstGeom prst="roundRect">
            <a:avLst>
              <a:gd name="adj" fmla="val 3274"/>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600200"/>
            <a:ext cx="731520" cy="731520"/>
          </a:xfrm>
          <a:prstGeom prst="ellipse">
            <a:avLst/>
          </a:prstGeom>
          <a:solidFill>
            <a:schemeClr val="accent1"/>
          </a:solidFill>
          <a:ln/>
        </p:spPr>
      </p:sp>
      <p:pic>
        <p:nvPicPr>
          <p:cNvPr id="5" name="Image 0" descr="FaThLarge">    </p:cNvPr>
          <p:cNvPicPr>
            <a:picLocks noChangeAspect="1"/>
          </p:cNvPicPr>
          <p:nvPr/>
        </p:nvPicPr>
        <p:blipFill>
          <a:blip r:embed="rId1"/>
          <a:stretch>
            <a:fillRect/>
          </a:stretch>
        </p:blipFill>
        <p:spPr>
          <a:xfrm>
            <a:off x="960120" y="1783080"/>
            <a:ext cx="365760" cy="365760"/>
          </a:xfrm>
          <a:prstGeom prst="rect">
            <a:avLst/>
          </a:prstGeom>
        </p:spPr>
      </p:pic>
      <p:sp>
        <p:nvSpPr>
          <p:cNvPr id="6" name="Text 3"/>
          <p:cNvSpPr txBox="1"/>
          <p:nvPr/>
        </p:nvSpPr>
        <p:spPr>
          <a:xfrm>
            <a:off x="77724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Facets</a:t>
            </a:r>
            <a:endParaRPr lang="en-US" sz="1700" dirty="0"/>
          </a:p>
        </p:txBody>
      </p:sp>
      <p:sp>
        <p:nvSpPr>
          <p:cNvPr id="7" name="Text 4"/>
          <p:cNvSpPr txBox="1"/>
          <p:nvPr/>
        </p:nvSpPr>
        <p:spPr>
          <a:xfrm>
            <a:off x="777240" y="2871216"/>
            <a:ext cx="3078480" cy="1741932"/>
          </a:xfrm>
          <a:prstGeom prst="rect">
            <a:avLst/>
          </a:prstGeom>
          <a:noFill/>
          <a:ln/>
        </p:spPr>
        <p:txBody>
          <a:bodyPr wrap="square" lIns="0" tIns="0" rIns="0" bIns="0" rtlCol="0" anchor="t"/>
          <a:lstStyle/>
          <a:p>
            <a:pPr indent="0" marL="0">
              <a:buNone/>
            </a:pPr>
            <a:r>
              <a:rPr lang="en-US" sz="1800" dirty="0">
                <a:solidFill>
                  <a:schemeClr val="accent1"/>
                </a:solidFill>
                <a:latin typeface="Courier New" pitchFamily="34" charset="0"/>
                <a:ea typeface="Courier New" pitchFamily="34" charset="-122"/>
                <a:cs typeface="Courier New" pitchFamily="34" charset="-120"/>
              </a:rPr>
              <a:t>facet_wrap(~ treatment)</a:t>
            </a:r>
            <a:pPr indent="0" marL="0">
              <a:buNone/>
            </a:pPr>
            <a:r>
              <a:rPr lang="en-US" sz="1800" dirty="0">
                <a:solidFill>
                  <a:schemeClr val="accent5"/>
                </a:solidFill>
              </a:rPr>
              <a:t> makes comparable panels with shared axes.</a:t>
            </a:r>
            <a:endParaRPr lang="en-US" sz="1800" dirty="0"/>
          </a:p>
        </p:txBody>
      </p:sp>
      <p:sp>
        <p:nvSpPr>
          <p:cNvPr id="8" name="card"/>
          <p:cNvSpPr/>
          <p:nvPr/>
        </p:nvSpPr>
        <p:spPr>
          <a:xfrm>
            <a:off x="4312920" y="1371600"/>
            <a:ext cx="3535680" cy="3351276"/>
          </a:xfrm>
          <a:prstGeom prst="roundRect">
            <a:avLst>
              <a:gd name="adj" fmla="val 3274"/>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4541520" y="1600200"/>
            <a:ext cx="731520" cy="731520"/>
          </a:xfrm>
          <a:prstGeom prst="ellipse">
            <a:avLst/>
          </a:prstGeom>
          <a:solidFill>
            <a:schemeClr val="accent2"/>
          </a:solidFill>
          <a:ln/>
        </p:spPr>
      </p:sp>
      <p:pic>
        <p:nvPicPr>
          <p:cNvPr id="10" name="Image 1" descr="FaTh">    </p:cNvPr>
          <p:cNvPicPr>
            <a:picLocks noChangeAspect="1"/>
          </p:cNvPicPr>
          <p:nvPr/>
        </p:nvPicPr>
        <p:blipFill>
          <a:blip r:embed="rId2"/>
          <a:stretch>
            <a:fillRect/>
          </a:stretch>
        </p:blipFill>
        <p:spPr>
          <a:xfrm>
            <a:off x="4724400" y="1783080"/>
            <a:ext cx="365760" cy="365760"/>
          </a:xfrm>
          <a:prstGeom prst="rect">
            <a:avLst/>
          </a:prstGeom>
        </p:spPr>
      </p:pic>
      <p:sp>
        <p:nvSpPr>
          <p:cNvPr id="11" name="Text 7"/>
          <p:cNvSpPr txBox="1"/>
          <p:nvPr/>
        </p:nvSpPr>
        <p:spPr>
          <a:xfrm>
            <a:off x="454152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Heatmaps</a:t>
            </a:r>
            <a:endParaRPr lang="en-US" sz="1700" dirty="0"/>
          </a:p>
        </p:txBody>
      </p:sp>
      <p:sp>
        <p:nvSpPr>
          <p:cNvPr id="12" name="Text 8"/>
          <p:cNvSpPr txBox="1"/>
          <p:nvPr/>
        </p:nvSpPr>
        <p:spPr>
          <a:xfrm>
            <a:off x="4541520" y="2871216"/>
            <a:ext cx="3078480" cy="1741932"/>
          </a:xfrm>
          <a:prstGeom prst="rect">
            <a:avLst/>
          </a:prstGeom>
          <a:noFill/>
          <a:ln/>
        </p:spPr>
        <p:txBody>
          <a:bodyPr wrap="square" lIns="0" tIns="0" rIns="0" bIns="0" rtlCol="0" anchor="t"/>
          <a:lstStyle/>
          <a:p>
            <a:pPr indent="0" marL="0">
              <a:buNone/>
            </a:pPr>
            <a:r>
              <a:rPr lang="en-US" sz="1800" dirty="0">
                <a:solidFill>
                  <a:schemeClr val="accent1"/>
                </a:solidFill>
                <a:latin typeface="Courier New" pitchFamily="34" charset="0"/>
                <a:ea typeface="Courier New" pitchFamily="34" charset="-122"/>
                <a:cs typeface="Courier New" pitchFamily="34" charset="-120"/>
              </a:rPr>
              <a:t>geom_tile()</a:t>
            </a:r>
            <a:pPr indent="0" marL="0">
              <a:buNone/>
            </a:pPr>
            <a:r>
              <a:rPr lang="en-US" sz="1800" dirty="0">
                <a:solidFill>
                  <a:schemeClr val="accent5"/>
                </a:solidFill>
              </a:rPr>
              <a:t> with standardized nutrients shows patterns across plots. A z-score is relative, not a deficiency threshold.</a:t>
            </a:r>
            <a:endParaRPr lang="en-US" sz="1800" dirty="0"/>
          </a:p>
        </p:txBody>
      </p:sp>
      <p:sp>
        <p:nvSpPr>
          <p:cNvPr id="13" name="card"/>
          <p:cNvSpPr/>
          <p:nvPr/>
        </p:nvSpPr>
        <p:spPr>
          <a:xfrm>
            <a:off x="8077200" y="1371600"/>
            <a:ext cx="3535680" cy="3351276"/>
          </a:xfrm>
          <a:prstGeom prst="roundRect">
            <a:avLst>
              <a:gd name="adj" fmla="val 3274"/>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305800" y="1600200"/>
            <a:ext cx="731520" cy="731520"/>
          </a:xfrm>
          <a:prstGeom prst="ellipse">
            <a:avLst/>
          </a:prstGeom>
          <a:solidFill>
            <a:schemeClr val="accent3"/>
          </a:solidFill>
          <a:ln/>
        </p:spPr>
      </p:sp>
      <p:pic>
        <p:nvPicPr>
          <p:cNvPr id="15" name="Image 2" descr="FaFileImage">    </p:cNvPr>
          <p:cNvPicPr>
            <a:picLocks noChangeAspect="1"/>
          </p:cNvPicPr>
          <p:nvPr/>
        </p:nvPicPr>
        <p:blipFill>
          <a:blip r:embed="rId3"/>
          <a:stretch>
            <a:fillRect/>
          </a:stretch>
        </p:blipFill>
        <p:spPr>
          <a:xfrm>
            <a:off x="8488680" y="1783080"/>
            <a:ext cx="365760" cy="365760"/>
          </a:xfrm>
          <a:prstGeom prst="rect">
            <a:avLst/>
          </a:prstGeom>
        </p:spPr>
      </p:pic>
      <p:sp>
        <p:nvSpPr>
          <p:cNvPr id="16" name="Text 11"/>
          <p:cNvSpPr txBox="1"/>
          <p:nvPr/>
        </p:nvSpPr>
        <p:spPr>
          <a:xfrm>
            <a:off x="830580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Export</a:t>
            </a:r>
            <a:endParaRPr lang="en-US" sz="1700" dirty="0"/>
          </a:p>
        </p:txBody>
      </p:sp>
      <p:sp>
        <p:nvSpPr>
          <p:cNvPr id="17" name="Text 12"/>
          <p:cNvSpPr txBox="1"/>
          <p:nvPr/>
        </p:nvSpPr>
        <p:spPr>
          <a:xfrm>
            <a:off x="8305800" y="2871216"/>
            <a:ext cx="3078480" cy="1741932"/>
          </a:xfrm>
          <a:prstGeom prst="rect">
            <a:avLst/>
          </a:prstGeom>
          <a:noFill/>
          <a:ln/>
        </p:spPr>
        <p:txBody>
          <a:bodyPr wrap="square" lIns="0" tIns="0" rIns="0" bIns="0" rtlCol="0" anchor="t"/>
          <a:lstStyle/>
          <a:p>
            <a:pPr indent="0" marL="0">
              <a:buNone/>
            </a:pPr>
            <a:r>
              <a:rPr lang="en-US" sz="1800" dirty="0">
                <a:solidFill>
                  <a:schemeClr val="accent1"/>
                </a:solidFill>
                <a:latin typeface="Courier New" pitchFamily="34" charset="0"/>
                <a:ea typeface="Courier New" pitchFamily="34" charset="-122"/>
                <a:cs typeface="Courier New" pitchFamily="34" charset="-120"/>
              </a:rPr>
              <a:t>ggsave("fig.png", width = 7, height = 4.5, dpi = 300)</a:t>
            </a:r>
            <a:pPr indent="0" marL="0">
              <a:buNone/>
            </a:pPr>
            <a:r>
              <a:rPr lang="en-US" sz="1800" dirty="0">
                <a:solidFill>
                  <a:schemeClr val="accent5"/>
                </a:solidFill>
              </a:rPr>
              <a:t>; </a:t>
            </a:r>
            <a:pPr indent="0" marL="0">
              <a:buNone/>
            </a:pPr>
            <a:r>
              <a:rPr lang="en-US" sz="1800" dirty="0">
                <a:solidFill>
                  <a:schemeClr val="accent1"/>
                </a:solidFill>
                <a:latin typeface="Courier New" pitchFamily="34" charset="0"/>
                <a:ea typeface="Courier New" pitchFamily="34" charset="-122"/>
                <a:cs typeface="Courier New" pitchFamily="34" charset="-120"/>
              </a:rPr>
              <a:t>patchwork</a:t>
            </a:r>
            <a:pPr indent="0" marL="0">
              <a:buNone/>
            </a:pPr>
            <a:r>
              <a:rPr lang="en-US" sz="1800" dirty="0">
                <a:solidFill>
                  <a:schemeClr val="accent5"/>
                </a:solidFill>
              </a:rPr>
              <a:t> combines plots; </a:t>
            </a:r>
            <a:pPr indent="0" marL="0">
              <a:buNone/>
            </a:pPr>
            <a:r>
              <a:rPr lang="en-US" sz="1800" dirty="0">
                <a:solidFill>
                  <a:schemeClr val="accent1"/>
                </a:solidFill>
                <a:latin typeface="Courier New" pitchFamily="34" charset="0"/>
                <a:ea typeface="Courier New" pitchFamily="34" charset="-122"/>
                <a:cs typeface="Courier New" pitchFamily="34" charset="-120"/>
              </a:rPr>
              <a:t>plotly</a:t>
            </a:r>
            <a:pPr indent="0" marL="0">
              <a:buNone/>
            </a:pPr>
            <a:r>
              <a:rPr lang="en-US" sz="1800" dirty="0">
                <a:solidFill>
                  <a:schemeClr val="accent5"/>
                </a:solidFill>
              </a:rPr>
              <a:t> makes them interactive.</a:t>
            </a:r>
            <a:endParaRPr lang="en-US" sz="1800" dirty="0"/>
          </a:p>
        </p:txBody>
      </p:sp>
      <p:sp>
        <p:nvSpPr>
          <p:cNvPr id="18" name="Text 13"/>
          <p:cNvSpPr txBox="1"/>
          <p:nvPr/>
        </p:nvSpPr>
        <p:spPr>
          <a:xfrm>
            <a:off x="548640" y="4997196"/>
            <a:ext cx="11064240" cy="548640"/>
          </a:xfrm>
          <a:prstGeom prst="rect">
            <a:avLst/>
          </a:prstGeom>
          <a:noFill/>
          <a:ln/>
        </p:spPr>
        <p:txBody>
          <a:bodyPr wrap="square" lIns="0" tIns="0" rIns="0" bIns="0" rtlCol="0" anchor="ctr"/>
          <a:lstStyle/>
          <a:p>
            <a:pPr indent="0" marL="0">
              <a:buNone/>
            </a:pPr>
            <a:r>
              <a:rPr lang="en-US" sz="1500" i="1" dirty="0">
                <a:solidFill>
                  <a:schemeClr val="accent5"/>
                </a:solidFill>
              </a:rPr>
              <a:t>Use readable labels, sufficient contrast, and shapes as well as colours for readers with colour-vision deficiency.</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Practicals 6–7 and exercises</a:t>
            </a:r>
            <a:endParaRPr lang="en-US" sz="3200" dirty="0"/>
          </a:p>
        </p:txBody>
      </p:sp>
      <p:sp>
        <p:nvSpPr>
          <p:cNvPr id="3" name="card"/>
          <p:cNvSpPr/>
          <p:nvPr/>
        </p:nvSpPr>
        <p:spPr>
          <a:xfrm>
            <a:off x="548640" y="137160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49808" y="1531620"/>
            <a:ext cx="502920" cy="502920"/>
          </a:xfrm>
          <a:prstGeom prst="ellipse">
            <a:avLst/>
          </a:prstGeom>
          <a:solidFill>
            <a:schemeClr val="accent1"/>
          </a:solidFill>
          <a:ln/>
        </p:spPr>
      </p:sp>
      <p:sp>
        <p:nvSpPr>
          <p:cNvPr id="5" name="Text 3"/>
          <p:cNvSpPr txBox="1"/>
          <p:nvPr/>
        </p:nvSpPr>
        <p:spPr>
          <a:xfrm>
            <a:off x="749808" y="153162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63040" y="1417320"/>
            <a:ext cx="6629400" cy="731520"/>
          </a:xfrm>
          <a:prstGeom prst="rect">
            <a:avLst/>
          </a:prstGeom>
          <a:noFill/>
          <a:ln/>
        </p:spPr>
        <p:txBody>
          <a:bodyPr wrap="square" lIns="0" tIns="0" rIns="0" bIns="0" rtlCol="0" anchor="ctr"/>
          <a:lstStyle/>
          <a:p>
            <a:pPr indent="0" marL="0">
              <a:buNone/>
            </a:pPr>
            <a:r>
              <a:rPr lang="en-US" sz="1400" dirty="0">
                <a:solidFill>
                  <a:schemeClr val="tx1"/>
                </a:solidFill>
              </a:rPr>
              <a:t>Draw a scatter plot, a histogram and a box plot. Write one sentence on what each reveals and one limitation.</a:t>
            </a:r>
            <a:endParaRPr lang="en-US" sz="1400" dirty="0"/>
          </a:p>
        </p:txBody>
      </p:sp>
      <p:sp>
        <p:nvSpPr>
          <p:cNvPr id="7" name="card"/>
          <p:cNvSpPr/>
          <p:nvPr/>
        </p:nvSpPr>
        <p:spPr>
          <a:xfrm>
            <a:off x="548640" y="233172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8" name="Shape 6"/>
          <p:cNvSpPr/>
          <p:nvPr/>
        </p:nvSpPr>
        <p:spPr>
          <a:xfrm>
            <a:off x="749808" y="2491740"/>
            <a:ext cx="502920" cy="502920"/>
          </a:xfrm>
          <a:prstGeom prst="ellipse">
            <a:avLst/>
          </a:prstGeom>
          <a:solidFill>
            <a:schemeClr val="accent1"/>
          </a:solidFill>
          <a:ln/>
        </p:spPr>
      </p:sp>
      <p:sp>
        <p:nvSpPr>
          <p:cNvPr id="9" name="Text 7"/>
          <p:cNvSpPr txBox="1"/>
          <p:nvPr/>
        </p:nvSpPr>
        <p:spPr>
          <a:xfrm>
            <a:off x="749808" y="249174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463040" y="2377440"/>
            <a:ext cx="6629400" cy="731520"/>
          </a:xfrm>
          <a:prstGeom prst="rect">
            <a:avLst/>
          </a:prstGeom>
          <a:noFill/>
          <a:ln/>
        </p:spPr>
        <p:txBody>
          <a:bodyPr wrap="square" lIns="0" tIns="0" rIns="0" bIns="0" rtlCol="0" anchor="ctr"/>
          <a:lstStyle/>
          <a:p>
            <a:pPr indent="0" marL="0">
              <a:buNone/>
            </a:pPr>
            <a:r>
              <a:rPr lang="en-US" sz="1400" dirty="0">
                <a:solidFill>
                  <a:schemeClr val="tx1"/>
                </a:solidFill>
              </a:rPr>
              <a:t>Compare histogram bin widths of 0.15, 0.3 and 0.6 t/ha. Which features persist?</a:t>
            </a:r>
            <a:endParaRPr lang="en-US" sz="1400" dirty="0"/>
          </a:p>
        </p:txBody>
      </p:sp>
      <p:sp>
        <p:nvSpPr>
          <p:cNvPr id="11" name="card"/>
          <p:cNvSpPr/>
          <p:nvPr/>
        </p:nvSpPr>
        <p:spPr>
          <a:xfrm>
            <a:off x="548640" y="329184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12" name="Shape 10"/>
          <p:cNvSpPr/>
          <p:nvPr/>
        </p:nvSpPr>
        <p:spPr>
          <a:xfrm>
            <a:off x="749808" y="3451860"/>
            <a:ext cx="502920" cy="502920"/>
          </a:xfrm>
          <a:prstGeom prst="ellipse">
            <a:avLst/>
          </a:prstGeom>
          <a:solidFill>
            <a:schemeClr val="accent1"/>
          </a:solidFill>
          <a:ln/>
        </p:spPr>
      </p:sp>
      <p:sp>
        <p:nvSpPr>
          <p:cNvPr id="13" name="Text 11"/>
          <p:cNvSpPr txBox="1"/>
          <p:nvPr/>
        </p:nvSpPr>
        <p:spPr>
          <a:xfrm>
            <a:off x="749808" y="345186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463040" y="3337560"/>
            <a:ext cx="6629400" cy="731520"/>
          </a:xfrm>
          <a:prstGeom prst="rect">
            <a:avLst/>
          </a:prstGeom>
          <a:noFill/>
          <a:ln/>
        </p:spPr>
        <p:txBody>
          <a:bodyPr wrap="square" lIns="0" tIns="0" rIns="0" bIns="0" rtlCol="0" anchor="ctr"/>
          <a:lstStyle/>
          <a:p>
            <a:pPr indent="0" marL="0">
              <a:buNone/>
            </a:pPr>
            <a:r>
              <a:rPr lang="en-US" sz="1400" dirty="0">
                <a:solidFill>
                  <a:schemeClr val="tx1"/>
                </a:solidFill>
              </a:rPr>
              <a:t>Create treatment panels coloured by variety. Explain any difference from the pooled plot.</a:t>
            </a:r>
            <a:endParaRPr lang="en-US" sz="1400" dirty="0"/>
          </a:p>
        </p:txBody>
      </p:sp>
      <p:sp>
        <p:nvSpPr>
          <p:cNvPr id="15" name="card"/>
          <p:cNvSpPr/>
          <p:nvPr/>
        </p:nvSpPr>
        <p:spPr>
          <a:xfrm>
            <a:off x="548640" y="425196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16" name="Shape 14"/>
          <p:cNvSpPr/>
          <p:nvPr/>
        </p:nvSpPr>
        <p:spPr>
          <a:xfrm>
            <a:off x="749808" y="4411980"/>
            <a:ext cx="502920" cy="502920"/>
          </a:xfrm>
          <a:prstGeom prst="ellipse">
            <a:avLst/>
          </a:prstGeom>
          <a:solidFill>
            <a:schemeClr val="accent1"/>
          </a:solidFill>
          <a:ln/>
        </p:spPr>
      </p:sp>
      <p:sp>
        <p:nvSpPr>
          <p:cNvPr id="17" name="Text 15"/>
          <p:cNvSpPr txBox="1"/>
          <p:nvPr/>
        </p:nvSpPr>
        <p:spPr>
          <a:xfrm>
            <a:off x="749808" y="441198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463040" y="4297680"/>
            <a:ext cx="6629400" cy="731520"/>
          </a:xfrm>
          <a:prstGeom prst="rect">
            <a:avLst/>
          </a:prstGeom>
          <a:noFill/>
          <a:ln/>
        </p:spPr>
        <p:txBody>
          <a:bodyPr wrap="square" lIns="0" tIns="0" rIns="0" bIns="0" rtlCol="0" anchor="ctr"/>
          <a:lstStyle/>
          <a:p>
            <a:pPr indent="0" marL="0">
              <a:buNone/>
            </a:pPr>
            <a:r>
              <a:rPr lang="en-US" sz="1400" dirty="0">
                <a:solidFill>
                  <a:schemeClr val="tx1"/>
                </a:solidFill>
              </a:rPr>
              <a:t>Create a two-panel figure and export it at 300 dpi with readable labels.</a:t>
            </a:r>
            <a:endParaRPr lang="en-US" sz="1400" dirty="0"/>
          </a:p>
        </p:txBody>
      </p:sp>
      <p:sp>
        <p:nvSpPr>
          <p:cNvPr id="19" name="card"/>
          <p:cNvSpPr/>
          <p:nvPr/>
        </p:nvSpPr>
        <p:spPr>
          <a:xfrm>
            <a:off x="548640" y="521208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20" name="Shape 18"/>
          <p:cNvSpPr/>
          <p:nvPr/>
        </p:nvSpPr>
        <p:spPr>
          <a:xfrm>
            <a:off x="749808" y="5372100"/>
            <a:ext cx="502920" cy="502920"/>
          </a:xfrm>
          <a:prstGeom prst="ellipse">
            <a:avLst/>
          </a:prstGeom>
          <a:solidFill>
            <a:schemeClr val="accent1"/>
          </a:solidFill>
          <a:ln/>
        </p:spPr>
      </p:sp>
      <p:sp>
        <p:nvSpPr>
          <p:cNvPr id="21" name="Text 19"/>
          <p:cNvSpPr txBox="1"/>
          <p:nvPr/>
        </p:nvSpPr>
        <p:spPr>
          <a:xfrm>
            <a:off x="749808" y="537210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463040" y="5257800"/>
            <a:ext cx="6629400" cy="731520"/>
          </a:xfrm>
          <a:prstGeom prst="rect">
            <a:avLst/>
          </a:prstGeom>
          <a:noFill/>
          <a:ln/>
        </p:spPr>
        <p:txBody>
          <a:bodyPr wrap="square" lIns="0" tIns="0" rIns="0" bIns="0" rtlCol="0" anchor="ctr"/>
          <a:lstStyle/>
          <a:p>
            <a:pPr indent="0" marL="0">
              <a:buNone/>
            </a:pPr>
            <a:r>
              <a:rPr lang="en-US" sz="1400" dirty="0">
                <a:solidFill>
                  <a:schemeClr val="tx1"/>
                </a:solidFill>
              </a:rPr>
              <a:t>Explain why a standardized soil heatmap cannot classify a field as nitrogen-deficient.</a:t>
            </a:r>
            <a:endParaRPr lang="en-US" sz="1400" dirty="0"/>
          </a:p>
        </p:txBody>
      </p:sp>
      <p:sp>
        <p:nvSpPr>
          <p:cNvPr id="23" name="submit"/>
          <p:cNvSpPr/>
          <p:nvPr/>
        </p:nvSpPr>
        <p:spPr>
          <a:xfrm>
            <a:off x="8458200" y="1371600"/>
            <a:ext cx="3154680" cy="4663440"/>
          </a:xfrm>
          <a:prstGeom prst="roundRect">
            <a:avLst>
              <a:gd name="adj" fmla="val 3478"/>
            </a:avLst>
          </a:prstGeom>
          <a:solidFill>
            <a:schemeClr val="tx2"/>
          </a:solidFill>
          <a:ln/>
          <a:effectLst>
            <a:outerShdw sx="100000" sy="100000" kx="0" ky="0" algn="bl" rotWithShape="0" blurRad="76200" dist="25400" dir="5400000">
              <a:srgbClr val="8A97AB">
                <a:alpha val="25000"/>
              </a:srgbClr>
            </a:outerShdw>
          </a:effectLst>
        </p:spPr>
      </p:sp>
      <p:pic>
        <p:nvPicPr>
          <p:cNvPr id="24" name="Image 0" descr="clipboard icon">    </p:cNvPr>
          <p:cNvPicPr>
            <a:picLocks noChangeAspect="1"/>
          </p:cNvPicPr>
          <p:nvPr/>
        </p:nvPicPr>
        <p:blipFill>
          <a:blip r:embed="rId1"/>
          <a:stretch>
            <a:fillRect/>
          </a:stretch>
        </p:blipFill>
        <p:spPr>
          <a:xfrm>
            <a:off x="9582912" y="1691640"/>
            <a:ext cx="914400" cy="914400"/>
          </a:xfrm>
          <a:prstGeom prst="rect">
            <a:avLst/>
          </a:prstGeom>
        </p:spPr>
      </p:pic>
      <p:sp>
        <p:nvSpPr>
          <p:cNvPr id="25" name="Text 22"/>
          <p:cNvSpPr txBox="1"/>
          <p:nvPr/>
        </p:nvSpPr>
        <p:spPr>
          <a:xfrm>
            <a:off x="8549640" y="2743200"/>
            <a:ext cx="2971800" cy="411480"/>
          </a:xfrm>
          <a:prstGeom prst="rect">
            <a:avLst/>
          </a:prstGeom>
          <a:noFill/>
          <a:ln/>
        </p:spPr>
        <p:txBody>
          <a:bodyPr wrap="square" lIns="0" tIns="0" rIns="0" bIns="0" rtlCol="0" anchor="t"/>
          <a:lstStyle/>
          <a:p>
            <a:pPr algn="ctr" indent="0" marL="0">
              <a:buNone/>
            </a:pPr>
            <a:r>
              <a:rPr lang="en-US" sz="2000" b="1" dirty="0">
                <a:solidFill>
                  <a:schemeClr val="bg1"/>
                </a:solidFill>
              </a:rPr>
              <a:t>Submit</a:t>
            </a:r>
            <a:endParaRPr lang="en-US" sz="2000" dirty="0"/>
          </a:p>
        </p:txBody>
      </p:sp>
      <p:sp>
        <p:nvSpPr>
          <p:cNvPr id="26" name="Text 23"/>
          <p:cNvSpPr txBox="1"/>
          <p:nvPr/>
        </p:nvSpPr>
        <p:spPr>
          <a:xfrm>
            <a:off x="8686800" y="3200400"/>
            <a:ext cx="2697480" cy="2651760"/>
          </a:xfrm>
          <a:prstGeom prst="rect">
            <a:avLst/>
          </a:prstGeom>
          <a:noFill/>
          <a:ln/>
        </p:spPr>
        <p:txBody>
          <a:bodyPr wrap="square" lIns="0" tIns="0" rIns="0" bIns="0" rtlCol="0" anchor="t"/>
          <a:lstStyle/>
          <a:p>
            <a:pPr algn="ctr" indent="0" marL="0">
              <a:buNone/>
            </a:pPr>
            <a:r>
              <a:rPr lang="en-US" sz="1400" dirty="0">
                <a:solidFill>
                  <a:schemeClr val="accent6"/>
                </a:solidFill>
              </a:rPr>
              <a:t>your script and a short written interpretation. Code that runs is necessary; a defensible explanation is equally necessary.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Live R laboratory</a:t>
            </a:r>
            <a:endParaRPr lang="en-US" sz="3200" dirty="0"/>
          </a:p>
        </p:txBody>
      </p:sp>
      <p:sp>
        <p:nvSpPr>
          <p:cNvPr id="3" name="code panel"/>
          <p:cNvSpPr/>
          <p:nvPr/>
        </p:nvSpPr>
        <p:spPr>
          <a:xfrm>
            <a:off x="548640" y="1371600"/>
            <a:ext cx="11064240" cy="2437765"/>
          </a:xfrm>
          <a:prstGeom prst="roundRect">
            <a:avLst>
              <a:gd name="adj" fmla="val 3751"/>
            </a:avLst>
          </a:prstGeom>
          <a:solidFill>
            <a:schemeClr val="tx1"/>
          </a:solidFill>
          <a:ln/>
        </p:spPr>
      </p:sp>
      <p:sp>
        <p:nvSpPr>
          <p:cNvPr id="4" name="Text 2"/>
          <p:cNvSpPr txBox="1"/>
          <p:nvPr/>
        </p:nvSpPr>
        <p:spPr>
          <a:xfrm>
            <a:off x="822960" y="1572768"/>
            <a:ext cx="10515600" cy="2035429"/>
          </a:xfrm>
          <a:prstGeom prst="rect">
            <a:avLst/>
          </a:prstGeom>
          <a:noFill/>
          <a:ln/>
        </p:spPr>
        <p:txBody>
          <a:bodyPr wrap="square" lIns="0" tIns="0" rIns="0" bIns="0" rtlCol="0" anchor="t"/>
          <a:lstStyle/>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fertilizer &lt;- c(0, 30, 60, 90, 120, 150)</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yield_t_ha &lt;- c(2.1, 2.9, 3.6, 4.0, 4.2, 4.1)</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plot(fertilizer, yield_t_ha, pch = 19, cex = 1.5,</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col = "#237f83", xlab = "Nitrogen (kg/ha)",</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ylab = "Yield (t/ha)", main = "Simulated nitrogen response")</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lines(fertilizer, yield_t_ha, col = "#bd7921", lwd = 2)</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grid()</a:t>
            </a:r>
            <a:endParaRPr lang="en-US" sz="1700" dirty="0"/>
          </a:p>
        </p:txBody>
      </p:sp>
      <p:sp>
        <p:nvSpPr>
          <p:cNvPr id="5" name="investigate"/>
          <p:cNvSpPr/>
          <p:nvPr/>
        </p:nvSpPr>
        <p:spPr>
          <a:xfrm>
            <a:off x="548640" y="4129405"/>
            <a:ext cx="11064240" cy="1371600"/>
          </a:xfrm>
          <a:prstGeom prst="roundRect">
            <a:avLst>
              <a:gd name="adj" fmla="val 8000"/>
            </a:avLst>
          </a:prstGeom>
          <a:solidFill>
            <a:schemeClr val="accent6"/>
          </a:solidFill>
          <a:ln/>
          <a:effectLst>
            <a:outerShdw sx="100000" sy="100000" kx="0" ky="0" algn="bl" rotWithShape="0" blurRad="76200" dist="25400" dir="5400000">
              <a:srgbClr val="8A97AB">
                <a:alpha val="25000"/>
              </a:srgbClr>
            </a:outerShdw>
          </a:effectLst>
        </p:spPr>
      </p:sp>
      <p:sp>
        <p:nvSpPr>
          <p:cNvPr id="6" name="icon circle"/>
          <p:cNvSpPr/>
          <p:nvPr/>
        </p:nvSpPr>
        <p:spPr>
          <a:xfrm>
            <a:off x="822960" y="4422013"/>
            <a:ext cx="777240" cy="777240"/>
          </a:xfrm>
          <a:prstGeom prst="ellipse">
            <a:avLst/>
          </a:prstGeom>
          <a:solidFill>
            <a:schemeClr val="accent2"/>
          </a:solidFill>
          <a:ln/>
        </p:spPr>
      </p:sp>
      <p:pic>
        <p:nvPicPr>
          <p:cNvPr id="7" name="Image 0" descr="FaSearch">    </p:cNvPr>
          <p:cNvPicPr>
            <a:picLocks noChangeAspect="1"/>
          </p:cNvPicPr>
          <p:nvPr/>
        </p:nvPicPr>
        <p:blipFill>
          <a:blip r:embed="rId1"/>
          <a:stretch>
            <a:fillRect/>
          </a:stretch>
        </p:blipFill>
        <p:spPr>
          <a:xfrm>
            <a:off x="1017270" y="4616323"/>
            <a:ext cx="388620" cy="388620"/>
          </a:xfrm>
          <a:prstGeom prst="rect">
            <a:avLst/>
          </a:prstGeom>
        </p:spPr>
      </p:pic>
      <p:sp>
        <p:nvSpPr>
          <p:cNvPr id="8" name="Text 5"/>
          <p:cNvSpPr txBox="1"/>
          <p:nvPr/>
        </p:nvSpPr>
        <p:spPr>
          <a:xfrm>
            <a:off x="1828800" y="4239133"/>
            <a:ext cx="9509760" cy="365760"/>
          </a:xfrm>
          <a:prstGeom prst="rect">
            <a:avLst/>
          </a:prstGeom>
          <a:noFill/>
          <a:ln/>
        </p:spPr>
        <p:txBody>
          <a:bodyPr wrap="square" lIns="0" tIns="0" rIns="0" bIns="0" rtlCol="0" anchor="t"/>
          <a:lstStyle/>
          <a:p>
            <a:pPr indent="0" marL="0">
              <a:buNone/>
            </a:pPr>
            <a:r>
              <a:rPr lang="en-US" sz="1700" b="1" dirty="0">
                <a:solidFill>
                  <a:schemeClr val="tx2"/>
                </a:solidFill>
              </a:rPr>
              <a:t>Investigate</a:t>
            </a:r>
            <a:endParaRPr lang="en-US" sz="1700" dirty="0"/>
          </a:p>
        </p:txBody>
      </p:sp>
      <p:sp>
        <p:nvSpPr>
          <p:cNvPr id="9" name="Text 6"/>
          <p:cNvSpPr txBox="1"/>
          <p:nvPr/>
        </p:nvSpPr>
        <p:spPr>
          <a:xfrm>
            <a:off x="1828800" y="4604893"/>
            <a:ext cx="9555480" cy="822960"/>
          </a:xfrm>
          <a:prstGeom prst="rect">
            <a:avLst/>
          </a:prstGeom>
          <a:noFill/>
          <a:ln/>
        </p:spPr>
        <p:txBody>
          <a:bodyPr wrap="square" lIns="0" tIns="0" rIns="0" bIns="0" rtlCol="0" anchor="t"/>
          <a:lstStyle/>
          <a:p>
            <a:pPr indent="0" marL="0">
              <a:buNone/>
            </a:pPr>
            <a:r>
              <a:rPr lang="en-US" sz="1500" dirty="0">
                <a:solidFill>
                  <a:schemeClr val="tx1"/>
                </a:solidFill>
              </a:rPr>
              <a:t>Replace </a:t>
            </a:r>
            <a:pPr indent="0" marL="0">
              <a:buNone/>
            </a:pPr>
            <a:r>
              <a:rPr lang="en-US" sz="1500" dirty="0">
                <a:solidFill>
                  <a:schemeClr val="accent1"/>
                </a:solidFill>
                <a:latin typeface="Courier New" pitchFamily="34" charset="0"/>
                <a:ea typeface="Courier New" pitchFamily="34" charset="-122"/>
                <a:cs typeface="Courier New" pitchFamily="34" charset="-120"/>
              </a:rPr>
              <a:t>pch = 19</a:t>
            </a:r>
            <a:pPr indent="0" marL="0">
              <a:buNone/>
            </a:pPr>
            <a:r>
              <a:rPr lang="en-US" sz="1500" dirty="0">
                <a:solidFill>
                  <a:schemeClr val="tx1"/>
                </a:solidFill>
              </a:rPr>
              <a:t> with </a:t>
            </a:r>
            <a:pPr indent="0" marL="0">
              <a:buNone/>
            </a:pPr>
            <a:r>
              <a:rPr lang="en-US" sz="1500" dirty="0">
                <a:solidFill>
                  <a:schemeClr val="accent1"/>
                </a:solidFill>
                <a:latin typeface="Courier New" pitchFamily="34" charset="0"/>
                <a:ea typeface="Courier New" pitchFamily="34" charset="-122"/>
                <a:cs typeface="Courier New" pitchFamily="34" charset="-120"/>
              </a:rPr>
              <a:t>pch = 17</a:t>
            </a:r>
            <a:pPr indent="0" marL="0">
              <a:buNone/>
            </a:pPr>
            <a:r>
              <a:rPr lang="en-US" sz="1500" dirty="0">
                <a:solidFill>
                  <a:schemeClr val="tx1"/>
                </a:solidFill>
              </a:rPr>
              <a:t> and choose a new colour. Describe the apparent plateau, remembering that these illustrative points do not establish an optimum fertilizer dose.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640080"/>
            <a:ext cx="10698480" cy="82296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Chapter review</a:t>
            </a:r>
            <a:endParaRPr lang="en-US" sz="4000" dirty="0"/>
          </a:p>
        </p:txBody>
      </p:sp>
      <p:sp>
        <p:nvSpPr>
          <p:cNvPr id="3" name="icon circle"/>
          <p:cNvSpPr/>
          <p:nvPr/>
        </p:nvSpPr>
        <p:spPr>
          <a:xfrm>
            <a:off x="731520" y="1828800"/>
            <a:ext cx="914400" cy="914400"/>
          </a:xfrm>
          <a:prstGeom prst="ellipse">
            <a:avLst/>
          </a:prstGeom>
          <a:solidFill>
            <a:schemeClr val="accent2"/>
          </a:solidFill>
          <a:ln/>
        </p:spPr>
      </p:sp>
      <p:pic>
        <p:nvPicPr>
          <p:cNvPr id="4" name="Image 0" descr="FaQuestionCircle">    </p:cNvPr>
          <p:cNvPicPr>
            <a:picLocks noChangeAspect="1"/>
          </p:cNvPicPr>
          <p:nvPr/>
        </p:nvPicPr>
        <p:blipFill>
          <a:blip r:embed="rId1"/>
          <a:stretch>
            <a:fillRect/>
          </a:stretch>
        </p:blipFill>
        <p:spPr>
          <a:xfrm>
            <a:off x="960120" y="2057400"/>
            <a:ext cx="457200" cy="457200"/>
          </a:xfrm>
          <a:prstGeom prst="rect">
            <a:avLst/>
          </a:prstGeom>
        </p:spPr>
      </p:pic>
      <p:sp>
        <p:nvSpPr>
          <p:cNvPr id="5" name="Text 2"/>
          <p:cNvSpPr txBox="1"/>
          <p:nvPr/>
        </p:nvSpPr>
        <p:spPr>
          <a:xfrm>
            <a:off x="19202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Question first</a:t>
            </a:r>
            <a:endParaRPr lang="en-US" sz="1900" dirty="0"/>
          </a:p>
        </p:txBody>
      </p:sp>
      <p:sp>
        <p:nvSpPr>
          <p:cNvPr id="6" name="Text 3"/>
          <p:cNvSpPr txBox="1"/>
          <p:nvPr/>
        </p:nvSpPr>
        <p:spPr>
          <a:xfrm>
            <a:off x="19202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Choose the graph from the question and the variable types.</a:t>
            </a:r>
            <a:endParaRPr lang="en-US" sz="1400" dirty="0"/>
          </a:p>
        </p:txBody>
      </p:sp>
      <p:sp>
        <p:nvSpPr>
          <p:cNvPr id="7" name="icon circle"/>
          <p:cNvSpPr/>
          <p:nvPr/>
        </p:nvSpPr>
        <p:spPr>
          <a:xfrm>
            <a:off x="6217920" y="1828800"/>
            <a:ext cx="914400" cy="914400"/>
          </a:xfrm>
          <a:prstGeom prst="ellipse">
            <a:avLst/>
          </a:prstGeom>
          <a:solidFill>
            <a:schemeClr val="accent2"/>
          </a:solidFill>
          <a:ln/>
        </p:spPr>
      </p:sp>
      <p:pic>
        <p:nvPicPr>
          <p:cNvPr id="8" name="Image 1" descr="FaBraille">    </p:cNvPr>
          <p:cNvPicPr>
            <a:picLocks noChangeAspect="1"/>
          </p:cNvPicPr>
          <p:nvPr/>
        </p:nvPicPr>
        <p:blipFill>
          <a:blip r:embed="rId2"/>
          <a:stretch>
            <a:fillRect/>
          </a:stretch>
        </p:blipFill>
        <p:spPr>
          <a:xfrm>
            <a:off x="6446520" y="2057400"/>
            <a:ext cx="457200" cy="457200"/>
          </a:xfrm>
          <a:prstGeom prst="rect">
            <a:avLst/>
          </a:prstGeom>
        </p:spPr>
      </p:pic>
      <p:sp>
        <p:nvSpPr>
          <p:cNvPr id="9" name="Text 5"/>
          <p:cNvSpPr txBox="1"/>
          <p:nvPr/>
        </p:nvSpPr>
        <p:spPr>
          <a:xfrm>
            <a:off x="74066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Show the data</a:t>
            </a:r>
            <a:endParaRPr lang="en-US" sz="1900" dirty="0"/>
          </a:p>
        </p:txBody>
      </p:sp>
      <p:sp>
        <p:nvSpPr>
          <p:cNvPr id="10" name="Text 6"/>
          <p:cNvSpPr txBox="1"/>
          <p:nvPr/>
        </p:nvSpPr>
        <p:spPr>
          <a:xfrm>
            <a:off x="74066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Points and distributions beat bare bars of means.</a:t>
            </a:r>
            <a:endParaRPr lang="en-US" sz="1400" dirty="0"/>
          </a:p>
        </p:txBody>
      </p:sp>
      <p:sp>
        <p:nvSpPr>
          <p:cNvPr id="11" name="icon circle"/>
          <p:cNvSpPr/>
          <p:nvPr/>
        </p:nvSpPr>
        <p:spPr>
          <a:xfrm>
            <a:off x="731520" y="3520440"/>
            <a:ext cx="914400" cy="914400"/>
          </a:xfrm>
          <a:prstGeom prst="ellipse">
            <a:avLst/>
          </a:prstGeom>
          <a:solidFill>
            <a:schemeClr val="accent2"/>
          </a:solidFill>
          <a:ln/>
        </p:spPr>
      </p:sp>
      <p:pic>
        <p:nvPicPr>
          <p:cNvPr id="12" name="Image 2" descr="FaRuler">    </p:cNvPr>
          <p:cNvPicPr>
            <a:picLocks noChangeAspect="1"/>
          </p:cNvPicPr>
          <p:nvPr/>
        </p:nvPicPr>
        <p:blipFill>
          <a:blip r:embed="rId3"/>
          <a:stretch>
            <a:fillRect/>
          </a:stretch>
        </p:blipFill>
        <p:spPr>
          <a:xfrm>
            <a:off x="960120" y="3749040"/>
            <a:ext cx="457200" cy="457200"/>
          </a:xfrm>
          <a:prstGeom prst="rect">
            <a:avLst/>
          </a:prstGeom>
        </p:spPr>
      </p:pic>
      <p:sp>
        <p:nvSpPr>
          <p:cNvPr id="13" name="Text 8"/>
          <p:cNvSpPr txBox="1"/>
          <p:nvPr/>
        </p:nvSpPr>
        <p:spPr>
          <a:xfrm>
            <a:off x="19202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Honest scales</a:t>
            </a:r>
            <a:endParaRPr lang="en-US" sz="1900" dirty="0"/>
          </a:p>
        </p:txBody>
      </p:sp>
      <p:sp>
        <p:nvSpPr>
          <p:cNvPr id="14" name="Text 9"/>
          <p:cNvSpPr txBox="1"/>
          <p:nvPr/>
        </p:nvSpPr>
        <p:spPr>
          <a:xfrm>
            <a:off x="19202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Units on axes; label error bars; give n.</a:t>
            </a:r>
            <a:endParaRPr lang="en-US" sz="1400" dirty="0"/>
          </a:p>
        </p:txBody>
      </p:sp>
      <p:sp>
        <p:nvSpPr>
          <p:cNvPr id="15" name="icon circle"/>
          <p:cNvSpPr/>
          <p:nvPr/>
        </p:nvSpPr>
        <p:spPr>
          <a:xfrm>
            <a:off x="6217920" y="3520440"/>
            <a:ext cx="914400" cy="914400"/>
          </a:xfrm>
          <a:prstGeom prst="ellipse">
            <a:avLst/>
          </a:prstGeom>
          <a:solidFill>
            <a:schemeClr val="accent2"/>
          </a:solidFill>
          <a:ln/>
        </p:spPr>
      </p:sp>
      <p:pic>
        <p:nvPicPr>
          <p:cNvPr id="16" name="Image 3" descr="FaUniversalAccess">    </p:cNvPr>
          <p:cNvPicPr>
            <a:picLocks noChangeAspect="1"/>
          </p:cNvPicPr>
          <p:nvPr/>
        </p:nvPicPr>
        <p:blipFill>
          <a:blip r:embed="rId4"/>
          <a:stretch>
            <a:fillRect/>
          </a:stretch>
        </p:blipFill>
        <p:spPr>
          <a:xfrm>
            <a:off x="6446520" y="3749040"/>
            <a:ext cx="457200" cy="457200"/>
          </a:xfrm>
          <a:prstGeom prst="rect">
            <a:avLst/>
          </a:prstGeom>
        </p:spPr>
      </p:pic>
      <p:sp>
        <p:nvSpPr>
          <p:cNvPr id="17" name="Text 11"/>
          <p:cNvSpPr txBox="1"/>
          <p:nvPr/>
        </p:nvSpPr>
        <p:spPr>
          <a:xfrm>
            <a:off x="74066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Readable by all</a:t>
            </a:r>
            <a:endParaRPr lang="en-US" sz="1900" dirty="0"/>
          </a:p>
        </p:txBody>
      </p:sp>
      <p:sp>
        <p:nvSpPr>
          <p:cNvPr id="18" name="Text 12"/>
          <p:cNvSpPr txBox="1"/>
          <p:nvPr/>
        </p:nvSpPr>
        <p:spPr>
          <a:xfrm>
            <a:off x="74066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Contrast, shapes and 300 dpi export.</a:t>
            </a:r>
            <a:endParaRPr lang="en-US" sz="1400" dirty="0"/>
          </a:p>
        </p:txBody>
      </p:sp>
      <p:sp>
        <p:nvSpPr>
          <p:cNvPr id="19" name="Text 13"/>
          <p:cNvSpPr txBox="1"/>
          <p:nvPr/>
        </p:nvSpPr>
        <p:spPr>
          <a:xfrm>
            <a:off x="731520" y="5669280"/>
            <a:ext cx="10058400" cy="365760"/>
          </a:xfrm>
          <a:prstGeom prst="rect">
            <a:avLst/>
          </a:prstGeom>
          <a:noFill/>
          <a:ln/>
        </p:spPr>
        <p:txBody>
          <a:bodyPr wrap="square" lIns="0" tIns="0" rIns="0" bIns="0" rtlCol="0" anchor="t"/>
          <a:lstStyle/>
          <a:p>
            <a:pPr indent="0" marL="0">
              <a:buNone/>
            </a:pPr>
            <a:r>
              <a:rPr lang="en-US" sz="1600" i="1" dirty="0">
                <a:solidFill>
                  <a:schemeClr val="accent2"/>
                </a:solidFill>
              </a:rPr>
              <a:t>Next: Chapter 7 · Describing agricultural variation</a:t>
            </a:r>
            <a:endParaRPr lang="en-US" sz="1600" dirty="0"/>
          </a:p>
        </p:txBody>
      </p:sp>
      <p:sp>
        <p:nvSpPr>
          <p:cNvPr id="21"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endParaRPr lang="en-US" sz="3800" dirty="0"/>
          </a:p>
        </p:txBody>
      </p:sp>
      <p:sp>
        <p:nvSpPr>
          <p:cNvPr id="22"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KAU R Textbook">
      <a:dk1>
        <a:srgbClr val="1B2A41"/>
      </a:dk1>
      <a:lt1>
        <a:srgbClr val="FFFFFF"/>
      </a:lt1>
      <a:dk2>
        <a:srgbClr val="1F3A68"/>
      </a:dk2>
      <a:lt2>
        <a:srgbClr val="EEF3FA"/>
      </a:lt2>
      <a:accent1>
        <a:srgbClr val="1F4E8C"/>
      </a:accent1>
      <a:accent2>
        <a:srgbClr val="C99A1E"/>
      </a:accent2>
      <a:accent3>
        <a:srgbClr val="2E7D4F"/>
      </a:accent3>
      <a:accent4>
        <a:srgbClr val="B5452E"/>
      </a:accent4>
      <a:accent5>
        <a:srgbClr val="5B6B82"/>
      </a:accent5>
      <a:accent6>
        <a:srgbClr val="F4EBCF"/>
      </a:accent6>
      <a:hlink>
        <a:srgbClr val="1F4E8C"/>
      </a:hlink>
      <a:folHlink>
        <a:srgbClr val="5B6B8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Visualizing agricultural data</dc:title>
  <dc:subject>R Programming for Agricultural Data Analysis · Chapter 6</dc:subject>
  <dc:creator>Dr. Pratheesh P. Gopinath</dc:creator>
  <cp:lastModifiedBy>Dr. Pratheesh P. Gopinath</cp:lastModifiedBy>
  <cp:revision>1</cp:revision>
  <dcterms:created xsi:type="dcterms:W3CDTF">2026-10-20T10:13:42Z</dcterms:created>
  <dcterms:modified xsi:type="dcterms:W3CDTF">2026-10-20T10:13:42Z</dcterms:modified>
</cp:coreProperties>
</file>