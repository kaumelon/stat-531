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ed6722-c51b-4560-a98b-0f37d3c26dd1}">
          <p14:sldIdLst>
            <p14:sldId id="256"/>
            <p14:sldId id="257"/>
          </p14:sldIdLst>
        </p14:section>
        <p14:section name="Centre and spread" id="{b93b9340-1db1-64e6-ab15-8e4d3da6c331}">
          <p14:sldIdLst>
            <p14:sldId id="258"/>
            <p14:sldId id="259"/>
            <p14:sldId id="260"/>
            <p14:sldId id="261"/>
          </p14:sldIdLst>
        </p14:section>
        <p14:section name="Shape, frequency and summary tables" id="{f4f7a803-ba99-fb90-2d8a-13fd8d15623f}">
          <p14:sldIdLst>
            <p14:sldId id="262"/>
            <p14:sldId id="263"/>
            <p14:sldId id="264"/>
            <p14:sldId id="265"/>
            <p14:sldId id="266"/>
            <p14:sldId id="267"/>
          </p14:sldIdLst>
        </p14:section>
        <p14:section name="Review" id="{8a4c6624-11c2-77a6-ecc4-5e529f41ec43}">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68"/>
                </a:solidFill>
                <a:latin typeface="+mn-lt"/>
              </a:defRPr>
            </a:pPr>
            <a:r>
              <a:rPr sz="1400" b="0" i="0" u="none" strike="noStrike">
                <a:solidFill>
                  <a:srgbClr val="1F3A68"/>
                </a:solidFill>
                <a:latin typeface="+mn-lt"/>
              </a:rPr>
              <a:t>Moment coefficients of shape</a:t>
            </a:r>
          </a:p>
        </c:rich>
      </c:tx>
      <c:layout/>
      <c:overlay val="0"/>
    </c:title>
    <c:autoTitleDeleted val="0"/>
    <c:plotArea>
      <c:layout/>
      <c:barChart>
        <c:barDir val="col"/>
        <c:grouping val="clustered"/>
        <c:varyColors val="0"/>
        <c:ser>
          <c:idx val="0"/>
          <c:order val="0"/>
          <c:tx>
            <c:strRef>
              <c:f>Sheet1!$B$1</c:f>
              <c:strCache>
                <c:ptCount val="1"/>
                <c:pt idx="0">
                  <c:v>Skewness</c:v>
                </c:pt>
              </c:strCache>
            </c:strRef>
          </c:tx>
          <c:spPr>
            <a:solidFill>
              <a:srgbClr val="1F4E8C"/>
            </a:solidFill>
            <a:effectLst/>
          </c:spPr>
          <c:invertIfNegative val="0"/>
          <c:dLbls>
            <c:numFmt formatCode="0.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cat>
            <c:multiLvlStrRef>
              <c:f>Sheet1!$A$2:$A$3</c:f>
              <c:multiLvlStrCache>
                <c:ptCount val="2"/>
                <c:lvl>
                  <c:pt idx="0">
                    <c:v>Plot yield</c:v>
                  </c:pt>
                  <c:pt idx="1">
                    <c:v>Aphids per plant</c:v>
                  </c:pt>
                </c:lvl>
              </c:multiLvlStrCache>
            </c:multiLvlStrRef>
          </c:cat>
          <c:val>
            <c:numRef>
              <c:f>Sheet1!$B$2:$B$3</c:f>
              <c:numCache>
                <c:formatCode>General</c:formatCode>
                <c:ptCount val="2"/>
                <c:pt idx="0">
                  <c:v>-0.29</c:v>
                </c:pt>
                <c:pt idx="1">
                  <c:v>1.39</c:v>
                </c:pt>
              </c:numCache>
            </c:numRef>
          </c:val>
        </c:ser>
        <c:ser>
          <c:idx val="1"/>
          <c:order val="1"/>
          <c:tx>
            <c:strRef>
              <c:f>Sheet1!$C$1</c:f>
              <c:strCache>
                <c:ptCount val="1"/>
                <c:pt idx="0">
                  <c:v>Excess kurtosis</c:v>
                </c:pt>
              </c:strCache>
            </c:strRef>
          </c:tx>
          <c:spPr>
            <a:solidFill>
              <a:srgbClr val="C99A1E"/>
            </a:solidFill>
            <a:effectLst/>
          </c:spPr>
          <c:invertIfNegative val="0"/>
          <c:dLbls>
            <c:numFmt formatCode="0.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cat>
            <c:multiLvlStrRef>
              <c:f>Sheet1!$A$2:$A$3</c:f>
              <c:multiLvlStrCache>
                <c:ptCount val="2"/>
                <c:lvl>
                  <c:pt idx="0">
                    <c:v>Plot yield</c:v>
                  </c:pt>
                  <c:pt idx="1">
                    <c:v>Aphids per plant</c:v>
                  </c:pt>
                </c:lvl>
              </c:multiLvlStrCache>
            </c:multiLvlStrRef>
          </c:cat>
          <c:val>
            <c:numRef>
              <c:f>Sheet1!$C$2:$C$3</c:f>
              <c:numCache>
                <c:formatCode>General</c:formatCode>
                <c:ptCount val="2"/>
                <c:pt idx="0">
                  <c:v>-0.57</c:v>
                </c:pt>
                <c:pt idx="1">
                  <c:v>0.84</c:v>
                </c:pt>
              </c:numCache>
            </c:numRef>
          </c:val>
        </c:ser>
        <c:dLbls>
          <c:numFmt formatCode="0.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max val="2"/>
          <c:min val="-1"/>
        </c:scaling>
        <c:delete val="0"/>
        <c:axPos val="l"/>
        <c:majorGridlines>
          <c:spPr>
            <a:ln w="6350" cap="flat">
              <a:solidFill>
                <a:srgbClr val="E1E6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8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seven, describing agricultural variation. Before any test or model, we describe the data: where the values are centred, how much they vary, what shape their distribution has, and how many observations we actually have. This chapter covers the measures you will report in every thesis and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you will measure centre with the mean, median and mode, and with the geometric and harmonic means when they are appropriate. You will measure spread with the range, interquartile range, variance, standard deviation, coefficient of variation and percentiles. You will describe shape and build frequency tables. And you will produce honest summary tables. Always describe centre and spread together, and always report the sample size, missing values, units and grouping.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core measures of centre and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four plot yields: four point two, four point eight, five point one and four point five tonnes per hectare. Their sum is eighteen point six, so the mean is four point six five. The median is the average of the two middle values, also four point six five here. The deviations from the mean square and add to point four five. Dividing by n minus one, which is three, gives a sample variance of point one five tonnes squared per hectare squared, and the standard deviation is its square root, about point three eight seven tonnes per hectare. We divide by n minus one because one degree of freedom was used up estimating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measures are often confused. The standard deviation describes variation among individual plots, in the same units as the data, and it does not shrink as you add more plots. The standard error, the standard deviation divided by the square root of n, describes the precision of the estimated mean, and it does shrink with more data, provided the observations are independent. The coefficient of variation expresses the standard deviation as a percentage of the mean, which makes it unitless, but it only makes sense for ratio-scale variables with a true zero, not for temperature in degrees Celsius or pH. Remember: the standard deviation describes plots; the standard error describes the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mean is not always the right average. When quantities multiply over time, such as yearly growth factors, use the geometric mean. If crop area grew by ten, twenty and five percent, the average growth factor is about one point one one five, which applied three times reproduces the actual total growth; the arithmetic mean slightly overstates it. When averaging rates over equal amounts of work, use the harmonic mean. A tractor ploughing three one-hectare plots at different speeds averages about point five two hectares per hour, because it spends longest on the slowest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at the shape of distributions, frequency tables and complete summary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distributions can share a mean and standard deviation but differ in shape. Skewness measures asymmetry. The crop yields have a skewness near zero, about minus point three, so they are close to symmetric. The aphid counts have a skewness of about one point four: most plants carry few aphids and a few carry many. Excess kurtosis compares the heaviness of the tails with a normal distribution. For skewed data, the median and interquartile range are better summaries than the mean and standard deviation, and analyses may need a transformation. With small samples these coefficients are imprecise, so always look at the histogram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categories, table counts and proportions gives the shares. For a continuous variable, cut divides the range into classes, and table counts each class; adding a cumulative column gives the cumulative frequency. Always check that the class boundaries cover every value, which the stop if not line does, because hand-rounded limits can silently lose an extreme observation. Quantile gives any percentile: the ninetieth percentile answers what yield the best ten percent of plots exceeded.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function can produce the complete descriptive table that theses usually present: number of observations, mean, standard deviation, standard error, coefficient of variation, minimum, median and maximum. Sapply applies it to each column, and t turns the result so that each variable is a row. Coefficients of variation let us compare characters measured in different units: in the cleaned field book, tiller number had a CV of about fourteen percent, more than twice that of plant height. Put units in the caption, round sensibly, and state any missing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eight A. Compute the main descriptive measures for soil nitrogen with units. Add an extreme value and see which summaries change most. Explain why more data do not shrink the standard deviation. Use the geometric mean for price changes. Calculate skewness and decide which centre to report. And produce and interpret a descriptive table for the soil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six yields are summarised and drawn as a box plot. Change four point six to eight point six and compare how the mean, median and standard deviation respond. Then explain the units of the variance, and why the coefficient of variation has no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always report centre with spread and the sample size. Keep the standard deviation and the standard error distinct. Look at the shape of the distribution before choosing a summary. And choose the right average for the question. Next we put description and graphics together in an exploratory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7 · Describing agricultural variation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4  ·  CHAPTER 7</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Describing agricultural variation</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Bullseye">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Centre</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Mean, median, mode, and geometric and harmonic means</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ArrowsAltH">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Spread</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Range, IQR, variance, SD, CV and percentiles</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ChartArea">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Shape and frequency</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Skewness, kurtosis and frequency tables</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Table">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Honest summary tables</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n, mean, SD, SE and CV with units</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Describe centre and spread together. Report sample size, missingness, units and grouping.</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Centre and spread</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The core descriptive measures</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 worked example: four plot yields</a:t>
            </a:r>
            <a:endParaRPr lang="en-US" sz="3200" dirty="0"/>
          </a:p>
        </p:txBody>
      </p:sp>
      <p:sp>
        <p:nvSpPr>
          <p:cNvPr id="3" name="Text 1"/>
          <p:cNvSpPr txBox="1"/>
          <p:nvPr/>
        </p:nvSpPr>
        <p:spPr>
          <a:xfrm>
            <a:off x="548640" y="1325880"/>
            <a:ext cx="11064240" cy="457200"/>
          </a:xfrm>
          <a:prstGeom prst="rect">
            <a:avLst/>
          </a:prstGeom>
          <a:noFill/>
          <a:ln/>
        </p:spPr>
        <p:txBody>
          <a:bodyPr wrap="square" lIns="0" tIns="0" rIns="0" bIns="0" rtlCol="0" anchor="t"/>
          <a:lstStyle/>
          <a:p>
            <a:pPr indent="0" marL="0">
              <a:buNone/>
            </a:pPr>
            <a:r>
              <a:rPr lang="en-US" sz="1700" dirty="0">
                <a:solidFill>
                  <a:schemeClr val="tx2"/>
                </a:solidFill>
              </a:rPr>
              <a:t>Yields of 4.2, 4.8, 5.1 and 4.5 t/ha from four independent plots</a:t>
            </a:r>
            <a:endParaRPr lang="en-US" sz="1700" dirty="0"/>
          </a:p>
        </p:txBody>
      </p:sp>
      <p:sp>
        <p:nvSpPr>
          <p:cNvPr id="4" name="code panel"/>
          <p:cNvSpPr/>
          <p:nvPr/>
        </p:nvSpPr>
        <p:spPr>
          <a:xfrm>
            <a:off x="548640" y="1874520"/>
            <a:ext cx="6766560" cy="4160520"/>
          </a:xfrm>
          <a:prstGeom prst="roundRect">
            <a:avLst>
              <a:gd name="adj" fmla="val 2198"/>
            </a:avLst>
          </a:prstGeom>
          <a:solidFill>
            <a:schemeClr val="tx1"/>
          </a:solidFill>
          <a:ln/>
        </p:spPr>
      </p:sp>
      <p:sp>
        <p:nvSpPr>
          <p:cNvPr id="5" name="Text 3"/>
          <p:cNvSpPr txBox="1"/>
          <p:nvPr/>
        </p:nvSpPr>
        <p:spPr>
          <a:xfrm>
            <a:off x="822960" y="2075688"/>
            <a:ext cx="6217920" cy="375818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 &lt;- c(4.2, 4.8, 5.1, 4.5)</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mean(y)                  # 18.6 / 4 = 4.65</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median(y)                # (4.5 + 4.8) / 2 = 4.65</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deviation &lt;- y - mean(y)  # -0.45  0.15  0.45 -0.15</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sum(deviation^2)         # 0.45</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var(y)                   # 0.45 / (n - 1) = 0.15</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sd(y)                    # sqrt(0.15) = 0.387</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IQR(y); range(y)</a:t>
            </a:r>
            <a:endParaRPr lang="en-US" sz="1500" dirty="0"/>
          </a:p>
        </p:txBody>
      </p:sp>
      <p:sp>
        <p:nvSpPr>
          <p:cNvPr id="6" name="stat"/>
          <p:cNvSpPr/>
          <p:nvPr/>
        </p:nvSpPr>
        <p:spPr>
          <a:xfrm>
            <a:off x="7543800" y="1874520"/>
            <a:ext cx="4069080" cy="1965960"/>
          </a:xfrm>
          <a:prstGeom prst="roundRect">
            <a:avLst>
              <a:gd name="adj" fmla="val 5581"/>
            </a:avLst>
          </a:prstGeom>
          <a:solidFill>
            <a:schemeClr val="tx2"/>
          </a:solidFill>
          <a:ln/>
          <a:effectLst>
            <a:outerShdw sx="100000" sy="100000" kx="0" ky="0" algn="bl" rotWithShape="0" blurRad="76200" dist="25400" dir="5400000">
              <a:srgbClr val="8A97AB">
                <a:alpha val="25000"/>
              </a:srgbClr>
            </a:outerShdw>
          </a:effectLst>
        </p:spPr>
      </p:sp>
      <p:sp>
        <p:nvSpPr>
          <p:cNvPr id="7" name="Text 5"/>
          <p:cNvSpPr txBox="1"/>
          <p:nvPr/>
        </p:nvSpPr>
        <p:spPr>
          <a:xfrm>
            <a:off x="7543800" y="1965960"/>
            <a:ext cx="4069080" cy="1179576"/>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0.387</a:t>
            </a:r>
            <a:endParaRPr lang="en-US" sz="5400" dirty="0"/>
          </a:p>
        </p:txBody>
      </p:sp>
      <p:sp>
        <p:nvSpPr>
          <p:cNvPr id="8" name="Text 6"/>
          <p:cNvSpPr txBox="1"/>
          <p:nvPr/>
        </p:nvSpPr>
        <p:spPr>
          <a:xfrm>
            <a:off x="7726680" y="3093415"/>
            <a:ext cx="3703320" cy="648767"/>
          </a:xfrm>
          <a:prstGeom prst="rect">
            <a:avLst/>
          </a:prstGeom>
          <a:noFill/>
          <a:ln/>
        </p:spPr>
        <p:txBody>
          <a:bodyPr wrap="square" lIns="0" tIns="0" rIns="0" bIns="0" rtlCol="0" anchor="t"/>
          <a:lstStyle/>
          <a:p>
            <a:pPr algn="ctr" indent="0" marL="0">
              <a:buNone/>
            </a:pPr>
            <a:r>
              <a:rPr lang="en-US" sz="1500" dirty="0">
                <a:solidFill>
                  <a:schemeClr val="bg1"/>
                </a:solidFill>
              </a:rPr>
              <a:t>SD in t/ha (variance 0.15 (t/ha)²)</a:t>
            </a:r>
            <a:endParaRPr lang="en-US" sz="1500" dirty="0"/>
          </a:p>
        </p:txBody>
      </p:sp>
      <p:sp>
        <p:nvSpPr>
          <p:cNvPr id="9" name="note"/>
          <p:cNvSpPr/>
          <p:nvPr/>
        </p:nvSpPr>
        <p:spPr>
          <a:xfrm>
            <a:off x="7543800" y="4069080"/>
            <a:ext cx="4069080" cy="1965960"/>
          </a:xfrm>
          <a:prstGeom prst="roundRect">
            <a:avLst>
              <a:gd name="adj" fmla="val 5581"/>
            </a:avLst>
          </a:prstGeom>
          <a:solidFill>
            <a:schemeClr val="bg2"/>
          </a:solidFill>
          <a:ln/>
          <a:effectLst>
            <a:outerShdw sx="100000" sy="100000" kx="0" ky="0" algn="bl" rotWithShape="0" blurRad="76200" dist="25400" dir="5400000">
              <a:srgbClr val="8A97AB">
                <a:alpha val="25000"/>
              </a:srgbClr>
            </a:outerShdw>
          </a:effectLst>
        </p:spPr>
      </p:sp>
      <p:sp>
        <p:nvSpPr>
          <p:cNvPr id="10" name="Text 8"/>
          <p:cNvSpPr txBox="1"/>
          <p:nvPr/>
        </p:nvSpPr>
        <p:spPr>
          <a:xfrm>
            <a:off x="7772400" y="4251960"/>
            <a:ext cx="3657600" cy="548640"/>
          </a:xfrm>
          <a:prstGeom prst="rect">
            <a:avLst/>
          </a:prstGeom>
          <a:noFill/>
          <a:ln/>
        </p:spPr>
        <p:txBody>
          <a:bodyPr wrap="square" lIns="0" tIns="0" rIns="0" bIns="0" rtlCol="0" anchor="ctr"/>
          <a:lstStyle/>
          <a:p>
            <a:pPr indent="0" marL="0">
              <a:buNone/>
            </a:pPr>
            <a:r>
              <a:rPr lang="en-US" sz="1600" b="1" dirty="0">
                <a:solidFill>
                  <a:schemeClr val="tx2"/>
                </a:solidFill>
              </a:rPr>
              <a:t>Why n − 1?</a:t>
            </a:r>
            <a:endParaRPr lang="en-US" sz="1600" dirty="0"/>
          </a:p>
        </p:txBody>
      </p:sp>
      <p:sp>
        <p:nvSpPr>
          <p:cNvPr id="11" name="Text 9"/>
          <p:cNvSpPr txBox="1"/>
          <p:nvPr/>
        </p:nvSpPr>
        <p:spPr>
          <a:xfrm>
            <a:off x="7772400" y="4892040"/>
            <a:ext cx="3611880" cy="1051560"/>
          </a:xfrm>
          <a:prstGeom prst="rect">
            <a:avLst/>
          </a:prstGeom>
          <a:noFill/>
          <a:ln/>
        </p:spPr>
        <p:txBody>
          <a:bodyPr wrap="square" lIns="0" tIns="0" rIns="0" bIns="0" rtlCol="0" anchor="t"/>
          <a:lstStyle/>
          <a:p>
            <a:pPr indent="0" marL="0">
              <a:buNone/>
            </a:pPr>
            <a:r>
              <a:rPr lang="en-US" sz="1400" dirty="0">
                <a:solidFill>
                  <a:schemeClr val="tx1"/>
                </a:solidFill>
              </a:rPr>
              <a:t>One degree of freedom is used in estimating the mean from the same data. </a:t>
            </a:r>
            <a:pPr indent="0" marL="0">
              <a:buNone/>
            </a:pPr>
            <a:r>
              <a:rPr lang="en-US" sz="1400" dirty="0">
                <a:solidFill>
                  <a:schemeClr val="accent1"/>
                </a:solidFill>
                <a:latin typeface="Courier New" pitchFamily="34" charset="0"/>
                <a:ea typeface="Courier New" pitchFamily="34" charset="-122"/>
                <a:cs typeface="Courier New" pitchFamily="34" charset="-120"/>
              </a:rPr>
              <a:t>var()</a:t>
            </a:r>
            <a:pPr indent="0" marL="0">
              <a:buNone/>
            </a:pPr>
            <a:r>
              <a:rPr lang="en-US" sz="1400" dirty="0">
                <a:solidFill>
                  <a:schemeClr val="tx1"/>
                </a:solidFill>
              </a:rPr>
              <a:t> and </a:t>
            </a:r>
            <a:pPr indent="0" marL="0">
              <a:buNone/>
            </a:pPr>
            <a:r>
              <a:rPr lang="en-US" sz="1400" dirty="0">
                <a:solidFill>
                  <a:schemeClr val="accent1"/>
                </a:solidFill>
                <a:latin typeface="Courier New" pitchFamily="34" charset="0"/>
                <a:ea typeface="Courier New" pitchFamily="34" charset="-122"/>
                <a:cs typeface="Courier New" pitchFamily="34" charset="-120"/>
              </a:rPr>
              <a:t>sd()</a:t>
            </a:r>
            <a:pPr indent="0" marL="0">
              <a:buNone/>
            </a:pPr>
            <a:r>
              <a:rPr lang="en-US" sz="1400" dirty="0">
                <a:solidFill>
                  <a:schemeClr val="tx1"/>
                </a:solidFill>
              </a:rPr>
              <a:t> use n − 1.</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Standard deviation, standard error and CV</a:t>
            </a:r>
            <a:endParaRPr lang="en-US" sz="3200" dirty="0"/>
          </a:p>
        </p:txBody>
      </p:sp>
      <p:sp>
        <p:nvSpPr>
          <p:cNvPr id="3" name="card"/>
          <p:cNvSpPr/>
          <p:nvPr/>
        </p:nvSpPr>
        <p:spPr>
          <a:xfrm>
            <a:off x="54864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ArrowsAltH">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Standard deviation</a:t>
            </a:r>
            <a:endParaRPr lang="en-US" sz="1700" dirty="0"/>
          </a:p>
        </p:txBody>
      </p:sp>
      <p:sp>
        <p:nvSpPr>
          <p:cNvPr id="7" name="Text 4"/>
          <p:cNvSpPr txBox="1"/>
          <p:nvPr/>
        </p:nvSpPr>
        <p:spPr>
          <a:xfrm>
            <a:off x="77724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Variation among individual plots. Same units as the data. Does not shrink with more plots.</a:t>
            </a:r>
            <a:endParaRPr lang="en-US" sz="1800" dirty="0"/>
          </a:p>
        </p:txBody>
      </p:sp>
      <p:sp>
        <p:nvSpPr>
          <p:cNvPr id="8" name="card"/>
          <p:cNvSpPr/>
          <p:nvPr/>
        </p:nvSpPr>
        <p:spPr>
          <a:xfrm>
            <a:off x="431292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Crosshairs">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Standard error = s/√n</a:t>
            </a:r>
            <a:endParaRPr lang="en-US" sz="1700" dirty="0"/>
          </a:p>
        </p:txBody>
      </p:sp>
      <p:sp>
        <p:nvSpPr>
          <p:cNvPr id="12" name="Text 8"/>
          <p:cNvSpPr txBox="1"/>
          <p:nvPr/>
        </p:nvSpPr>
        <p:spPr>
          <a:xfrm>
            <a:off x="454152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Precision of the estimated mean. Shrinks as n grows. Requires independent observations.</a:t>
            </a:r>
            <a:endParaRPr lang="en-US" sz="1800" dirty="0"/>
          </a:p>
        </p:txBody>
      </p:sp>
      <p:sp>
        <p:nvSpPr>
          <p:cNvPr id="13" name="card"/>
          <p:cNvSpPr/>
          <p:nvPr/>
        </p:nvSpPr>
        <p:spPr>
          <a:xfrm>
            <a:off x="807720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3"/>
          </a:solidFill>
          <a:ln/>
        </p:spPr>
      </p:sp>
      <p:pic>
        <p:nvPicPr>
          <p:cNvPr id="15" name="Image 2" descr="FaPercent">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CV = 100 × SD / mean</a:t>
            </a:r>
            <a:endParaRPr lang="en-US" sz="1700" dirty="0"/>
          </a:p>
        </p:txBody>
      </p:sp>
      <p:sp>
        <p:nvSpPr>
          <p:cNvPr id="17" name="Text 12"/>
          <p:cNvSpPr txBox="1"/>
          <p:nvPr/>
        </p:nvSpPr>
        <p:spPr>
          <a:xfrm>
            <a:off x="830580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Unitless relative variation. Only for ratio scales with a true zero; not for °C or pH.</a:t>
            </a:r>
            <a:endParaRPr lang="en-US" sz="1800" dirty="0"/>
          </a:p>
        </p:txBody>
      </p:sp>
      <p:sp>
        <p:nvSpPr>
          <p:cNvPr id="18" name="key idea"/>
          <p:cNvSpPr/>
          <p:nvPr/>
        </p:nvSpPr>
        <p:spPr>
          <a:xfrm>
            <a:off x="548640" y="470001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70001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SD describes plants and plots; SE describes the estimate. They are not interchangeable.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Other averages: geometric and harmonic means</a:t>
            </a:r>
            <a:endParaRPr lang="en-US" sz="3200" dirty="0"/>
          </a:p>
        </p:txBody>
      </p:sp>
      <p:sp>
        <p:nvSpPr>
          <p:cNvPr id="3" name="card"/>
          <p:cNvSpPr/>
          <p:nvPr/>
        </p:nvSpPr>
        <p:spPr>
          <a:xfrm>
            <a:off x="548640" y="1723644"/>
            <a:ext cx="5417820" cy="2697480"/>
          </a:xfrm>
          <a:prstGeom prst="roundRect">
            <a:avLst>
              <a:gd name="adj" fmla="val 4068"/>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952244"/>
            <a:ext cx="731520" cy="731520"/>
          </a:xfrm>
          <a:prstGeom prst="ellipse">
            <a:avLst/>
          </a:prstGeom>
          <a:solidFill>
            <a:schemeClr val="accent1"/>
          </a:solidFill>
          <a:ln/>
        </p:spPr>
      </p:sp>
      <p:pic>
        <p:nvPicPr>
          <p:cNvPr id="5" name="Image 0" descr="FaChartLine">    </p:cNvPr>
          <p:cNvPicPr>
            <a:picLocks noChangeAspect="1"/>
          </p:cNvPicPr>
          <p:nvPr/>
        </p:nvPicPr>
        <p:blipFill>
          <a:blip r:embed="rId1"/>
          <a:stretch>
            <a:fillRect/>
          </a:stretch>
        </p:blipFill>
        <p:spPr>
          <a:xfrm>
            <a:off x="960120" y="2135124"/>
            <a:ext cx="365760" cy="365760"/>
          </a:xfrm>
          <a:prstGeom prst="rect">
            <a:avLst/>
          </a:prstGeom>
        </p:spPr>
      </p:pic>
      <p:sp>
        <p:nvSpPr>
          <p:cNvPr id="6" name="Text 3"/>
          <p:cNvSpPr txBox="1"/>
          <p:nvPr/>
        </p:nvSpPr>
        <p:spPr>
          <a:xfrm>
            <a:off x="1691640" y="1952244"/>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Geometric mean for growth ratios</a:t>
            </a:r>
            <a:endParaRPr lang="en-US" sz="1700" dirty="0"/>
          </a:p>
        </p:txBody>
      </p:sp>
      <p:sp>
        <p:nvSpPr>
          <p:cNvPr id="7" name="Text 4"/>
          <p:cNvSpPr txBox="1"/>
          <p:nvPr/>
        </p:nvSpPr>
        <p:spPr>
          <a:xfrm>
            <a:off x="777240" y="2866644"/>
            <a:ext cx="4960620" cy="1444752"/>
          </a:xfrm>
          <a:prstGeom prst="rect">
            <a:avLst/>
          </a:prstGeom>
          <a:noFill/>
          <a:ln/>
        </p:spPr>
        <p:txBody>
          <a:bodyPr wrap="square" lIns="0" tIns="0" rIns="0" bIns="0" rtlCol="0" anchor="t"/>
          <a:lstStyle/>
          <a:p>
            <a:pPr indent="0" marL="0">
              <a:buNone/>
            </a:pPr>
            <a:r>
              <a:rPr lang="en-US" sz="1800" dirty="0">
                <a:solidFill>
                  <a:schemeClr val="accent5"/>
                </a:solidFill>
              </a:rPr>
              <a:t>Area grew 10%, 20% and 5%: factors 1.10, 1.20, 1.05. </a:t>
            </a:r>
            <a:pPr indent="0" marL="0">
              <a:buNone/>
            </a:pPr>
            <a:r>
              <a:rPr lang="en-US" sz="1800" dirty="0">
                <a:solidFill>
                  <a:schemeClr val="accent1"/>
                </a:solidFill>
                <a:latin typeface="Courier New" pitchFamily="34" charset="0"/>
                <a:ea typeface="Courier New" pitchFamily="34" charset="-122"/>
                <a:cs typeface="Courier New" pitchFamily="34" charset="-120"/>
              </a:rPr>
              <a:t>exp(mean(log(x)))</a:t>
            </a:r>
            <a:pPr indent="0" marL="0">
              <a:buNone/>
            </a:pPr>
            <a:r>
              <a:rPr lang="en-US" sz="1800" dirty="0">
                <a:solidFill>
                  <a:schemeClr val="accent5"/>
                </a:solidFill>
              </a:rPr>
              <a:t> = 1.115, which reproduces the total growth of 1.386; the arithmetic mean (1.117) overstates it.</a:t>
            </a:r>
            <a:endParaRPr lang="en-US" sz="1800" dirty="0"/>
          </a:p>
        </p:txBody>
      </p:sp>
      <p:sp>
        <p:nvSpPr>
          <p:cNvPr id="8" name="card"/>
          <p:cNvSpPr/>
          <p:nvPr/>
        </p:nvSpPr>
        <p:spPr>
          <a:xfrm>
            <a:off x="6195060" y="1723644"/>
            <a:ext cx="5417820" cy="2697480"/>
          </a:xfrm>
          <a:prstGeom prst="roundRect">
            <a:avLst>
              <a:gd name="adj" fmla="val 4068"/>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1952244"/>
            <a:ext cx="731520" cy="731520"/>
          </a:xfrm>
          <a:prstGeom prst="ellipse">
            <a:avLst/>
          </a:prstGeom>
          <a:solidFill>
            <a:schemeClr val="accent2"/>
          </a:solidFill>
          <a:ln/>
        </p:spPr>
      </p:sp>
      <p:pic>
        <p:nvPicPr>
          <p:cNvPr id="10" name="Image 1" descr="FaTractor">    </p:cNvPr>
          <p:cNvPicPr>
            <a:picLocks noChangeAspect="1"/>
          </p:cNvPicPr>
          <p:nvPr/>
        </p:nvPicPr>
        <p:blipFill>
          <a:blip r:embed="rId2"/>
          <a:stretch>
            <a:fillRect/>
          </a:stretch>
        </p:blipFill>
        <p:spPr>
          <a:xfrm>
            <a:off x="6606540" y="2135124"/>
            <a:ext cx="365760" cy="365760"/>
          </a:xfrm>
          <a:prstGeom prst="rect">
            <a:avLst/>
          </a:prstGeom>
        </p:spPr>
      </p:pic>
      <p:sp>
        <p:nvSpPr>
          <p:cNvPr id="11" name="Text 7"/>
          <p:cNvSpPr txBox="1"/>
          <p:nvPr/>
        </p:nvSpPr>
        <p:spPr>
          <a:xfrm>
            <a:off x="7338060" y="1952244"/>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Harmonic mean for rates</a:t>
            </a:r>
            <a:endParaRPr lang="en-US" sz="1700" dirty="0"/>
          </a:p>
        </p:txBody>
      </p:sp>
      <p:sp>
        <p:nvSpPr>
          <p:cNvPr id="12" name="Text 8"/>
          <p:cNvSpPr txBox="1"/>
          <p:nvPr/>
        </p:nvSpPr>
        <p:spPr>
          <a:xfrm>
            <a:off x="6423660" y="2866644"/>
            <a:ext cx="4960620" cy="1444752"/>
          </a:xfrm>
          <a:prstGeom prst="rect">
            <a:avLst/>
          </a:prstGeom>
          <a:noFill/>
          <a:ln/>
        </p:spPr>
        <p:txBody>
          <a:bodyPr wrap="square" lIns="0" tIns="0" rIns="0" bIns="0" rtlCol="0" anchor="t"/>
          <a:lstStyle/>
          <a:p>
            <a:pPr indent="0" marL="0">
              <a:buNone/>
            </a:pPr>
            <a:r>
              <a:rPr lang="en-US" sz="1800" dirty="0">
                <a:solidFill>
                  <a:schemeClr val="accent5"/>
                </a:solidFill>
              </a:rPr>
              <a:t>A tractor ploughs three 1 ha plots at 0.4, 0.5 and 0.8 ha/h. Average rate = 3 / Σ(1/rate) = 0.52 ha/h, not the arithmetic 0.57.</a:t>
            </a:r>
            <a:endParaRPr lang="en-US" sz="1800" dirty="0"/>
          </a:p>
        </p:txBody>
      </p:sp>
      <p:sp>
        <p:nvSpPr>
          <p:cNvPr id="13" name="key idea"/>
          <p:cNvSpPr/>
          <p:nvPr/>
        </p:nvSpPr>
        <p:spPr>
          <a:xfrm>
            <a:off x="548640" y="4695444"/>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4695444"/>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For positive values that are not all equal: harmonic &lt; geometric &lt; arithmetic mean.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B</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Shape, frequency and summary tables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Beyond centre and spread</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Skewness: yields are symmetric, pest counts are not</a:t>
            </a:r>
            <a:endParaRPr lang="en-US" sz="3200" dirty="0"/>
          </a:p>
        </p:txBody>
      </p:sp>
      <p:graphicFrame>
        <p:nvGraphicFramePr>
          <p:cNvPr id="3" name="Chart 0" descr=""/>
          <p:cNvGraphicFramePr/>
          <p:nvPr/>
        </p:nvGraphicFramePr>
        <p:xfrm>
          <a:off x="548640" y="1325880"/>
          <a:ext cx="6949440" cy="47091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772400" y="1325880"/>
            <a:ext cx="38404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5" name="Text 2"/>
          <p:cNvSpPr txBox="1"/>
          <p:nvPr/>
        </p:nvSpPr>
        <p:spPr>
          <a:xfrm>
            <a:off x="8001000" y="1463040"/>
            <a:ext cx="3383280" cy="411480"/>
          </a:xfrm>
          <a:prstGeom prst="rect">
            <a:avLst/>
          </a:prstGeom>
          <a:noFill/>
          <a:ln/>
        </p:spPr>
        <p:txBody>
          <a:bodyPr wrap="square" lIns="0" tIns="0" rIns="0" bIns="0" rtlCol="0" anchor="t"/>
          <a:lstStyle/>
          <a:p>
            <a:pPr indent="0" marL="0">
              <a:buNone/>
            </a:pPr>
            <a:r>
              <a:rPr lang="en-US" sz="1600" b="1" dirty="0">
                <a:solidFill>
                  <a:schemeClr val="tx2"/>
                </a:solidFill>
              </a:rPr>
              <a:t>Skewness</a:t>
            </a:r>
            <a:endParaRPr lang="en-US" sz="1600" dirty="0"/>
          </a:p>
        </p:txBody>
      </p:sp>
      <p:sp>
        <p:nvSpPr>
          <p:cNvPr id="6" name="Text 3"/>
          <p:cNvSpPr txBox="1"/>
          <p:nvPr/>
        </p:nvSpPr>
        <p:spPr>
          <a:xfrm>
            <a:off x="8001000" y="1874520"/>
            <a:ext cx="3383280" cy="1600200"/>
          </a:xfrm>
          <a:prstGeom prst="rect">
            <a:avLst/>
          </a:prstGeom>
          <a:noFill/>
          <a:ln/>
        </p:spPr>
        <p:txBody>
          <a:bodyPr wrap="square" lIns="0" tIns="0" rIns="0" bIns="0" rtlCol="0" anchor="t"/>
          <a:lstStyle/>
          <a:p>
            <a:pPr indent="0" marL="0">
              <a:buNone/>
            </a:pPr>
            <a:r>
              <a:rPr lang="en-US" sz="1400" dirty="0">
                <a:solidFill>
                  <a:schemeClr val="tx1"/>
                </a:solidFill>
              </a:rPr>
              <a:t>Positive: a long tail of large values, typical of counts and weed biomass.</a:t>
            </a:r>
            <a:endParaRPr lang="en-US" sz="1400" dirty="0"/>
          </a:p>
        </p:txBody>
      </p:sp>
      <p:sp>
        <p:nvSpPr>
          <p:cNvPr id="7" name="card"/>
          <p:cNvSpPr/>
          <p:nvPr/>
        </p:nvSpPr>
        <p:spPr>
          <a:xfrm>
            <a:off x="7772400" y="3794760"/>
            <a:ext cx="38404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8" name="Text 5"/>
          <p:cNvSpPr txBox="1"/>
          <p:nvPr/>
        </p:nvSpPr>
        <p:spPr>
          <a:xfrm>
            <a:off x="8001000" y="3931920"/>
            <a:ext cx="3383280" cy="411480"/>
          </a:xfrm>
          <a:prstGeom prst="rect">
            <a:avLst/>
          </a:prstGeom>
          <a:noFill/>
          <a:ln/>
        </p:spPr>
        <p:txBody>
          <a:bodyPr wrap="square" lIns="0" tIns="0" rIns="0" bIns="0" rtlCol="0" anchor="t"/>
          <a:lstStyle/>
          <a:p>
            <a:pPr indent="0" marL="0">
              <a:buNone/>
            </a:pPr>
            <a:r>
              <a:rPr lang="en-US" sz="1600" b="1" dirty="0">
                <a:solidFill>
                  <a:schemeClr val="tx2"/>
                </a:solidFill>
              </a:rPr>
              <a:t>What to report</a:t>
            </a:r>
            <a:endParaRPr lang="en-US" sz="1600" dirty="0"/>
          </a:p>
        </p:txBody>
      </p:sp>
      <p:sp>
        <p:nvSpPr>
          <p:cNvPr id="9" name="Text 6"/>
          <p:cNvSpPr txBox="1"/>
          <p:nvPr/>
        </p:nvSpPr>
        <p:spPr>
          <a:xfrm>
            <a:off x="8001000" y="4343400"/>
            <a:ext cx="3383280" cy="1600200"/>
          </a:xfrm>
          <a:prstGeom prst="rect">
            <a:avLst/>
          </a:prstGeom>
          <a:noFill/>
          <a:ln/>
        </p:spPr>
        <p:txBody>
          <a:bodyPr wrap="square" lIns="0" tIns="0" rIns="0" bIns="0" rtlCol="0" anchor="t"/>
          <a:lstStyle/>
          <a:p>
            <a:pPr indent="0" marL="0">
              <a:buNone/>
            </a:pPr>
            <a:r>
              <a:rPr lang="en-US" sz="1400" dirty="0">
                <a:solidFill>
                  <a:schemeClr val="tx1"/>
                </a:solidFill>
              </a:rPr>
              <a:t>For skewed data, the </a:t>
            </a:r>
            <a:pPr indent="0" marL="0">
              <a:buNone/>
            </a:pPr>
            <a:r>
              <a:rPr lang="en-US" sz="1400" b="1" dirty="0">
                <a:solidFill>
                  <a:schemeClr val="tx1"/>
                </a:solidFill>
              </a:rPr>
              <a:t>median and IQR</a:t>
            </a:r>
            <a:pPr indent="0" marL="0">
              <a:buNone/>
            </a:pPr>
            <a:r>
              <a:rPr lang="en-US" sz="1400" dirty="0">
                <a:solidFill>
                  <a:schemeClr val="tx1"/>
                </a:solidFill>
              </a:rPr>
              <a:t> summarise better than the mean and SD. Always look at the histogram too.</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Frequency tables and percentiles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crop &lt;- read.csv("data/crop_trial.csv"); y &lt;- crop$yield_t_ha</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proportions(table(crop$treatment))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classes &lt;- cut(y, breaks = pretty(range(y), n = 6),</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include.lowest = TRUE)</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freq &lt;- table(classes)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data.frame(interval = names(freq),</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frequency = as.integer(freq),</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cumulative = cumsum(as.integer(freq)))</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stopifnot(sum(freq) == length(y))</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quantile(y, probs = c(0.10, 0.50, 0.90))</a:t>
            </a:r>
            <a:endParaRPr lang="en-US" sz="13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LayerGroup">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Grouped frequencies</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Class boundaries must cover every value; the </a:t>
            </a:r>
            <a:pPr indent="0" marL="0">
              <a:buNone/>
            </a:pPr>
            <a:r>
              <a:rPr lang="en-US" sz="1400" dirty="0">
                <a:solidFill>
                  <a:schemeClr val="accent1"/>
                </a:solidFill>
                <a:latin typeface="Courier New" pitchFamily="34" charset="0"/>
                <a:ea typeface="Courier New" pitchFamily="34" charset="-122"/>
                <a:cs typeface="Courier New" pitchFamily="34" charset="-120"/>
              </a:rPr>
              <a:t>stopifnot()</a:t>
            </a:r>
            <a:pPr indent="0" marL="0">
              <a:buNone/>
            </a:pPr>
            <a:r>
              <a:rPr lang="en-US" sz="1400" dirty="0">
                <a:solidFill>
                  <a:schemeClr val="tx1"/>
                </a:solidFill>
              </a:rPr>
              <a:t> check catches a lost extreme.</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SortAmountUp">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Percentiles</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"What yield did the best 10% of plots exceed?" is the 90th percentile.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 descriptive table for several variables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describe &lt;- function(x)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x &lt;- x[!is.na(x)]; n &lt;- length(x)</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c(n = n, mean = mean(x), sd = sd(x), se = sd(x) / sqrt(n),</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cv_percent = 100 * sd(x) / mean(x),</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min = min(x), median = median(x), max = max(x))</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soil &lt;- read.csv("data/soil.csv")</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round(t(sapply(soil[, c("available_n_mg_kg",</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"available_p_mg_kg", "available_k_mg_kg")], describe)), 2)</a:t>
            </a:r>
            <a:endParaRPr lang="en-US" sz="13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BalanceScale">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Comparing variability</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CVs compare characters in different units: in the field book, tillers (14%) varied relatively more than height (6%).</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3"/>
          </a:solidFill>
          <a:ln/>
        </p:spPr>
      </p:sp>
      <p:pic>
        <p:nvPicPr>
          <p:cNvPr id="12" name="Image 1" descr="FaFileAlt">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Report clearly</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Units in the caption, sensible rounding, and missing values stated.</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8A and exercises</a:t>
            </a:r>
            <a:endParaRPr lang="en-US" sz="3200" dirty="0"/>
          </a:p>
        </p:txBody>
      </p:sp>
      <p:sp>
        <p:nvSpPr>
          <p:cNvPr id="3" name="card"/>
          <p:cNvSpPr/>
          <p:nvPr/>
        </p:nvSpPr>
        <p:spPr>
          <a:xfrm>
            <a:off x="548640" y="13716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451610"/>
            <a:ext cx="502920" cy="502920"/>
          </a:xfrm>
          <a:prstGeom prst="ellipse">
            <a:avLst/>
          </a:prstGeom>
          <a:solidFill>
            <a:schemeClr val="accent1"/>
          </a:solidFill>
          <a:ln/>
        </p:spPr>
      </p:sp>
      <p:sp>
        <p:nvSpPr>
          <p:cNvPr id="5" name="Text 3"/>
          <p:cNvSpPr txBox="1"/>
          <p:nvPr/>
        </p:nvSpPr>
        <p:spPr>
          <a:xfrm>
            <a:off x="749808" y="14516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Calculate mean, median, variance, SD and IQR for available soil nitrogen. State each unit.</a:t>
            </a:r>
            <a:endParaRPr lang="en-US" sz="1300" dirty="0"/>
          </a:p>
        </p:txBody>
      </p:sp>
      <p:sp>
        <p:nvSpPr>
          <p:cNvPr id="7" name="card"/>
          <p:cNvSpPr/>
          <p:nvPr/>
        </p:nvSpPr>
        <p:spPr>
          <a:xfrm>
            <a:off x="548640" y="21717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251710"/>
            <a:ext cx="502920" cy="502920"/>
          </a:xfrm>
          <a:prstGeom prst="ellipse">
            <a:avLst/>
          </a:prstGeom>
          <a:solidFill>
            <a:schemeClr val="accent1"/>
          </a:solidFill>
          <a:ln/>
        </p:spPr>
      </p:sp>
      <p:sp>
        <p:nvSpPr>
          <p:cNvPr id="9" name="Text 7"/>
          <p:cNvSpPr txBox="1"/>
          <p:nvPr/>
        </p:nvSpPr>
        <p:spPr>
          <a:xfrm>
            <a:off x="749808" y="22517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217420"/>
            <a:ext cx="6629400" cy="571500"/>
          </a:xfrm>
          <a:prstGeom prst="rect">
            <a:avLst/>
          </a:prstGeom>
          <a:noFill/>
          <a:ln/>
        </p:spPr>
        <p:txBody>
          <a:bodyPr wrap="square" lIns="0" tIns="0" rIns="0" bIns="0" rtlCol="0" anchor="ctr"/>
          <a:lstStyle/>
          <a:p>
            <a:pPr indent="0" marL="0">
              <a:buNone/>
            </a:pPr>
            <a:r>
              <a:rPr lang="en-US" sz="1300" dirty="0">
                <a:solidFill>
                  <a:schemeClr val="tx1"/>
                </a:solidFill>
              </a:rPr>
              <a:t>Add one very large value to a copy of the yield vector. Which summaries change most?</a:t>
            </a:r>
            <a:endParaRPr lang="en-US" sz="1300" dirty="0"/>
          </a:p>
        </p:txBody>
      </p:sp>
      <p:sp>
        <p:nvSpPr>
          <p:cNvPr id="11" name="card"/>
          <p:cNvSpPr/>
          <p:nvPr/>
        </p:nvSpPr>
        <p:spPr>
          <a:xfrm>
            <a:off x="548640" y="29718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051810"/>
            <a:ext cx="502920" cy="502920"/>
          </a:xfrm>
          <a:prstGeom prst="ellipse">
            <a:avLst/>
          </a:prstGeom>
          <a:solidFill>
            <a:schemeClr val="accent1"/>
          </a:solidFill>
          <a:ln/>
        </p:spPr>
      </p:sp>
      <p:sp>
        <p:nvSpPr>
          <p:cNvPr id="13" name="Text 11"/>
          <p:cNvSpPr txBox="1"/>
          <p:nvPr/>
        </p:nvSpPr>
        <p:spPr>
          <a:xfrm>
            <a:off x="749808" y="30518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017520"/>
            <a:ext cx="6629400" cy="571500"/>
          </a:xfrm>
          <a:prstGeom prst="rect">
            <a:avLst/>
          </a:prstGeom>
          <a:noFill/>
          <a:ln/>
        </p:spPr>
        <p:txBody>
          <a:bodyPr wrap="square" lIns="0" tIns="0" rIns="0" bIns="0" rtlCol="0" anchor="ctr"/>
          <a:lstStyle/>
          <a:p>
            <a:pPr indent="0" marL="0">
              <a:buNone/>
            </a:pPr>
            <a:r>
              <a:rPr lang="en-US" sz="1300" dirty="0">
                <a:solidFill>
                  <a:schemeClr val="tx1"/>
                </a:solidFill>
              </a:rPr>
              <a:t>Explain why doubling the sample size does not halve the SD of the observations.</a:t>
            </a:r>
            <a:endParaRPr lang="en-US" sz="1300" dirty="0"/>
          </a:p>
        </p:txBody>
      </p:sp>
      <p:sp>
        <p:nvSpPr>
          <p:cNvPr id="15" name="card"/>
          <p:cNvSpPr/>
          <p:nvPr/>
        </p:nvSpPr>
        <p:spPr>
          <a:xfrm>
            <a:off x="548640" y="37719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3851910"/>
            <a:ext cx="502920" cy="502920"/>
          </a:xfrm>
          <a:prstGeom prst="ellipse">
            <a:avLst/>
          </a:prstGeom>
          <a:solidFill>
            <a:schemeClr val="accent1"/>
          </a:solidFill>
          <a:ln/>
        </p:spPr>
      </p:sp>
      <p:sp>
        <p:nvSpPr>
          <p:cNvPr id="17" name="Text 15"/>
          <p:cNvSpPr txBox="1"/>
          <p:nvPr/>
        </p:nvSpPr>
        <p:spPr>
          <a:xfrm>
            <a:off x="749808" y="38519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3817620"/>
            <a:ext cx="6629400" cy="571500"/>
          </a:xfrm>
          <a:prstGeom prst="rect">
            <a:avLst/>
          </a:prstGeom>
          <a:noFill/>
          <a:ln/>
        </p:spPr>
        <p:txBody>
          <a:bodyPr wrap="square" lIns="0" tIns="0" rIns="0" bIns="0" rtlCol="0" anchor="ctr"/>
          <a:lstStyle/>
          <a:p>
            <a:pPr indent="0" marL="0">
              <a:buNone/>
            </a:pPr>
            <a:r>
              <a:rPr lang="en-US" sz="1300" dirty="0">
                <a:solidFill>
                  <a:schemeClr val="tx1"/>
                </a:solidFill>
              </a:rPr>
              <a:t>Prices rose by 8%, 15% and −4% in three years. Find the average annual change with the right mean and check it.</a:t>
            </a:r>
            <a:endParaRPr lang="en-US" sz="1300" dirty="0"/>
          </a:p>
        </p:txBody>
      </p:sp>
      <p:sp>
        <p:nvSpPr>
          <p:cNvPr id="19" name="card"/>
          <p:cNvSpPr/>
          <p:nvPr/>
        </p:nvSpPr>
        <p:spPr>
          <a:xfrm>
            <a:off x="548640" y="45720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4652010"/>
            <a:ext cx="502920" cy="502920"/>
          </a:xfrm>
          <a:prstGeom prst="ellipse">
            <a:avLst/>
          </a:prstGeom>
          <a:solidFill>
            <a:schemeClr val="accent1"/>
          </a:solidFill>
          <a:ln/>
        </p:spPr>
      </p:sp>
      <p:sp>
        <p:nvSpPr>
          <p:cNvPr id="21" name="Text 19"/>
          <p:cNvSpPr txBox="1"/>
          <p:nvPr/>
        </p:nvSpPr>
        <p:spPr>
          <a:xfrm>
            <a:off x="749808" y="46520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46177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Calculate skewness for available P and for yield. Which centre would you report for each?</a:t>
            </a:r>
            <a:endParaRPr lang="en-US" sz="1300" dirty="0"/>
          </a:p>
        </p:txBody>
      </p:sp>
      <p:sp>
        <p:nvSpPr>
          <p:cNvPr id="23" name="card"/>
          <p:cNvSpPr/>
          <p:nvPr/>
        </p:nvSpPr>
        <p:spPr>
          <a:xfrm>
            <a:off x="548640" y="53721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24" name="Shape 22"/>
          <p:cNvSpPr/>
          <p:nvPr/>
        </p:nvSpPr>
        <p:spPr>
          <a:xfrm>
            <a:off x="749808" y="5452110"/>
            <a:ext cx="502920" cy="502920"/>
          </a:xfrm>
          <a:prstGeom prst="ellipse">
            <a:avLst/>
          </a:prstGeom>
          <a:solidFill>
            <a:schemeClr val="accent1"/>
          </a:solidFill>
          <a:ln/>
        </p:spPr>
      </p:sp>
      <p:sp>
        <p:nvSpPr>
          <p:cNvPr id="25" name="Text 23"/>
          <p:cNvSpPr txBox="1"/>
          <p:nvPr/>
        </p:nvSpPr>
        <p:spPr>
          <a:xfrm>
            <a:off x="749808" y="54521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1463040" y="5417820"/>
            <a:ext cx="6629400" cy="571500"/>
          </a:xfrm>
          <a:prstGeom prst="rect">
            <a:avLst/>
          </a:prstGeom>
          <a:noFill/>
          <a:ln/>
        </p:spPr>
        <p:txBody>
          <a:bodyPr wrap="square" lIns="0" tIns="0" rIns="0" bIns="0" rtlCol="0" anchor="ctr"/>
          <a:lstStyle/>
          <a:p>
            <a:pPr indent="0" marL="0">
              <a:buNone/>
            </a:pPr>
            <a:r>
              <a:rPr lang="en-US" sz="1300" dirty="0">
                <a:solidFill>
                  <a:schemeClr val="tx1"/>
                </a:solidFill>
              </a:rPr>
              <a:t>Produce the descriptive table for three soil nutrients and write two sentences interpreting it.</a:t>
            </a:r>
            <a:endParaRPr lang="en-US" sz="1300" dirty="0"/>
          </a:p>
        </p:txBody>
      </p:sp>
      <p:sp>
        <p:nvSpPr>
          <p:cNvPr id="27"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8"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9" name="Text 26"/>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30" name="Text 27"/>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167890"/>
          </a:xfrm>
          <a:prstGeom prst="roundRect">
            <a:avLst>
              <a:gd name="adj" fmla="val 4218"/>
            </a:avLst>
          </a:prstGeom>
          <a:solidFill>
            <a:schemeClr val="tx1"/>
          </a:solidFill>
          <a:ln/>
        </p:spPr>
      </p:sp>
      <p:sp>
        <p:nvSpPr>
          <p:cNvPr id="4" name="Text 2"/>
          <p:cNvSpPr txBox="1"/>
          <p:nvPr/>
        </p:nvSpPr>
        <p:spPr>
          <a:xfrm>
            <a:off x="822960" y="1572768"/>
            <a:ext cx="10515600" cy="1765554"/>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yield &lt;- c(3.2, 3.8, 4.0, 3.5, 4.6, 3.9)</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c(mean = mean(yield), median = median(yield),</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variance = var(yield), SD = sd(yield),</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CV_percent = 100 * sd(yield) / mean(yield))</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summary(yield)</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boxplot(yield, col = "#8ecab1", ylab = "Yield (t/ha)")</a:t>
            </a:r>
            <a:endParaRPr lang="en-US" sz="1700" dirty="0"/>
          </a:p>
        </p:txBody>
      </p:sp>
      <p:sp>
        <p:nvSpPr>
          <p:cNvPr id="5" name="investigate"/>
          <p:cNvSpPr/>
          <p:nvPr/>
        </p:nvSpPr>
        <p:spPr>
          <a:xfrm>
            <a:off x="548640" y="385953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15213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346448"/>
            <a:ext cx="388620" cy="388620"/>
          </a:xfrm>
          <a:prstGeom prst="rect">
            <a:avLst/>
          </a:prstGeom>
        </p:spPr>
      </p:pic>
      <p:sp>
        <p:nvSpPr>
          <p:cNvPr id="8" name="Text 5"/>
          <p:cNvSpPr txBox="1"/>
          <p:nvPr/>
        </p:nvSpPr>
        <p:spPr>
          <a:xfrm>
            <a:off x="1828800" y="396925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335018"/>
            <a:ext cx="9555480" cy="822960"/>
          </a:xfrm>
          <a:prstGeom prst="rect">
            <a:avLst/>
          </a:prstGeom>
          <a:noFill/>
          <a:ln/>
        </p:spPr>
        <p:txBody>
          <a:bodyPr wrap="square" lIns="0" tIns="0" rIns="0" bIns="0" rtlCol="0" anchor="t"/>
          <a:lstStyle/>
          <a:p>
            <a:pPr indent="0" marL="0">
              <a:buNone/>
            </a:pPr>
            <a:r>
              <a:rPr lang="en-US" sz="1500" dirty="0">
                <a:solidFill>
                  <a:schemeClr val="tx1"/>
                </a:solidFill>
              </a:rPr>
              <a:t>Change 4.6 to 8.6 and compare the mean, median and SD. Explain the units of variance and why the coefficient of variation is unitless.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Bullseye">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Centre with spread</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Never report a mean without a measure of variation and n.</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Crosshairs">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SD is not SE</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Variation among plots versus precision of a mean.</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ChartArea">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Look at shape</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Skewed data call for the median and IQR.</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Calculator">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The right average</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Geometric for growth ratios, harmonic for rates.</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8 · An exploratory study of crop yield</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Describing agricultural variation</dc:title>
  <dc:subject>R Programming for Agricultural Data Analysis · Chapter 7</dc:subject>
  <dc:creator>Dr. Pratheesh P. Gopinath</dc:creator>
  <cp:lastModifiedBy>Dr. Pratheesh P. Gopinath</cp:lastModifiedBy>
  <cp:revision>1</cp:revision>
  <dcterms:created xsi:type="dcterms:W3CDTF">2026-10-20T10:13:42Z</dcterms:created>
  <dcterms:modified xsi:type="dcterms:W3CDTF">2026-10-20T10:13:42Z</dcterms:modified>
</cp:coreProperties>
</file>