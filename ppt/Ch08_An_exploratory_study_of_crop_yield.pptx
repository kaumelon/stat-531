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7d30eda-d7f4-6626-b82b-d6f5ae5d0570}">
          <p14:sldIdLst>
            <p14:sldId id="256"/>
            <p14:sldId id="257"/>
            <p14:sldId id="258"/>
            <p14:sldId id="259"/>
            <p14:sldId id="260"/>
            <p14:sldId id="261"/>
            <p14:sldId id="262"/>
            <p14:sldId id="263"/>
            <p14:sldId id="264"/>
          </p14:sldIdLst>
        </p14:section>
        <p14:section name="Review" id="{ff0b3b31-493c-f804-c580-b24689fc6966}">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chapter eight, an exploratory study of crop yield. Exploratory data analysis, or EDA, is a structured investigation of distributions, patterns and anomalies. It generates questions and uncovers design problems. In this chapter we carry out a complete EDA of the simulated crop trial and write it up as a short memo.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chapter you will organize an exploratory analysis around a question, combine summaries with graphs, distinguish an observed association from a causal effect, and write a short memo with a defensible follow-up. EDA is disciplined learning from data; it does not turn patterns into causal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teaching question is: which recorded characteristics are associated with differences in grain yield? Before drawing anything, understand the design. The simulated trial has sixty plots: five blocks, three management treatments and two varieties, with two replicate plots for each combination. Nitrogen application is linked to the management treatment, so an association between nitrogen and yield may simply reflect treatment differences. And remember that EDA generates questions; repeatedly searching for a small p-value and reporting only the successes gives a misleading picture of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useful EDA follows a short sequence. First, join the crop and soil tables and confirm sixty unique plots. Then count missing values in each column. Then check balance with tables of treatment by variety and block by treatment. Is the response measured on the same basis for every plot? Is the design balanced? Doing this first prevents a persuasive scatter plot from distracting us from an error in the experimental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look at the distribution of the response, plot by plot. This graph shows every plot, by treatment, coloured by variety, with one panel per block. Look for balance, within-group variation, shifts between blocks and unusual plots. A treatment that looks best in one block may behave differently elsewhere. A graph of every plot tells you far more than a table of treatment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marginal comparison combines observations over other variables; a conditional comparison looks within groups or after accounting for other predictors. Imagine improved seed is used mainly on irrigated farms and local seed mainly on rainfed farms. The marginal yield difference between seeds then includes the effect of water. Comparing seeds within irrigated farms and within rainfed farms may show a smaller difference, a larger one, or even a reversal. In our trial, treatment and nitrogen occupy different ranges by construction, and putting both in a model formula cannot create comparisons the data do not contain.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effective EDA memo has four parts. State the question, source and design. Record the cleaning decisions. Describe two or three patterns, each supported by a named table or figure, with numbers taken from executed output rather than typed in by hand. And state the limitations, such as confounding or lack of overlap, ending with a confirmatory question that would need a new experiment or an independent dataset. Keep what the data show separate from your proposed explanation, and keep a short diary of the exploratory decisions you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eight B. Write a one-page EDA memo with a grouped table and two figures. Identify one relationship that could be confounded and explain how. Write a confirmatory question for a new study. And explain why picking the five best plots cannot tell us the best practice for all farms.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laboratory you explore the PlantGrowth data: group means, box plots and every observation jittered on top. Compare the centres and how much the groups overlap, and read the help page for the dataset's context before giving it any agricultural interpretation.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review: start from a question and a short sequence of comparisons. Check the design before drawing scatter plots. Distinguish marginal from conditional patterns. And write your findings as a memo that ends with a confirmatory question, not as proof. Next, we model crop growth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93268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9326880" cy="73152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377440" y="2560320"/>
            <a:ext cx="8778240"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2377440" y="3794760"/>
            <a:ext cx="8778240" cy="6400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355080"/>
            <a:ext cx="10058400" cy="274320"/>
          </a:xfrm>
          <a:prstGeom prst="rect">
            <a:avLst/>
          </a:prstGeom>
          <a:noFill/>
          <a:ln/>
        </p:spPr>
        <p:txBody>
          <a:bodyPr wrap="square" lIns="0" tIns="0" rIns="0" bIns="0" rtlCol="0" anchor="ctr"/>
          <a:lstStyle/>
          <a:p>
            <a:pPr indent="0" marL="0">
              <a:buNone/>
            </a:pPr>
            <a:r>
              <a:rPr lang="en-US" sz="1000" dirty="0">
                <a:solidFill>
                  <a:schemeClr val="accent5"/>
                </a:solidFill>
              </a:rPr>
              <a:t>Chapter 8 · An exploratory study of crop yield  ·  R Programming for Agricultural Data Analysis</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9144000" cy="365760"/>
          </a:xfrm>
          <a:prstGeom prst="rect">
            <a:avLst/>
          </a:prstGeom>
          <a:noFill/>
          <a:ln/>
        </p:spPr>
        <p:txBody>
          <a:bodyPr wrap="square" lIns="0" tIns="0" rIns="0" bIns="0" rtlCol="0" anchor="t"/>
          <a:lstStyle/>
          <a:p>
            <a:pPr indent="0" marL="0">
              <a:buNone/>
            </a:pPr>
            <a:r>
              <a:rPr lang="en-US" sz="1600" b="1" spc="300" kern="0" dirty="0">
                <a:solidFill>
                  <a:schemeClr val="accent2"/>
                </a:solidFill>
              </a:rPr>
              <a:t>MODULE 4  ·  CHAPTER 8</a:t>
            </a:r>
            <a:endParaRPr lang="en-US" sz="1600" dirty="0"/>
          </a:p>
        </p:txBody>
      </p:sp>
      <p:sp>
        <p:nvSpPr>
          <p:cNvPr id="3" name="Text 0"/>
          <p:cNvSpPr/>
          <p:nvPr>
            <p:ph idx="100" type="title" hasCustomPrompt="1"/>
          </p:nvPr>
        </p:nvSpPr>
        <p:spPr>
          <a:xfrm>
            <a:off x="731520" y="2103120"/>
            <a:ext cx="9326880" cy="1463040"/>
          </a:xfrm>
          <a:prstGeom prst="rect">
            <a:avLst/>
          </a:prstGeom>
          <a:noFill/>
          <a:ln/>
        </p:spPr>
        <p:txBody>
          <a:bodyPr wrap="square" lIns="0" tIns="0" rIns="0" bIns="0" rtlCol="0" anchor="t"/>
          <a:lstStyle/>
          <a:p>
            <a:pPr algn="l" indent="0" marL="0">
              <a:buNone/>
            </a:pPr>
            <a:r>
              <a:rPr lang="en-US" sz="4400" b="1" dirty="0">
                <a:solidFill>
                  <a:schemeClr val="bg1"/>
                </a:solidFill>
              </a:rPr>
              <a:t>An exploratory study of crop yield</a:t>
            </a:r>
            <a:endParaRPr lang="en-US" sz="4400" dirty="0"/>
          </a:p>
        </p:txBody>
      </p:sp>
      <p:sp>
        <p:nvSpPr>
          <p:cNvPr id="4" name="Text 0"/>
          <p:cNvSpPr/>
          <p:nvPr>
            <p:ph idx="101" type="body" hasCustomPrompt="1"/>
          </p:nvPr>
        </p:nvSpPr>
        <p:spPr>
          <a:xfrm>
            <a:off x="731520" y="3657600"/>
            <a:ext cx="9326880" cy="731520"/>
          </a:xfrm>
          <a:prstGeom prst="rect">
            <a:avLst/>
          </a:prstGeom>
          <a:noFill/>
          <a:ln/>
        </p:spPr>
        <p:txBody>
          <a:bodyPr wrap="square" lIns="0" tIns="0" rIns="0" bIns="0" rtlCol="0" anchor="t"/>
          <a:lstStyle/>
          <a:p>
            <a:pPr indent="0" marL="0">
              <a:buNone/>
            </a:pPr>
            <a:r>
              <a:rPr lang="en-US" sz="2200" dirty="0">
                <a:solidFill>
                  <a:schemeClr val="accent6"/>
                </a:solidFill>
              </a:rPr>
              <a:t>R Programming for Agricultural Data Analysis</a:t>
            </a:r>
            <a:endParaRPr lang="en-US" sz="2200" dirty="0"/>
          </a:p>
        </p:txBody>
      </p:sp>
      <p:sp>
        <p:nvSpPr>
          <p:cNvPr id="5" name="Text 3"/>
          <p:cNvSpPr txBox="1"/>
          <p:nvPr/>
        </p:nvSpPr>
        <p:spPr>
          <a:xfrm>
            <a:off x="731520" y="4937760"/>
            <a:ext cx="10515600" cy="731520"/>
          </a:xfrm>
          <a:prstGeom prst="rect">
            <a:avLst/>
          </a:prstGeom>
          <a:noFill/>
          <a:ln/>
        </p:spPr>
        <p:txBody>
          <a:bodyPr wrap="square" lIns="0" tIns="0" rIns="0" bIns="0" rtlCol="0" anchor="t"/>
          <a:lstStyle/>
          <a:p>
            <a:pPr indent="0" marL="0">
              <a:buNone/>
            </a:pPr>
            <a:r>
              <a:rPr lang="en-US" sz="1500" b="1" dirty="0">
                <a:solidFill>
                  <a:schemeClr val="bg1"/>
                </a:solidFill>
              </a:rPr>
              <a:t>Dr. Pratheesh P. Gopinath</a:t>
            </a:r>
            <a:endParaRPr lang="en-US" sz="1500" dirty="0"/>
          </a:p>
          <a:p>
            <a:pPr indent="0" marL="0">
              <a:buNone/>
            </a:pPr>
            <a:r>
              <a:rPr lang="en-US" sz="1500" dirty="0">
                <a:solidFill>
                  <a:schemeClr val="bg1"/>
                </a:solidFill>
              </a:rPr>
              <a:t>Department of Agricultural Statistics · College of Agriculture, Vellayani · Kerala Agricultural University</a:t>
            </a:r>
            <a:endParaRPr lang="en-US" sz="1500" dirty="0"/>
          </a:p>
        </p:txBody>
      </p:sp>
      <p:pic>
        <p:nvPicPr>
          <p:cNvPr id="6" name="Image 0" descr="chapter icon">    </p:cNvPr>
          <p:cNvPicPr>
            <a:picLocks noChangeAspect="1"/>
          </p:cNvPicPr>
          <p:nvPr/>
        </p:nvPicPr>
        <p:blipFill>
          <a:blip r:embed="rId1"/>
          <a:stretch>
            <a:fillRect/>
          </a:stretch>
        </p:blipFill>
        <p:spPr>
          <a:xfrm>
            <a:off x="10149840" y="11887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In this chapter you will</a:t>
            </a:r>
            <a:endParaRPr lang="en-US" sz="3200" dirty="0"/>
          </a:p>
        </p:txBody>
      </p:sp>
      <p:sp>
        <p:nvSpPr>
          <p:cNvPr id="3" name="card"/>
          <p:cNvSpPr/>
          <p:nvPr/>
        </p:nvSpPr>
        <p:spPr>
          <a:xfrm>
            <a:off x="54864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22960" y="1691640"/>
            <a:ext cx="731520" cy="731520"/>
          </a:xfrm>
          <a:prstGeom prst="ellipse">
            <a:avLst/>
          </a:prstGeom>
          <a:solidFill>
            <a:schemeClr val="accent1"/>
          </a:solidFill>
          <a:ln/>
        </p:spPr>
      </p:sp>
      <p:pic>
        <p:nvPicPr>
          <p:cNvPr id="5" name="Image 0" descr="FaQuestionCircle">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178308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Start from a question</a:t>
            </a:r>
            <a:endParaRPr lang="en-US" sz="1800" dirty="0"/>
          </a:p>
        </p:txBody>
      </p:sp>
      <p:sp>
        <p:nvSpPr>
          <p:cNvPr id="7" name="Text 4"/>
          <p:cNvSpPr txBox="1"/>
          <p:nvPr/>
        </p:nvSpPr>
        <p:spPr>
          <a:xfrm>
            <a:off x="178308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Translate it into a short sequence of comparisons</a:t>
            </a:r>
            <a:endParaRPr lang="en-US" sz="1400" dirty="0"/>
          </a:p>
        </p:txBody>
      </p:sp>
      <p:sp>
        <p:nvSpPr>
          <p:cNvPr id="8" name="card"/>
          <p:cNvSpPr/>
          <p:nvPr/>
        </p:nvSpPr>
        <p:spPr>
          <a:xfrm>
            <a:off x="617220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46520" y="1691640"/>
            <a:ext cx="731520" cy="731520"/>
          </a:xfrm>
          <a:prstGeom prst="ellipse">
            <a:avLst/>
          </a:prstGeom>
          <a:solidFill>
            <a:schemeClr val="accent1"/>
          </a:solidFill>
          <a:ln/>
        </p:spPr>
      </p:sp>
      <p:pic>
        <p:nvPicPr>
          <p:cNvPr id="10" name="Image 1" descr="FaChartBar">    </p:cNvPr>
          <p:cNvPicPr>
            <a:picLocks noChangeAspect="1"/>
          </p:cNvPicPr>
          <p:nvPr/>
        </p:nvPicPr>
        <p:blipFill>
          <a:blip r:embed="rId2"/>
          <a:stretch>
            <a:fillRect/>
          </a:stretch>
        </p:blipFill>
        <p:spPr>
          <a:xfrm>
            <a:off x="6629400" y="1874520"/>
            <a:ext cx="365760" cy="365760"/>
          </a:xfrm>
          <a:prstGeom prst="rect">
            <a:avLst/>
          </a:prstGeom>
        </p:spPr>
      </p:pic>
      <p:sp>
        <p:nvSpPr>
          <p:cNvPr id="11" name="Text 7"/>
          <p:cNvSpPr txBox="1"/>
          <p:nvPr/>
        </p:nvSpPr>
        <p:spPr>
          <a:xfrm>
            <a:off x="740664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Combine tables and graphs</a:t>
            </a:r>
            <a:endParaRPr lang="en-US" sz="1800" dirty="0"/>
          </a:p>
        </p:txBody>
      </p:sp>
      <p:sp>
        <p:nvSpPr>
          <p:cNvPr id="12" name="Text 8"/>
          <p:cNvSpPr txBox="1"/>
          <p:nvPr/>
        </p:nvSpPr>
        <p:spPr>
          <a:xfrm>
            <a:off x="740664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Distributions before relationships</a:t>
            </a:r>
            <a:endParaRPr lang="en-US" sz="1400" dirty="0"/>
          </a:p>
        </p:txBody>
      </p:sp>
      <p:sp>
        <p:nvSpPr>
          <p:cNvPr id="13" name="card"/>
          <p:cNvSpPr/>
          <p:nvPr/>
        </p:nvSpPr>
        <p:spPr>
          <a:xfrm>
            <a:off x="54864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22960" y="3337560"/>
            <a:ext cx="731520" cy="731520"/>
          </a:xfrm>
          <a:prstGeom prst="ellipse">
            <a:avLst/>
          </a:prstGeom>
          <a:solidFill>
            <a:schemeClr val="accent1"/>
          </a:solidFill>
          <a:ln/>
        </p:spPr>
      </p:sp>
      <p:pic>
        <p:nvPicPr>
          <p:cNvPr id="15" name="Image 2" descr="FaRandom">    </p:cNvPr>
          <p:cNvPicPr>
            <a:picLocks noChangeAspect="1"/>
          </p:cNvPicPr>
          <p:nvPr/>
        </p:nvPicPr>
        <p:blipFill>
          <a:blip r:embed="rId3"/>
          <a:stretch>
            <a:fillRect/>
          </a:stretch>
        </p:blipFill>
        <p:spPr>
          <a:xfrm>
            <a:off x="1005840" y="3520440"/>
            <a:ext cx="365760" cy="365760"/>
          </a:xfrm>
          <a:prstGeom prst="rect">
            <a:avLst/>
          </a:prstGeom>
        </p:spPr>
      </p:pic>
      <p:sp>
        <p:nvSpPr>
          <p:cNvPr id="16" name="Text 11"/>
          <p:cNvSpPr txBox="1"/>
          <p:nvPr/>
        </p:nvSpPr>
        <p:spPr>
          <a:xfrm>
            <a:off x="178308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Spot confounding</a:t>
            </a:r>
            <a:endParaRPr lang="en-US" sz="1800" dirty="0"/>
          </a:p>
        </p:txBody>
      </p:sp>
      <p:sp>
        <p:nvSpPr>
          <p:cNvPr id="17" name="Text 12"/>
          <p:cNvSpPr txBox="1"/>
          <p:nvPr/>
        </p:nvSpPr>
        <p:spPr>
          <a:xfrm>
            <a:off x="178308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Marginal versus conditional patterns</a:t>
            </a:r>
            <a:endParaRPr lang="en-US" sz="1400" dirty="0"/>
          </a:p>
        </p:txBody>
      </p:sp>
      <p:sp>
        <p:nvSpPr>
          <p:cNvPr id="18" name="card"/>
          <p:cNvSpPr/>
          <p:nvPr/>
        </p:nvSpPr>
        <p:spPr>
          <a:xfrm>
            <a:off x="617220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9" name="icon circle"/>
          <p:cNvSpPr/>
          <p:nvPr/>
        </p:nvSpPr>
        <p:spPr>
          <a:xfrm>
            <a:off x="6446520" y="3337560"/>
            <a:ext cx="731520" cy="731520"/>
          </a:xfrm>
          <a:prstGeom prst="ellipse">
            <a:avLst/>
          </a:prstGeom>
          <a:solidFill>
            <a:schemeClr val="accent1"/>
          </a:solidFill>
          <a:ln/>
        </p:spPr>
      </p:sp>
      <p:pic>
        <p:nvPicPr>
          <p:cNvPr id="20" name="Image 3" descr="FaFileAlt">    </p:cNvPr>
          <p:cNvPicPr>
            <a:picLocks noChangeAspect="1"/>
          </p:cNvPicPr>
          <p:nvPr/>
        </p:nvPicPr>
        <p:blipFill>
          <a:blip r:embed="rId4"/>
          <a:stretch>
            <a:fillRect/>
          </a:stretch>
        </p:blipFill>
        <p:spPr>
          <a:xfrm>
            <a:off x="6629400" y="3520440"/>
            <a:ext cx="365760" cy="365760"/>
          </a:xfrm>
          <a:prstGeom prst="rect">
            <a:avLst/>
          </a:prstGeom>
        </p:spPr>
      </p:pic>
      <p:sp>
        <p:nvSpPr>
          <p:cNvPr id="21" name="Text 15"/>
          <p:cNvSpPr txBox="1"/>
          <p:nvPr/>
        </p:nvSpPr>
        <p:spPr>
          <a:xfrm>
            <a:off x="740664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Write an EDA memo</a:t>
            </a:r>
            <a:endParaRPr lang="en-US" sz="1800" dirty="0"/>
          </a:p>
        </p:txBody>
      </p:sp>
      <p:sp>
        <p:nvSpPr>
          <p:cNvPr id="22" name="Text 16"/>
          <p:cNvSpPr txBox="1"/>
          <p:nvPr/>
        </p:nvSpPr>
        <p:spPr>
          <a:xfrm>
            <a:off x="740664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Supported patterns, limitations and next steps</a:t>
            </a:r>
            <a:endParaRPr lang="en-US" sz="1400" dirty="0"/>
          </a:p>
        </p:txBody>
      </p:sp>
      <p:sp>
        <p:nvSpPr>
          <p:cNvPr id="23" name="key idea"/>
          <p:cNvSpPr/>
          <p:nvPr/>
        </p:nvSpPr>
        <p:spPr>
          <a:xfrm>
            <a:off x="548640" y="4709160"/>
            <a:ext cx="11064240" cy="822960"/>
          </a:xfrm>
          <a:prstGeom prst="roundRect">
            <a:avLst>
              <a:gd name="adj" fmla="val 13333"/>
            </a:avLst>
          </a:prstGeom>
          <a:solidFill>
            <a:schemeClr val="accent6"/>
          </a:solidFill>
          <a:ln/>
          <a:effectLst>
            <a:outerShdw sx="100000" sy="100000" kx="0" ky="0" algn="bl" rotWithShape="0" blurRad="76200" dist="25400" dir="5400000">
              <a:srgbClr val="8A97AB">
                <a:alpha val="25000"/>
              </a:srgbClr>
            </a:outerShdw>
          </a:effectLst>
        </p:spPr>
      </p:sp>
      <p:sp>
        <p:nvSpPr>
          <p:cNvPr id="24" name="Text 18"/>
          <p:cNvSpPr txBox="1"/>
          <p:nvPr/>
        </p:nvSpPr>
        <p:spPr>
          <a:xfrm>
            <a:off x="822960" y="4709160"/>
            <a:ext cx="10515600" cy="82296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EDA is a disciplined way to learn from data and uncover design problems. It does not turn observational patterns into causal effects.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Begin with a question and the design</a:t>
            </a:r>
            <a:endParaRPr lang="en-US" sz="3200" dirty="0"/>
          </a:p>
        </p:txBody>
      </p:sp>
      <p:sp>
        <p:nvSpPr>
          <p:cNvPr id="3" name="card"/>
          <p:cNvSpPr/>
          <p:nvPr/>
        </p:nvSpPr>
        <p:spPr>
          <a:xfrm>
            <a:off x="548640" y="1371600"/>
            <a:ext cx="11064240" cy="960120"/>
          </a:xfrm>
          <a:prstGeom prst="roundRect">
            <a:avLst>
              <a:gd name="adj" fmla="val 11429"/>
            </a:avLst>
          </a:prstGeom>
          <a:solidFill>
            <a:schemeClr val="bg2"/>
          </a:solidFill>
          <a:ln/>
          <a:effectLst>
            <a:outerShdw sx="100000" sy="100000" kx="0" ky="0" algn="bl" rotWithShape="0" blurRad="76200" dist="25400" dir="5400000">
              <a:srgbClr val="8A97AB">
                <a:alpha val="25000"/>
              </a:srgbClr>
            </a:outerShdw>
          </a:effectLst>
        </p:spPr>
      </p:sp>
      <p:sp>
        <p:nvSpPr>
          <p:cNvPr id="4" name="Text 2"/>
          <p:cNvSpPr txBox="1"/>
          <p:nvPr/>
        </p:nvSpPr>
        <p:spPr>
          <a:xfrm>
            <a:off x="868680" y="1371600"/>
            <a:ext cx="10424160" cy="960120"/>
          </a:xfrm>
          <a:prstGeom prst="rect">
            <a:avLst/>
          </a:prstGeom>
          <a:noFill/>
          <a:ln/>
        </p:spPr>
        <p:txBody>
          <a:bodyPr wrap="square" lIns="0" tIns="0" rIns="0" bIns="0" rtlCol="0" anchor="ctr"/>
          <a:lstStyle/>
          <a:p>
            <a:pPr indent="0" marL="0">
              <a:buNone/>
            </a:pPr>
            <a:r>
              <a:rPr lang="en-US" sz="1700" b="1" dirty="0">
                <a:solidFill>
                  <a:schemeClr val="tx1"/>
                </a:solidFill>
              </a:rPr>
              <a:t>Question:</a:t>
            </a:r>
            <a:pPr indent="0" marL="0">
              <a:buNone/>
            </a:pPr>
            <a:r>
              <a:rPr lang="en-US" sz="1700" dirty="0">
                <a:solidFill>
                  <a:schemeClr val="tx1"/>
                </a:solidFill>
              </a:rPr>
              <a:t> Which recorded characteristics are associated with differences in grain yield?</a:t>
            </a:r>
            <a:endParaRPr lang="en-US" sz="1700" dirty="0"/>
          </a:p>
        </p:txBody>
      </p:sp>
      <p:sp>
        <p:nvSpPr>
          <p:cNvPr id="5" name="card"/>
          <p:cNvSpPr/>
          <p:nvPr/>
        </p:nvSpPr>
        <p:spPr>
          <a:xfrm>
            <a:off x="548640" y="260604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 y="2834640"/>
            <a:ext cx="731520" cy="731520"/>
          </a:xfrm>
          <a:prstGeom prst="ellipse">
            <a:avLst/>
          </a:prstGeom>
          <a:solidFill>
            <a:schemeClr val="accent1"/>
          </a:solidFill>
          <a:ln/>
        </p:spPr>
      </p:sp>
      <p:pic>
        <p:nvPicPr>
          <p:cNvPr id="7" name="Image 0" descr="FaThLarge">    </p:cNvPr>
          <p:cNvPicPr>
            <a:picLocks noChangeAspect="1"/>
          </p:cNvPicPr>
          <p:nvPr/>
        </p:nvPicPr>
        <p:blipFill>
          <a:blip r:embed="rId1"/>
          <a:stretch>
            <a:fillRect/>
          </a:stretch>
        </p:blipFill>
        <p:spPr>
          <a:xfrm>
            <a:off x="960120" y="3017520"/>
            <a:ext cx="365760" cy="365760"/>
          </a:xfrm>
          <a:prstGeom prst="rect">
            <a:avLst/>
          </a:prstGeom>
        </p:spPr>
      </p:pic>
      <p:sp>
        <p:nvSpPr>
          <p:cNvPr id="8" name="Text 5"/>
          <p:cNvSpPr txBox="1"/>
          <p:nvPr/>
        </p:nvSpPr>
        <p:spPr>
          <a:xfrm>
            <a:off x="777240" y="3703320"/>
            <a:ext cx="3078480" cy="292608"/>
          </a:xfrm>
          <a:prstGeom prst="rect">
            <a:avLst/>
          </a:prstGeom>
          <a:noFill/>
          <a:ln/>
        </p:spPr>
        <p:txBody>
          <a:bodyPr wrap="square" lIns="0" tIns="0" rIns="0" bIns="0" rtlCol="0" anchor="t"/>
          <a:lstStyle/>
          <a:p>
            <a:pPr indent="0" marL="0">
              <a:buNone/>
            </a:pPr>
            <a:r>
              <a:rPr lang="en-US" sz="1700" b="1" dirty="0">
                <a:solidFill>
                  <a:schemeClr val="tx2"/>
                </a:solidFill>
              </a:rPr>
              <a:t>The design</a:t>
            </a:r>
            <a:endParaRPr lang="en-US" sz="1700" dirty="0"/>
          </a:p>
        </p:txBody>
      </p:sp>
      <p:sp>
        <p:nvSpPr>
          <p:cNvPr id="9" name="Text 6"/>
          <p:cNvSpPr txBox="1"/>
          <p:nvPr/>
        </p:nvSpPr>
        <p:spPr>
          <a:xfrm>
            <a:off x="777240" y="410565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60 plots: 5 blocks × 3 treatments × 2 varieties × 2 replicate plots.</a:t>
            </a:r>
            <a:endParaRPr lang="en-US" sz="1800" dirty="0"/>
          </a:p>
        </p:txBody>
      </p:sp>
      <p:sp>
        <p:nvSpPr>
          <p:cNvPr id="10" name="card"/>
          <p:cNvSpPr/>
          <p:nvPr/>
        </p:nvSpPr>
        <p:spPr>
          <a:xfrm>
            <a:off x="4312920" y="260604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4541520" y="2834640"/>
            <a:ext cx="731520" cy="731520"/>
          </a:xfrm>
          <a:prstGeom prst="ellipse">
            <a:avLst/>
          </a:prstGeom>
          <a:solidFill>
            <a:schemeClr val="accent4"/>
          </a:solidFill>
          <a:ln/>
        </p:spPr>
      </p:sp>
      <p:pic>
        <p:nvPicPr>
          <p:cNvPr id="12" name="Image 1" descr="FaLink">    </p:cNvPr>
          <p:cNvPicPr>
            <a:picLocks noChangeAspect="1"/>
          </p:cNvPicPr>
          <p:nvPr/>
        </p:nvPicPr>
        <p:blipFill>
          <a:blip r:embed="rId2"/>
          <a:stretch>
            <a:fillRect/>
          </a:stretch>
        </p:blipFill>
        <p:spPr>
          <a:xfrm>
            <a:off x="4724400" y="3017520"/>
            <a:ext cx="365760" cy="365760"/>
          </a:xfrm>
          <a:prstGeom prst="rect">
            <a:avLst/>
          </a:prstGeom>
        </p:spPr>
      </p:pic>
      <p:sp>
        <p:nvSpPr>
          <p:cNvPr id="13" name="Text 9"/>
          <p:cNvSpPr txBox="1"/>
          <p:nvPr/>
        </p:nvSpPr>
        <p:spPr>
          <a:xfrm>
            <a:off x="4541520" y="3703320"/>
            <a:ext cx="3078480" cy="292608"/>
          </a:xfrm>
          <a:prstGeom prst="rect">
            <a:avLst/>
          </a:prstGeom>
          <a:noFill/>
          <a:ln/>
        </p:spPr>
        <p:txBody>
          <a:bodyPr wrap="square" lIns="0" tIns="0" rIns="0" bIns="0" rtlCol="0" anchor="t"/>
          <a:lstStyle/>
          <a:p>
            <a:pPr indent="0" marL="0">
              <a:buNone/>
            </a:pPr>
            <a:r>
              <a:rPr lang="en-US" sz="1700" b="1" dirty="0">
                <a:solidFill>
                  <a:schemeClr val="tx2"/>
                </a:solidFill>
              </a:rPr>
              <a:t>A built-in link</a:t>
            </a:r>
            <a:endParaRPr lang="en-US" sz="1700" dirty="0"/>
          </a:p>
        </p:txBody>
      </p:sp>
      <p:sp>
        <p:nvSpPr>
          <p:cNvPr id="14" name="Text 10"/>
          <p:cNvSpPr txBox="1"/>
          <p:nvPr/>
        </p:nvSpPr>
        <p:spPr>
          <a:xfrm>
            <a:off x="4541520" y="410565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Nitrogen applied is tied to management treatment, so their effects are hard to separate.</a:t>
            </a:r>
            <a:endParaRPr lang="en-US" sz="1800" dirty="0"/>
          </a:p>
        </p:txBody>
      </p:sp>
      <p:sp>
        <p:nvSpPr>
          <p:cNvPr id="15" name="card"/>
          <p:cNvSpPr/>
          <p:nvPr/>
        </p:nvSpPr>
        <p:spPr>
          <a:xfrm>
            <a:off x="8077200" y="260604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16" name="icon circle"/>
          <p:cNvSpPr/>
          <p:nvPr/>
        </p:nvSpPr>
        <p:spPr>
          <a:xfrm>
            <a:off x="8305800" y="2834640"/>
            <a:ext cx="731520" cy="731520"/>
          </a:xfrm>
          <a:prstGeom prst="ellipse">
            <a:avLst/>
          </a:prstGeom>
          <a:solidFill>
            <a:schemeClr val="accent2"/>
          </a:solidFill>
          <a:ln/>
        </p:spPr>
      </p:sp>
      <p:pic>
        <p:nvPicPr>
          <p:cNvPr id="17" name="Image 2" descr="FaBan">    </p:cNvPr>
          <p:cNvPicPr>
            <a:picLocks noChangeAspect="1"/>
          </p:cNvPicPr>
          <p:nvPr/>
        </p:nvPicPr>
        <p:blipFill>
          <a:blip r:embed="rId3"/>
          <a:stretch>
            <a:fillRect/>
          </a:stretch>
        </p:blipFill>
        <p:spPr>
          <a:xfrm>
            <a:off x="8488680" y="3017520"/>
            <a:ext cx="365760" cy="365760"/>
          </a:xfrm>
          <a:prstGeom prst="rect">
            <a:avLst/>
          </a:prstGeom>
        </p:spPr>
      </p:pic>
      <p:sp>
        <p:nvSpPr>
          <p:cNvPr id="18" name="Text 13"/>
          <p:cNvSpPr txBox="1"/>
          <p:nvPr/>
        </p:nvSpPr>
        <p:spPr>
          <a:xfrm>
            <a:off x="8305800" y="3703320"/>
            <a:ext cx="3078480" cy="292608"/>
          </a:xfrm>
          <a:prstGeom prst="rect">
            <a:avLst/>
          </a:prstGeom>
          <a:noFill/>
          <a:ln/>
        </p:spPr>
        <p:txBody>
          <a:bodyPr wrap="square" lIns="0" tIns="0" rIns="0" bIns="0" rtlCol="0" anchor="t"/>
          <a:lstStyle/>
          <a:p>
            <a:pPr indent="0" marL="0">
              <a:buNone/>
            </a:pPr>
            <a:r>
              <a:rPr lang="en-US" sz="1700" b="1" dirty="0">
                <a:solidFill>
                  <a:schemeClr val="tx2"/>
                </a:solidFill>
              </a:rPr>
              <a:t>Avoid p-hacking</a:t>
            </a:r>
            <a:endParaRPr lang="en-US" sz="1700" dirty="0"/>
          </a:p>
        </p:txBody>
      </p:sp>
      <p:sp>
        <p:nvSpPr>
          <p:cNvPr id="19" name="Text 14"/>
          <p:cNvSpPr txBox="1"/>
          <p:nvPr/>
        </p:nvSpPr>
        <p:spPr>
          <a:xfrm>
            <a:off x="8305800" y="410565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Searching repeatedly for a small p-value and reporting only the hits misleads readers.</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Check structure and balance first</a:t>
            </a:r>
            <a:endParaRPr lang="en-US" sz="3200" dirty="0"/>
          </a:p>
        </p:txBody>
      </p:sp>
      <p:sp>
        <p:nvSpPr>
          <p:cNvPr id="3" name="code panel"/>
          <p:cNvSpPr/>
          <p:nvPr/>
        </p:nvSpPr>
        <p:spPr>
          <a:xfrm>
            <a:off x="548640" y="1325880"/>
            <a:ext cx="6766560" cy="3977640"/>
          </a:xfrm>
          <a:prstGeom prst="roundRect">
            <a:avLst>
              <a:gd name="adj" fmla="val 2299"/>
            </a:avLst>
          </a:prstGeom>
          <a:solidFill>
            <a:schemeClr val="tx1"/>
          </a:solidFill>
          <a:ln/>
        </p:spPr>
      </p:sp>
      <p:sp>
        <p:nvSpPr>
          <p:cNvPr id="4" name="Text 2"/>
          <p:cNvSpPr txBox="1"/>
          <p:nvPr/>
        </p:nvSpPr>
        <p:spPr>
          <a:xfrm>
            <a:off x="822960" y="1527048"/>
            <a:ext cx="6217920" cy="3575304"/>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library(dplyr); library(ggplot2)</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crop &lt;- read.csv("data/crop_trial.csv")</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soil &lt;- read.csv("data/soil.csv")</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dat &lt;- left_join(crop, soil, by = "plot_id")</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stopifnot(nrow(dat) == 60, !anyDuplicated(dat$plot_id))</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colSums(is.na(dat))</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with(dat, table(treatment, variety))</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with(dat, table(block, treatment))</a:t>
            </a:r>
            <a:endParaRPr lang="en-US" sz="1400" dirty="0"/>
          </a:p>
        </p:txBody>
      </p:sp>
      <p:sp>
        <p:nvSpPr>
          <p:cNvPr id="5" name="note"/>
          <p:cNvSpPr/>
          <p:nvPr/>
        </p:nvSpPr>
        <p:spPr>
          <a:xfrm>
            <a:off x="7543800" y="1325880"/>
            <a:ext cx="4069080" cy="1874520"/>
          </a:xfrm>
          <a:prstGeom prst="roundRect">
            <a:avLst>
              <a:gd name="adj" fmla="val 5854"/>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Ruler">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Is the response comparable?</a:t>
            </a:r>
            <a:endParaRPr lang="en-US" sz="1600" dirty="0"/>
          </a:p>
        </p:txBody>
      </p:sp>
      <p:sp>
        <p:nvSpPr>
          <p:cNvPr id="9" name="Text 6"/>
          <p:cNvSpPr txBox="1"/>
          <p:nvPr/>
        </p:nvSpPr>
        <p:spPr>
          <a:xfrm>
            <a:off x="7772400" y="2148840"/>
            <a:ext cx="3611880" cy="960120"/>
          </a:xfrm>
          <a:prstGeom prst="rect">
            <a:avLst/>
          </a:prstGeom>
          <a:noFill/>
          <a:ln/>
        </p:spPr>
        <p:txBody>
          <a:bodyPr wrap="square" lIns="0" tIns="0" rIns="0" bIns="0" rtlCol="0" anchor="t"/>
          <a:lstStyle/>
          <a:p>
            <a:pPr indent="0" marL="0">
              <a:buNone/>
            </a:pPr>
            <a:r>
              <a:rPr lang="en-US" sz="1400" dirty="0">
                <a:solidFill>
                  <a:schemeClr val="tx1"/>
                </a:solidFill>
              </a:rPr>
              <a:t>Same unit and basis for every plot?</a:t>
            </a:r>
            <a:endParaRPr lang="en-US" sz="1400" dirty="0"/>
          </a:p>
        </p:txBody>
      </p:sp>
      <p:sp>
        <p:nvSpPr>
          <p:cNvPr id="10" name="note"/>
          <p:cNvSpPr/>
          <p:nvPr/>
        </p:nvSpPr>
        <p:spPr>
          <a:xfrm>
            <a:off x="7543800" y="3429000"/>
            <a:ext cx="4069080" cy="1874520"/>
          </a:xfrm>
          <a:prstGeom prst="roundRect">
            <a:avLst>
              <a:gd name="adj" fmla="val 5854"/>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630168"/>
            <a:ext cx="548640" cy="548640"/>
          </a:xfrm>
          <a:prstGeom prst="ellipse">
            <a:avLst/>
          </a:prstGeom>
          <a:solidFill>
            <a:schemeClr val="accent2"/>
          </a:solidFill>
          <a:ln/>
        </p:spPr>
      </p:sp>
      <p:pic>
        <p:nvPicPr>
          <p:cNvPr id="12" name="Image 1" descr="FaBalanceScale">    </p:cNvPr>
          <p:cNvPicPr>
            <a:picLocks noChangeAspect="1"/>
          </p:cNvPicPr>
          <p:nvPr/>
        </p:nvPicPr>
        <p:blipFill>
          <a:blip r:embed="rId2"/>
          <a:stretch>
            <a:fillRect/>
          </a:stretch>
        </p:blipFill>
        <p:spPr>
          <a:xfrm>
            <a:off x="7909560" y="3767328"/>
            <a:ext cx="274320" cy="274320"/>
          </a:xfrm>
          <a:prstGeom prst="rect">
            <a:avLst/>
          </a:prstGeom>
        </p:spPr>
      </p:pic>
      <p:sp>
        <p:nvSpPr>
          <p:cNvPr id="13" name="Text 9"/>
          <p:cNvSpPr txBox="1"/>
          <p:nvPr/>
        </p:nvSpPr>
        <p:spPr>
          <a:xfrm>
            <a:off x="8458200" y="361188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Is the design balanced?</a:t>
            </a:r>
            <a:endParaRPr lang="en-US" sz="1600" dirty="0"/>
          </a:p>
        </p:txBody>
      </p:sp>
      <p:sp>
        <p:nvSpPr>
          <p:cNvPr id="14" name="Text 10"/>
          <p:cNvSpPr txBox="1"/>
          <p:nvPr/>
        </p:nvSpPr>
        <p:spPr>
          <a:xfrm>
            <a:off x="7772400" y="4251960"/>
            <a:ext cx="3611880" cy="960120"/>
          </a:xfrm>
          <a:prstGeom prst="rect">
            <a:avLst/>
          </a:prstGeom>
          <a:noFill/>
          <a:ln/>
        </p:spPr>
        <p:txBody>
          <a:bodyPr wrap="square" lIns="0" tIns="0" rIns="0" bIns="0" rtlCol="0" anchor="t"/>
          <a:lstStyle/>
          <a:p>
            <a:pPr indent="0" marL="0">
              <a:buNone/>
            </a:pPr>
            <a:r>
              <a:rPr lang="en-US" sz="1400" dirty="0">
                <a:solidFill>
                  <a:schemeClr val="tx1"/>
                </a:solidFill>
              </a:rPr>
              <a:t>Equal counts per treatment, variety and block?</a:t>
            </a:r>
            <a:endParaRPr lang="en-US" sz="1400" dirty="0"/>
          </a:p>
        </p:txBody>
      </p:sp>
      <p:sp>
        <p:nvSpPr>
          <p:cNvPr id="15" name="Text 11"/>
          <p:cNvSpPr txBox="1"/>
          <p:nvPr/>
        </p:nvSpPr>
        <p:spPr>
          <a:xfrm>
            <a:off x="548640" y="5440680"/>
            <a:ext cx="11064240" cy="640080"/>
          </a:xfrm>
          <a:prstGeom prst="rect">
            <a:avLst/>
          </a:prstGeom>
          <a:noFill/>
          <a:ln/>
        </p:spPr>
        <p:txBody>
          <a:bodyPr wrap="square" lIns="0" tIns="0" rIns="0" bIns="0" rtlCol="0" anchor="ctr"/>
          <a:lstStyle/>
          <a:p>
            <a:pPr indent="0" marL="0">
              <a:buNone/>
            </a:pPr>
            <a:r>
              <a:rPr lang="en-US" sz="1500" i="1" dirty="0">
                <a:solidFill>
                  <a:schemeClr val="accent5"/>
                </a:solidFill>
              </a:rPr>
              <a:t>This order stops a persuasive scatter plot from hiding an error in the experimental structure.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Distributions before relationships</a:t>
            </a:r>
            <a:endParaRPr lang="en-US" sz="3200" dirty="0"/>
          </a:p>
        </p:txBody>
      </p:sp>
      <p:sp>
        <p:nvSpPr>
          <p:cNvPr id="3" name="code panel"/>
          <p:cNvSpPr/>
          <p:nvPr/>
        </p:nvSpPr>
        <p:spPr>
          <a:xfrm>
            <a:off x="548640" y="1325880"/>
            <a:ext cx="6766560" cy="3977640"/>
          </a:xfrm>
          <a:prstGeom prst="roundRect">
            <a:avLst>
              <a:gd name="adj" fmla="val 2299"/>
            </a:avLst>
          </a:prstGeom>
          <a:solidFill>
            <a:schemeClr val="tx1"/>
          </a:solidFill>
          <a:ln/>
        </p:spPr>
      </p:sp>
      <p:sp>
        <p:nvSpPr>
          <p:cNvPr id="4" name="Text 2"/>
          <p:cNvSpPr txBox="1"/>
          <p:nvPr/>
        </p:nvSpPr>
        <p:spPr>
          <a:xfrm>
            <a:off x="822960" y="1527048"/>
            <a:ext cx="6217920" cy="3575304"/>
          </a:xfrm>
          <a:prstGeom prst="rect">
            <a:avLst/>
          </a:prstGeom>
          <a:noFill/>
          <a:ln/>
        </p:spPr>
        <p:txBody>
          <a:bodyPr wrap="square" lIns="0" tIns="0" rIns="0" bIns="0" rtlCol="0" anchor="t"/>
          <a:lstStyle/>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ggplot(dat, aes(treatment, yield_t_ha, colour = variety)) +</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geom_point(position = position_jitterdodge(</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jitter.width = .1, seed = 531)) +</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facet_wrap(~ block) +</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labs(x = "Management treatment", y = "Yield (t/ha)")</a:t>
            </a:r>
            <a:endParaRPr lang="en-US" sz="1300" dirty="0"/>
          </a:p>
        </p:txBody>
      </p:sp>
      <p:sp>
        <p:nvSpPr>
          <p:cNvPr id="5" name="note"/>
          <p:cNvSpPr/>
          <p:nvPr/>
        </p:nvSpPr>
        <p:spPr>
          <a:xfrm>
            <a:off x="7543800" y="1325880"/>
            <a:ext cx="4069080" cy="3977640"/>
          </a:xfrm>
          <a:prstGeom prst="roundRect">
            <a:avLst>
              <a:gd name="adj" fmla="val 2759"/>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Eye">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Look for</a:t>
            </a:r>
            <a:endParaRPr lang="en-US" sz="1600" dirty="0"/>
          </a:p>
        </p:txBody>
      </p:sp>
      <p:sp>
        <p:nvSpPr>
          <p:cNvPr id="9" name="Text 6"/>
          <p:cNvSpPr txBox="1"/>
          <p:nvPr/>
        </p:nvSpPr>
        <p:spPr>
          <a:xfrm>
            <a:off x="7772400" y="2148840"/>
            <a:ext cx="3611880" cy="306324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Balance and within-group variation</a:t>
            </a:r>
            <a:endParaRPr lang="en-US" sz="1400" dirty="0"/>
          </a:p>
          <a:p>
            <a:pPr marL="228600" indent="-228600">
              <a:spcAft>
                <a:spcPts val="800"/>
              </a:spcAft>
              <a:buSzPct val="100000"/>
              <a:buChar char="•"/>
            </a:pPr>
            <a:r>
              <a:rPr lang="en-US" sz="1400" dirty="0">
                <a:solidFill>
                  <a:schemeClr val="tx1"/>
                </a:solidFill>
              </a:rPr>
              <a:t>Shifts between blocks</a:t>
            </a:r>
            <a:endParaRPr lang="en-US" sz="1400" dirty="0"/>
          </a:p>
          <a:p>
            <a:pPr marL="228600" indent="-228600">
              <a:spcAft>
                <a:spcPts val="800"/>
              </a:spcAft>
              <a:buSzPct val="100000"/>
              <a:buChar char="•"/>
            </a:pPr>
            <a:r>
              <a:rPr lang="en-US" sz="1400" dirty="0">
                <a:solidFill>
                  <a:schemeClr val="tx1"/>
                </a:solidFill>
              </a:rPr>
              <a:t>Unusual plots</a:t>
            </a:r>
            <a:endParaRPr lang="en-US" sz="1400" dirty="0"/>
          </a:p>
          <a:p>
            <a:pPr marL="228600" indent="-228600">
              <a:spcAft>
                <a:spcPts val="800"/>
              </a:spcAft>
              <a:buSzPct val="100000"/>
              <a:buChar char="•"/>
            </a:pPr>
            <a:r>
              <a:rPr lang="en-US" sz="1400" dirty="0">
                <a:solidFill>
                  <a:schemeClr val="tx1"/>
                </a:solidFill>
              </a:rPr>
              <a:t>A treatment that behaves differently in one block</a:t>
            </a:r>
            <a:endParaRPr lang="en-US" sz="1400" dirty="0"/>
          </a:p>
        </p:txBody>
      </p:sp>
      <p:sp>
        <p:nvSpPr>
          <p:cNvPr id="10" name="key idea"/>
          <p:cNvSpPr/>
          <p:nvPr/>
        </p:nvSpPr>
        <p:spPr>
          <a:xfrm>
            <a:off x="548640" y="5486400"/>
            <a:ext cx="11064240" cy="640080"/>
          </a:xfrm>
          <a:prstGeom prst="roundRect">
            <a:avLst>
              <a:gd name="adj" fmla="val 17143"/>
            </a:avLst>
          </a:prstGeom>
          <a:solidFill>
            <a:schemeClr val="accent6"/>
          </a:solidFill>
          <a:ln/>
          <a:effectLst>
            <a:outerShdw sx="100000" sy="100000" kx="0" ky="0" algn="bl" rotWithShape="0" blurRad="76200" dist="25400" dir="5400000">
              <a:srgbClr val="8A97AB">
                <a:alpha val="25000"/>
              </a:srgbClr>
            </a:outerShdw>
          </a:effectLst>
        </p:spPr>
      </p:sp>
      <p:sp>
        <p:nvSpPr>
          <p:cNvPr id="11" name="Text 8"/>
          <p:cNvSpPr txBox="1"/>
          <p:nvPr/>
        </p:nvSpPr>
        <p:spPr>
          <a:xfrm>
            <a:off x="822960" y="5486400"/>
            <a:ext cx="10515600" cy="64008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A graph of every plot is more informative than a table of treatment means alone.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Marginal and conditional patterns</a:t>
            </a:r>
            <a:endParaRPr lang="en-US" sz="3200" dirty="0"/>
          </a:p>
        </p:txBody>
      </p:sp>
      <p:sp>
        <p:nvSpPr>
          <p:cNvPr id="3" name="card"/>
          <p:cNvSpPr/>
          <p:nvPr/>
        </p:nvSpPr>
        <p:spPr>
          <a:xfrm>
            <a:off x="548640" y="1371600"/>
            <a:ext cx="5440680" cy="3886200"/>
          </a:xfrm>
          <a:prstGeom prst="roundRect">
            <a:avLst>
              <a:gd name="adj" fmla="val 2824"/>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68680" y="1645920"/>
            <a:ext cx="731520" cy="731520"/>
          </a:xfrm>
          <a:prstGeom prst="ellipse">
            <a:avLst/>
          </a:prstGeom>
          <a:solidFill>
            <a:schemeClr val="accent5"/>
          </a:solidFill>
          <a:ln/>
        </p:spPr>
      </p:sp>
      <p:pic>
        <p:nvPicPr>
          <p:cNvPr id="5" name="Image 0" descr="FaGlobe">    </p:cNvPr>
          <p:cNvPicPr>
            <a:picLocks noChangeAspect="1"/>
          </p:cNvPicPr>
          <p:nvPr/>
        </p:nvPicPr>
        <p:blipFill>
          <a:blip r:embed="rId1"/>
          <a:stretch>
            <a:fillRect/>
          </a:stretch>
        </p:blipFill>
        <p:spPr>
          <a:xfrm>
            <a:off x="1051560" y="1828800"/>
            <a:ext cx="365760" cy="365760"/>
          </a:xfrm>
          <a:prstGeom prst="rect">
            <a:avLst/>
          </a:prstGeom>
        </p:spPr>
      </p:pic>
      <p:sp>
        <p:nvSpPr>
          <p:cNvPr id="6" name="Text 3"/>
          <p:cNvSpPr txBox="1"/>
          <p:nvPr/>
        </p:nvSpPr>
        <p:spPr>
          <a:xfrm>
            <a:off x="1783080" y="1645920"/>
            <a:ext cx="4023360" cy="731520"/>
          </a:xfrm>
          <a:prstGeom prst="rect">
            <a:avLst/>
          </a:prstGeom>
          <a:noFill/>
          <a:ln/>
        </p:spPr>
        <p:txBody>
          <a:bodyPr wrap="square" lIns="0" tIns="0" rIns="0" bIns="0" rtlCol="0" anchor="ctr"/>
          <a:lstStyle/>
          <a:p>
            <a:pPr indent="0" marL="0">
              <a:buNone/>
            </a:pPr>
            <a:r>
              <a:rPr lang="en-US" sz="2000" b="1" dirty="0">
                <a:solidFill>
                  <a:schemeClr val="tx2"/>
                </a:solidFill>
              </a:rPr>
              <a:t>Marginal comparison</a:t>
            </a:r>
            <a:endParaRPr lang="en-US" sz="2000" dirty="0"/>
          </a:p>
        </p:txBody>
      </p:sp>
      <p:sp>
        <p:nvSpPr>
          <p:cNvPr id="7" name="Text 4"/>
          <p:cNvSpPr txBox="1"/>
          <p:nvPr/>
        </p:nvSpPr>
        <p:spPr>
          <a:xfrm>
            <a:off x="868680" y="2606040"/>
            <a:ext cx="4846320" cy="25146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Combines observations over everything else</a:t>
            </a:r>
            <a:endParaRPr lang="en-US" sz="1600" dirty="0"/>
          </a:p>
          <a:p>
            <a:pPr marL="228600" indent="-228600">
              <a:spcAft>
                <a:spcPts val="800"/>
              </a:spcAft>
              <a:buSzPct val="100000"/>
              <a:buChar char="•"/>
            </a:pPr>
            <a:r>
              <a:rPr lang="en-US" sz="1600" dirty="0">
                <a:solidFill>
                  <a:schemeClr val="tx1"/>
                </a:solidFill>
              </a:rPr>
              <a:t>Improved seed on irrigated farms, local seed on rainfed farms</a:t>
            </a:r>
            <a:endParaRPr lang="en-US" sz="1600" dirty="0"/>
          </a:p>
          <a:p>
            <a:pPr marL="228600" indent="-228600">
              <a:spcAft>
                <a:spcPts val="800"/>
              </a:spcAft>
              <a:buSzPct val="100000"/>
              <a:buChar char="•"/>
            </a:pPr>
            <a:r>
              <a:rPr lang="en-US" sz="1600" dirty="0">
                <a:solidFill>
                  <a:schemeClr val="tx1"/>
                </a:solidFill>
              </a:rPr>
              <a:t>The seed difference then includes the water difference</a:t>
            </a:r>
            <a:endParaRPr lang="en-US" sz="1600" dirty="0"/>
          </a:p>
        </p:txBody>
      </p:sp>
      <p:sp>
        <p:nvSpPr>
          <p:cNvPr id="8" name="card"/>
          <p:cNvSpPr/>
          <p:nvPr/>
        </p:nvSpPr>
        <p:spPr>
          <a:xfrm>
            <a:off x="6172200" y="1371600"/>
            <a:ext cx="5440680" cy="3886200"/>
          </a:xfrm>
          <a:prstGeom prst="roundRect">
            <a:avLst>
              <a:gd name="adj" fmla="val 2824"/>
            </a:avLst>
          </a:prstGeom>
          <a:solidFill>
            <a:schemeClr val="tx2"/>
          </a:solidFill>
          <a:ln/>
          <a:effectLst>
            <a:outerShdw sx="100000" sy="100000" kx="0" ky="0" algn="bl" rotWithShape="0" blurRad="76200" dist="25400" dir="5400000">
              <a:srgbClr val="8A97AB">
                <a:alpha val="25000"/>
              </a:srgbClr>
            </a:outerShdw>
          </a:effectLst>
        </p:spPr>
      </p:sp>
      <p:sp>
        <p:nvSpPr>
          <p:cNvPr id="9" name="icon circle"/>
          <p:cNvSpPr/>
          <p:nvPr/>
        </p:nvSpPr>
        <p:spPr>
          <a:xfrm>
            <a:off x="6492240" y="1645920"/>
            <a:ext cx="731520" cy="731520"/>
          </a:xfrm>
          <a:prstGeom prst="ellipse">
            <a:avLst/>
          </a:prstGeom>
          <a:solidFill>
            <a:schemeClr val="accent2"/>
          </a:solidFill>
          <a:ln/>
        </p:spPr>
      </p:sp>
      <p:pic>
        <p:nvPicPr>
          <p:cNvPr id="10" name="Image 1" descr="FaLayerGroup">    </p:cNvPr>
          <p:cNvPicPr>
            <a:picLocks noChangeAspect="1"/>
          </p:cNvPicPr>
          <p:nvPr/>
        </p:nvPicPr>
        <p:blipFill>
          <a:blip r:embed="rId2"/>
          <a:stretch>
            <a:fillRect/>
          </a:stretch>
        </p:blipFill>
        <p:spPr>
          <a:xfrm>
            <a:off x="6675120" y="1828800"/>
            <a:ext cx="365760" cy="365760"/>
          </a:xfrm>
          <a:prstGeom prst="rect">
            <a:avLst/>
          </a:prstGeom>
        </p:spPr>
      </p:pic>
      <p:sp>
        <p:nvSpPr>
          <p:cNvPr id="11" name="Text 7"/>
          <p:cNvSpPr txBox="1"/>
          <p:nvPr/>
        </p:nvSpPr>
        <p:spPr>
          <a:xfrm>
            <a:off x="7406640" y="1645920"/>
            <a:ext cx="4023360" cy="731520"/>
          </a:xfrm>
          <a:prstGeom prst="rect">
            <a:avLst/>
          </a:prstGeom>
          <a:noFill/>
          <a:ln/>
        </p:spPr>
        <p:txBody>
          <a:bodyPr wrap="square" lIns="0" tIns="0" rIns="0" bIns="0" rtlCol="0" anchor="ctr"/>
          <a:lstStyle/>
          <a:p>
            <a:pPr indent="0" marL="0">
              <a:buNone/>
            </a:pPr>
            <a:r>
              <a:rPr lang="en-US" sz="2000" b="1" dirty="0">
                <a:solidFill>
                  <a:schemeClr val="bg1"/>
                </a:solidFill>
              </a:rPr>
              <a:t>Conditional comparison</a:t>
            </a:r>
            <a:endParaRPr lang="en-US" sz="2000" dirty="0"/>
          </a:p>
        </p:txBody>
      </p:sp>
      <p:sp>
        <p:nvSpPr>
          <p:cNvPr id="12" name="Text 8"/>
          <p:cNvSpPr txBox="1"/>
          <p:nvPr/>
        </p:nvSpPr>
        <p:spPr>
          <a:xfrm>
            <a:off x="6492240" y="2606040"/>
            <a:ext cx="4846320" cy="25146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1"/>
                </a:solidFill>
              </a:rPr>
              <a:t>Within groups, or after accounting for other predictors</a:t>
            </a:r>
            <a:endParaRPr lang="en-US" sz="1600" dirty="0"/>
          </a:p>
          <a:p>
            <a:pPr marL="228600" indent="-228600">
              <a:spcAft>
                <a:spcPts val="800"/>
              </a:spcAft>
              <a:buSzPct val="100000"/>
              <a:buChar char="•"/>
            </a:pPr>
            <a:r>
              <a:rPr lang="en-US" sz="1600" dirty="0">
                <a:solidFill>
                  <a:schemeClr val="bg1"/>
                </a:solidFill>
              </a:rPr>
              <a:t>Compare seeds within irrigated and within rainfed farms</a:t>
            </a:r>
            <a:endParaRPr lang="en-US" sz="1600" dirty="0"/>
          </a:p>
          <a:p>
            <a:pPr marL="228600" indent="-228600">
              <a:spcAft>
                <a:spcPts val="800"/>
              </a:spcAft>
              <a:buSzPct val="100000"/>
              <a:buChar char="•"/>
            </a:pPr>
            <a:r>
              <a:rPr lang="en-US" sz="1600" dirty="0">
                <a:solidFill>
                  <a:schemeClr val="bg1"/>
                </a:solidFill>
              </a:rPr>
              <a:t>The difference may shrink, grow, or even reverse</a:t>
            </a:r>
            <a:endParaRPr lang="en-US" sz="1600" dirty="0"/>
          </a:p>
        </p:txBody>
      </p:sp>
      <p:sp>
        <p:nvSpPr>
          <p:cNvPr id="13" name="key idea"/>
          <p:cNvSpPr/>
          <p:nvPr/>
        </p:nvSpPr>
        <p:spPr>
          <a:xfrm>
            <a:off x="548640" y="5440680"/>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4" name="Text 10"/>
          <p:cNvSpPr txBox="1"/>
          <p:nvPr/>
        </p:nvSpPr>
        <p:spPr>
          <a:xfrm>
            <a:off x="822960" y="5440680"/>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Including both variables in a formula does not create overlap that the data lack. Describe the overlap in the memo.</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Writing an EDA memo</a:t>
            </a:r>
            <a:endParaRPr lang="en-US" sz="3200" dirty="0"/>
          </a:p>
        </p:txBody>
      </p:sp>
      <p:sp>
        <p:nvSpPr>
          <p:cNvPr id="3" name="card"/>
          <p:cNvSpPr/>
          <p:nvPr/>
        </p:nvSpPr>
        <p:spPr>
          <a:xfrm>
            <a:off x="548640" y="1371600"/>
            <a:ext cx="2560320" cy="3931920"/>
          </a:xfrm>
          <a:prstGeom prst="roundRect">
            <a:avLst>
              <a:gd name="adj" fmla="val 4286"/>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77240" y="1600200"/>
            <a:ext cx="594360" cy="594360"/>
          </a:xfrm>
          <a:prstGeom prst="ellipse">
            <a:avLst/>
          </a:prstGeom>
          <a:solidFill>
            <a:schemeClr val="tx2"/>
          </a:solidFill>
          <a:ln/>
        </p:spPr>
      </p:sp>
      <p:sp>
        <p:nvSpPr>
          <p:cNvPr id="5" name="Text 3"/>
          <p:cNvSpPr txBox="1"/>
          <p:nvPr/>
        </p:nvSpPr>
        <p:spPr>
          <a:xfrm>
            <a:off x="777240"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6" name="icon circle"/>
          <p:cNvSpPr/>
          <p:nvPr/>
        </p:nvSpPr>
        <p:spPr>
          <a:xfrm>
            <a:off x="2286000" y="1600200"/>
            <a:ext cx="594360" cy="594360"/>
          </a:xfrm>
          <a:prstGeom prst="ellipse">
            <a:avLst/>
          </a:prstGeom>
          <a:solidFill>
            <a:schemeClr val="accent2"/>
          </a:solidFill>
          <a:ln/>
        </p:spPr>
      </p:sp>
      <p:pic>
        <p:nvPicPr>
          <p:cNvPr id="7" name="Image 0" descr="FaQuestionCircle">    </p:cNvPr>
          <p:cNvPicPr>
            <a:picLocks noChangeAspect="1"/>
          </p:cNvPicPr>
          <p:nvPr/>
        </p:nvPicPr>
        <p:blipFill>
          <a:blip r:embed="rId1"/>
          <a:stretch>
            <a:fillRect/>
          </a:stretch>
        </p:blipFill>
        <p:spPr>
          <a:xfrm>
            <a:off x="2434590" y="1748790"/>
            <a:ext cx="297180" cy="297180"/>
          </a:xfrm>
          <a:prstGeom prst="rect">
            <a:avLst/>
          </a:prstGeom>
        </p:spPr>
      </p:pic>
      <p:sp>
        <p:nvSpPr>
          <p:cNvPr id="8" name="Text 5"/>
          <p:cNvSpPr txBox="1"/>
          <p:nvPr/>
        </p:nvSpPr>
        <p:spPr>
          <a:xfrm>
            <a:off x="777240" y="2377440"/>
            <a:ext cx="2103120" cy="685800"/>
          </a:xfrm>
          <a:prstGeom prst="rect">
            <a:avLst/>
          </a:prstGeom>
          <a:noFill/>
          <a:ln/>
        </p:spPr>
        <p:txBody>
          <a:bodyPr wrap="square" lIns="0" tIns="0" rIns="0" bIns="0" rtlCol="0" anchor="t"/>
          <a:lstStyle/>
          <a:p>
            <a:pPr indent="0" marL="0">
              <a:buNone/>
            </a:pPr>
            <a:r>
              <a:rPr lang="en-US" sz="1800" b="1" dirty="0">
                <a:solidFill>
                  <a:schemeClr val="tx2"/>
                </a:solidFill>
              </a:rPr>
              <a:t>Question and source</a:t>
            </a:r>
            <a:endParaRPr lang="en-US" sz="1800" dirty="0"/>
          </a:p>
        </p:txBody>
      </p:sp>
      <p:sp>
        <p:nvSpPr>
          <p:cNvPr id="9" name="Text 6"/>
          <p:cNvSpPr txBox="1"/>
          <p:nvPr/>
        </p:nvSpPr>
        <p:spPr>
          <a:xfrm>
            <a:off x="777240" y="3108960"/>
            <a:ext cx="2103120" cy="2103120"/>
          </a:xfrm>
          <a:prstGeom prst="rect">
            <a:avLst/>
          </a:prstGeom>
          <a:noFill/>
          <a:ln/>
        </p:spPr>
        <p:txBody>
          <a:bodyPr wrap="square" lIns="0" tIns="0" rIns="0" bIns="0" rtlCol="0" anchor="t"/>
          <a:lstStyle/>
          <a:p>
            <a:pPr indent="0" marL="0">
              <a:buNone/>
            </a:pPr>
            <a:r>
              <a:rPr lang="en-US" sz="1400" dirty="0">
                <a:solidFill>
                  <a:schemeClr val="accent5"/>
                </a:solidFill>
              </a:rPr>
              <a:t>State the question, the data source and the design.</a:t>
            </a:r>
            <a:endParaRPr lang="en-US" sz="1400" dirty="0"/>
          </a:p>
        </p:txBody>
      </p:sp>
      <p:sp>
        <p:nvSpPr>
          <p:cNvPr id="10" name="Shape 7"/>
          <p:cNvSpPr/>
          <p:nvPr/>
        </p:nvSpPr>
        <p:spPr>
          <a:xfrm>
            <a:off x="3127248" y="1892808"/>
            <a:ext cx="237744" cy="0"/>
          </a:xfrm>
          <a:prstGeom prst="line">
            <a:avLst/>
          </a:prstGeom>
          <a:noFill/>
          <a:ln w="25400">
            <a:solidFill>
              <a:schemeClr val="accent2"/>
            </a:solidFill>
            <a:prstDash val="solid"/>
            <a:tailEnd type="triangle"/>
          </a:ln>
        </p:spPr>
      </p:sp>
      <p:sp>
        <p:nvSpPr>
          <p:cNvPr id="11" name="card"/>
          <p:cNvSpPr/>
          <p:nvPr/>
        </p:nvSpPr>
        <p:spPr>
          <a:xfrm>
            <a:off x="3383280" y="1371600"/>
            <a:ext cx="2560320" cy="3931920"/>
          </a:xfrm>
          <a:prstGeom prst="roundRect">
            <a:avLst>
              <a:gd name="adj" fmla="val 4286"/>
            </a:avLst>
          </a:prstGeom>
          <a:solidFill>
            <a:schemeClr val="bg2"/>
          </a:solidFill>
          <a:ln/>
          <a:effectLst>
            <a:outerShdw sx="100000" sy="100000" kx="0" ky="0" algn="bl" rotWithShape="0" blurRad="76200" dist="25400" dir="5400000">
              <a:srgbClr val="8A97AB">
                <a:alpha val="25000"/>
              </a:srgbClr>
            </a:outerShdw>
          </a:effectLst>
        </p:spPr>
      </p:sp>
      <p:sp>
        <p:nvSpPr>
          <p:cNvPr id="12" name="Shape 9"/>
          <p:cNvSpPr/>
          <p:nvPr/>
        </p:nvSpPr>
        <p:spPr>
          <a:xfrm>
            <a:off x="3611880" y="1600200"/>
            <a:ext cx="594360" cy="594360"/>
          </a:xfrm>
          <a:prstGeom prst="ellipse">
            <a:avLst/>
          </a:prstGeom>
          <a:solidFill>
            <a:schemeClr val="tx2"/>
          </a:solidFill>
          <a:ln/>
        </p:spPr>
      </p:sp>
      <p:sp>
        <p:nvSpPr>
          <p:cNvPr id="13" name="Text 10"/>
          <p:cNvSpPr txBox="1"/>
          <p:nvPr/>
        </p:nvSpPr>
        <p:spPr>
          <a:xfrm>
            <a:off x="3611880"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14" name="icon circle"/>
          <p:cNvSpPr/>
          <p:nvPr/>
        </p:nvSpPr>
        <p:spPr>
          <a:xfrm>
            <a:off x="5120640" y="1600200"/>
            <a:ext cx="594360" cy="594360"/>
          </a:xfrm>
          <a:prstGeom prst="ellipse">
            <a:avLst/>
          </a:prstGeom>
          <a:solidFill>
            <a:schemeClr val="accent2"/>
          </a:solidFill>
          <a:ln/>
        </p:spPr>
      </p:sp>
      <p:pic>
        <p:nvPicPr>
          <p:cNvPr id="15" name="Image 1" descr="FaBroom">    </p:cNvPr>
          <p:cNvPicPr>
            <a:picLocks noChangeAspect="1"/>
          </p:cNvPicPr>
          <p:nvPr/>
        </p:nvPicPr>
        <p:blipFill>
          <a:blip r:embed="rId2"/>
          <a:stretch>
            <a:fillRect/>
          </a:stretch>
        </p:blipFill>
        <p:spPr>
          <a:xfrm>
            <a:off x="5269230" y="1748790"/>
            <a:ext cx="297180" cy="297180"/>
          </a:xfrm>
          <a:prstGeom prst="rect">
            <a:avLst/>
          </a:prstGeom>
        </p:spPr>
      </p:pic>
      <p:sp>
        <p:nvSpPr>
          <p:cNvPr id="16" name="Text 12"/>
          <p:cNvSpPr txBox="1"/>
          <p:nvPr/>
        </p:nvSpPr>
        <p:spPr>
          <a:xfrm>
            <a:off x="3611880" y="2377440"/>
            <a:ext cx="2103120" cy="685800"/>
          </a:xfrm>
          <a:prstGeom prst="rect">
            <a:avLst/>
          </a:prstGeom>
          <a:noFill/>
          <a:ln/>
        </p:spPr>
        <p:txBody>
          <a:bodyPr wrap="square" lIns="0" tIns="0" rIns="0" bIns="0" rtlCol="0" anchor="t"/>
          <a:lstStyle/>
          <a:p>
            <a:pPr indent="0" marL="0">
              <a:buNone/>
            </a:pPr>
            <a:r>
              <a:rPr lang="en-US" sz="1800" b="1" dirty="0">
                <a:solidFill>
                  <a:schemeClr val="tx2"/>
                </a:solidFill>
              </a:rPr>
              <a:t>Cleaning decisions</a:t>
            </a:r>
            <a:endParaRPr lang="en-US" sz="1800" dirty="0"/>
          </a:p>
        </p:txBody>
      </p:sp>
      <p:sp>
        <p:nvSpPr>
          <p:cNvPr id="17" name="Text 13"/>
          <p:cNvSpPr txBox="1"/>
          <p:nvPr/>
        </p:nvSpPr>
        <p:spPr>
          <a:xfrm>
            <a:off x="3611880" y="3108960"/>
            <a:ext cx="2103120" cy="2103120"/>
          </a:xfrm>
          <a:prstGeom prst="rect">
            <a:avLst/>
          </a:prstGeom>
          <a:noFill/>
          <a:ln/>
        </p:spPr>
        <p:txBody>
          <a:bodyPr wrap="square" lIns="0" tIns="0" rIns="0" bIns="0" rtlCol="0" anchor="t"/>
          <a:lstStyle/>
          <a:p>
            <a:pPr indent="0" marL="0">
              <a:buNone/>
            </a:pPr>
            <a:r>
              <a:rPr lang="en-US" sz="1400" dirty="0">
                <a:solidFill>
                  <a:schemeClr val="accent5"/>
                </a:solidFill>
              </a:rPr>
              <a:t>What was changed, excluded or left missing, and why.</a:t>
            </a:r>
            <a:endParaRPr lang="en-US" sz="1400" dirty="0"/>
          </a:p>
        </p:txBody>
      </p:sp>
      <p:sp>
        <p:nvSpPr>
          <p:cNvPr id="18" name="Shape 14"/>
          <p:cNvSpPr/>
          <p:nvPr/>
        </p:nvSpPr>
        <p:spPr>
          <a:xfrm>
            <a:off x="5961888" y="1892808"/>
            <a:ext cx="237744" cy="0"/>
          </a:xfrm>
          <a:prstGeom prst="line">
            <a:avLst/>
          </a:prstGeom>
          <a:noFill/>
          <a:ln w="25400">
            <a:solidFill>
              <a:schemeClr val="accent2"/>
            </a:solidFill>
            <a:prstDash val="solid"/>
            <a:tailEnd type="triangle"/>
          </a:ln>
        </p:spPr>
      </p:sp>
      <p:sp>
        <p:nvSpPr>
          <p:cNvPr id="19" name="card"/>
          <p:cNvSpPr/>
          <p:nvPr/>
        </p:nvSpPr>
        <p:spPr>
          <a:xfrm>
            <a:off x="6217920" y="1371600"/>
            <a:ext cx="2560320" cy="3931920"/>
          </a:xfrm>
          <a:prstGeom prst="roundRect">
            <a:avLst>
              <a:gd name="adj" fmla="val 4286"/>
            </a:avLst>
          </a:prstGeom>
          <a:solidFill>
            <a:schemeClr val="bg2"/>
          </a:solidFill>
          <a:ln/>
          <a:effectLst>
            <a:outerShdw sx="100000" sy="100000" kx="0" ky="0" algn="bl" rotWithShape="0" blurRad="76200" dist="25400" dir="5400000">
              <a:srgbClr val="8A97AB">
                <a:alpha val="25000"/>
              </a:srgbClr>
            </a:outerShdw>
          </a:effectLst>
        </p:spPr>
      </p:sp>
      <p:sp>
        <p:nvSpPr>
          <p:cNvPr id="20" name="Shape 16"/>
          <p:cNvSpPr/>
          <p:nvPr/>
        </p:nvSpPr>
        <p:spPr>
          <a:xfrm>
            <a:off x="6446520" y="1600200"/>
            <a:ext cx="594360" cy="594360"/>
          </a:xfrm>
          <a:prstGeom prst="ellipse">
            <a:avLst/>
          </a:prstGeom>
          <a:solidFill>
            <a:schemeClr val="tx2"/>
          </a:solidFill>
          <a:ln/>
        </p:spPr>
      </p:sp>
      <p:sp>
        <p:nvSpPr>
          <p:cNvPr id="21" name="Text 17"/>
          <p:cNvSpPr txBox="1"/>
          <p:nvPr/>
        </p:nvSpPr>
        <p:spPr>
          <a:xfrm>
            <a:off x="6446520"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22" name="icon circle"/>
          <p:cNvSpPr/>
          <p:nvPr/>
        </p:nvSpPr>
        <p:spPr>
          <a:xfrm>
            <a:off x="7955280" y="1600200"/>
            <a:ext cx="594360" cy="594360"/>
          </a:xfrm>
          <a:prstGeom prst="ellipse">
            <a:avLst/>
          </a:prstGeom>
          <a:solidFill>
            <a:schemeClr val="accent2"/>
          </a:solidFill>
          <a:ln/>
        </p:spPr>
      </p:sp>
      <p:pic>
        <p:nvPicPr>
          <p:cNvPr id="23" name="Image 2" descr="FaChartBar">    </p:cNvPr>
          <p:cNvPicPr>
            <a:picLocks noChangeAspect="1"/>
          </p:cNvPicPr>
          <p:nvPr/>
        </p:nvPicPr>
        <p:blipFill>
          <a:blip r:embed="rId3"/>
          <a:stretch>
            <a:fillRect/>
          </a:stretch>
        </p:blipFill>
        <p:spPr>
          <a:xfrm>
            <a:off x="8103870" y="1748790"/>
            <a:ext cx="297180" cy="297180"/>
          </a:xfrm>
          <a:prstGeom prst="rect">
            <a:avLst/>
          </a:prstGeom>
        </p:spPr>
      </p:pic>
      <p:sp>
        <p:nvSpPr>
          <p:cNvPr id="24" name="Text 19"/>
          <p:cNvSpPr txBox="1"/>
          <p:nvPr/>
        </p:nvSpPr>
        <p:spPr>
          <a:xfrm>
            <a:off x="6446520" y="2377440"/>
            <a:ext cx="2103120" cy="685800"/>
          </a:xfrm>
          <a:prstGeom prst="rect">
            <a:avLst/>
          </a:prstGeom>
          <a:noFill/>
          <a:ln/>
        </p:spPr>
        <p:txBody>
          <a:bodyPr wrap="square" lIns="0" tIns="0" rIns="0" bIns="0" rtlCol="0" anchor="t"/>
          <a:lstStyle/>
          <a:p>
            <a:pPr indent="0" marL="0">
              <a:buNone/>
            </a:pPr>
            <a:r>
              <a:rPr lang="en-US" sz="1800" b="1" dirty="0">
                <a:solidFill>
                  <a:schemeClr val="tx2"/>
                </a:solidFill>
              </a:rPr>
              <a:t>Two or three patterns</a:t>
            </a:r>
            <a:endParaRPr lang="en-US" sz="1800" dirty="0"/>
          </a:p>
        </p:txBody>
      </p:sp>
      <p:sp>
        <p:nvSpPr>
          <p:cNvPr id="25" name="Text 20"/>
          <p:cNvSpPr txBox="1"/>
          <p:nvPr/>
        </p:nvSpPr>
        <p:spPr>
          <a:xfrm>
            <a:off x="6446520" y="3108960"/>
            <a:ext cx="2103120" cy="2103120"/>
          </a:xfrm>
          <a:prstGeom prst="rect">
            <a:avLst/>
          </a:prstGeom>
          <a:noFill/>
          <a:ln/>
        </p:spPr>
        <p:txBody>
          <a:bodyPr wrap="square" lIns="0" tIns="0" rIns="0" bIns="0" rtlCol="0" anchor="t"/>
          <a:lstStyle/>
          <a:p>
            <a:pPr indent="0" marL="0">
              <a:buNone/>
            </a:pPr>
            <a:r>
              <a:rPr lang="en-US" sz="1400" dirty="0">
                <a:solidFill>
                  <a:schemeClr val="accent5"/>
                </a:solidFill>
              </a:rPr>
              <a:t>Each supported by a named table or figure; numbers taken from executed output.</a:t>
            </a:r>
            <a:endParaRPr lang="en-US" sz="1400" dirty="0"/>
          </a:p>
        </p:txBody>
      </p:sp>
      <p:sp>
        <p:nvSpPr>
          <p:cNvPr id="26" name="Shape 21"/>
          <p:cNvSpPr/>
          <p:nvPr/>
        </p:nvSpPr>
        <p:spPr>
          <a:xfrm>
            <a:off x="8796528" y="1892808"/>
            <a:ext cx="237744" cy="0"/>
          </a:xfrm>
          <a:prstGeom prst="line">
            <a:avLst/>
          </a:prstGeom>
          <a:noFill/>
          <a:ln w="25400">
            <a:solidFill>
              <a:schemeClr val="accent2"/>
            </a:solidFill>
            <a:prstDash val="solid"/>
            <a:tailEnd type="triangle"/>
          </a:ln>
        </p:spPr>
      </p:sp>
      <p:sp>
        <p:nvSpPr>
          <p:cNvPr id="27" name="card"/>
          <p:cNvSpPr/>
          <p:nvPr/>
        </p:nvSpPr>
        <p:spPr>
          <a:xfrm>
            <a:off x="9052560" y="1371600"/>
            <a:ext cx="2560320" cy="3931920"/>
          </a:xfrm>
          <a:prstGeom prst="roundRect">
            <a:avLst>
              <a:gd name="adj" fmla="val 4286"/>
            </a:avLst>
          </a:prstGeom>
          <a:solidFill>
            <a:schemeClr val="bg2"/>
          </a:solidFill>
          <a:ln/>
          <a:effectLst>
            <a:outerShdw sx="100000" sy="100000" kx="0" ky="0" algn="bl" rotWithShape="0" blurRad="76200" dist="25400" dir="5400000">
              <a:srgbClr val="8A97AB">
                <a:alpha val="25000"/>
              </a:srgbClr>
            </a:outerShdw>
          </a:effectLst>
        </p:spPr>
      </p:sp>
      <p:sp>
        <p:nvSpPr>
          <p:cNvPr id="28" name="Shape 23"/>
          <p:cNvSpPr/>
          <p:nvPr/>
        </p:nvSpPr>
        <p:spPr>
          <a:xfrm>
            <a:off x="9281160" y="1600200"/>
            <a:ext cx="594360" cy="594360"/>
          </a:xfrm>
          <a:prstGeom prst="ellipse">
            <a:avLst/>
          </a:prstGeom>
          <a:solidFill>
            <a:schemeClr val="tx2"/>
          </a:solidFill>
          <a:ln/>
        </p:spPr>
      </p:sp>
      <p:sp>
        <p:nvSpPr>
          <p:cNvPr id="29" name="Text 24"/>
          <p:cNvSpPr txBox="1"/>
          <p:nvPr/>
        </p:nvSpPr>
        <p:spPr>
          <a:xfrm>
            <a:off x="9281160"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4</a:t>
            </a:r>
            <a:endParaRPr lang="en-US" sz="1800" dirty="0"/>
          </a:p>
        </p:txBody>
      </p:sp>
      <p:sp>
        <p:nvSpPr>
          <p:cNvPr id="30" name="icon circle"/>
          <p:cNvSpPr/>
          <p:nvPr/>
        </p:nvSpPr>
        <p:spPr>
          <a:xfrm>
            <a:off x="10789920" y="1600200"/>
            <a:ext cx="594360" cy="594360"/>
          </a:xfrm>
          <a:prstGeom prst="ellipse">
            <a:avLst/>
          </a:prstGeom>
          <a:solidFill>
            <a:schemeClr val="accent2"/>
          </a:solidFill>
          <a:ln/>
        </p:spPr>
      </p:sp>
      <p:pic>
        <p:nvPicPr>
          <p:cNvPr id="31" name="Image 3" descr="FaExclamationTriangle">    </p:cNvPr>
          <p:cNvPicPr>
            <a:picLocks noChangeAspect="1"/>
          </p:cNvPicPr>
          <p:nvPr/>
        </p:nvPicPr>
        <p:blipFill>
          <a:blip r:embed="rId4"/>
          <a:stretch>
            <a:fillRect/>
          </a:stretch>
        </p:blipFill>
        <p:spPr>
          <a:xfrm>
            <a:off x="10938510" y="1748790"/>
            <a:ext cx="297180" cy="297180"/>
          </a:xfrm>
          <a:prstGeom prst="rect">
            <a:avLst/>
          </a:prstGeom>
        </p:spPr>
      </p:pic>
      <p:sp>
        <p:nvSpPr>
          <p:cNvPr id="32" name="Text 26"/>
          <p:cNvSpPr txBox="1"/>
          <p:nvPr/>
        </p:nvSpPr>
        <p:spPr>
          <a:xfrm>
            <a:off x="9281160" y="2377440"/>
            <a:ext cx="2103120" cy="685800"/>
          </a:xfrm>
          <a:prstGeom prst="rect">
            <a:avLst/>
          </a:prstGeom>
          <a:noFill/>
          <a:ln/>
        </p:spPr>
        <p:txBody>
          <a:bodyPr wrap="square" lIns="0" tIns="0" rIns="0" bIns="0" rtlCol="0" anchor="t"/>
          <a:lstStyle/>
          <a:p>
            <a:pPr indent="0" marL="0">
              <a:buNone/>
            </a:pPr>
            <a:r>
              <a:rPr lang="en-US" sz="1800" b="1" dirty="0">
                <a:solidFill>
                  <a:schemeClr val="tx2"/>
                </a:solidFill>
              </a:rPr>
              <a:t>Limitations and next step</a:t>
            </a:r>
            <a:endParaRPr lang="en-US" sz="1800" dirty="0"/>
          </a:p>
        </p:txBody>
      </p:sp>
      <p:sp>
        <p:nvSpPr>
          <p:cNvPr id="33" name="Text 27"/>
          <p:cNvSpPr txBox="1"/>
          <p:nvPr/>
        </p:nvSpPr>
        <p:spPr>
          <a:xfrm>
            <a:off x="9281160" y="3108960"/>
            <a:ext cx="2103120" cy="2103120"/>
          </a:xfrm>
          <a:prstGeom prst="rect">
            <a:avLst/>
          </a:prstGeom>
          <a:noFill/>
          <a:ln/>
        </p:spPr>
        <p:txBody>
          <a:bodyPr wrap="square" lIns="0" tIns="0" rIns="0" bIns="0" rtlCol="0" anchor="t"/>
          <a:lstStyle/>
          <a:p>
            <a:pPr indent="0" marL="0">
              <a:buNone/>
            </a:pPr>
            <a:r>
              <a:rPr lang="en-US" sz="1400" dirty="0">
                <a:solidFill>
                  <a:schemeClr val="accent5"/>
                </a:solidFill>
              </a:rPr>
              <a:t>Confounding, overlap, scale; a confirmatory question for a new experiment.</a:t>
            </a:r>
            <a:endParaRPr lang="en-US" sz="1400" dirty="0"/>
          </a:p>
        </p:txBody>
      </p:sp>
      <p:sp>
        <p:nvSpPr>
          <p:cNvPr id="34" name="key idea"/>
          <p:cNvSpPr/>
          <p:nvPr/>
        </p:nvSpPr>
        <p:spPr>
          <a:xfrm>
            <a:off x="548640" y="5486400"/>
            <a:ext cx="11064240" cy="594360"/>
          </a:xfrm>
          <a:prstGeom prst="roundRect">
            <a:avLst>
              <a:gd name="adj" fmla="val 18462"/>
            </a:avLst>
          </a:prstGeom>
          <a:solidFill>
            <a:schemeClr val="accent6"/>
          </a:solidFill>
          <a:ln/>
          <a:effectLst>
            <a:outerShdw sx="100000" sy="100000" kx="0" ky="0" algn="bl" rotWithShape="0" blurRad="76200" dist="25400" dir="5400000">
              <a:srgbClr val="8A97AB">
                <a:alpha val="25000"/>
              </a:srgbClr>
            </a:outerShdw>
          </a:effectLst>
        </p:spPr>
      </p:sp>
      <p:sp>
        <p:nvSpPr>
          <p:cNvPr id="35" name="Text 29"/>
          <p:cNvSpPr txBox="1"/>
          <p:nvPr/>
        </p:nvSpPr>
        <p:spPr>
          <a:xfrm>
            <a:off x="822960" y="5486400"/>
            <a:ext cx="10515600" cy="594360"/>
          </a:xfrm>
          <a:prstGeom prst="rect">
            <a:avLst/>
          </a:prstGeom>
          <a:noFill/>
          <a:ln/>
        </p:spPr>
        <p:txBody>
          <a:bodyPr wrap="square" lIns="0" tIns="0" rIns="0" bIns="0" rtlCol="0" anchor="ctr"/>
          <a:lstStyle/>
          <a:p>
            <a:pPr indent="0" marL="0">
              <a:buNone/>
            </a:pPr>
            <a:r>
              <a:rPr lang="en-US" sz="1500" b="1" dirty="0">
                <a:solidFill>
                  <a:schemeClr val="accent4"/>
                </a:solidFill>
              </a:rPr>
              <a:t>Note  </a:t>
            </a:r>
            <a:pPr indent="0" marL="0">
              <a:buNone/>
            </a:pPr>
            <a:r>
              <a:rPr lang="en-US" sz="1500" dirty="0">
                <a:solidFill>
                  <a:schemeClr val="tx1"/>
                </a:solidFill>
              </a:rPr>
              <a:t>Separate what the data show from what you propose as an explanation. Keep a short analysis diary of exploratory decisions.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Practical 8B and exercises</a:t>
            </a:r>
            <a:endParaRPr lang="en-US" sz="3200" dirty="0"/>
          </a:p>
        </p:txBody>
      </p:sp>
      <p:sp>
        <p:nvSpPr>
          <p:cNvPr id="3" name="card"/>
          <p:cNvSpPr/>
          <p:nvPr/>
        </p:nvSpPr>
        <p:spPr>
          <a:xfrm>
            <a:off x="548640" y="1371600"/>
            <a:ext cx="7680960" cy="868680"/>
          </a:xfrm>
          <a:prstGeom prst="roundRect">
            <a:avLst>
              <a:gd name="adj" fmla="val 12632"/>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49808" y="1554480"/>
            <a:ext cx="502920" cy="502920"/>
          </a:xfrm>
          <a:prstGeom prst="ellipse">
            <a:avLst/>
          </a:prstGeom>
          <a:solidFill>
            <a:schemeClr val="accent1"/>
          </a:solidFill>
          <a:ln/>
        </p:spPr>
      </p:sp>
      <p:sp>
        <p:nvSpPr>
          <p:cNvPr id="5" name="Text 3"/>
          <p:cNvSpPr txBox="1"/>
          <p:nvPr/>
        </p:nvSpPr>
        <p:spPr>
          <a:xfrm>
            <a:off x="749808" y="155448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63040" y="1417320"/>
            <a:ext cx="6629400" cy="777240"/>
          </a:xfrm>
          <a:prstGeom prst="rect">
            <a:avLst/>
          </a:prstGeom>
          <a:noFill/>
          <a:ln/>
        </p:spPr>
        <p:txBody>
          <a:bodyPr wrap="square" lIns="0" tIns="0" rIns="0" bIns="0" rtlCol="0" anchor="ctr"/>
          <a:lstStyle/>
          <a:p>
            <a:pPr indent="0" marL="0">
              <a:buNone/>
            </a:pPr>
            <a:r>
              <a:rPr lang="en-US" sz="1400" dirty="0">
                <a:solidFill>
                  <a:schemeClr val="tx1"/>
                </a:solidFill>
              </a:rPr>
              <a:t>Prepare a one-page EDA memo with a grouped table and two figures.</a:t>
            </a:r>
            <a:endParaRPr lang="en-US" sz="1400" dirty="0"/>
          </a:p>
        </p:txBody>
      </p:sp>
      <p:sp>
        <p:nvSpPr>
          <p:cNvPr id="7" name="card"/>
          <p:cNvSpPr/>
          <p:nvPr/>
        </p:nvSpPr>
        <p:spPr>
          <a:xfrm>
            <a:off x="548640" y="2377440"/>
            <a:ext cx="7680960" cy="868680"/>
          </a:xfrm>
          <a:prstGeom prst="roundRect">
            <a:avLst>
              <a:gd name="adj" fmla="val 12632"/>
            </a:avLst>
          </a:prstGeom>
          <a:solidFill>
            <a:schemeClr val="bg2"/>
          </a:solidFill>
          <a:ln/>
          <a:effectLst>
            <a:outerShdw sx="100000" sy="100000" kx="0" ky="0" algn="bl" rotWithShape="0" blurRad="76200" dist="25400" dir="5400000">
              <a:srgbClr val="8A97AB">
                <a:alpha val="25000"/>
              </a:srgbClr>
            </a:outerShdw>
          </a:effectLst>
        </p:spPr>
      </p:sp>
      <p:sp>
        <p:nvSpPr>
          <p:cNvPr id="8" name="Shape 6"/>
          <p:cNvSpPr/>
          <p:nvPr/>
        </p:nvSpPr>
        <p:spPr>
          <a:xfrm>
            <a:off x="749808" y="2560320"/>
            <a:ext cx="502920" cy="502920"/>
          </a:xfrm>
          <a:prstGeom prst="ellipse">
            <a:avLst/>
          </a:prstGeom>
          <a:solidFill>
            <a:schemeClr val="accent1"/>
          </a:solidFill>
          <a:ln/>
        </p:spPr>
      </p:sp>
      <p:sp>
        <p:nvSpPr>
          <p:cNvPr id="9" name="Text 7"/>
          <p:cNvSpPr txBox="1"/>
          <p:nvPr/>
        </p:nvSpPr>
        <p:spPr>
          <a:xfrm>
            <a:off x="749808" y="256032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463040" y="2423160"/>
            <a:ext cx="6629400" cy="777240"/>
          </a:xfrm>
          <a:prstGeom prst="rect">
            <a:avLst/>
          </a:prstGeom>
          <a:noFill/>
          <a:ln/>
        </p:spPr>
        <p:txBody>
          <a:bodyPr wrap="square" lIns="0" tIns="0" rIns="0" bIns="0" rtlCol="0" anchor="ctr"/>
          <a:lstStyle/>
          <a:p>
            <a:pPr indent="0" marL="0">
              <a:buNone/>
            </a:pPr>
            <a:r>
              <a:rPr lang="en-US" sz="1400" dirty="0">
                <a:solidFill>
                  <a:schemeClr val="tx1"/>
                </a:solidFill>
              </a:rPr>
              <a:t>Identify one apparent relationship that could be confounded and explain the mechanism.</a:t>
            </a:r>
            <a:endParaRPr lang="en-US" sz="1400" dirty="0"/>
          </a:p>
        </p:txBody>
      </p:sp>
      <p:sp>
        <p:nvSpPr>
          <p:cNvPr id="11" name="card"/>
          <p:cNvSpPr/>
          <p:nvPr/>
        </p:nvSpPr>
        <p:spPr>
          <a:xfrm>
            <a:off x="548640" y="3383280"/>
            <a:ext cx="7680960" cy="868680"/>
          </a:xfrm>
          <a:prstGeom prst="roundRect">
            <a:avLst>
              <a:gd name="adj" fmla="val 12632"/>
            </a:avLst>
          </a:prstGeom>
          <a:solidFill>
            <a:schemeClr val="bg2"/>
          </a:solidFill>
          <a:ln/>
          <a:effectLst>
            <a:outerShdw sx="100000" sy="100000" kx="0" ky="0" algn="bl" rotWithShape="0" blurRad="76200" dist="25400" dir="5400000">
              <a:srgbClr val="8A97AB">
                <a:alpha val="25000"/>
              </a:srgbClr>
            </a:outerShdw>
          </a:effectLst>
        </p:spPr>
      </p:sp>
      <p:sp>
        <p:nvSpPr>
          <p:cNvPr id="12" name="Shape 10"/>
          <p:cNvSpPr/>
          <p:nvPr/>
        </p:nvSpPr>
        <p:spPr>
          <a:xfrm>
            <a:off x="749808" y="3566160"/>
            <a:ext cx="502920" cy="502920"/>
          </a:xfrm>
          <a:prstGeom prst="ellipse">
            <a:avLst/>
          </a:prstGeom>
          <a:solidFill>
            <a:schemeClr val="accent1"/>
          </a:solidFill>
          <a:ln/>
        </p:spPr>
      </p:sp>
      <p:sp>
        <p:nvSpPr>
          <p:cNvPr id="13" name="Text 11"/>
          <p:cNvSpPr txBox="1"/>
          <p:nvPr/>
        </p:nvSpPr>
        <p:spPr>
          <a:xfrm>
            <a:off x="749808" y="356616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463040" y="3429000"/>
            <a:ext cx="6629400" cy="777240"/>
          </a:xfrm>
          <a:prstGeom prst="rect">
            <a:avLst/>
          </a:prstGeom>
          <a:noFill/>
          <a:ln/>
        </p:spPr>
        <p:txBody>
          <a:bodyPr wrap="square" lIns="0" tIns="0" rIns="0" bIns="0" rtlCol="0" anchor="ctr"/>
          <a:lstStyle/>
          <a:p>
            <a:pPr indent="0" marL="0">
              <a:buNone/>
            </a:pPr>
            <a:r>
              <a:rPr lang="en-US" sz="1400" dirty="0">
                <a:solidFill>
                  <a:schemeClr val="tx1"/>
                </a:solidFill>
              </a:rPr>
              <a:t>Write a confirmatory question that would need a new experiment or an independent dataset.</a:t>
            </a:r>
            <a:endParaRPr lang="en-US" sz="1400" dirty="0"/>
          </a:p>
        </p:txBody>
      </p:sp>
      <p:sp>
        <p:nvSpPr>
          <p:cNvPr id="15" name="card"/>
          <p:cNvSpPr/>
          <p:nvPr/>
        </p:nvSpPr>
        <p:spPr>
          <a:xfrm>
            <a:off x="548640" y="4389120"/>
            <a:ext cx="7680960" cy="868680"/>
          </a:xfrm>
          <a:prstGeom prst="roundRect">
            <a:avLst>
              <a:gd name="adj" fmla="val 12632"/>
            </a:avLst>
          </a:prstGeom>
          <a:solidFill>
            <a:schemeClr val="bg2"/>
          </a:solidFill>
          <a:ln/>
          <a:effectLst>
            <a:outerShdw sx="100000" sy="100000" kx="0" ky="0" algn="bl" rotWithShape="0" blurRad="76200" dist="25400" dir="5400000">
              <a:srgbClr val="8A97AB">
                <a:alpha val="25000"/>
              </a:srgbClr>
            </a:outerShdw>
          </a:effectLst>
        </p:spPr>
      </p:sp>
      <p:sp>
        <p:nvSpPr>
          <p:cNvPr id="16" name="Shape 14"/>
          <p:cNvSpPr/>
          <p:nvPr/>
        </p:nvSpPr>
        <p:spPr>
          <a:xfrm>
            <a:off x="749808" y="4572000"/>
            <a:ext cx="502920" cy="502920"/>
          </a:xfrm>
          <a:prstGeom prst="ellipse">
            <a:avLst/>
          </a:prstGeom>
          <a:solidFill>
            <a:schemeClr val="accent1"/>
          </a:solidFill>
          <a:ln/>
        </p:spPr>
      </p:sp>
      <p:sp>
        <p:nvSpPr>
          <p:cNvPr id="17" name="Text 15"/>
          <p:cNvSpPr txBox="1"/>
          <p:nvPr/>
        </p:nvSpPr>
        <p:spPr>
          <a:xfrm>
            <a:off x="749808" y="457200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463040" y="4434840"/>
            <a:ext cx="6629400" cy="777240"/>
          </a:xfrm>
          <a:prstGeom prst="rect">
            <a:avLst/>
          </a:prstGeom>
          <a:noFill/>
          <a:ln/>
        </p:spPr>
        <p:txBody>
          <a:bodyPr wrap="square" lIns="0" tIns="0" rIns="0" bIns="0" rtlCol="0" anchor="ctr"/>
          <a:lstStyle/>
          <a:p>
            <a:pPr indent="0" marL="0">
              <a:buNone/>
            </a:pPr>
            <a:r>
              <a:rPr lang="en-US" sz="1400" dirty="0">
                <a:solidFill>
                  <a:schemeClr val="tx1"/>
                </a:solidFill>
              </a:rPr>
              <a:t>Explain why selecting the five highest-yielding plots cannot identify the best practice for all farms.</a:t>
            </a:r>
            <a:endParaRPr lang="en-US" sz="1400" dirty="0"/>
          </a:p>
        </p:txBody>
      </p:sp>
      <p:sp>
        <p:nvSpPr>
          <p:cNvPr id="19" name="submit"/>
          <p:cNvSpPr/>
          <p:nvPr/>
        </p:nvSpPr>
        <p:spPr>
          <a:xfrm>
            <a:off x="8458200" y="1371600"/>
            <a:ext cx="3154680" cy="4663440"/>
          </a:xfrm>
          <a:prstGeom prst="roundRect">
            <a:avLst>
              <a:gd name="adj" fmla="val 3478"/>
            </a:avLst>
          </a:prstGeom>
          <a:solidFill>
            <a:schemeClr val="tx2"/>
          </a:solidFill>
          <a:ln/>
          <a:effectLst>
            <a:outerShdw sx="100000" sy="100000" kx="0" ky="0" algn="bl" rotWithShape="0" blurRad="76200" dist="25400" dir="5400000">
              <a:srgbClr val="8A97AB">
                <a:alpha val="25000"/>
              </a:srgbClr>
            </a:outerShdw>
          </a:effectLst>
        </p:spPr>
      </p:sp>
      <p:pic>
        <p:nvPicPr>
          <p:cNvPr id="20" name="Image 0" descr="clipboard icon">    </p:cNvPr>
          <p:cNvPicPr>
            <a:picLocks noChangeAspect="1"/>
          </p:cNvPicPr>
          <p:nvPr/>
        </p:nvPicPr>
        <p:blipFill>
          <a:blip r:embed="rId1"/>
          <a:stretch>
            <a:fillRect/>
          </a:stretch>
        </p:blipFill>
        <p:spPr>
          <a:xfrm>
            <a:off x="9582912" y="1691640"/>
            <a:ext cx="914400" cy="914400"/>
          </a:xfrm>
          <a:prstGeom prst="rect">
            <a:avLst/>
          </a:prstGeom>
        </p:spPr>
      </p:pic>
      <p:sp>
        <p:nvSpPr>
          <p:cNvPr id="21" name="Text 18"/>
          <p:cNvSpPr txBox="1"/>
          <p:nvPr/>
        </p:nvSpPr>
        <p:spPr>
          <a:xfrm>
            <a:off x="8549640" y="2743200"/>
            <a:ext cx="2971800" cy="411480"/>
          </a:xfrm>
          <a:prstGeom prst="rect">
            <a:avLst/>
          </a:prstGeom>
          <a:noFill/>
          <a:ln/>
        </p:spPr>
        <p:txBody>
          <a:bodyPr wrap="square" lIns="0" tIns="0" rIns="0" bIns="0" rtlCol="0" anchor="t"/>
          <a:lstStyle/>
          <a:p>
            <a:pPr algn="ctr" indent="0" marL="0">
              <a:buNone/>
            </a:pPr>
            <a:r>
              <a:rPr lang="en-US" sz="2000" b="1" dirty="0">
                <a:solidFill>
                  <a:schemeClr val="bg1"/>
                </a:solidFill>
              </a:rPr>
              <a:t>Submit</a:t>
            </a:r>
            <a:endParaRPr lang="en-US" sz="2000" dirty="0"/>
          </a:p>
        </p:txBody>
      </p:sp>
      <p:sp>
        <p:nvSpPr>
          <p:cNvPr id="22" name="Text 19"/>
          <p:cNvSpPr txBox="1"/>
          <p:nvPr/>
        </p:nvSpPr>
        <p:spPr>
          <a:xfrm>
            <a:off x="8686800" y="3200400"/>
            <a:ext cx="2697480" cy="2651760"/>
          </a:xfrm>
          <a:prstGeom prst="rect">
            <a:avLst/>
          </a:prstGeom>
          <a:noFill/>
          <a:ln/>
        </p:spPr>
        <p:txBody>
          <a:bodyPr wrap="square" lIns="0" tIns="0" rIns="0" bIns="0" rtlCol="0" anchor="t"/>
          <a:lstStyle/>
          <a:p>
            <a:pPr algn="ctr" indent="0" marL="0">
              <a:buNone/>
            </a:pPr>
            <a:r>
              <a:rPr lang="en-US" sz="1400" dirty="0">
                <a:solidFill>
                  <a:schemeClr val="accent6"/>
                </a:solidFill>
              </a:rPr>
              <a:t>your script and a short written interpretation. Code that runs is necessary; a defensible explanation is equally necessary.</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Live R laboratory</a:t>
            </a:r>
            <a:endParaRPr lang="en-US" sz="3200" dirty="0"/>
          </a:p>
        </p:txBody>
      </p:sp>
      <p:sp>
        <p:nvSpPr>
          <p:cNvPr id="3" name="code panel"/>
          <p:cNvSpPr/>
          <p:nvPr/>
        </p:nvSpPr>
        <p:spPr>
          <a:xfrm>
            <a:off x="548640" y="1371600"/>
            <a:ext cx="11064240" cy="2707640"/>
          </a:xfrm>
          <a:prstGeom prst="roundRect">
            <a:avLst>
              <a:gd name="adj" fmla="val 3377"/>
            </a:avLst>
          </a:prstGeom>
          <a:solidFill>
            <a:schemeClr val="tx1"/>
          </a:solidFill>
          <a:ln/>
        </p:spPr>
      </p:sp>
      <p:sp>
        <p:nvSpPr>
          <p:cNvPr id="4" name="Text 2"/>
          <p:cNvSpPr txBox="1"/>
          <p:nvPr/>
        </p:nvSpPr>
        <p:spPr>
          <a:xfrm>
            <a:off x="822960" y="1572768"/>
            <a:ext cx="10515600" cy="2305304"/>
          </a:xfrm>
          <a:prstGeom prst="rect">
            <a:avLst/>
          </a:prstGeom>
          <a:noFill/>
          <a:ln/>
        </p:spPr>
        <p:txBody>
          <a:bodyPr wrap="square" lIns="0" tIns="0" rIns="0" bIns="0" rtlCol="0" anchor="t"/>
          <a:lstStyle/>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data(PlantGrowth)</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aggregate(weight ~ group, PlantGrowth, mean)</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boxplot(weight ~ group, PlantGrowth,</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col = c("#a6bddb", "#f5ce7b", "#8dcbb0"),</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xlab = "Treatment group", ylab = "Dried weight",</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main = "PlantGrowth: distribution and overlap")</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stripchart(weight ~ group, PlantGrowth, vertical = TRUE,</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method = "jitter", add = TRUE, pch = 19)</a:t>
            </a:r>
            <a:endParaRPr lang="en-US" sz="1700" dirty="0"/>
          </a:p>
        </p:txBody>
      </p:sp>
      <p:sp>
        <p:nvSpPr>
          <p:cNvPr id="5" name="investigate"/>
          <p:cNvSpPr/>
          <p:nvPr/>
        </p:nvSpPr>
        <p:spPr>
          <a:xfrm>
            <a:off x="548640" y="4399280"/>
            <a:ext cx="11064240" cy="1371600"/>
          </a:xfrm>
          <a:prstGeom prst="roundRect">
            <a:avLst>
              <a:gd name="adj" fmla="val 8000"/>
            </a:avLst>
          </a:prstGeom>
          <a:solidFill>
            <a:schemeClr val="accent6"/>
          </a:solidFill>
          <a:ln/>
          <a:effectLst>
            <a:outerShdw sx="100000" sy="100000" kx="0" ky="0" algn="bl" rotWithShape="0" blurRad="76200" dist="25400" dir="5400000">
              <a:srgbClr val="8A97AB">
                <a:alpha val="25000"/>
              </a:srgbClr>
            </a:outerShdw>
          </a:effectLst>
        </p:spPr>
      </p:sp>
      <p:sp>
        <p:nvSpPr>
          <p:cNvPr id="6" name="icon circle"/>
          <p:cNvSpPr/>
          <p:nvPr/>
        </p:nvSpPr>
        <p:spPr>
          <a:xfrm>
            <a:off x="822960" y="4691888"/>
            <a:ext cx="777240" cy="777240"/>
          </a:xfrm>
          <a:prstGeom prst="ellipse">
            <a:avLst/>
          </a:prstGeom>
          <a:solidFill>
            <a:schemeClr val="accent2"/>
          </a:solidFill>
          <a:ln/>
        </p:spPr>
      </p:sp>
      <p:pic>
        <p:nvPicPr>
          <p:cNvPr id="7" name="Image 0" descr="FaSearch">    </p:cNvPr>
          <p:cNvPicPr>
            <a:picLocks noChangeAspect="1"/>
          </p:cNvPicPr>
          <p:nvPr/>
        </p:nvPicPr>
        <p:blipFill>
          <a:blip r:embed="rId1"/>
          <a:stretch>
            <a:fillRect/>
          </a:stretch>
        </p:blipFill>
        <p:spPr>
          <a:xfrm>
            <a:off x="1017270" y="4886198"/>
            <a:ext cx="388620" cy="388620"/>
          </a:xfrm>
          <a:prstGeom prst="rect">
            <a:avLst/>
          </a:prstGeom>
        </p:spPr>
      </p:pic>
      <p:sp>
        <p:nvSpPr>
          <p:cNvPr id="8" name="Text 5"/>
          <p:cNvSpPr txBox="1"/>
          <p:nvPr/>
        </p:nvSpPr>
        <p:spPr>
          <a:xfrm>
            <a:off x="1828800" y="4509008"/>
            <a:ext cx="9509760" cy="365760"/>
          </a:xfrm>
          <a:prstGeom prst="rect">
            <a:avLst/>
          </a:prstGeom>
          <a:noFill/>
          <a:ln/>
        </p:spPr>
        <p:txBody>
          <a:bodyPr wrap="square" lIns="0" tIns="0" rIns="0" bIns="0" rtlCol="0" anchor="t"/>
          <a:lstStyle/>
          <a:p>
            <a:pPr indent="0" marL="0">
              <a:buNone/>
            </a:pPr>
            <a:r>
              <a:rPr lang="en-US" sz="1700" b="1" dirty="0">
                <a:solidFill>
                  <a:schemeClr val="tx2"/>
                </a:solidFill>
              </a:rPr>
              <a:t>Investigate</a:t>
            </a:r>
            <a:endParaRPr lang="en-US" sz="1700" dirty="0"/>
          </a:p>
        </p:txBody>
      </p:sp>
      <p:sp>
        <p:nvSpPr>
          <p:cNvPr id="9" name="Text 6"/>
          <p:cNvSpPr txBox="1"/>
          <p:nvPr/>
        </p:nvSpPr>
        <p:spPr>
          <a:xfrm>
            <a:off x="1828800" y="4874768"/>
            <a:ext cx="9555480" cy="822960"/>
          </a:xfrm>
          <a:prstGeom prst="rect">
            <a:avLst/>
          </a:prstGeom>
          <a:noFill/>
          <a:ln/>
        </p:spPr>
        <p:txBody>
          <a:bodyPr wrap="square" lIns="0" tIns="0" rIns="0" bIns="0" rtlCol="0" anchor="t"/>
          <a:lstStyle/>
          <a:p>
            <a:pPr indent="0" marL="0">
              <a:buNone/>
            </a:pPr>
            <a:r>
              <a:rPr lang="en-US" sz="1500" dirty="0">
                <a:solidFill>
                  <a:schemeClr val="tx1"/>
                </a:solidFill>
              </a:rPr>
              <a:t>Compare the centres and the overlap. Read </a:t>
            </a:r>
            <a:pPr indent="0" marL="0">
              <a:buNone/>
            </a:pPr>
            <a:r>
              <a:rPr lang="en-US" sz="1500" dirty="0">
                <a:solidFill>
                  <a:schemeClr val="accent1"/>
                </a:solidFill>
                <a:latin typeface="Courier New" pitchFamily="34" charset="0"/>
                <a:ea typeface="Courier New" pitchFamily="34" charset="-122"/>
                <a:cs typeface="Courier New" pitchFamily="34" charset="-120"/>
              </a:rPr>
              <a:t>?PlantGrowth</a:t>
            </a:r>
            <a:pPr indent="0" marL="0">
              <a:buNone/>
            </a:pPr>
            <a:r>
              <a:rPr lang="en-US" sz="1500" dirty="0">
                <a:solidFill>
                  <a:schemeClr val="tx1"/>
                </a:solidFill>
              </a:rPr>
              <a:t> in RStudio for the dataset context before making an agricultural interpretation.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640080"/>
            <a:ext cx="10698480" cy="82296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Chapter review</a:t>
            </a:r>
            <a:endParaRPr lang="en-US" sz="4000" dirty="0"/>
          </a:p>
        </p:txBody>
      </p:sp>
      <p:sp>
        <p:nvSpPr>
          <p:cNvPr id="3" name="icon circle"/>
          <p:cNvSpPr/>
          <p:nvPr/>
        </p:nvSpPr>
        <p:spPr>
          <a:xfrm>
            <a:off x="731520" y="1828800"/>
            <a:ext cx="914400" cy="914400"/>
          </a:xfrm>
          <a:prstGeom prst="ellipse">
            <a:avLst/>
          </a:prstGeom>
          <a:solidFill>
            <a:schemeClr val="accent2"/>
          </a:solidFill>
          <a:ln/>
        </p:spPr>
      </p:sp>
      <p:pic>
        <p:nvPicPr>
          <p:cNvPr id="4" name="Image 0" descr="FaQuestionCircle">    </p:cNvPr>
          <p:cNvPicPr>
            <a:picLocks noChangeAspect="1"/>
          </p:cNvPicPr>
          <p:nvPr/>
        </p:nvPicPr>
        <p:blipFill>
          <a:blip r:embed="rId1"/>
          <a:stretch>
            <a:fillRect/>
          </a:stretch>
        </p:blipFill>
        <p:spPr>
          <a:xfrm>
            <a:off x="960120" y="2057400"/>
            <a:ext cx="457200" cy="457200"/>
          </a:xfrm>
          <a:prstGeom prst="rect">
            <a:avLst/>
          </a:prstGeom>
        </p:spPr>
      </p:pic>
      <p:sp>
        <p:nvSpPr>
          <p:cNvPr id="5" name="Text 2"/>
          <p:cNvSpPr txBox="1"/>
          <p:nvPr/>
        </p:nvSpPr>
        <p:spPr>
          <a:xfrm>
            <a:off x="19202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Question first</a:t>
            </a:r>
            <a:endParaRPr lang="en-US" sz="1900" dirty="0"/>
          </a:p>
        </p:txBody>
      </p:sp>
      <p:sp>
        <p:nvSpPr>
          <p:cNvPr id="6" name="Text 3"/>
          <p:cNvSpPr txBox="1"/>
          <p:nvPr/>
        </p:nvSpPr>
        <p:spPr>
          <a:xfrm>
            <a:off x="19202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A short sequence of comparisons beats every possible summary.</a:t>
            </a:r>
            <a:endParaRPr lang="en-US" sz="1400" dirty="0"/>
          </a:p>
        </p:txBody>
      </p:sp>
      <p:sp>
        <p:nvSpPr>
          <p:cNvPr id="7" name="icon circle"/>
          <p:cNvSpPr/>
          <p:nvPr/>
        </p:nvSpPr>
        <p:spPr>
          <a:xfrm>
            <a:off x="6217920" y="1828800"/>
            <a:ext cx="914400" cy="914400"/>
          </a:xfrm>
          <a:prstGeom prst="ellipse">
            <a:avLst/>
          </a:prstGeom>
          <a:solidFill>
            <a:schemeClr val="accent2"/>
          </a:solidFill>
          <a:ln/>
        </p:spPr>
      </p:sp>
      <p:pic>
        <p:nvPicPr>
          <p:cNvPr id="8" name="Image 1" descr="FaThLarge">    </p:cNvPr>
          <p:cNvPicPr>
            <a:picLocks noChangeAspect="1"/>
          </p:cNvPicPr>
          <p:nvPr/>
        </p:nvPicPr>
        <p:blipFill>
          <a:blip r:embed="rId2"/>
          <a:stretch>
            <a:fillRect/>
          </a:stretch>
        </p:blipFill>
        <p:spPr>
          <a:xfrm>
            <a:off x="6446520" y="2057400"/>
            <a:ext cx="457200" cy="457200"/>
          </a:xfrm>
          <a:prstGeom prst="rect">
            <a:avLst/>
          </a:prstGeom>
        </p:spPr>
      </p:pic>
      <p:sp>
        <p:nvSpPr>
          <p:cNvPr id="9" name="Text 5"/>
          <p:cNvSpPr txBox="1"/>
          <p:nvPr/>
        </p:nvSpPr>
        <p:spPr>
          <a:xfrm>
            <a:off x="74066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Design before scatter plots</a:t>
            </a:r>
            <a:endParaRPr lang="en-US" sz="1900" dirty="0"/>
          </a:p>
        </p:txBody>
      </p:sp>
      <p:sp>
        <p:nvSpPr>
          <p:cNvPr id="10" name="Text 6"/>
          <p:cNvSpPr txBox="1"/>
          <p:nvPr/>
        </p:nvSpPr>
        <p:spPr>
          <a:xfrm>
            <a:off x="74066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Balance, blocks and missingness come first.</a:t>
            </a:r>
            <a:endParaRPr lang="en-US" sz="1400" dirty="0"/>
          </a:p>
        </p:txBody>
      </p:sp>
      <p:sp>
        <p:nvSpPr>
          <p:cNvPr id="11" name="icon circle"/>
          <p:cNvSpPr/>
          <p:nvPr/>
        </p:nvSpPr>
        <p:spPr>
          <a:xfrm>
            <a:off x="731520" y="3520440"/>
            <a:ext cx="914400" cy="914400"/>
          </a:xfrm>
          <a:prstGeom prst="ellipse">
            <a:avLst/>
          </a:prstGeom>
          <a:solidFill>
            <a:schemeClr val="accent2"/>
          </a:solidFill>
          <a:ln/>
        </p:spPr>
      </p:sp>
      <p:pic>
        <p:nvPicPr>
          <p:cNvPr id="12" name="Image 2" descr="FaRandom">    </p:cNvPr>
          <p:cNvPicPr>
            <a:picLocks noChangeAspect="1"/>
          </p:cNvPicPr>
          <p:nvPr/>
        </p:nvPicPr>
        <p:blipFill>
          <a:blip r:embed="rId3"/>
          <a:stretch>
            <a:fillRect/>
          </a:stretch>
        </p:blipFill>
        <p:spPr>
          <a:xfrm>
            <a:off x="960120" y="3749040"/>
            <a:ext cx="457200" cy="457200"/>
          </a:xfrm>
          <a:prstGeom prst="rect">
            <a:avLst/>
          </a:prstGeom>
        </p:spPr>
      </p:pic>
      <p:sp>
        <p:nvSpPr>
          <p:cNvPr id="13" name="Text 8"/>
          <p:cNvSpPr txBox="1"/>
          <p:nvPr/>
        </p:nvSpPr>
        <p:spPr>
          <a:xfrm>
            <a:off x="19202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Marginal is not conditional</a:t>
            </a:r>
            <a:endParaRPr lang="en-US" sz="1900" dirty="0"/>
          </a:p>
        </p:txBody>
      </p:sp>
      <p:sp>
        <p:nvSpPr>
          <p:cNvPr id="14" name="Text 9"/>
          <p:cNvSpPr txBox="1"/>
          <p:nvPr/>
        </p:nvSpPr>
        <p:spPr>
          <a:xfrm>
            <a:off x="19202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Look within groups before claiming an effect.</a:t>
            </a:r>
            <a:endParaRPr lang="en-US" sz="1400" dirty="0"/>
          </a:p>
        </p:txBody>
      </p:sp>
      <p:sp>
        <p:nvSpPr>
          <p:cNvPr id="15" name="icon circle"/>
          <p:cNvSpPr/>
          <p:nvPr/>
        </p:nvSpPr>
        <p:spPr>
          <a:xfrm>
            <a:off x="6217920" y="3520440"/>
            <a:ext cx="914400" cy="914400"/>
          </a:xfrm>
          <a:prstGeom prst="ellipse">
            <a:avLst/>
          </a:prstGeom>
          <a:solidFill>
            <a:schemeClr val="accent2"/>
          </a:solidFill>
          <a:ln/>
        </p:spPr>
      </p:sp>
      <p:pic>
        <p:nvPicPr>
          <p:cNvPr id="16" name="Image 3" descr="FaFileAlt">    </p:cNvPr>
          <p:cNvPicPr>
            <a:picLocks noChangeAspect="1"/>
          </p:cNvPicPr>
          <p:nvPr/>
        </p:nvPicPr>
        <p:blipFill>
          <a:blip r:embed="rId4"/>
          <a:stretch>
            <a:fillRect/>
          </a:stretch>
        </p:blipFill>
        <p:spPr>
          <a:xfrm>
            <a:off x="6446520" y="3749040"/>
            <a:ext cx="457200" cy="457200"/>
          </a:xfrm>
          <a:prstGeom prst="rect">
            <a:avLst/>
          </a:prstGeom>
        </p:spPr>
      </p:pic>
      <p:sp>
        <p:nvSpPr>
          <p:cNvPr id="17" name="Text 11"/>
          <p:cNvSpPr txBox="1"/>
          <p:nvPr/>
        </p:nvSpPr>
        <p:spPr>
          <a:xfrm>
            <a:off x="74066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Memo, not proof</a:t>
            </a:r>
            <a:endParaRPr lang="en-US" sz="1900" dirty="0"/>
          </a:p>
        </p:txBody>
      </p:sp>
      <p:sp>
        <p:nvSpPr>
          <p:cNvPr id="18" name="Text 12"/>
          <p:cNvSpPr txBox="1"/>
          <p:nvPr/>
        </p:nvSpPr>
        <p:spPr>
          <a:xfrm>
            <a:off x="74066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Patterns, limitations and a confirmatory question.</a:t>
            </a:r>
            <a:endParaRPr lang="en-US" sz="1400" dirty="0"/>
          </a:p>
        </p:txBody>
      </p:sp>
      <p:sp>
        <p:nvSpPr>
          <p:cNvPr id="19" name="Text 13"/>
          <p:cNvSpPr txBox="1"/>
          <p:nvPr/>
        </p:nvSpPr>
        <p:spPr>
          <a:xfrm>
            <a:off x="731520" y="5669280"/>
            <a:ext cx="10058400" cy="365760"/>
          </a:xfrm>
          <a:prstGeom prst="rect">
            <a:avLst/>
          </a:prstGeom>
          <a:noFill/>
          <a:ln/>
        </p:spPr>
        <p:txBody>
          <a:bodyPr wrap="square" lIns="0" tIns="0" rIns="0" bIns="0" rtlCol="0" anchor="t"/>
          <a:lstStyle/>
          <a:p>
            <a:pPr indent="0" marL="0">
              <a:buNone/>
            </a:pPr>
            <a:r>
              <a:rPr lang="en-US" sz="1600" i="1" dirty="0">
                <a:solidFill>
                  <a:schemeClr val="accent2"/>
                </a:solidFill>
              </a:rPr>
              <a:t>Next: Chapter 9 · Modelling crop growth</a:t>
            </a:r>
            <a:endParaRPr lang="en-US" sz="1600" dirty="0"/>
          </a:p>
        </p:txBody>
      </p:sp>
      <p:sp>
        <p:nvSpPr>
          <p:cNvPr id="21"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endParaRPr lang="en-US" sz="3800" dirty="0"/>
          </a:p>
        </p:txBody>
      </p:sp>
      <p:sp>
        <p:nvSpPr>
          <p:cNvPr id="22"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KAU R Textbook">
      <a:dk1>
        <a:srgbClr val="1B2A41"/>
      </a:dk1>
      <a:lt1>
        <a:srgbClr val="FFFFFF"/>
      </a:lt1>
      <a:dk2>
        <a:srgbClr val="1F3A68"/>
      </a:dk2>
      <a:lt2>
        <a:srgbClr val="EEF3FA"/>
      </a:lt2>
      <a:accent1>
        <a:srgbClr val="1F4E8C"/>
      </a:accent1>
      <a:accent2>
        <a:srgbClr val="C99A1E"/>
      </a:accent2>
      <a:accent3>
        <a:srgbClr val="2E7D4F"/>
      </a:accent3>
      <a:accent4>
        <a:srgbClr val="B5452E"/>
      </a:accent4>
      <a:accent5>
        <a:srgbClr val="5B6B82"/>
      </a:accent5>
      <a:accent6>
        <a:srgbClr val="F4EBCF"/>
      </a:accent6>
      <a:hlink>
        <a:srgbClr val="1F4E8C"/>
      </a:hlink>
      <a:folHlink>
        <a:srgbClr val="5B6B8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exploratory study of crop yield</dc:title>
  <dc:subject>R Programming for Agricultural Data Analysis · Chapter 8</dc:subject>
  <dc:creator>Dr. Pratheesh P. Gopinath</dc:creator>
  <cp:lastModifiedBy>Dr. Pratheesh P. Gopinath</cp:lastModifiedBy>
  <cp:revision>1</cp:revision>
  <dcterms:created xsi:type="dcterms:W3CDTF">2026-10-20T10:13:42Z</dcterms:created>
  <dcterms:modified xsi:type="dcterms:W3CDTF">2026-10-20T10:13:42Z</dcterms:modified>
</cp:coreProperties>
</file>