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18b6ac5-ca34-1055-22db-5eed96ddcc20}">
          <p14:sldIdLst>
            <p14:sldId id="256"/>
            <p14:sldId id="257"/>
            <p14:sldId id="258"/>
            <p14:sldId id="259"/>
            <p14:sldId id="260"/>
            <p14:sldId id="261"/>
            <p14:sldId id="262"/>
            <p14:sldId id="263"/>
            <p14:sldId id="264"/>
          </p14:sldIdLst>
        </p14:section>
        <p14:section name="Review" id="{10c4c884-3d14-9e00-14a7-1cb3a21f54f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68"/>
                </a:solidFill>
                <a:latin typeface="+mn-lt"/>
              </a:defRPr>
            </a:pPr>
            <a:r>
              <a:rPr sz="1400" b="0" i="0" u="none" strike="noStrike">
                <a:solidFill>
                  <a:srgbClr val="1F3A68"/>
                </a:solidFill>
                <a:latin typeface="+mn-lt"/>
              </a:rPr>
              <a:t>Mean biomass (g/m²) of 3 quadrats per sampling date, growth.csv</a:t>
            </a:r>
          </a:p>
        </c:rich>
      </c:tx>
      <c:layout/>
      <c:overlay val="0"/>
    </c:title>
    <c:autoTitleDeleted val="0"/>
    <c:plotArea>
      <c:layout/>
      <c:lineChart>
        <c:varyColors val="0"/>
        <c:ser>
          <c:idx val="0"/>
          <c:order val="0"/>
          <c:tx>
            <c:strRef>
              <c:f>Sheet1!$B$1</c:f>
              <c:strCache>
                <c:ptCount val="1"/>
                <c:pt idx="0">
                  <c:v>Mean biomass</c:v>
                </c:pt>
              </c:strCache>
            </c:strRef>
          </c:tx>
          <c:spPr>
            <a:solidFill>
              <a:srgbClr val="1F4E8C"/>
            </a:solidFill>
            <a:ln w="38100" cap="flat">
              <a:solidFill>
                <a:srgbClr val="1F4E8C"/>
              </a:solidFill>
              <a:prstDash val="solid"/>
              <a:round/>
            </a:ln>
            <a:effectLst/>
          </c:spPr>
          <c:invertIfNegative val="0"/>
          <c:dLbls>
            <c:numFmt formatCode="0" sourceLinked="0"/>
            <c:txPr>
              <a:bodyPr/>
              <a:lstStyle/>
              <a:p>
                <a:pPr>
                  <a:defRPr b="0" i="0" strike="noStrike" sz="1100" u="none">
                    <a:solidFill>
                      <a:srgbClr val="1B2A41"/>
                    </a:solidFill>
                    <a:latin typeface="+mn-lt"/>
                  </a:defRPr>
                </a:pPr>
              </a:p>
            </c:txPr>
            <c:showLegendKey val="0"/>
            <c:showVal val="0"/>
            <c:showCatName val="0"/>
            <c:showSerName val="0"/>
            <c:showPercent val="0"/>
            <c:showBubbleSize val="0"/>
            <c:showLeaderLines val="0"/>
          </c:dLbls>
          <c:marker>
            <c:symbol val="circle"/>
            <c:size val="9"/>
            <c:spPr>
              <a:solidFill>
                <a:srgbClr val="1F4E8C"/>
              </a:solidFill>
              <a:ln w="9525" cap="flat">
                <a:solidFill>
                  <a:srgbClr val="1F4E8C"/>
                </a:solidFill>
                <a:prstDash val="solid"/>
                <a:round/>
              </a:ln>
              <a:effectLst/>
            </c:spPr>
          </c:marker>
          <c:cat>
            <c:multiLvlStrRef>
              <c:f>Sheet1!$A$2:$A$13</c:f>
              <c:multiLvlStrCache>
                <c:ptCount val="12"/>
                <c:lvl>
                  <c:pt idx="0">
                    <c:v>10</c:v>
                  </c:pt>
                  <c:pt idx="1">
                    <c:v>20</c:v>
                  </c:pt>
                  <c:pt idx="2">
                    <c:v>30</c:v>
                  </c:pt>
                  <c:pt idx="3">
                    <c:v>40</c:v>
                  </c:pt>
                  <c:pt idx="4">
                    <c:v>50</c:v>
                  </c:pt>
                  <c:pt idx="5">
                    <c:v>60</c:v>
                  </c:pt>
                  <c:pt idx="6">
                    <c:v>70</c:v>
                  </c:pt>
                  <c:pt idx="7">
                    <c:v>80</c:v>
                  </c:pt>
                  <c:pt idx="8">
                    <c:v>90</c:v>
                  </c:pt>
                  <c:pt idx="9">
                    <c:v>100</c:v>
                  </c:pt>
                  <c:pt idx="10">
                    <c:v>110</c:v>
                  </c:pt>
                  <c:pt idx="11">
                    <c:v>120</c:v>
                  </c:pt>
                </c:lvl>
              </c:multiLvlStrCache>
            </c:multiLvlStrRef>
          </c:cat>
          <c:val>
            <c:numRef>
              <c:f>Sheet1!$B$2:$B$13</c:f>
              <c:numCache>
                <c:formatCode>General</c:formatCode>
                <c:ptCount val="12"/>
                <c:pt idx="0">
                  <c:v>58.3</c:v>
                </c:pt>
                <c:pt idx="1">
                  <c:v>104.7</c:v>
                </c:pt>
                <c:pt idx="2">
                  <c:v>178.8</c:v>
                </c:pt>
                <c:pt idx="3">
                  <c:v>300.5</c:v>
                </c:pt>
                <c:pt idx="4">
                  <c:v>504.6</c:v>
                </c:pt>
                <c:pt idx="5">
                  <c:v>682</c:v>
                </c:pt>
                <c:pt idx="6">
                  <c:v>808</c:v>
                </c:pt>
                <c:pt idx="7">
                  <c:v>900.6</c:v>
                </c:pt>
                <c:pt idx="8">
                  <c:v>942.8</c:v>
                </c:pt>
                <c:pt idx="9">
                  <c:v>964.4</c:v>
                </c:pt>
                <c:pt idx="10">
                  <c:v>983.7</c:v>
                </c:pt>
                <c:pt idx="11">
                  <c:v>997.4</c:v>
                </c:pt>
              </c:numCache>
            </c:numRef>
          </c:val>
          <c:smooth val="0"/>
        </c:ser>
        <c:dLbls>
          <c:numFmt formatCode="0" sourceLinked="0"/>
          <c:txPr>
            <a:bodyPr/>
            <a:lstStyle/>
            <a:p>
              <a:pPr>
                <a:defRPr b="0" i="0" strike="noStrike" sz="1100" u="none">
                  <a:solidFill>
                    <a:srgbClr val="1B2A4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B82"/>
                    </a:solidFill>
                    <a:latin typeface="+mn-lt"/>
                  </a:defRPr>
                </a:pPr>
                <a:r>
                  <a:rPr sz="1200" b="0" i="0" u="none" strike="noStrike">
                    <a:solidFill>
                      <a:srgbClr val="5B6B82"/>
                    </a:solidFill>
                    <a:latin typeface="+mn-lt"/>
                  </a:rPr>
                  <a:t>Days after sowing</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ax val="1100"/>
          <c:min val="0"/>
        </c:scaling>
        <c:delete val="0"/>
        <c:axPos val="l"/>
        <c:majorGridlines>
          <c:spPr>
            <a:ln w="6350" cap="flat">
              <a:solidFill>
                <a:srgbClr val="E1E6EE"/>
              </a:solidFill>
              <a:prstDash val="solid"/>
              <a:round/>
            </a:ln>
          </c:spPr>
        </c:majorGridlines>
        <c:title>
          <c:tx>
            <c:rich>
              <a:bodyPr/>
              <a:lstStyle/>
              <a:p>
                <a:pPr>
                  <a:defRPr sz="1200" b="0" i="0" u="none" strike="noStrike">
                    <a:solidFill>
                      <a:srgbClr val="5B6B82"/>
                    </a:solidFill>
                    <a:latin typeface="+mn-lt"/>
                  </a:defRPr>
                </a:pPr>
                <a:r>
                  <a:rPr sz="1200" b="0" i="0" u="none" strike="noStrike">
                    <a:solidFill>
                      <a:srgbClr val="5B6B82"/>
                    </a:solidFill>
                    <a:latin typeface="+mn-lt"/>
                  </a:rPr>
                  <a:t>g/m²</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nine, modelling crop growth. Crops grow slowly at first, then rapidly, then level off as they mature. A straight line cannot describe that S-shaped pattern. In this chapter we fit two classic growth curves, the logistic and the Gompertz, interpret their parameters, and check whether the fits deserve our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interpret the parameters of logistic and Gompertz growth curves, fit them with nonlinear least squares, check residuals and compare fits, and recognize the limits of extrapolation and of repeated measurements on the same plants. A curve is only useful when the design, the observed growth phases, the numerical fit and the residuals all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mean biomass in the simulated growth data, from three independently harvested quadrats at each of twelve sampling dates. Growth is slow at first, rapid between about days forty and sixty, and then levels off near one thousand grams per square metre. A straight line would overestimate early growth, underestimate the middle, and predict unlimited growth. Note the design: each date harvests different plants, so the errors can reasonably be treated as independent. Weighing the same plants every week would break that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curves are widely used for crop growth. The logistic is a symmetric S-curve: its inflection, the point of fastest growth, is at half the asymptote, on day ti. The Gompertz is asymmetric: growth accelerates more quickly and the inflection occurs at about thirty-seven percent of the asymptote, A divided by e. In both, A is the asymptote, or final biomass, k controls how steeply the curve rises, and ti is the time of the inflection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Nonlinear least squares, the nls function, chooses parameter values that minimize the sum of squared residuals. It needs starting values, which we read from the graph: a plateau near one thousand, an inflection near day fifty, and a positive rate. The port algorithm with lower bounds keeps the asymptote and rate positive. Summary gives estimates and standard errors, and AIC compares the two fits. A lower AIC suggests a better balance of fit and complexity among the candidates fitted to the same response, but it does not prove which curve is biologically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fitting, check the residuals against day and against fitted values; a pattern or a fan shape suggests a wrong curve or a wrong error model. Ask whether the parameters are biologically plausible: is the asymptote a realistic final biomass, and is the inflection within the season? And beware of extrapolation: predicting beyond the last sampling date, or fitting only early observations before the plateau, can give very unstable asymptotes. Remember that the curve describes a mean trajectory, not a guaranteed individual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curves give two kinds of growth rate. The absolute growth rate is the gain in biomass per day, which peaks at the inflection point. The relative growth rate is the gain per day per unit of existing biomass, which is highest early in the season and declines as the crop matures. Finally, choosing an error model is part of choosing a growth model. If the variation between quadrats grows with biomass, a log scale or weighted fit may be more appropriate than ordinary least squares on the raw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nine. Fit both curves and compare their parameters, residual standard errors and AIC, and explain why their inflection biomasses differ. Refit using only data up to day sixty and see how unstable the asymptote becomes; report any failure to converge honestly. Predict at day seventy-five and say whether that is interpolation. And explain why weighing the same plants every week breaks the independence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you draw a logistic curve from chosen parameters. Double the rate and see the curve steepen; then move the midpoint to forty and see the whole curve shift earlier. Distinguishing steepness from timing is the key to interpreting growth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crop growth is S-shaped; the logistic curve is symmetric and the Gompertz inflects earlier. Read starting values from the graph. Judge a fit by its residuals, its biological plausibility and AIC together. And stay within the observed range, respecting the independence of measurements. Next, we study time series and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9 · Modelling crop growth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5  ·  CHAPTER 9</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Modelling crop growth</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ChartLine">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Interpret growth parameters</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Asymptote, rate and inflection point</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Cogs">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Fit nonlinear models</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nls()</a:t>
            </a:r>
            <a:pPr indent="0" marL="0">
              <a:buNone/>
            </a:pPr>
            <a:r>
              <a:rPr lang="en-US" sz="1400" dirty="0">
                <a:solidFill>
                  <a:schemeClr val="accent5"/>
                </a:solidFill>
              </a:rPr>
              <a:t> with sensible starting values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Stethoscope">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Diagnose the fit</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Residuals, AIC and biological plausibility</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ExclamationTriangl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Know the limits</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Extrapolation and repeated measurements</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curve is useful only when the sampling design, observed growth phases, numerical fit and residuals all support it.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Why straight lines are often inadequate</a:t>
            </a:r>
            <a:endParaRPr lang="en-US" sz="3200" dirty="0"/>
          </a:p>
        </p:txBody>
      </p:sp>
      <p:graphicFrame>
        <p:nvGraphicFramePr>
          <p:cNvPr id="3" name="Chart 0" descr=""/>
          <p:cNvGraphicFramePr/>
          <p:nvPr/>
        </p:nvGraphicFramePr>
        <p:xfrm>
          <a:off x="548640" y="1325880"/>
          <a:ext cx="6949440" cy="47091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325880"/>
            <a:ext cx="38404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5" name="Text 2"/>
          <p:cNvSpPr txBox="1"/>
          <p:nvPr/>
        </p:nvSpPr>
        <p:spPr>
          <a:xfrm>
            <a:off x="8001000" y="1463040"/>
            <a:ext cx="3383280" cy="411480"/>
          </a:xfrm>
          <a:prstGeom prst="rect">
            <a:avLst/>
          </a:prstGeom>
          <a:noFill/>
          <a:ln/>
        </p:spPr>
        <p:txBody>
          <a:bodyPr wrap="square" lIns="0" tIns="0" rIns="0" bIns="0" rtlCol="0" anchor="t"/>
          <a:lstStyle/>
          <a:p>
            <a:pPr indent="0" marL="0">
              <a:buNone/>
            </a:pPr>
            <a:r>
              <a:rPr lang="en-US" sz="1600" b="1" dirty="0">
                <a:solidFill>
                  <a:schemeClr val="tx2"/>
                </a:solidFill>
              </a:rPr>
              <a:t>Three phases</a:t>
            </a:r>
            <a:endParaRPr lang="en-US" sz="1600" dirty="0"/>
          </a:p>
        </p:txBody>
      </p:sp>
      <p:sp>
        <p:nvSpPr>
          <p:cNvPr id="6" name="Text 3"/>
          <p:cNvSpPr txBox="1"/>
          <p:nvPr/>
        </p:nvSpPr>
        <p:spPr>
          <a:xfrm>
            <a:off x="8001000" y="1874520"/>
            <a:ext cx="3383280" cy="1600200"/>
          </a:xfrm>
          <a:prstGeom prst="rect">
            <a:avLst/>
          </a:prstGeom>
          <a:noFill/>
          <a:ln/>
        </p:spPr>
        <p:txBody>
          <a:bodyPr wrap="square" lIns="0" tIns="0" rIns="0" bIns="0" rtlCol="0" anchor="t"/>
          <a:lstStyle/>
          <a:p>
            <a:pPr indent="0" marL="0">
              <a:buNone/>
            </a:pPr>
            <a:r>
              <a:rPr lang="en-US" sz="1400" dirty="0">
                <a:solidFill>
                  <a:schemeClr val="tx1"/>
                </a:solidFill>
              </a:rPr>
              <a:t>Slow start, rapid growth around days 40–60, then a plateau near 1,000 g/m².</a:t>
            </a:r>
            <a:endParaRPr lang="en-US" sz="1400" dirty="0"/>
          </a:p>
        </p:txBody>
      </p:sp>
      <p:sp>
        <p:nvSpPr>
          <p:cNvPr id="7" name="card"/>
          <p:cNvSpPr/>
          <p:nvPr/>
        </p:nvSpPr>
        <p:spPr>
          <a:xfrm>
            <a:off x="7772400" y="3794760"/>
            <a:ext cx="38404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8" name="Text 5"/>
          <p:cNvSpPr txBox="1"/>
          <p:nvPr/>
        </p:nvSpPr>
        <p:spPr>
          <a:xfrm>
            <a:off x="8001000" y="3931920"/>
            <a:ext cx="3383280" cy="411480"/>
          </a:xfrm>
          <a:prstGeom prst="rect">
            <a:avLst/>
          </a:prstGeom>
          <a:noFill/>
          <a:ln/>
        </p:spPr>
        <p:txBody>
          <a:bodyPr wrap="square" lIns="0" tIns="0" rIns="0" bIns="0" rtlCol="0" anchor="t"/>
          <a:lstStyle/>
          <a:p>
            <a:pPr indent="0" marL="0">
              <a:buNone/>
            </a:pPr>
            <a:r>
              <a:rPr lang="en-US" sz="1600" b="1" dirty="0">
                <a:solidFill>
                  <a:schemeClr val="tx2"/>
                </a:solidFill>
              </a:rPr>
              <a:t>Independent quadrats</a:t>
            </a:r>
            <a:endParaRPr lang="en-US" sz="1600" dirty="0"/>
          </a:p>
        </p:txBody>
      </p:sp>
      <p:sp>
        <p:nvSpPr>
          <p:cNvPr id="9" name="Text 6"/>
          <p:cNvSpPr txBox="1"/>
          <p:nvPr/>
        </p:nvSpPr>
        <p:spPr>
          <a:xfrm>
            <a:off x="8001000" y="4343400"/>
            <a:ext cx="3383280" cy="1600200"/>
          </a:xfrm>
          <a:prstGeom prst="rect">
            <a:avLst/>
          </a:prstGeom>
          <a:noFill/>
          <a:ln/>
        </p:spPr>
        <p:txBody>
          <a:bodyPr wrap="square" lIns="0" tIns="0" rIns="0" bIns="0" rtlCol="0" anchor="t"/>
          <a:lstStyle/>
          <a:p>
            <a:pPr indent="0" marL="0">
              <a:buNone/>
            </a:pPr>
            <a:r>
              <a:rPr lang="en-US" sz="1400" dirty="0">
                <a:solidFill>
                  <a:schemeClr val="tx1"/>
                </a:solidFill>
              </a:rPr>
              <a:t>Three quadrats are harvested at each of 12 dates; different plants each time, so errors can be treated as independent.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Two classic growth curves</a:t>
            </a:r>
            <a:endParaRPr lang="en-US" sz="3200" dirty="0"/>
          </a:p>
        </p:txBody>
      </p:sp>
      <p:sp>
        <p:nvSpPr>
          <p:cNvPr id="3" name="card"/>
          <p:cNvSpPr/>
          <p:nvPr/>
        </p:nvSpPr>
        <p:spPr>
          <a:xfrm>
            <a:off x="54864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2056257"/>
            <a:ext cx="731520" cy="731520"/>
          </a:xfrm>
          <a:prstGeom prst="ellipse">
            <a:avLst/>
          </a:prstGeom>
          <a:solidFill>
            <a:schemeClr val="accent1"/>
          </a:solidFill>
          <a:ln/>
        </p:spPr>
      </p:sp>
      <p:pic>
        <p:nvPicPr>
          <p:cNvPr id="5" name="Image 0" descr="FaWaveSquare">    </p:cNvPr>
          <p:cNvPicPr>
            <a:picLocks noChangeAspect="1"/>
          </p:cNvPicPr>
          <p:nvPr/>
        </p:nvPicPr>
        <p:blipFill>
          <a:blip r:embed="rId1"/>
          <a:stretch>
            <a:fillRect/>
          </a:stretch>
        </p:blipFill>
        <p:spPr>
          <a:xfrm>
            <a:off x="960120" y="2239137"/>
            <a:ext cx="365760" cy="365760"/>
          </a:xfrm>
          <a:prstGeom prst="rect">
            <a:avLst/>
          </a:prstGeom>
        </p:spPr>
      </p:pic>
      <p:sp>
        <p:nvSpPr>
          <p:cNvPr id="6" name="Text 3"/>
          <p:cNvSpPr txBox="1"/>
          <p:nvPr/>
        </p:nvSpPr>
        <p:spPr>
          <a:xfrm>
            <a:off x="169164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Logistic</a:t>
            </a:r>
            <a:endParaRPr lang="en-US" sz="1700" dirty="0"/>
          </a:p>
        </p:txBody>
      </p:sp>
      <p:sp>
        <p:nvSpPr>
          <p:cNvPr id="7" name="Text 4"/>
          <p:cNvSpPr txBox="1"/>
          <p:nvPr/>
        </p:nvSpPr>
        <p:spPr>
          <a:xfrm>
            <a:off x="77724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biomass = A / (1 + exp(−k(day − ti))). Symmetric S-curve; inflection at </a:t>
            </a:r>
            <a:pPr indent="0" marL="0">
              <a:buNone/>
            </a:pPr>
            <a:r>
              <a:rPr lang="en-US" sz="1800" b="1" dirty="0">
                <a:solidFill>
                  <a:schemeClr val="accent5"/>
                </a:solidFill>
              </a:rPr>
              <a:t>A/2</a:t>
            </a:r>
            <a:pPr indent="0" marL="0">
              <a:buNone/>
            </a:pPr>
            <a:r>
              <a:rPr lang="en-US" sz="1800" dirty="0">
                <a:solidFill>
                  <a:schemeClr val="accent5"/>
                </a:solidFill>
              </a:rPr>
              <a:t> on day </a:t>
            </a:r>
            <a:pPr indent="0" marL="0">
              <a:buNone/>
            </a:pPr>
            <a:r>
              <a:rPr lang="en-US" sz="1800" b="1" dirty="0">
                <a:solidFill>
                  <a:schemeClr val="accent5"/>
                </a:solidFill>
              </a:rPr>
              <a:t>ti</a:t>
            </a:r>
            <a:pPr indent="0" marL="0">
              <a:buNone/>
            </a:pPr>
            <a:r>
              <a:rPr lang="en-US" sz="1800" dirty="0">
                <a:solidFill>
                  <a:schemeClr val="accent5"/>
                </a:solidFill>
              </a:rPr>
              <a:t>.</a:t>
            </a:r>
            <a:endParaRPr lang="en-US" sz="1800" dirty="0"/>
          </a:p>
        </p:txBody>
      </p:sp>
      <p:sp>
        <p:nvSpPr>
          <p:cNvPr id="8" name="card"/>
          <p:cNvSpPr/>
          <p:nvPr/>
        </p:nvSpPr>
        <p:spPr>
          <a:xfrm>
            <a:off x="619506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2056257"/>
            <a:ext cx="731520" cy="731520"/>
          </a:xfrm>
          <a:prstGeom prst="ellipse">
            <a:avLst/>
          </a:prstGeom>
          <a:solidFill>
            <a:schemeClr val="accent2"/>
          </a:solidFill>
          <a:ln/>
        </p:spPr>
      </p:sp>
      <p:pic>
        <p:nvPicPr>
          <p:cNvPr id="10" name="Image 1" descr="FaChartLine">    </p:cNvPr>
          <p:cNvPicPr>
            <a:picLocks noChangeAspect="1"/>
          </p:cNvPicPr>
          <p:nvPr/>
        </p:nvPicPr>
        <p:blipFill>
          <a:blip r:embed="rId2"/>
          <a:stretch>
            <a:fillRect/>
          </a:stretch>
        </p:blipFill>
        <p:spPr>
          <a:xfrm>
            <a:off x="6606540" y="2239137"/>
            <a:ext cx="365760" cy="365760"/>
          </a:xfrm>
          <a:prstGeom prst="rect">
            <a:avLst/>
          </a:prstGeom>
        </p:spPr>
      </p:pic>
      <p:sp>
        <p:nvSpPr>
          <p:cNvPr id="11" name="Text 7"/>
          <p:cNvSpPr txBox="1"/>
          <p:nvPr/>
        </p:nvSpPr>
        <p:spPr>
          <a:xfrm>
            <a:off x="733806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Gompertz</a:t>
            </a:r>
            <a:endParaRPr lang="en-US" sz="1700" dirty="0"/>
          </a:p>
        </p:txBody>
      </p:sp>
      <p:sp>
        <p:nvSpPr>
          <p:cNvPr id="12" name="Text 8"/>
          <p:cNvSpPr txBox="1"/>
          <p:nvPr/>
        </p:nvSpPr>
        <p:spPr>
          <a:xfrm>
            <a:off x="642366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biomass = A · exp(−exp(−k(day − ti))). Asymmetric: inflection earlier, at </a:t>
            </a:r>
            <a:pPr indent="0" marL="0">
              <a:buNone/>
            </a:pPr>
            <a:r>
              <a:rPr lang="en-US" sz="1800" b="1" dirty="0">
                <a:solidFill>
                  <a:schemeClr val="accent5"/>
                </a:solidFill>
              </a:rPr>
              <a:t>A/e</a:t>
            </a:r>
            <a:pPr indent="0" marL="0">
              <a:buNone/>
            </a:pPr>
            <a:r>
              <a:rPr lang="en-US" sz="1800" dirty="0">
                <a:solidFill>
                  <a:schemeClr val="accent5"/>
                </a:solidFill>
              </a:rPr>
              <a:t> (about 37% of A).</a:t>
            </a:r>
            <a:endParaRPr lang="en-US" sz="1800" dirty="0"/>
          </a:p>
        </p:txBody>
      </p:sp>
      <p:sp>
        <p:nvSpPr>
          <p:cNvPr id="13" name="key idea"/>
          <p:cNvSpPr/>
          <p:nvPr/>
        </p:nvSpPr>
        <p:spPr>
          <a:xfrm>
            <a:off x="548640" y="4502277"/>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4502277"/>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is the asymptote (final biomass), k the growth-rate parameter, ti the time of the inflection point.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Fitting curves with nls()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growth &lt;- read.csv("data/growth.csv")</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low &lt;- c(A = 0, k = .0001, ti = -Inf)</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logistic &lt;- nls(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biomass_g_m2 ~ A / (1 + exp(-k * (day - ti))),</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data = growth, start = list(A = 1000, k = .07, ti = 50),</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algorithm = "port", lower = low)</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gompertz &lt;- nls(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biomass_g_m2 ~ A * exp(-exp(-k * (day - ti))),</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data = growth, start = list(A = 1000, k = .06, ti = 45),</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algorithm = "port", lower = low)</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summary(logistic)</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coef(gompertz)</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AIC(logistic, gompertz)</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MapMarkerAlt">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Starting values</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tx1"/>
                </a:solidFill>
              </a:rPr>
              <a:t>Read them from the graph: plateau near 1,000, inflection near day 50. They guide the search; they are not evidence.</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BalanceScale">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AIC</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Lower AIC = better balance of fit and complexity among candidates fitted to the same data. It does not prove biological truth.</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Diagnostics and interpretation</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Stethoscop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Residuals</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Plot residuals against day and fitted values. Patterns or widening spread suggest a wrong curve or error model.</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3"/>
          </a:solidFill>
          <a:ln/>
        </p:spPr>
      </p:sp>
      <p:pic>
        <p:nvPicPr>
          <p:cNvPr id="10" name="Image 1" descr="FaCheckCircle">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Plausibility</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Is the asymptote a realistic final biomass? Is the inflection within the observed season?</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4"/>
          </a:solidFill>
          <a:ln/>
        </p:spPr>
      </p:sp>
      <p:pic>
        <p:nvPicPr>
          <p:cNvPr id="15" name="Image 2" descr="FaSignOutAlt">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Extrapolation</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Predicting beyond day 120, or fitting only early data, can give unstable asymptotes.</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The curve predicts a mean trajectory, not an individual quadrat; </a:t>
            </a:r>
            <a:pPr indent="0" marL="0">
              <a:buNone/>
            </a:pPr>
            <a:r>
              <a:rPr lang="en-US" sz="1500" dirty="0">
                <a:solidFill>
                  <a:schemeClr val="accent1"/>
                </a:solidFill>
                <a:latin typeface="Courier New" pitchFamily="34" charset="0"/>
                <a:ea typeface="Courier New" pitchFamily="34" charset="-122"/>
                <a:cs typeface="Courier New" pitchFamily="34" charset="-120"/>
              </a:rPr>
              <a:t>predict.nls()</a:t>
            </a:r>
            <a:pPr indent="0" marL="0">
              <a:buNone/>
            </a:pPr>
            <a:r>
              <a:rPr lang="en-US" sz="1500" dirty="0">
                <a:solidFill>
                  <a:schemeClr val="tx1"/>
                </a:solidFill>
              </a:rPr>
              <a:t> gives no intervals by itself.</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Absolute and relative growth rates</a:t>
            </a:r>
            <a:endParaRPr lang="en-US" sz="3200" dirty="0"/>
          </a:p>
        </p:txBody>
      </p:sp>
      <p:sp>
        <p:nvSpPr>
          <p:cNvPr id="3" name="card"/>
          <p:cNvSpPr/>
          <p:nvPr/>
        </p:nvSpPr>
        <p:spPr>
          <a:xfrm>
            <a:off x="54864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2056257"/>
            <a:ext cx="731520" cy="731520"/>
          </a:xfrm>
          <a:prstGeom prst="ellipse">
            <a:avLst/>
          </a:prstGeom>
          <a:solidFill>
            <a:schemeClr val="accent1"/>
          </a:solidFill>
          <a:ln/>
        </p:spPr>
      </p:sp>
      <p:pic>
        <p:nvPicPr>
          <p:cNvPr id="5" name="Image 0" descr="FaTachometerAlt">    </p:cNvPr>
          <p:cNvPicPr>
            <a:picLocks noChangeAspect="1"/>
          </p:cNvPicPr>
          <p:nvPr/>
        </p:nvPicPr>
        <p:blipFill>
          <a:blip r:embed="rId1"/>
          <a:stretch>
            <a:fillRect/>
          </a:stretch>
        </p:blipFill>
        <p:spPr>
          <a:xfrm>
            <a:off x="960120" y="2239137"/>
            <a:ext cx="365760" cy="365760"/>
          </a:xfrm>
          <a:prstGeom prst="rect">
            <a:avLst/>
          </a:prstGeom>
        </p:spPr>
      </p:pic>
      <p:sp>
        <p:nvSpPr>
          <p:cNvPr id="6" name="Text 3"/>
          <p:cNvSpPr txBox="1"/>
          <p:nvPr/>
        </p:nvSpPr>
        <p:spPr>
          <a:xfrm>
            <a:off x="169164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Absolute growth rate</a:t>
            </a:r>
            <a:endParaRPr lang="en-US" sz="1700" dirty="0"/>
          </a:p>
        </p:txBody>
      </p:sp>
      <p:sp>
        <p:nvSpPr>
          <p:cNvPr id="7" name="Text 4"/>
          <p:cNvSpPr txBox="1"/>
          <p:nvPr/>
        </p:nvSpPr>
        <p:spPr>
          <a:xfrm>
            <a:off x="77724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Gain in biomass per day (g/m²/day). Highest at the inflection point, the middle of rapid growth.</a:t>
            </a:r>
            <a:endParaRPr lang="en-US" sz="1800" dirty="0"/>
          </a:p>
        </p:txBody>
      </p:sp>
      <p:sp>
        <p:nvSpPr>
          <p:cNvPr id="8" name="card"/>
          <p:cNvSpPr/>
          <p:nvPr/>
        </p:nvSpPr>
        <p:spPr>
          <a:xfrm>
            <a:off x="619506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2056257"/>
            <a:ext cx="731520" cy="731520"/>
          </a:xfrm>
          <a:prstGeom prst="ellipse">
            <a:avLst/>
          </a:prstGeom>
          <a:solidFill>
            <a:schemeClr val="accent2"/>
          </a:solidFill>
          <a:ln/>
        </p:spPr>
      </p:sp>
      <p:pic>
        <p:nvPicPr>
          <p:cNvPr id="10" name="Image 1" descr="FaPercentage">    </p:cNvPr>
          <p:cNvPicPr>
            <a:picLocks noChangeAspect="1"/>
          </p:cNvPicPr>
          <p:nvPr/>
        </p:nvPicPr>
        <p:blipFill>
          <a:blip r:embed="rId2"/>
          <a:stretch>
            <a:fillRect/>
          </a:stretch>
        </p:blipFill>
        <p:spPr>
          <a:xfrm>
            <a:off x="6606540" y="2239137"/>
            <a:ext cx="365760" cy="365760"/>
          </a:xfrm>
          <a:prstGeom prst="rect">
            <a:avLst/>
          </a:prstGeom>
        </p:spPr>
      </p:pic>
      <p:sp>
        <p:nvSpPr>
          <p:cNvPr id="11" name="Text 7"/>
          <p:cNvSpPr txBox="1"/>
          <p:nvPr/>
        </p:nvSpPr>
        <p:spPr>
          <a:xfrm>
            <a:off x="733806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Relative growth rate</a:t>
            </a:r>
            <a:endParaRPr lang="en-US" sz="1700" dirty="0"/>
          </a:p>
        </p:txBody>
      </p:sp>
      <p:sp>
        <p:nvSpPr>
          <p:cNvPr id="12" name="Text 8"/>
          <p:cNvSpPr txBox="1"/>
          <p:nvPr/>
        </p:nvSpPr>
        <p:spPr>
          <a:xfrm>
            <a:off x="642366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Gain per day per unit of existing biomass. Highest early, then declining as the crop matures.</a:t>
            </a:r>
            <a:endParaRPr lang="en-US" sz="1800" dirty="0"/>
          </a:p>
        </p:txBody>
      </p:sp>
      <p:sp>
        <p:nvSpPr>
          <p:cNvPr id="13" name="key idea"/>
          <p:cNvSpPr/>
          <p:nvPr/>
        </p:nvSpPr>
        <p:spPr>
          <a:xfrm>
            <a:off x="548640" y="4502277"/>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4502277"/>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Choosing an error model is part of choosing a growth model: if variation grows with biomass, consider a log scale or weights.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9 and exercises</a:t>
            </a:r>
            <a:endParaRPr lang="en-US" sz="3200" dirty="0"/>
          </a:p>
        </p:txBody>
      </p:sp>
      <p:sp>
        <p:nvSpPr>
          <p:cNvPr id="3" name="card"/>
          <p:cNvSpPr/>
          <p:nvPr/>
        </p:nvSpPr>
        <p:spPr>
          <a:xfrm>
            <a:off x="548640" y="137160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54480"/>
            <a:ext cx="502920" cy="502920"/>
          </a:xfrm>
          <a:prstGeom prst="ellipse">
            <a:avLst/>
          </a:prstGeom>
          <a:solidFill>
            <a:schemeClr val="accent1"/>
          </a:solidFill>
          <a:ln/>
        </p:spPr>
      </p:sp>
      <p:sp>
        <p:nvSpPr>
          <p:cNvPr id="5" name="Text 3"/>
          <p:cNvSpPr txBox="1"/>
          <p:nvPr/>
        </p:nvSpPr>
        <p:spPr>
          <a:xfrm>
            <a:off x="749808" y="15544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77240"/>
          </a:xfrm>
          <a:prstGeom prst="rect">
            <a:avLst/>
          </a:prstGeom>
          <a:noFill/>
          <a:ln/>
        </p:spPr>
        <p:txBody>
          <a:bodyPr wrap="square" lIns="0" tIns="0" rIns="0" bIns="0" rtlCol="0" anchor="ctr"/>
          <a:lstStyle/>
          <a:p>
            <a:pPr indent="0" marL="0">
              <a:buNone/>
            </a:pPr>
            <a:r>
              <a:rPr lang="en-US" sz="1400" dirty="0">
                <a:solidFill>
                  <a:schemeClr val="tx1"/>
                </a:solidFill>
              </a:rPr>
              <a:t>Fit both curves and tabulate parameters, residual standard errors and AIC. Why do their inflection biomasses differ?</a:t>
            </a:r>
            <a:endParaRPr lang="en-US" sz="1400" dirty="0"/>
          </a:p>
        </p:txBody>
      </p:sp>
      <p:sp>
        <p:nvSpPr>
          <p:cNvPr id="7" name="card"/>
          <p:cNvSpPr/>
          <p:nvPr/>
        </p:nvSpPr>
        <p:spPr>
          <a:xfrm>
            <a:off x="548640" y="237744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560320"/>
            <a:ext cx="502920" cy="502920"/>
          </a:xfrm>
          <a:prstGeom prst="ellipse">
            <a:avLst/>
          </a:prstGeom>
          <a:solidFill>
            <a:schemeClr val="accent1"/>
          </a:solidFill>
          <a:ln/>
        </p:spPr>
      </p:sp>
      <p:sp>
        <p:nvSpPr>
          <p:cNvPr id="9" name="Text 7"/>
          <p:cNvSpPr txBox="1"/>
          <p:nvPr/>
        </p:nvSpPr>
        <p:spPr>
          <a:xfrm>
            <a:off x="749808" y="25603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423160"/>
            <a:ext cx="6629400" cy="777240"/>
          </a:xfrm>
          <a:prstGeom prst="rect">
            <a:avLst/>
          </a:prstGeom>
          <a:noFill/>
          <a:ln/>
        </p:spPr>
        <p:txBody>
          <a:bodyPr wrap="square" lIns="0" tIns="0" rIns="0" bIns="0" rtlCol="0" anchor="ctr"/>
          <a:lstStyle/>
          <a:p>
            <a:pPr indent="0" marL="0">
              <a:buNone/>
            </a:pPr>
            <a:r>
              <a:rPr lang="en-US" sz="1400" dirty="0">
                <a:solidFill>
                  <a:schemeClr val="tx1"/>
                </a:solidFill>
              </a:rPr>
              <a:t>Refit using only observations up to day 60. Compare asymptotes and report any convergence failure honestly.</a:t>
            </a:r>
            <a:endParaRPr lang="en-US" sz="1400" dirty="0"/>
          </a:p>
        </p:txBody>
      </p:sp>
      <p:sp>
        <p:nvSpPr>
          <p:cNvPr id="11" name="card"/>
          <p:cNvSpPr/>
          <p:nvPr/>
        </p:nvSpPr>
        <p:spPr>
          <a:xfrm>
            <a:off x="548640" y="338328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566160"/>
            <a:ext cx="502920" cy="502920"/>
          </a:xfrm>
          <a:prstGeom prst="ellipse">
            <a:avLst/>
          </a:prstGeom>
          <a:solidFill>
            <a:schemeClr val="accent1"/>
          </a:solidFill>
          <a:ln/>
        </p:spPr>
      </p:sp>
      <p:sp>
        <p:nvSpPr>
          <p:cNvPr id="13" name="Text 11"/>
          <p:cNvSpPr txBox="1"/>
          <p:nvPr/>
        </p:nvSpPr>
        <p:spPr>
          <a:xfrm>
            <a:off x="749808" y="35661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429000"/>
            <a:ext cx="6629400" cy="777240"/>
          </a:xfrm>
          <a:prstGeom prst="rect">
            <a:avLst/>
          </a:prstGeom>
          <a:noFill/>
          <a:ln/>
        </p:spPr>
        <p:txBody>
          <a:bodyPr wrap="square" lIns="0" tIns="0" rIns="0" bIns="0" rtlCol="0" anchor="ctr"/>
          <a:lstStyle/>
          <a:p>
            <a:pPr indent="0" marL="0">
              <a:buNone/>
            </a:pPr>
            <a:r>
              <a:rPr lang="en-US" sz="1400" dirty="0">
                <a:solidFill>
                  <a:schemeClr val="tx1"/>
                </a:solidFill>
              </a:rPr>
              <a:t>Predict biomass at day 75. Is this interpolation or extrapolation for these data?</a:t>
            </a:r>
            <a:endParaRPr lang="en-US" sz="1400" dirty="0"/>
          </a:p>
        </p:txBody>
      </p:sp>
      <p:sp>
        <p:nvSpPr>
          <p:cNvPr id="15" name="card"/>
          <p:cNvSpPr/>
          <p:nvPr/>
        </p:nvSpPr>
        <p:spPr>
          <a:xfrm>
            <a:off x="548640" y="4389120"/>
            <a:ext cx="7680960" cy="868680"/>
          </a:xfrm>
          <a:prstGeom prst="roundRect">
            <a:avLst>
              <a:gd name="adj" fmla="val 12632"/>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572000"/>
            <a:ext cx="502920" cy="502920"/>
          </a:xfrm>
          <a:prstGeom prst="ellipse">
            <a:avLst/>
          </a:prstGeom>
          <a:solidFill>
            <a:schemeClr val="accent1"/>
          </a:solidFill>
          <a:ln/>
        </p:spPr>
      </p:sp>
      <p:sp>
        <p:nvSpPr>
          <p:cNvPr id="17" name="Text 15"/>
          <p:cNvSpPr txBox="1"/>
          <p:nvPr/>
        </p:nvSpPr>
        <p:spPr>
          <a:xfrm>
            <a:off x="749808" y="45720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434840"/>
            <a:ext cx="6629400" cy="777240"/>
          </a:xfrm>
          <a:prstGeom prst="rect">
            <a:avLst/>
          </a:prstGeom>
          <a:noFill/>
          <a:ln/>
        </p:spPr>
        <p:txBody>
          <a:bodyPr wrap="square" lIns="0" tIns="0" rIns="0" bIns="0" rtlCol="0" anchor="ctr"/>
          <a:lstStyle/>
          <a:p>
            <a:pPr indent="0" marL="0">
              <a:buNone/>
            </a:pPr>
            <a:r>
              <a:rPr lang="en-US" sz="1400" dirty="0">
                <a:solidFill>
                  <a:schemeClr val="tx1"/>
                </a:solidFill>
              </a:rPr>
              <a:t>Explain why weighing the same plants weekly violates the independent-error assumption.</a:t>
            </a:r>
            <a:endParaRPr lang="en-US" sz="1400" dirty="0"/>
          </a:p>
        </p:txBody>
      </p:sp>
      <p:sp>
        <p:nvSpPr>
          <p:cNvPr id="19"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0"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1" name="Text 18"/>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2" name="Text 19"/>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707640"/>
          </a:xfrm>
          <a:prstGeom prst="roundRect">
            <a:avLst>
              <a:gd name="adj" fmla="val 3377"/>
            </a:avLst>
          </a:prstGeom>
          <a:solidFill>
            <a:schemeClr val="tx1"/>
          </a:solidFill>
          <a:ln/>
        </p:spPr>
      </p:sp>
      <p:sp>
        <p:nvSpPr>
          <p:cNvPr id="4" name="Text 2"/>
          <p:cNvSpPr txBox="1"/>
          <p:nvPr/>
        </p:nvSpPr>
        <p:spPr>
          <a:xfrm>
            <a:off x="822960" y="1572768"/>
            <a:ext cx="10515600" cy="2305304"/>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time &lt;- seq(0, 100, length.out = 101)</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K &lt;- 100; r &lt;- 0.08; midpoint &lt;- 50</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logistic &lt;- K / (1 + exp(-r * (time - midpoint)))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plot(time, logistic, type = "l", lwd = 3, col = "#278879",</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xlab = "Time (days)", ylab = "Simulated biomass (g)",</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main = "Logistic growth")</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abline(v = midpoint, h = K / 2, lty = 2, col = "#ba8126")</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c(asymptote = K, inflection_day = midpoint)</a:t>
            </a:r>
            <a:endParaRPr lang="en-US" sz="1700" dirty="0"/>
          </a:p>
        </p:txBody>
      </p:sp>
      <p:sp>
        <p:nvSpPr>
          <p:cNvPr id="5" name="investigate"/>
          <p:cNvSpPr/>
          <p:nvPr/>
        </p:nvSpPr>
        <p:spPr>
          <a:xfrm>
            <a:off x="548640" y="439928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69188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886198"/>
            <a:ext cx="388620" cy="388620"/>
          </a:xfrm>
          <a:prstGeom prst="rect">
            <a:avLst/>
          </a:prstGeom>
        </p:spPr>
      </p:pic>
      <p:sp>
        <p:nvSpPr>
          <p:cNvPr id="8" name="Text 5"/>
          <p:cNvSpPr txBox="1"/>
          <p:nvPr/>
        </p:nvSpPr>
        <p:spPr>
          <a:xfrm>
            <a:off x="1828800" y="450900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874768"/>
            <a:ext cx="9555480" cy="822960"/>
          </a:xfrm>
          <a:prstGeom prst="rect">
            <a:avLst/>
          </a:prstGeom>
          <a:noFill/>
          <a:ln/>
        </p:spPr>
        <p:txBody>
          <a:bodyPr wrap="square" lIns="0" tIns="0" rIns="0" bIns="0" rtlCol="0" anchor="t"/>
          <a:lstStyle/>
          <a:p>
            <a:pPr indent="0" marL="0">
              <a:buNone/>
            </a:pPr>
            <a:r>
              <a:rPr lang="en-US" sz="1500" dirty="0">
                <a:solidFill>
                  <a:schemeClr val="tx1"/>
                </a:solidFill>
              </a:rPr>
              <a:t>Double </a:t>
            </a:r>
            <a:pPr indent="0" marL="0">
              <a:buNone/>
            </a:pPr>
            <a:r>
              <a:rPr lang="en-US" sz="1500" dirty="0">
                <a:solidFill>
                  <a:schemeClr val="accent1"/>
                </a:solidFill>
                <a:latin typeface="Courier New" pitchFamily="34" charset="0"/>
                <a:ea typeface="Courier New" pitchFamily="34" charset="-122"/>
                <a:cs typeface="Courier New" pitchFamily="34" charset="-120"/>
              </a:rPr>
              <a:t>r</a:t>
            </a:r>
            <a:pPr indent="0" marL="0">
              <a:buNone/>
            </a:pPr>
            <a:r>
              <a:rPr lang="en-US" sz="1500" dirty="0">
                <a:solidFill>
                  <a:schemeClr val="tx1"/>
                </a:solidFill>
              </a:rPr>
              <a:t>, then change </a:t>
            </a:r>
            <a:pPr indent="0" marL="0">
              <a:buNone/>
            </a:pPr>
            <a:r>
              <a:rPr lang="en-US" sz="1500" dirty="0">
                <a:solidFill>
                  <a:schemeClr val="accent1"/>
                </a:solidFill>
                <a:latin typeface="Courier New" pitchFamily="34" charset="0"/>
                <a:ea typeface="Courier New" pitchFamily="34" charset="-122"/>
                <a:cs typeface="Courier New" pitchFamily="34" charset="-120"/>
              </a:rPr>
              <a:t>midpoint</a:t>
            </a:r>
            <a:pPr indent="0" marL="0">
              <a:buNone/>
            </a:pPr>
            <a:r>
              <a:rPr lang="en-US" sz="1500" dirty="0">
                <a:solidFill>
                  <a:schemeClr val="tx1"/>
                </a:solidFill>
              </a:rPr>
              <a:t> to 40. Distinguish an increase in steepness from an earlier inflection. K, r and midpoint are illustrative parameters, not fitted estimates.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ChartLin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S-shaped growth</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Logistic is symmetric; Gompertz inflects earlier.</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MapMarkerAlt">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Sensible starts</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Read starting values from the graph.</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Stethoscope">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Check the fit</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Residuals, plausibility and AIC together.</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SignOutAlt">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Stay in range</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Avoid extrapolation; respect independence.</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10 · Agricultural time series and forecasting</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crop growth</dc:title>
  <dc:subject>R Programming for Agricultural Data Analysis · Chapter 9</dc:subject>
  <dc:creator>Dr. Pratheesh P. Gopinath</dc:creator>
  <cp:lastModifiedBy>Dr. Pratheesh P. Gopinath</cp:lastModifiedBy>
  <cp:revision>1</cp:revision>
  <dcterms:created xsi:type="dcterms:W3CDTF">2026-10-20T10:13:43Z</dcterms:created>
  <dcterms:modified xsi:type="dcterms:W3CDTF">2026-10-20T10:13:43Z</dcterms:modified>
</cp:coreProperties>
</file>