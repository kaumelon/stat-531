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2cef0e1-45e5-72e3-e747-1304f9d6de43}">
          <p14:sldIdLst>
            <p14:sldId id="256"/>
            <p14:sldId id="257"/>
          </p14:sldIdLst>
        </p14:section>
        <p14:section name="Time series in R" id="{3bda4089-8fd7-4a41-4190-232b5951edb7}">
          <p14:sldIdLst>
            <p14:sldId id="258"/>
            <p14:sldId id="259"/>
            <p14:sldId id="260"/>
            <p14:sldId id="261"/>
          </p14:sldIdLst>
        </p14:section>
        <p14:section name="Forecasting honestly" id="{25f4e834-7734-b391-131d-808c9eda08dd}">
          <p14:sldIdLst>
            <p14:sldId id="262"/>
            <p14:sldId id="263"/>
            <p14:sldId id="264"/>
            <p14:sldId id="265"/>
            <p14:sldId id="266"/>
          </p14:sldIdLst>
        </p14:section>
        <p14:section name="Review" id="{6c64d1a7-12cc-3174-de1d-f31d2b2313c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ten, agricultural time series and forecasting. Monthly rainfall, weekly pest counts and annual crop yields are time series: their order carries information, and neighbouring observations are related. In this chapter we build time series in R, separate trend from seasonality, smooth with moving averages, and evaluate forecasts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chapter you will construct a regular time series, distinguish trend from seasonality, calculate moving averages and decompose a series, fit exponential smoothing and an introductory ARIMA model, and evaluate forecasts using a chronological holdout and a simple baseline. Keep the key idea in mind: time order is information, so it must be preserved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by building and plotting a time series, and separating its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series object needs evenly spaced observations, a start date and a frequency: twelve for monthly data, four for quarterly, fifty-two for weekly and one for annual. Before creating it, check that the dates are in order and that no month is missing, by comparing them with a complete monthly sequence. This matters because ts assumes equal spacing: if one month is missing, every later value is silently assigned to the wrong season. Then plot the series and look at it before doing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series can be thought of as three components. The trend is the long-term rise or fall, estimated with a moving average. Seasonality is a pattern that repeats every year, such as monsoon rainfall, and decompose estimates it month by month. The irregular component is what remains. Subtracting the seasonal component gives a seasonally adjusted series. Note that a twelve-month centred moving average removes seasonality but uses future values, so it is not available in real time, and it leaves missing values at both ends of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Decompose splits the series into trend, seasonal and random parts, and plotting it shows all three. Subtracting the seasonal component gives the seasonally adjusted series. A trailing moving average, with sides equals one, uses only past months, so it can be used for real-time monitoring. Exponential smoothing gives more weight to recent observations; the Holt Winters method adds a trend and a seasonal term, and its alpha, beta and gamma parameters control how quickly each adapts.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fit a forecasting model and, just as importantly, evaluate it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a forecast honestly, split the series by time: train on the first eight years and test on the last two. Never split a time series at random, because that lets the future leak into the past. Auto arima chooses an ARIMA model for the training data. Then compare its forecasts with a simple baseline, the seasonal naive method, which predicts each month by the same month last year. Accuracy reports the mean absolute error and root mean squared error on the test years. A model is only useful if it beats the baseline, and if the simpler method wins,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fitting, check the residuals: they should look like random noise, with no remaining autocorrelation. Report prediction intervals, usually eighty and ninety-five percent, not just point forecasts, and expect them to widen the further ahead you forecast. And be clear about scope: the teaching series is simulated, so it cannot support an actual irrigation or climate decision. Finally, remember that fitting a model on all ten years and then evaluating on the last two is invalid, because the model has already seen the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ten. Compare short and long trailing means. Compare the ARIMA model with the seasonal naive baseline on the holdout years, and write an honest conclusion. Explain why evaluating on data the model has seen is invalid. Remove a month and show that the date check catches it. And explain the limits of the simulated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simulate five years of monthly rainfall with a trend and a seasonal cycle, smooth it with a twelve-month centred moving average, and forecast three months ahead with a simple seasonal model. Explain why the smoothed line is missing at both ends of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time order is information, so check dates and spacing before building a series. Separate trend, seasonality and the irregular remainder. Evaluate forecasts on a chronological holdout. And always compare with a baseline, reporting errors and prediction intervals. Next we begin statistical inference: hypothesis tests and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10 · Agricultural time series and forecasting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5  ·  CHAPTER 10</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Agricultural time series and forecasting</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alendarAlt">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Build a regular series</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ts()</a:t>
            </a:r>
            <a:pPr indent="0" marL="0">
              <a:buNone/>
            </a:pPr>
            <a:r>
              <a:rPr lang="en-US" sz="1400" dirty="0">
                <a:solidFill>
                  <a:schemeClr val="accent5"/>
                </a:solidFill>
              </a:rPr>
              <a:t> with a start date and frequency</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WaveSquare">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Trend and seasonality</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Moving averages, decomposition and seasonal adjustment</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Magic">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Smooth and model</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Exponential smoothing and an introductory ARIMA</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Bullsey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Evaluate forecasts</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Chronological holdout, a baseline, MAE and RMSE</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Preserve chronology, verify regular spacing, compare with a baseline, inspect residual dependence and communicate uncertainty.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Time series in R</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Building, plotting and decomposing a series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Create and inspect a regular series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weather &lt;- read.csv("data/weather.csv")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weather$date &lt;- as.Date(weather$date)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stopifnot(all(diff(weather$date) &gt; 0))     # ordered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months &lt;- seq(min(weather$date), by = "month",</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length.out = nrow(weather))</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stopifnot(identical(weather$date, months))  # no gaps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rain &lt;- ts(weather$rain_mm, start = c(2015, 1),</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frequency = 12)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plot(rain, ylab = "Rainfall (mm)")</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SyncAl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frequency</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12 for monthly, 4 for quarterly, 52 for weekly, 1 for annual data.</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Check spacing first</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ts()</a:t>
            </a:r>
            <a:pPr indent="0" marL="0">
              <a:buNone/>
            </a:pPr>
            <a:r>
              <a:rPr lang="en-US" sz="1400" dirty="0">
                <a:solidFill>
                  <a:schemeClr val="tx1"/>
                </a:solidFill>
              </a:rPr>
              <a:t> assumes equal spacing. A missing month silently shifts every later value by one season.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Components of a time series</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ArrowUp">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Trend</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Long-term rise or fall, estimated with a centred moving average. </a:t>
            </a:r>
            <a:pPr indent="0" marL="0">
              <a:buNone/>
            </a:pPr>
            <a:r>
              <a:rPr lang="en-US" sz="1800" dirty="0">
                <a:solidFill>
                  <a:schemeClr val="accent1"/>
                </a:solidFill>
                <a:latin typeface="Courier New" pitchFamily="34" charset="0"/>
                <a:ea typeface="Courier New" pitchFamily="34" charset="-122"/>
                <a:cs typeface="Courier New" pitchFamily="34" charset="-120"/>
              </a:rPr>
              <a:t>TTR::SMA()</a:t>
            </a:r>
            <a:pPr indent="0" marL="0">
              <a:buNone/>
            </a:pPr>
            <a:r>
              <a:rPr lang="en-US" sz="1800" dirty="0">
                <a:solidFill>
                  <a:schemeClr val="accent5"/>
                </a:solidFill>
              </a:rPr>
              <a:t> or </a:t>
            </a:r>
            <a:pPr indent="0" marL="0">
              <a:buNone/>
            </a:pPr>
            <a:r>
              <a:rPr lang="en-US" sz="1800" dirty="0">
                <a:solidFill>
                  <a:schemeClr val="accent1"/>
                </a:solidFill>
                <a:latin typeface="Courier New" pitchFamily="34" charset="0"/>
                <a:ea typeface="Courier New" pitchFamily="34" charset="-122"/>
                <a:cs typeface="Courier New" pitchFamily="34" charset="-120"/>
              </a:rPr>
              <a:t>stats::filter()</a:t>
            </a:r>
            <a:pPr indent="0" marL="0">
              <a:buNone/>
            </a:pPr>
            <a:r>
              <a:rPr lang="en-US" sz="1800" dirty="0">
                <a:solidFill>
                  <a:schemeClr val="accent5"/>
                </a:solidFill>
              </a:rPr>
              <a:t>.</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SyncAlt">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Seasonality</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A pattern that repeats every year, such as monsoon rainfall. </a:t>
            </a:r>
            <a:pPr indent="0" marL="0">
              <a:buNone/>
            </a:pPr>
            <a:r>
              <a:rPr lang="en-US" sz="1800" dirty="0">
                <a:solidFill>
                  <a:schemeClr val="accent1"/>
                </a:solidFill>
                <a:latin typeface="Courier New" pitchFamily="34" charset="0"/>
                <a:ea typeface="Courier New" pitchFamily="34" charset="-122"/>
                <a:cs typeface="Courier New" pitchFamily="34" charset="-120"/>
              </a:rPr>
              <a:t>decompose()</a:t>
            </a:r>
            <a:pPr indent="0" marL="0">
              <a:buNone/>
            </a:pPr>
            <a:r>
              <a:rPr lang="en-US" sz="1800" dirty="0">
                <a:solidFill>
                  <a:schemeClr val="accent5"/>
                </a:solidFill>
              </a:rPr>
              <a:t> estimates it.</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Random">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Irregular</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What remains. Seasonally adjusted series = original − seasonal component.</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12-month centred moving average removes seasonality but uses future values and leaves missing values at both ends.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Smoothing and exponential smoothing</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components &lt;- decompose(rain)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plot(components)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adjusted &lt;- rain - components$seasonal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trailing12 &lt;- stats::filter(rain, rep(1/12, 12),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sides = 1)</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hw &lt;- HoltWinters(rain)   # level, trend, season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hw$alpha; hw$beta; hw$gamma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plot(hw)</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Magic">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Exponential smoothing</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Recent observations get more weight. Holt–Winters adds trend and seasonal terms.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ArrowsAltH">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Trailing vs centred</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sides = 1</a:t>
            </a:r>
            <a:pPr indent="0" marL="0">
              <a:buNone/>
            </a:pPr>
            <a:r>
              <a:rPr lang="en-US" sz="1400" dirty="0">
                <a:solidFill>
                  <a:schemeClr val="tx1"/>
                </a:solidFill>
              </a:rPr>
              <a:t> uses only past months, usable for real-time monitoring.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Forecasting honestly</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ARIMA, baselines and holdout evaluation</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ARIMA against a seasonal naive baseline</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library(forecast)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train &lt;- window(rain, end = c(2022, 12))   # first 8 years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test  &lt;- window(rain, start = c(2023, 1))  # last 2 years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fit &lt;- auto.arima(train, seasonal = TRUE,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stepwise = FALSE, approximation = FALSE)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fc &lt;- forecast(fit, h = length(test))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baseline &lt;- snaive(train, h = length(test))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accuracy(fc, test)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accuracy(baseline, test)</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u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Chronological holdout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Train on the past, test on the future. Never split a time series at random.</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FlagCheckered">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Always a baseline</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Seasonal naive: each month predicted by the same month last year. A model must beat it.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Check residuals and communicate uncertainty</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Stethoscop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Residual checks</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checkresiduals(fit)</a:t>
            </a:r>
            <a:pPr indent="0" marL="0">
              <a:buNone/>
            </a:pPr>
            <a:r>
              <a:rPr lang="en-US" sz="1800" dirty="0">
                <a:solidFill>
                  <a:schemeClr val="accent5"/>
                </a:solidFill>
              </a:rPr>
              <a:t>: residuals should look like noise with no remaining autocorrelation.</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ArrowsAltV">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Prediction intervals</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Report the 80% and 95% intervals, not only the point forecast. They widen with the horizon.</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4"/>
          </a:solidFill>
          <a:ln/>
        </p:spPr>
      </p:sp>
      <p:pic>
        <p:nvPicPr>
          <p:cNvPr id="15" name="Image 2" descr="FaBan">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Scope</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A simulated series cannot support an irrigation or climate decision. Real forecasts need real station data.</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Fitting on all ten years before evaluating the last two is invalid: future information leaks into the model.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10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three-month and twelve-month trailing means. Describe the patterns each suppresses.</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ARIMA and seasonal-naive holdout MAE and RMSE. Write the conclusion the results support, even if the simpler method wins.</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why fitting to all ten years before evaluating the last two is invalid.</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Remove one month from a copy of the data. Show how the date check detects the gap.</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why this simulated series cannot support an actual irrigation or climate forecast.</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3247390"/>
          </a:xfrm>
          <a:prstGeom prst="roundRect">
            <a:avLst>
              <a:gd name="adj" fmla="val 2816"/>
            </a:avLst>
          </a:prstGeom>
          <a:solidFill>
            <a:schemeClr val="tx1"/>
          </a:solidFill>
          <a:ln/>
        </p:spPr>
      </p:sp>
      <p:sp>
        <p:nvSpPr>
          <p:cNvPr id="4" name="Text 2"/>
          <p:cNvSpPr txBox="1"/>
          <p:nvPr/>
        </p:nvSpPr>
        <p:spPr>
          <a:xfrm>
            <a:off x="822960" y="1572768"/>
            <a:ext cx="10515600" cy="284505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set.seed(531)</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month &lt;- 1:60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rain &lt;- ts(100 + 0.3 * month + 30 * sin(2 * pi * month / 12) +</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rnorm(60, 0, 8), start = c(2020, 1), frequency = 12)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smooth &lt;- stats::filter(rain, rep(1/12, 12), sides = 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plot(rain, col = "#386ca2", ylab = "Simulated rain (mm)")</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lines(smooth, col = "#b87521", lwd = 3)</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fit &lt;- arima(rain, order = c(1, 0, 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seasonal = list(order = c(1, 0, 0), period = 12))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predict(fit, n.ahead = 3)</a:t>
            </a:r>
            <a:endParaRPr lang="en-US" sz="1700" dirty="0"/>
          </a:p>
        </p:txBody>
      </p:sp>
      <p:sp>
        <p:nvSpPr>
          <p:cNvPr id="5" name="investigate"/>
          <p:cNvSpPr/>
          <p:nvPr/>
        </p:nvSpPr>
        <p:spPr>
          <a:xfrm>
            <a:off x="548640" y="493903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523163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5425948"/>
            <a:ext cx="388620" cy="388620"/>
          </a:xfrm>
          <a:prstGeom prst="rect">
            <a:avLst/>
          </a:prstGeom>
        </p:spPr>
      </p:pic>
      <p:sp>
        <p:nvSpPr>
          <p:cNvPr id="8" name="Text 5"/>
          <p:cNvSpPr txBox="1"/>
          <p:nvPr/>
        </p:nvSpPr>
        <p:spPr>
          <a:xfrm>
            <a:off x="1828800" y="504875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5414518"/>
            <a:ext cx="9555480" cy="822960"/>
          </a:xfrm>
          <a:prstGeom prst="rect">
            <a:avLst/>
          </a:prstGeom>
          <a:noFill/>
          <a:ln/>
        </p:spPr>
        <p:txBody>
          <a:bodyPr wrap="square" lIns="0" tIns="0" rIns="0" bIns="0" rtlCol="0" anchor="t"/>
          <a:lstStyle/>
          <a:p>
            <a:pPr indent="0" marL="0">
              <a:buNone/>
            </a:pPr>
            <a:r>
              <a:rPr lang="en-US" sz="1500" dirty="0">
                <a:solidFill>
                  <a:schemeClr val="tx1"/>
                </a:solidFill>
              </a:rPr>
              <a:t>The forecast prints predictions and standard errors. This is a model demonstration on simulated rainfall, not an operational forecast. Explain why smoothing produces missing values at the ends.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alendarAlt">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Order is information</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Check dates and spacing before </a:t>
            </a:r>
            <a:pPr indent="0" marL="0">
              <a:buNone/>
            </a:pPr>
            <a:r>
              <a:rPr lang="en-US" sz="1400" dirty="0">
                <a:solidFill>
                  <a:schemeClr val="accent2"/>
                </a:solidFill>
                <a:latin typeface="Courier New" pitchFamily="34" charset="0"/>
                <a:ea typeface="Courier New" pitchFamily="34" charset="-122"/>
                <a:cs typeface="Courier New" pitchFamily="34" charset="-120"/>
              </a:rPr>
              <a:t>ts()</a:t>
            </a:r>
            <a:pPr indent="0" marL="0">
              <a:buNone/>
            </a:pPr>
            <a:r>
              <a:rPr lang="en-US" sz="1400" dirty="0">
                <a:solidFill>
                  <a:schemeClr val="accent6"/>
                </a:solidFill>
              </a:rPr>
              <a:t>.</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WaveSquare">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Separate components</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Trend, seasonality and the irregular remainder.</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Cut">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Holdout by time</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Train on the past, test on the future.</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FlagCheckered">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Beat a baseline</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Report MAE, RMSE and prediction intervals.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11 · Hypothesis tests and confidence intervals</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Agricultural time series and forecasting</dc:title>
  <dc:subject>R Programming for Agricultural Data Analysis · Chapter 10</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