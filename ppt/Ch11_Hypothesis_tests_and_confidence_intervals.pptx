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7d27373-e11f-676e-6946-4d836d019fc1}">
          <p14:sldIdLst>
            <p14:sldId id="256"/>
            <p14:sldId id="257"/>
            <p14:sldId id="258"/>
          </p14:sldIdLst>
        </p14:section>
        <p14:section name="Means: t-tests and intervals" id="{8029bbb5-7e23-4667-6125-a706dc63714a}">
          <p14:sldIdLst>
            <p14:sldId id="259"/>
            <p14:sldId id="260"/>
            <p14:sldId id="261"/>
          </p14:sldIdLst>
        </p14:section>
        <p14:section name="Proportions and counts" id="{a2d74537-cf98-e0a6-3d80-cbe0556ce2f7}">
          <p14:sldIdLst>
            <p14:sldId id="262"/>
            <p14:sldId id="263"/>
            <p14:sldId id="264"/>
            <p14:sldId id="265"/>
            <p14:sldId id="266"/>
            <p14:sldId id="267"/>
            <p14:sldId id="268"/>
            <p14:sldId id="269"/>
          </p14:sldIdLst>
        </p14:section>
        <p14:section name="Review" id="{0f8873ca-95f1-2268-9b0b-6eed69983c89}">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eleven, hypothesis tests and confidence intervals. Description tells us what we observed; inference asks what the observations tell us about a treatment effect or a population. In this chapter we cover t-tests, tests for proportions and Mendelian ratios, contingency tables, rank-based alternatives, and how to choose among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you will translate a question into null and alternative hypotheses, estimate effects with confidence intervals, choose an appropriate test for measurements, proportions and counts, and interpret effect sizes, power and p-values correctly. Valid inference begins with the design: state the contrast, give its size and uncertainty, and interpret the p-value as conditional on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Inference uses a sampling or randomization model to reason beyond the observed data. It starts with the experimental unit, the smallest unit independently assigned a treatment: five leaves measured on each of four plants are not twenty replicates. A p-value is the probability, under the null model and its assumptions, of a test statistic at least as extreme as the one observed. It is not the probability that the null hypothesis is true, nor the probability that the result will replicate. And failing to reject the null is not proof that treatments are equal. Decide your significance level and primary question before you look at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inference about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confidence interval for a mean is the sample mean plus or minus a t critical value times the standard error. With four plot yields, the critical value comes from a t distribution with three degrees of freedom, which is larger than the normal value because we also estimated the variance. The interval runs from about four point zero three to five point two seven tonnes per hectare. It is an interval for the population mean under the sampling assumptions; it is not a range that contains ninety-five percent of individual plot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two independent groups, R's default t-test is Welch's, which allows unequal variances. In PlantGrowth, treatment two minus control is about point four nine, with a ninety-five percent interval from about point zero one to point nine eight and a p-value just under point zero five. The interval shows that both tiny and fairly large differences are compatible with the data. For paired observations, such as the same plots measured before and after, analyse the differences with paired equals TRUE. Assumption checks such as the Shapiro-Wilk test and the F-test for variances supplement plots, but with small samples they have little power, so a non-significant result does not prove the assumption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agricultural outcomes are proportions or counts. Let us see how to test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 test tests a proportion against a standard and gives a confidence interval; binom test gives the exact version. If three hundred and thirty-two of four hundred seeds germinate, the estimate is eighty-three percent with an interval of roughly seventy-nine to eighty-six percent, which includes the standard of eighty percent. Prop test also compares proportions between groups: in the pest data, about sixty-seven percent of control plots were infested compared with twenty-three percent under IPM. These methods assume independent units. Seeds in the same tray are not independent, so when the tray is the unit, analyse tray-level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chi-square goodness-of-fit test compares observed counts with those expected under a ratio. Genetics provides the classic example. Mendel recorded three hundred and fifteen round yellow, one hundred and eight round green, one hundred and one wrinkled yellow and thirty-two wrinkled green pea seeds. Independent assortment predicts nine to three to three to one. The chi-square statistic is about point four seven on three degrees of freedom, with a p-value around point nine three, so the data are consistent with the ratio. The degrees of freedom are the number of categories minus one, every expected count should be at least about five, and consistency is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data are clearly non-normal and a transformation is not suitable, or when measurements are scores or ranks, rank-based tests are an alternative. The Wilcoxon rank-sum test replaces the two-sample t-test, the signed-rank test replaces the paired t-test, and the Kruskal-Wallis test replaces one-way analysis of variance. They replace observations by their ranks, so they are less affected by skewness and outliers, but they still assume independent units, and they do not repair a poor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guide to choosing a test. The choice follows from the question, the type of response and the design, never from which test gives the smallest p-value. Means against a standard use a one-sample t-test. Two treatments use Welch's test. Repeated measurements on the same units use a paired test. Several treatments use the analysis of variance that matches the design, which is the subject of the next two chapters. Proportions use prop test or binom test, comparisons of proportions use chi-square, and counts against a ratio use the goodness-of-fit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Type I error rejects a true null hypothesis, and its probability is controlled by the significance level. A Type II error misses a real effect. Power, the probability of detecting a specified effect, depends on the effect size, the variability, the sample size and the significance level. Use it when planning: to detect a difference of half a tonne per hectare when the standard deviation is point six, with eighty percent power, you need about twenty-four plots per group. And remember, a p-value of point zero eight does not mean there is no effect; report the estimate and its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Practicals eleven and twelve. Interpret the PlantGrowth difference carefully. Compare paired and unpaired analyses of the soil data. Calculate infestation proportions with their units. Estimate a germination rate with a confidence interval. Test an F2 segregation against three to one. And explain why a p-value of point zero eight does not show that there is no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compare six compost plots with six control plots using a Welch t-test. Identify the estimated difference, its confidence interval and the null hypothesis, and remember that a small p-value does not measure how much the treatment matters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the experimental unit defines the replication. Estimate effects with intervals before testing. Match the test to the type of data and the design. And plan sample sizes from the smallest effect that matters. Next we compare several treatments with analysis of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11 · Hypothesis tests and confidence intervals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6  ·  CHAPTER 11</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Hypothesis tests and confidence intervals</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BalanceScale">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Frame a hypothesis</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Null, alternative, test statistic and p-value</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ArrowsAltH">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Estimate with intervals</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Confidence intervals for means and differences</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Flask">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Choose the right test</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t-tests, proportions, chi-square, rank tests</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Bullseye">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Plan and interpret</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Effect size, power and what p does not mean</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Valid inference begins with design. State the contrast, quantify its size and uncertainty, and interpret p conditionally on the model.</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From description to inference</a:t>
            </a:r>
            <a:endParaRPr lang="en-US" sz="3200" dirty="0"/>
          </a:p>
        </p:txBody>
      </p:sp>
      <p:sp>
        <p:nvSpPr>
          <p:cNvPr id="3" name="card"/>
          <p:cNvSpPr/>
          <p:nvPr/>
        </p:nvSpPr>
        <p:spPr>
          <a:xfrm>
            <a:off x="548640" y="1371600"/>
            <a:ext cx="3535680" cy="3351276"/>
          </a:xfrm>
          <a:prstGeom prst="roundRect">
            <a:avLst>
              <a:gd name="adj" fmla="val 3274"/>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Cube">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Experimental unit</a:t>
            </a:r>
            <a:endParaRPr lang="en-US" sz="1700" dirty="0"/>
          </a:p>
        </p:txBody>
      </p:sp>
      <p:sp>
        <p:nvSpPr>
          <p:cNvPr id="7" name="Text 4"/>
          <p:cNvSpPr txBox="1"/>
          <p:nvPr/>
        </p:nvSpPr>
        <p:spPr>
          <a:xfrm>
            <a:off x="777240" y="2871216"/>
            <a:ext cx="3078480" cy="1741932"/>
          </a:xfrm>
          <a:prstGeom prst="rect">
            <a:avLst/>
          </a:prstGeom>
          <a:noFill/>
          <a:ln/>
        </p:spPr>
        <p:txBody>
          <a:bodyPr wrap="square" lIns="0" tIns="0" rIns="0" bIns="0" rtlCol="0" anchor="t"/>
          <a:lstStyle/>
          <a:p>
            <a:pPr indent="0" marL="0">
              <a:buNone/>
            </a:pPr>
            <a:r>
              <a:rPr lang="en-US" sz="1800" dirty="0">
                <a:solidFill>
                  <a:schemeClr val="accent5"/>
                </a:solidFill>
              </a:rPr>
              <a:t>The smallest unit independently assigned a treatment. Five leaves on each of four plants are not 20 replicates.</a:t>
            </a:r>
            <a:endParaRPr lang="en-US" sz="1800" dirty="0"/>
          </a:p>
        </p:txBody>
      </p:sp>
      <p:sp>
        <p:nvSpPr>
          <p:cNvPr id="8" name="card"/>
          <p:cNvSpPr/>
          <p:nvPr/>
        </p:nvSpPr>
        <p:spPr>
          <a:xfrm>
            <a:off x="4312920" y="1371600"/>
            <a:ext cx="3535680" cy="3351276"/>
          </a:xfrm>
          <a:prstGeom prst="roundRect">
            <a:avLst>
              <a:gd name="adj" fmla="val 3274"/>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Percent">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What a p-value is</a:t>
            </a:r>
            <a:endParaRPr lang="en-US" sz="1700" dirty="0"/>
          </a:p>
        </p:txBody>
      </p:sp>
      <p:sp>
        <p:nvSpPr>
          <p:cNvPr id="12" name="Text 8"/>
          <p:cNvSpPr txBox="1"/>
          <p:nvPr/>
        </p:nvSpPr>
        <p:spPr>
          <a:xfrm>
            <a:off x="4541520" y="2871216"/>
            <a:ext cx="3078480" cy="1741932"/>
          </a:xfrm>
          <a:prstGeom prst="rect">
            <a:avLst/>
          </a:prstGeom>
          <a:noFill/>
          <a:ln/>
        </p:spPr>
        <p:txBody>
          <a:bodyPr wrap="square" lIns="0" tIns="0" rIns="0" bIns="0" rtlCol="0" anchor="t"/>
          <a:lstStyle/>
          <a:p>
            <a:pPr indent="0" marL="0">
              <a:buNone/>
            </a:pPr>
            <a:r>
              <a:rPr lang="en-US" sz="1800" dirty="0">
                <a:solidFill>
                  <a:schemeClr val="accent5"/>
                </a:solidFill>
              </a:rPr>
              <a:t>The probability, under the null model, of a statistic at least as extreme as observed.</a:t>
            </a:r>
            <a:endParaRPr lang="en-US" sz="1800" dirty="0"/>
          </a:p>
        </p:txBody>
      </p:sp>
      <p:sp>
        <p:nvSpPr>
          <p:cNvPr id="13" name="card"/>
          <p:cNvSpPr/>
          <p:nvPr/>
        </p:nvSpPr>
        <p:spPr>
          <a:xfrm>
            <a:off x="8077200" y="1371600"/>
            <a:ext cx="3535680" cy="3351276"/>
          </a:xfrm>
          <a:prstGeom prst="roundRect">
            <a:avLst>
              <a:gd name="adj" fmla="val 3274"/>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4"/>
          </a:solidFill>
          <a:ln/>
        </p:spPr>
      </p:sp>
      <p:pic>
        <p:nvPicPr>
          <p:cNvPr id="15" name="Image 2" descr="FaTimesCircle">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What it is not</a:t>
            </a:r>
            <a:endParaRPr lang="en-US" sz="1700" dirty="0"/>
          </a:p>
        </p:txBody>
      </p:sp>
      <p:sp>
        <p:nvSpPr>
          <p:cNvPr id="17" name="Text 12"/>
          <p:cNvSpPr txBox="1"/>
          <p:nvPr/>
        </p:nvSpPr>
        <p:spPr>
          <a:xfrm>
            <a:off x="8305800" y="2871216"/>
            <a:ext cx="3078480" cy="1741932"/>
          </a:xfrm>
          <a:prstGeom prst="rect">
            <a:avLst/>
          </a:prstGeom>
          <a:noFill/>
          <a:ln/>
        </p:spPr>
        <p:txBody>
          <a:bodyPr wrap="square" lIns="0" tIns="0" rIns="0" bIns="0" rtlCol="0" anchor="t"/>
          <a:lstStyle/>
          <a:p>
            <a:pPr indent="0" marL="0">
              <a:buNone/>
            </a:pPr>
            <a:r>
              <a:rPr lang="en-US" sz="1800" dirty="0">
                <a:solidFill>
                  <a:schemeClr val="accent5"/>
                </a:solidFill>
              </a:rPr>
              <a:t>Not the probability that H₀ is true, nor that the result will replicate. Failing to reject is not proof of equality.</a:t>
            </a:r>
            <a:endParaRPr lang="en-US" sz="1800" dirty="0"/>
          </a:p>
        </p:txBody>
      </p:sp>
      <p:sp>
        <p:nvSpPr>
          <p:cNvPr id="18" name="key idea"/>
          <p:cNvSpPr/>
          <p:nvPr/>
        </p:nvSpPr>
        <p:spPr>
          <a:xfrm>
            <a:off x="548640" y="499719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99719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Choose the significance level and the primary question before looking at the outcomes.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Means: t-tests and intervals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One sample, two samples and pairs</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Confidence interval for a mean</a:t>
            </a:r>
            <a:endParaRPr lang="en-US" sz="3200" dirty="0"/>
          </a:p>
        </p:txBody>
      </p:sp>
      <p:sp>
        <p:nvSpPr>
          <p:cNvPr id="3" name="Text 1"/>
          <p:cNvSpPr txBox="1"/>
          <p:nvPr/>
        </p:nvSpPr>
        <p:spPr>
          <a:xfrm>
            <a:off x="548640" y="1325880"/>
            <a:ext cx="11064240" cy="457200"/>
          </a:xfrm>
          <a:prstGeom prst="rect">
            <a:avLst/>
          </a:prstGeom>
          <a:noFill/>
          <a:ln/>
        </p:spPr>
        <p:txBody>
          <a:bodyPr wrap="square" lIns="0" tIns="0" rIns="0" bIns="0" rtlCol="0" anchor="t"/>
          <a:lstStyle/>
          <a:p>
            <a:pPr indent="0" marL="0">
              <a:buNone/>
            </a:pPr>
            <a:r>
              <a:rPr lang="en-US" sz="1700" dirty="0">
                <a:solidFill>
                  <a:schemeClr val="tx2"/>
                </a:solidFill>
              </a:rPr>
              <a:t>Four plot yields: 4.2, 4.8, 5.1 and 4.5 t/ha</a:t>
            </a:r>
            <a:endParaRPr lang="en-US" sz="1700" dirty="0"/>
          </a:p>
        </p:txBody>
      </p:sp>
      <p:sp>
        <p:nvSpPr>
          <p:cNvPr id="4" name="code panel"/>
          <p:cNvSpPr/>
          <p:nvPr/>
        </p:nvSpPr>
        <p:spPr>
          <a:xfrm>
            <a:off x="548640" y="1874520"/>
            <a:ext cx="6766560" cy="4160520"/>
          </a:xfrm>
          <a:prstGeom prst="roundRect">
            <a:avLst>
              <a:gd name="adj" fmla="val 2198"/>
            </a:avLst>
          </a:prstGeom>
          <a:solidFill>
            <a:schemeClr val="tx1"/>
          </a:solidFill>
          <a:ln/>
        </p:spPr>
      </p:sp>
      <p:sp>
        <p:nvSpPr>
          <p:cNvPr id="5" name="Text 3"/>
          <p:cNvSpPr txBox="1"/>
          <p:nvPr/>
        </p:nvSpPr>
        <p:spPr>
          <a:xfrm>
            <a:off x="822960" y="2075688"/>
            <a:ext cx="6217920" cy="375818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 &lt;- c(4.2, 4.8, 5.1, 4.5)</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se &lt;- sd(y) / sqrt(length(y))</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critical &lt;- qt(0.975, df = length(y) - 1)</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c(lower = mean(y) - critical * se,</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upper = mean(y) + critical * se)</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t.test(y)$conf.int</a:t>
            </a:r>
            <a:endParaRPr lang="en-US" sz="1500" dirty="0"/>
          </a:p>
        </p:txBody>
      </p:sp>
      <p:sp>
        <p:nvSpPr>
          <p:cNvPr id="6" name="stat"/>
          <p:cNvSpPr/>
          <p:nvPr/>
        </p:nvSpPr>
        <p:spPr>
          <a:xfrm>
            <a:off x="7543800" y="1874520"/>
            <a:ext cx="4069080" cy="1965960"/>
          </a:xfrm>
          <a:prstGeom prst="roundRect">
            <a:avLst>
              <a:gd name="adj" fmla="val 5581"/>
            </a:avLst>
          </a:prstGeom>
          <a:solidFill>
            <a:schemeClr val="tx2"/>
          </a:solidFill>
          <a:ln/>
          <a:effectLst>
            <a:outerShdw sx="100000" sy="100000" kx="0" ky="0" algn="bl" rotWithShape="0" blurRad="76200" dist="25400" dir="5400000">
              <a:srgbClr val="8A97AB">
                <a:alpha val="25000"/>
              </a:srgbClr>
            </a:outerShdw>
          </a:effectLst>
        </p:spPr>
      </p:sp>
      <p:sp>
        <p:nvSpPr>
          <p:cNvPr id="7" name="Text 5"/>
          <p:cNvSpPr txBox="1"/>
          <p:nvPr/>
        </p:nvSpPr>
        <p:spPr>
          <a:xfrm>
            <a:off x="7543800" y="1965960"/>
            <a:ext cx="4069080" cy="1179576"/>
          </a:xfrm>
          <a:prstGeom prst="rect">
            <a:avLst/>
          </a:prstGeom>
          <a:noFill/>
          <a:ln/>
        </p:spPr>
        <p:txBody>
          <a:bodyPr wrap="square" lIns="0" tIns="0" rIns="0" bIns="0" rtlCol="0" anchor="ctr"/>
          <a:lstStyle/>
          <a:p>
            <a:pPr algn="ctr" indent="0" marL="0">
              <a:buNone/>
            </a:pPr>
            <a:r>
              <a:rPr lang="en-US" sz="3800" b="1" dirty="0">
                <a:solidFill>
                  <a:schemeClr val="accent2"/>
                </a:solidFill>
                <a:latin typeface="Cambria" pitchFamily="34" charset="0"/>
                <a:ea typeface="Cambria" pitchFamily="34" charset="-122"/>
                <a:cs typeface="Cambria" pitchFamily="34" charset="-120"/>
              </a:rPr>
              <a:t>4.03–5.27</a:t>
            </a:r>
            <a:endParaRPr lang="en-US" sz="3800" dirty="0"/>
          </a:p>
        </p:txBody>
      </p:sp>
      <p:sp>
        <p:nvSpPr>
          <p:cNvPr id="8" name="Text 6"/>
          <p:cNvSpPr txBox="1"/>
          <p:nvPr/>
        </p:nvSpPr>
        <p:spPr>
          <a:xfrm>
            <a:off x="7726680" y="3093415"/>
            <a:ext cx="3703320" cy="648767"/>
          </a:xfrm>
          <a:prstGeom prst="rect">
            <a:avLst/>
          </a:prstGeom>
          <a:noFill/>
          <a:ln/>
        </p:spPr>
        <p:txBody>
          <a:bodyPr wrap="square" lIns="0" tIns="0" rIns="0" bIns="0" rtlCol="0" anchor="t"/>
          <a:lstStyle/>
          <a:p>
            <a:pPr algn="ctr" indent="0" marL="0">
              <a:buNone/>
            </a:pPr>
            <a:r>
              <a:rPr lang="en-US" sz="1500" dirty="0">
                <a:solidFill>
                  <a:schemeClr val="bg1"/>
                </a:solidFill>
              </a:rPr>
              <a:t>95% CI for the mean yield (t/ha)</a:t>
            </a:r>
            <a:endParaRPr lang="en-US" sz="1500" dirty="0"/>
          </a:p>
        </p:txBody>
      </p:sp>
      <p:sp>
        <p:nvSpPr>
          <p:cNvPr id="9" name="note"/>
          <p:cNvSpPr/>
          <p:nvPr/>
        </p:nvSpPr>
        <p:spPr>
          <a:xfrm>
            <a:off x="7543800" y="4069080"/>
            <a:ext cx="4069080" cy="1965960"/>
          </a:xfrm>
          <a:prstGeom prst="roundRect">
            <a:avLst>
              <a:gd name="adj" fmla="val 5581"/>
            </a:avLst>
          </a:prstGeom>
          <a:solidFill>
            <a:schemeClr val="bg2"/>
          </a:solidFill>
          <a:ln/>
          <a:effectLst>
            <a:outerShdw sx="100000" sy="100000" kx="0" ky="0" algn="bl" rotWithShape="0" blurRad="76200" dist="25400" dir="5400000">
              <a:srgbClr val="8A97AB">
                <a:alpha val="25000"/>
              </a:srgbClr>
            </a:outerShdw>
          </a:effectLst>
        </p:spPr>
      </p:sp>
      <p:sp>
        <p:nvSpPr>
          <p:cNvPr id="10" name="Text 8"/>
          <p:cNvSpPr txBox="1"/>
          <p:nvPr/>
        </p:nvSpPr>
        <p:spPr>
          <a:xfrm>
            <a:off x="7772400" y="4251960"/>
            <a:ext cx="3657600" cy="548640"/>
          </a:xfrm>
          <a:prstGeom prst="rect">
            <a:avLst/>
          </a:prstGeom>
          <a:noFill/>
          <a:ln/>
        </p:spPr>
        <p:txBody>
          <a:bodyPr wrap="square" lIns="0" tIns="0" rIns="0" bIns="0" rtlCol="0" anchor="ctr"/>
          <a:lstStyle/>
          <a:p>
            <a:pPr indent="0" marL="0">
              <a:buNone/>
            </a:pPr>
            <a:r>
              <a:rPr lang="en-US" sz="1600" b="1" dirty="0">
                <a:solidFill>
                  <a:schemeClr val="tx2"/>
                </a:solidFill>
              </a:rPr>
              <a:t>Interpretation</a:t>
            </a:r>
            <a:endParaRPr lang="en-US" sz="1600" dirty="0"/>
          </a:p>
        </p:txBody>
      </p:sp>
      <p:sp>
        <p:nvSpPr>
          <p:cNvPr id="11" name="Text 9"/>
          <p:cNvSpPr txBox="1"/>
          <p:nvPr/>
        </p:nvSpPr>
        <p:spPr>
          <a:xfrm>
            <a:off x="7772400" y="4892040"/>
            <a:ext cx="3611880" cy="1051560"/>
          </a:xfrm>
          <a:prstGeom prst="rect">
            <a:avLst/>
          </a:prstGeom>
          <a:noFill/>
          <a:ln/>
        </p:spPr>
        <p:txBody>
          <a:bodyPr wrap="square" lIns="0" tIns="0" rIns="0" bIns="0" rtlCol="0" anchor="t"/>
          <a:lstStyle/>
          <a:p>
            <a:pPr indent="0" marL="0">
              <a:buNone/>
            </a:pPr>
            <a:r>
              <a:rPr lang="en-US" sz="1400" dirty="0">
                <a:solidFill>
                  <a:schemeClr val="tx1"/>
                </a:solidFill>
              </a:rPr>
              <a:t>An interval for the </a:t>
            </a:r>
            <a:pPr indent="0" marL="0">
              <a:buNone/>
            </a:pPr>
            <a:r>
              <a:rPr lang="en-US" sz="1400" b="1" dirty="0">
                <a:solidFill>
                  <a:schemeClr val="tx1"/>
                </a:solidFill>
              </a:rPr>
              <a:t>population mean</a:t>
            </a:r>
            <a:pPr indent="0" marL="0">
              <a:buNone/>
            </a:pPr>
            <a:r>
              <a:rPr lang="en-US" sz="1400" dirty="0">
                <a:solidFill>
                  <a:schemeClr val="tx1"/>
                </a:solidFill>
              </a:rPr>
              <a:t> under the sampling assumptions, not a range containing 95% of plot yields.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Two independent groups and paired observations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control &lt;- subset(PlantGrowth, group == "ctrl")$weight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treated &lt;- subset(PlantGrowth, group == "trt2")$weight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t.test(treated, control)            # Welch, R's default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paired &lt;- read.csv("data/paired_soil.csv")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t.test(paired$after_mg_kg, paired$before_mg_kg,</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paired = TRUE)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shapiro.test(paired$after_mg_kg - paired$before_mg_kg)</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var.test(treated, control)</a:t>
            </a:r>
            <a:endParaRPr lang="en-US" sz="14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Columns">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Welch t-test</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trt2 − ctrl = 0.49, 95% CI 0.01 to 0.98, p = 0.048. Allows unequal variances; not unequal dependence.</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Link">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Paired test</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Same plots before and after: analyse the differences. Without an untreated control, time effects are mixed in.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B</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Proportions and counts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Germination, Mendelian ratios and pest tables</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Tests for proportions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accent2"/>
                </a:solidFill>
                <a:latin typeface="Courier New" pitchFamily="34" charset="0"/>
                <a:ea typeface="Courier New" pitchFamily="34" charset="-122"/>
                <a:cs typeface="Courier New" pitchFamily="34" charset="-120"/>
              </a:rPr>
              <a:t># 332 of 400 seeds germinated; standard 80%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prop.test(x = 332, n = 400, p = 0.80)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binom.test(x = 332, n = 400, p = 0.80)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accent2"/>
                </a:solidFill>
                <a:latin typeface="Courier New" pitchFamily="34" charset="0"/>
                <a:ea typeface="Courier New" pitchFamily="34" charset="-122"/>
                <a:cs typeface="Courier New" pitchFamily="34" charset="-120"/>
              </a:rPr>
              <a:t># Infestation in two pest-management treatments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pest &lt;- read.csv("data/pest.csv")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tab &lt;- with(pest, table(treatment, infested))</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proportions(tab, margin = 1)</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prop.test(tab[, "Yes"], rowSums(tab), correct = FALSE)</a:t>
            </a:r>
            <a:endParaRPr lang="en-US" sz="1400" dirty="0"/>
          </a:p>
        </p:txBody>
      </p:sp>
      <p:sp>
        <p:nvSpPr>
          <p:cNvPr id="5" name="stat"/>
          <p:cNvSpPr/>
          <p:nvPr/>
        </p:nvSpPr>
        <p:spPr>
          <a:xfrm>
            <a:off x="7543800" y="1325880"/>
            <a:ext cx="4069080" cy="2240280"/>
          </a:xfrm>
          <a:prstGeom prst="roundRect">
            <a:avLst>
              <a:gd name="adj" fmla="val 4898"/>
            </a:avLst>
          </a:prstGeom>
          <a:solidFill>
            <a:schemeClr val="tx2"/>
          </a:solidFill>
          <a:ln/>
          <a:effectLst>
            <a:outerShdw sx="100000" sy="100000" kx="0" ky="0" algn="bl" rotWithShape="0" blurRad="76200" dist="25400" dir="5400000">
              <a:srgbClr val="8A97AB">
                <a:alpha val="25000"/>
              </a:srgbClr>
            </a:outerShdw>
          </a:effectLst>
        </p:spPr>
      </p:sp>
      <p:sp>
        <p:nvSpPr>
          <p:cNvPr id="6" name="Text 4"/>
          <p:cNvSpPr txBox="1"/>
          <p:nvPr/>
        </p:nvSpPr>
        <p:spPr>
          <a:xfrm>
            <a:off x="7543800" y="1417320"/>
            <a:ext cx="4069080" cy="1344168"/>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83%</a:t>
            </a:r>
            <a:endParaRPr lang="en-US" sz="5400" dirty="0"/>
          </a:p>
        </p:txBody>
      </p:sp>
      <p:sp>
        <p:nvSpPr>
          <p:cNvPr id="7" name="Text 5"/>
          <p:cNvSpPr txBox="1"/>
          <p:nvPr/>
        </p:nvSpPr>
        <p:spPr>
          <a:xfrm>
            <a:off x="7726680" y="2714854"/>
            <a:ext cx="3703320" cy="739292"/>
          </a:xfrm>
          <a:prstGeom prst="rect">
            <a:avLst/>
          </a:prstGeom>
          <a:noFill/>
          <a:ln/>
        </p:spPr>
        <p:txBody>
          <a:bodyPr wrap="square" lIns="0" tIns="0" rIns="0" bIns="0" rtlCol="0" anchor="t"/>
          <a:lstStyle/>
          <a:p>
            <a:pPr algn="ctr" indent="0" marL="0">
              <a:buNone/>
            </a:pPr>
            <a:r>
              <a:rPr lang="en-US" sz="1500" dirty="0">
                <a:solidFill>
                  <a:schemeClr val="bg1"/>
                </a:solidFill>
              </a:rPr>
              <a:t>germination; 95% CI ≈ 79% to 86%, consistent with the 80% standard</a:t>
            </a:r>
            <a:endParaRPr lang="en-US" sz="1500" dirty="0"/>
          </a:p>
        </p:txBody>
      </p:sp>
      <p:sp>
        <p:nvSpPr>
          <p:cNvPr id="8"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9" name="Text 7"/>
          <p:cNvSpPr txBox="1"/>
          <p:nvPr/>
        </p:nvSpPr>
        <p:spPr>
          <a:xfrm>
            <a:off x="7772400" y="3977640"/>
            <a:ext cx="3657600" cy="548640"/>
          </a:xfrm>
          <a:prstGeom prst="rect">
            <a:avLst/>
          </a:prstGeom>
          <a:noFill/>
          <a:ln/>
        </p:spPr>
        <p:txBody>
          <a:bodyPr wrap="square" lIns="0" tIns="0" rIns="0" bIns="0" rtlCol="0" anchor="ctr"/>
          <a:lstStyle/>
          <a:p>
            <a:pPr indent="0" marL="0">
              <a:buNone/>
            </a:pPr>
            <a:r>
              <a:rPr lang="en-US" sz="1600" b="1" dirty="0">
                <a:solidFill>
                  <a:schemeClr val="tx2"/>
                </a:solidFill>
              </a:rPr>
              <a:t>Infestation</a:t>
            </a:r>
            <a:endParaRPr lang="en-US" sz="1600" dirty="0"/>
          </a:p>
        </p:txBody>
      </p:sp>
      <p:sp>
        <p:nvSpPr>
          <p:cNvPr id="10" name="Text 8"/>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Control 67% of plots vs IPM 23%. Units must be independent plots, not seeds in one tray.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Goodness of fit: Mendel's 9:3:3:1</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seeds &lt;- c(round_yellow = 315, round_green = 108,</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wrinkled_yellow = 101, wrinkled_green = 32)</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fit_ratio &lt;- chisq.test(seeds, p = c(9, 3, 3, 1) / 16)</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fit_ratio</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round(fit_ratio$expected, 1)</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chisq.test(c(tall = 787, dwarf = 277), p = c(3, 1) / 4)</a:t>
            </a:r>
            <a:endParaRPr lang="en-US" sz="1400" dirty="0"/>
          </a:p>
        </p:txBody>
      </p:sp>
      <p:sp>
        <p:nvSpPr>
          <p:cNvPr id="5" name="stat"/>
          <p:cNvSpPr/>
          <p:nvPr/>
        </p:nvSpPr>
        <p:spPr>
          <a:xfrm>
            <a:off x="7543800" y="1325880"/>
            <a:ext cx="4069080" cy="2240280"/>
          </a:xfrm>
          <a:prstGeom prst="roundRect">
            <a:avLst>
              <a:gd name="adj" fmla="val 4898"/>
            </a:avLst>
          </a:prstGeom>
          <a:solidFill>
            <a:schemeClr val="tx2"/>
          </a:solidFill>
          <a:ln/>
          <a:effectLst>
            <a:outerShdw sx="100000" sy="100000" kx="0" ky="0" algn="bl" rotWithShape="0" blurRad="76200" dist="25400" dir="5400000">
              <a:srgbClr val="8A97AB">
                <a:alpha val="25000"/>
              </a:srgbClr>
            </a:outerShdw>
          </a:effectLst>
        </p:spPr>
      </p:sp>
      <p:sp>
        <p:nvSpPr>
          <p:cNvPr id="6" name="Text 4"/>
          <p:cNvSpPr txBox="1"/>
          <p:nvPr/>
        </p:nvSpPr>
        <p:spPr>
          <a:xfrm>
            <a:off x="7543800" y="1417320"/>
            <a:ext cx="4069080" cy="1344168"/>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χ² = 0.47</a:t>
            </a:r>
            <a:endParaRPr lang="en-US" sz="4000" dirty="0"/>
          </a:p>
        </p:txBody>
      </p:sp>
      <p:sp>
        <p:nvSpPr>
          <p:cNvPr id="7" name="Text 5"/>
          <p:cNvSpPr txBox="1"/>
          <p:nvPr/>
        </p:nvSpPr>
        <p:spPr>
          <a:xfrm>
            <a:off x="7726680" y="2714854"/>
            <a:ext cx="3703320" cy="739292"/>
          </a:xfrm>
          <a:prstGeom prst="rect">
            <a:avLst/>
          </a:prstGeom>
          <a:noFill/>
          <a:ln/>
        </p:spPr>
        <p:txBody>
          <a:bodyPr wrap="square" lIns="0" tIns="0" rIns="0" bIns="0" rtlCol="0" anchor="t"/>
          <a:lstStyle/>
          <a:p>
            <a:pPr algn="ctr" indent="0" marL="0">
              <a:buNone/>
            </a:pPr>
            <a:r>
              <a:rPr lang="en-US" sz="1500" dirty="0">
                <a:solidFill>
                  <a:schemeClr val="bg1"/>
                </a:solidFill>
              </a:rPr>
              <a:t>3 df, p = 0.93: consistent with 9:3:3:1</a:t>
            </a:r>
            <a:endParaRPr lang="en-US" sz="1500" dirty="0"/>
          </a:p>
        </p:txBody>
      </p:sp>
      <p:sp>
        <p:nvSpPr>
          <p:cNvPr id="8"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9" name="Text 7"/>
          <p:cNvSpPr txBox="1"/>
          <p:nvPr/>
        </p:nvSpPr>
        <p:spPr>
          <a:xfrm>
            <a:off x="7772400" y="3977640"/>
            <a:ext cx="3657600" cy="548640"/>
          </a:xfrm>
          <a:prstGeom prst="rect">
            <a:avLst/>
          </a:prstGeom>
          <a:noFill/>
          <a:ln/>
        </p:spPr>
        <p:txBody>
          <a:bodyPr wrap="square" lIns="0" tIns="0" rIns="0" bIns="0" rtlCol="0" anchor="ctr"/>
          <a:lstStyle/>
          <a:p>
            <a:pPr indent="0" marL="0">
              <a:buNone/>
            </a:pPr>
            <a:r>
              <a:rPr lang="en-US" sz="1600" b="1" dirty="0">
                <a:solidFill>
                  <a:schemeClr val="tx2"/>
                </a:solidFill>
              </a:rPr>
              <a:t>Rules</a:t>
            </a:r>
            <a:endParaRPr lang="en-US" sz="1600" dirty="0"/>
          </a:p>
        </p:txBody>
      </p:sp>
      <p:sp>
        <p:nvSpPr>
          <p:cNvPr id="10" name="Text 8"/>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df = categories − 1. Expected counts of at least about 5. Consistency is not proof of the ratio.</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When assumptions fail: rank-based tests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3291840"/>
                <a:gridCol w="4480560"/>
              </a:tblGrid>
              <a:tr h="822960">
                <a:tc>
                  <a:txBody>
                    <a:bodyPr/>
                    <a:lstStyle/>
                    <a:p>
                      <a:pPr indent="0" marL="0">
                        <a:buNone/>
                      </a:pPr>
                      <a:r>
                        <a:rPr lang="en-US" sz="1500" b="1" dirty="0">
                          <a:solidFill>
                            <a:schemeClr val="bg1"/>
                          </a:solidFill>
                        </a:rPr>
                        <a:t>Design</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Parametric test</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Rank-based alternative</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r>
              <a:tr h="822960">
                <a:tc>
                  <a:txBody>
                    <a:bodyPr/>
                    <a:lstStyle/>
                    <a:p>
                      <a:pPr indent="0" marL="0">
                        <a:buNone/>
                      </a:pPr>
                      <a:r>
                        <a:rPr lang="en-US" sz="1400" b="1" dirty="0">
                          <a:solidFill>
                            <a:schemeClr val="tx2"/>
                          </a:solidFill>
                        </a:rPr>
                        <a:t>Two independent groups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t.test()</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wilcox.test()  (rank-sum, Mann–Whitney)</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822960">
                <a:tc>
                  <a:txBody>
                    <a:bodyPr/>
                    <a:lstStyle/>
                    <a:p>
                      <a:pPr indent="0" marL="0">
                        <a:buNone/>
                      </a:pPr>
                      <a:r>
                        <a:rPr lang="en-US" sz="1400" b="1" dirty="0">
                          <a:solidFill>
                            <a:schemeClr val="tx2"/>
                          </a:solidFill>
                        </a:rPr>
                        <a:t>Paired observations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t.test(paired = TRUE)</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wilcox.test(paired = TRUE)  (signed-rank)</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822960">
                <a:tc>
                  <a:txBody>
                    <a:bodyPr/>
                    <a:lstStyle/>
                    <a:p>
                      <a:pPr indent="0" marL="0">
                        <a:buNone/>
                      </a:pPr>
                      <a:r>
                        <a:rPr lang="en-US" sz="1400" b="1" dirty="0">
                          <a:solidFill>
                            <a:schemeClr val="tx2"/>
                          </a:solidFill>
                        </a:rPr>
                        <a:t>Three or more groups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one-way ANOVA</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kruskal.test()  (Kruskal–Wallis)</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bl>
          </a:graphicData>
        </a:graphic>
      </p:graphicFrame>
      <p:sp>
        <p:nvSpPr>
          <p:cNvPr id="4" name="key idea"/>
          <p:cNvSpPr/>
          <p:nvPr/>
        </p:nvSpPr>
        <p:spPr>
          <a:xfrm>
            <a:off x="548640" y="5486400"/>
            <a:ext cx="11064240" cy="640080"/>
          </a:xfrm>
          <a:prstGeom prst="roundRect">
            <a:avLst>
              <a:gd name="adj" fmla="val 17143"/>
            </a:avLst>
          </a:prstGeom>
          <a:solidFill>
            <a:schemeClr val="accent6"/>
          </a:solidFill>
          <a:ln/>
          <a:effectLst>
            <a:outerShdw sx="100000" sy="100000" kx="0" ky="0" algn="bl" rotWithShape="0" blurRad="76200" dist="25400" dir="5400000">
              <a:srgbClr val="8A97AB">
                <a:alpha val="25000"/>
              </a:srgbClr>
            </a:outerShdw>
          </a:effectLst>
        </p:spPr>
      </p:sp>
      <p:sp>
        <p:nvSpPr>
          <p:cNvPr id="5" name="Text 2"/>
          <p:cNvSpPr txBox="1"/>
          <p:nvPr/>
        </p:nvSpPr>
        <p:spPr>
          <a:xfrm>
            <a:off x="822960" y="5486400"/>
            <a:ext cx="10515600" cy="64008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Rank tests resist skewness and outliers, but they still assume independent units. They are not a remedy for poor design.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Choosing a test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206240"/>
                <a:gridCol w="2377440"/>
                <a:gridCol w="4480560"/>
              </a:tblGrid>
              <a:tr h="560070">
                <a:tc>
                  <a:txBody>
                    <a:bodyPr/>
                    <a:lstStyle/>
                    <a:p>
                      <a:pPr indent="0" marL="0">
                        <a:buNone/>
                      </a:pPr>
                      <a:r>
                        <a:rPr lang="en-US" sz="1500" b="1" dirty="0">
                          <a:solidFill>
                            <a:schemeClr val="bg1"/>
                          </a:solidFill>
                        </a:rPr>
                        <a:t>Question</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Response</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Method</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r>
              <a:tr h="560070">
                <a:tc>
                  <a:txBody>
                    <a:bodyPr/>
                    <a:lstStyle/>
                    <a:p>
                      <a:pPr indent="0" marL="0">
                        <a:buNone/>
                      </a:pPr>
                      <a:r>
                        <a:rPr lang="en-US" sz="1400" b="1" dirty="0">
                          <a:solidFill>
                            <a:schemeClr val="tx2"/>
                          </a:solidFill>
                        </a:rPr>
                        <a:t>Does a mean differ from a standard?</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Measurement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One-sample t-test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560070">
                <a:tc>
                  <a:txBody>
                    <a:bodyPr/>
                    <a:lstStyle/>
                    <a:p>
                      <a:pPr indent="0" marL="0">
                        <a:buNone/>
                      </a:pPr>
                      <a:r>
                        <a:rPr lang="en-US" sz="1400" b="1" dirty="0">
                          <a:solidFill>
                            <a:schemeClr val="tx2"/>
                          </a:solidFill>
                        </a:rPr>
                        <a:t>Do two treatments differ?</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Measurement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Welch t-test; rank-sum if strongly non-normal</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560070">
                <a:tc>
                  <a:txBody>
                    <a:bodyPr/>
                    <a:lstStyle/>
                    <a:p>
                      <a:pPr indent="0" marL="0">
                        <a:buNone/>
                      </a:pPr>
                      <a:r>
                        <a:rPr lang="en-US" sz="1400" b="1" dirty="0">
                          <a:solidFill>
                            <a:schemeClr val="tx2"/>
                          </a:solidFill>
                        </a:rPr>
                        <a:t>Did a variable change on the same units?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Measurement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Paired t-test; signed-rank test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560070">
                <a:tc>
                  <a:txBody>
                    <a:bodyPr/>
                    <a:lstStyle/>
                    <a:p>
                      <a:pPr indent="0" marL="0">
                        <a:buNone/>
                      </a:pPr>
                      <a:r>
                        <a:rPr lang="en-US" sz="1400" b="1" dirty="0">
                          <a:solidFill>
                            <a:schemeClr val="tx2"/>
                          </a:solidFill>
                        </a:rPr>
                        <a:t>Do several treatments differ?</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Measurement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ANOVA matching the design (Chapters 12–13)</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560070">
                <a:tc>
                  <a:txBody>
                    <a:bodyPr/>
                    <a:lstStyle/>
                    <a:p>
                      <a:pPr indent="0" marL="0">
                        <a:buNone/>
                      </a:pPr>
                      <a:r>
                        <a:rPr lang="en-US" sz="1400" b="1" dirty="0">
                          <a:solidFill>
                            <a:schemeClr val="tx2"/>
                          </a:solidFill>
                        </a:rPr>
                        <a:t>Does a proportion differ from a standard?</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Yes / No</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prop.test() or binom.test()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560070">
                <a:tc>
                  <a:txBody>
                    <a:bodyPr/>
                    <a:lstStyle/>
                    <a:p>
                      <a:pPr indent="0" marL="0">
                        <a:buNone/>
                      </a:pPr>
                      <a:r>
                        <a:rPr lang="en-US" sz="1400" b="1" dirty="0">
                          <a:solidFill>
                            <a:schemeClr val="tx2"/>
                          </a:solidFill>
                        </a:rPr>
                        <a:t>Do proportions differ between groups?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 / No</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Chi-square or prop.test()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560070">
                <a:tc>
                  <a:txBody>
                    <a:bodyPr/>
                    <a:lstStyle/>
                    <a:p>
                      <a:pPr indent="0" marL="0">
                        <a:buNone/>
                      </a:pPr>
                      <a:r>
                        <a:rPr lang="en-US" sz="1400" b="1" dirty="0">
                          <a:solidFill>
                            <a:schemeClr val="tx2"/>
                          </a:solidFill>
                        </a:rPr>
                        <a:t>Do counts follow a ratio?</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Category counts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Chi-square goodness of fit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Errors, power and planning</a:t>
            </a:r>
            <a:endParaRPr lang="en-US" sz="3200" dirty="0"/>
          </a:p>
        </p:txBody>
      </p:sp>
      <p:sp>
        <p:nvSpPr>
          <p:cNvPr id="3" name="card"/>
          <p:cNvSpPr/>
          <p:nvPr/>
        </p:nvSpPr>
        <p:spPr>
          <a:xfrm>
            <a:off x="54864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4"/>
          </a:solidFill>
          <a:ln/>
        </p:spPr>
      </p:sp>
      <p:pic>
        <p:nvPicPr>
          <p:cNvPr id="5" name="Image 0" descr="FaExclamationCircle">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Type I error</a:t>
            </a:r>
            <a:endParaRPr lang="en-US" sz="1700" dirty="0"/>
          </a:p>
        </p:txBody>
      </p:sp>
      <p:sp>
        <p:nvSpPr>
          <p:cNvPr id="7" name="Text 4"/>
          <p:cNvSpPr txBox="1"/>
          <p:nvPr/>
        </p:nvSpPr>
        <p:spPr>
          <a:xfrm>
            <a:off x="77724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Rejecting a true null. Controlled by the significance level α.</a:t>
            </a:r>
            <a:endParaRPr lang="en-US" sz="1800" dirty="0"/>
          </a:p>
        </p:txBody>
      </p:sp>
      <p:sp>
        <p:nvSpPr>
          <p:cNvPr id="8" name="card"/>
          <p:cNvSpPr/>
          <p:nvPr/>
        </p:nvSpPr>
        <p:spPr>
          <a:xfrm>
            <a:off x="431292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EyeSlash">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Type II error</a:t>
            </a:r>
            <a:endParaRPr lang="en-US" sz="1700" dirty="0"/>
          </a:p>
        </p:txBody>
      </p:sp>
      <p:sp>
        <p:nvSpPr>
          <p:cNvPr id="12" name="Text 8"/>
          <p:cNvSpPr txBox="1"/>
          <p:nvPr/>
        </p:nvSpPr>
        <p:spPr>
          <a:xfrm>
            <a:off x="454152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Missing a real effect. Power = 1 − P(Type II); depends on effect size, variation, n and α.</a:t>
            </a:r>
            <a:endParaRPr lang="en-US" sz="1800" dirty="0"/>
          </a:p>
        </p:txBody>
      </p:sp>
      <p:sp>
        <p:nvSpPr>
          <p:cNvPr id="13" name="card"/>
          <p:cNvSpPr/>
          <p:nvPr/>
        </p:nvSpPr>
        <p:spPr>
          <a:xfrm>
            <a:off x="807720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1"/>
          </a:solidFill>
          <a:ln/>
        </p:spPr>
      </p:sp>
      <p:pic>
        <p:nvPicPr>
          <p:cNvPr id="15" name="Image 2" descr="FaCalculator">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Plan the sample size</a:t>
            </a:r>
            <a:endParaRPr lang="en-US" sz="1700" dirty="0"/>
          </a:p>
        </p:txBody>
      </p:sp>
      <p:sp>
        <p:nvSpPr>
          <p:cNvPr id="17" name="Text 12"/>
          <p:cNvSpPr txBox="1"/>
          <p:nvPr/>
        </p:nvSpPr>
        <p:spPr>
          <a:xfrm>
            <a:off x="8305800" y="2871216"/>
            <a:ext cx="3078480" cy="144475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power.t.test(delta = 0.5, sd = 0.6, power = 0.8)</a:t>
            </a:r>
            <a:pPr indent="0" marL="0">
              <a:buNone/>
            </a:pPr>
            <a:r>
              <a:rPr lang="en-US" sz="1800" dirty="0">
                <a:solidFill>
                  <a:schemeClr val="accent5"/>
                </a:solidFill>
              </a:rPr>
              <a:t> needs about 24 plots per group.</a:t>
            </a:r>
            <a:endParaRPr lang="en-US" sz="1800" dirty="0"/>
          </a:p>
        </p:txBody>
      </p:sp>
      <p:sp>
        <p:nvSpPr>
          <p:cNvPr id="18" name="key idea"/>
          <p:cNvSpPr/>
          <p:nvPr/>
        </p:nvSpPr>
        <p:spPr>
          <a:xfrm>
            <a:off x="548640" y="470001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70001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 p of 0.08 is not "no effect". Report the estimate and interval; observed power after the test adds little.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Practicals 11–12 and exercises</a:t>
            </a:r>
            <a:endParaRPr lang="en-US" sz="3200" dirty="0"/>
          </a:p>
        </p:txBody>
      </p:sp>
      <p:sp>
        <p:nvSpPr>
          <p:cNvPr id="3" name="card"/>
          <p:cNvSpPr/>
          <p:nvPr/>
        </p:nvSpPr>
        <p:spPr>
          <a:xfrm>
            <a:off x="548640" y="13716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451610"/>
            <a:ext cx="502920" cy="502920"/>
          </a:xfrm>
          <a:prstGeom prst="ellipse">
            <a:avLst/>
          </a:prstGeom>
          <a:solidFill>
            <a:schemeClr val="accent1"/>
          </a:solidFill>
          <a:ln/>
        </p:spPr>
      </p:sp>
      <p:sp>
        <p:nvSpPr>
          <p:cNvPr id="5" name="Text 3"/>
          <p:cNvSpPr txBox="1"/>
          <p:nvPr/>
        </p:nvSpPr>
        <p:spPr>
          <a:xfrm>
            <a:off x="749808" y="14516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571500"/>
          </a:xfrm>
          <a:prstGeom prst="rect">
            <a:avLst/>
          </a:prstGeom>
          <a:noFill/>
          <a:ln/>
        </p:spPr>
        <p:txBody>
          <a:bodyPr wrap="square" lIns="0" tIns="0" rIns="0" bIns="0" rtlCol="0" anchor="ctr"/>
          <a:lstStyle/>
          <a:p>
            <a:pPr indent="0" marL="0">
              <a:buNone/>
            </a:pPr>
            <a:r>
              <a:rPr lang="en-US" sz="1300" dirty="0">
                <a:solidFill>
                  <a:schemeClr val="tx1"/>
                </a:solidFill>
              </a:rPr>
              <a:t>Interpret the trt2 − ctrl estimate and its interval without claiming a fertilizer response.</a:t>
            </a:r>
            <a:endParaRPr lang="en-US" sz="1300" dirty="0"/>
          </a:p>
        </p:txBody>
      </p:sp>
      <p:sp>
        <p:nvSpPr>
          <p:cNvPr id="7" name="card"/>
          <p:cNvSpPr/>
          <p:nvPr/>
        </p:nvSpPr>
        <p:spPr>
          <a:xfrm>
            <a:off x="548640" y="21717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251710"/>
            <a:ext cx="502920" cy="502920"/>
          </a:xfrm>
          <a:prstGeom prst="ellipse">
            <a:avLst/>
          </a:prstGeom>
          <a:solidFill>
            <a:schemeClr val="accent1"/>
          </a:solidFill>
          <a:ln/>
        </p:spPr>
      </p:sp>
      <p:sp>
        <p:nvSpPr>
          <p:cNvPr id="9" name="Text 7"/>
          <p:cNvSpPr txBox="1"/>
          <p:nvPr/>
        </p:nvSpPr>
        <p:spPr>
          <a:xfrm>
            <a:off x="749808" y="22517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2174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Compare paired and unpaired tests on the soil example. Which matches the design?</a:t>
            </a:r>
            <a:endParaRPr lang="en-US" sz="1300" dirty="0"/>
          </a:p>
        </p:txBody>
      </p:sp>
      <p:sp>
        <p:nvSpPr>
          <p:cNvPr id="11" name="card"/>
          <p:cNvSpPr/>
          <p:nvPr/>
        </p:nvSpPr>
        <p:spPr>
          <a:xfrm>
            <a:off x="548640" y="29718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051810"/>
            <a:ext cx="502920" cy="502920"/>
          </a:xfrm>
          <a:prstGeom prst="ellipse">
            <a:avLst/>
          </a:prstGeom>
          <a:solidFill>
            <a:schemeClr val="accent1"/>
          </a:solidFill>
          <a:ln/>
        </p:spPr>
      </p:sp>
      <p:sp>
        <p:nvSpPr>
          <p:cNvPr id="13" name="Text 11"/>
          <p:cNvSpPr txBox="1"/>
          <p:nvPr/>
        </p:nvSpPr>
        <p:spPr>
          <a:xfrm>
            <a:off x="749808" y="30518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0175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Calculate the infestation proportion in each treatment; state the unit and check expected counts.</a:t>
            </a:r>
            <a:endParaRPr lang="en-US" sz="1300" dirty="0"/>
          </a:p>
        </p:txBody>
      </p:sp>
      <p:sp>
        <p:nvSpPr>
          <p:cNvPr id="15" name="card"/>
          <p:cNvSpPr/>
          <p:nvPr/>
        </p:nvSpPr>
        <p:spPr>
          <a:xfrm>
            <a:off x="548640" y="37719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3851910"/>
            <a:ext cx="502920" cy="502920"/>
          </a:xfrm>
          <a:prstGeom prst="ellipse">
            <a:avLst/>
          </a:prstGeom>
          <a:solidFill>
            <a:schemeClr val="accent1"/>
          </a:solidFill>
          <a:ln/>
        </p:spPr>
      </p:sp>
      <p:sp>
        <p:nvSpPr>
          <p:cNvPr id="17" name="Text 15"/>
          <p:cNvSpPr txBox="1"/>
          <p:nvPr/>
        </p:nvSpPr>
        <p:spPr>
          <a:xfrm>
            <a:off x="749808" y="38519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3817620"/>
            <a:ext cx="6629400" cy="571500"/>
          </a:xfrm>
          <a:prstGeom prst="rect">
            <a:avLst/>
          </a:prstGeom>
          <a:noFill/>
          <a:ln/>
        </p:spPr>
        <p:txBody>
          <a:bodyPr wrap="square" lIns="0" tIns="0" rIns="0" bIns="0" rtlCol="0" anchor="ctr"/>
          <a:lstStyle/>
          <a:p>
            <a:pPr indent="0" marL="0">
              <a:buNone/>
            </a:pPr>
            <a:r>
              <a:rPr lang="en-US" sz="1300" dirty="0">
                <a:solidFill>
                  <a:schemeClr val="tx1"/>
                </a:solidFill>
              </a:rPr>
              <a:t>212 of 250 seeds germinated. Estimate the rate with a 95% CI and compare it with an 85% standard.</a:t>
            </a:r>
            <a:endParaRPr lang="en-US" sz="1300" dirty="0"/>
          </a:p>
        </p:txBody>
      </p:sp>
      <p:sp>
        <p:nvSpPr>
          <p:cNvPr id="19" name="card"/>
          <p:cNvSpPr/>
          <p:nvPr/>
        </p:nvSpPr>
        <p:spPr>
          <a:xfrm>
            <a:off x="548640" y="45720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4652010"/>
            <a:ext cx="502920" cy="502920"/>
          </a:xfrm>
          <a:prstGeom prst="ellipse">
            <a:avLst/>
          </a:prstGeom>
          <a:solidFill>
            <a:schemeClr val="accent1"/>
          </a:solidFill>
          <a:ln/>
        </p:spPr>
      </p:sp>
      <p:sp>
        <p:nvSpPr>
          <p:cNvPr id="21" name="Text 19"/>
          <p:cNvSpPr txBox="1"/>
          <p:nvPr/>
        </p:nvSpPr>
        <p:spPr>
          <a:xfrm>
            <a:off x="749808" y="46520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4617720"/>
            <a:ext cx="6629400" cy="571500"/>
          </a:xfrm>
          <a:prstGeom prst="rect">
            <a:avLst/>
          </a:prstGeom>
          <a:noFill/>
          <a:ln/>
        </p:spPr>
        <p:txBody>
          <a:bodyPr wrap="square" lIns="0" tIns="0" rIns="0" bIns="0" rtlCol="0" anchor="ctr"/>
          <a:lstStyle/>
          <a:p>
            <a:pPr indent="0" marL="0">
              <a:buNone/>
            </a:pPr>
            <a:r>
              <a:rPr lang="en-US" sz="1300" dirty="0">
                <a:solidFill>
                  <a:schemeClr val="tx1"/>
                </a:solidFill>
              </a:rPr>
              <a:t>An F2 gives 152 purple and 48 white flowers. Test the fit to 3:1 and interpret the result.</a:t>
            </a:r>
            <a:endParaRPr lang="en-US" sz="1300" dirty="0"/>
          </a:p>
        </p:txBody>
      </p:sp>
      <p:sp>
        <p:nvSpPr>
          <p:cNvPr id="23" name="card"/>
          <p:cNvSpPr/>
          <p:nvPr/>
        </p:nvSpPr>
        <p:spPr>
          <a:xfrm>
            <a:off x="548640" y="53721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24" name="Shape 22"/>
          <p:cNvSpPr/>
          <p:nvPr/>
        </p:nvSpPr>
        <p:spPr>
          <a:xfrm>
            <a:off x="749808" y="5452110"/>
            <a:ext cx="502920" cy="502920"/>
          </a:xfrm>
          <a:prstGeom prst="ellipse">
            <a:avLst/>
          </a:prstGeom>
          <a:solidFill>
            <a:schemeClr val="accent1"/>
          </a:solidFill>
          <a:ln/>
        </p:spPr>
      </p:sp>
      <p:sp>
        <p:nvSpPr>
          <p:cNvPr id="25" name="Text 23"/>
          <p:cNvSpPr txBox="1"/>
          <p:nvPr/>
        </p:nvSpPr>
        <p:spPr>
          <a:xfrm>
            <a:off x="749808" y="54521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1463040" y="5417820"/>
            <a:ext cx="6629400" cy="571500"/>
          </a:xfrm>
          <a:prstGeom prst="rect">
            <a:avLst/>
          </a:prstGeom>
          <a:noFill/>
          <a:ln/>
        </p:spPr>
        <p:txBody>
          <a:bodyPr wrap="square" lIns="0" tIns="0" rIns="0" bIns="0" rtlCol="0" anchor="ctr"/>
          <a:lstStyle/>
          <a:p>
            <a:pPr indent="0" marL="0">
              <a:buNone/>
            </a:pPr>
            <a:r>
              <a:rPr lang="en-US" sz="1300" dirty="0">
                <a:solidFill>
                  <a:schemeClr val="tx1"/>
                </a:solidFill>
              </a:rPr>
              <a:t>A test returns p = 0.08. Explain why "there is no effect" is too strong.</a:t>
            </a:r>
            <a:endParaRPr lang="en-US" sz="1300" dirty="0"/>
          </a:p>
        </p:txBody>
      </p:sp>
      <p:sp>
        <p:nvSpPr>
          <p:cNvPr id="27"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8"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9" name="Text 26"/>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30" name="Text 27"/>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1828800"/>
          </a:xfrm>
          <a:prstGeom prst="roundRect">
            <a:avLst>
              <a:gd name="adj" fmla="val 5000"/>
            </a:avLst>
          </a:prstGeom>
          <a:solidFill>
            <a:schemeClr val="tx1"/>
          </a:solidFill>
          <a:ln/>
        </p:spPr>
      </p:sp>
      <p:sp>
        <p:nvSpPr>
          <p:cNvPr id="4" name="Text 2"/>
          <p:cNvSpPr txBox="1"/>
          <p:nvPr/>
        </p:nvSpPr>
        <p:spPr>
          <a:xfrm>
            <a:off x="822960" y="1572768"/>
            <a:ext cx="10515600" cy="1426464"/>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control &lt;- c(3.1, 3.4, 3.2, 3.5, 3.3, 3.0)</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compost &lt;- c(3.7, 3.9, 3.6, 4.0, 3.8, 3.5)</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t.test(compost, control, conf.level = 0.95)</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mean(compost) - mean(control)</a:t>
            </a:r>
            <a:endParaRPr lang="en-US" sz="1700" dirty="0"/>
          </a:p>
        </p:txBody>
      </p:sp>
      <p:sp>
        <p:nvSpPr>
          <p:cNvPr id="5" name="investigate"/>
          <p:cNvSpPr/>
          <p:nvPr/>
        </p:nvSpPr>
        <p:spPr>
          <a:xfrm>
            <a:off x="548640" y="352044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381304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007358"/>
            <a:ext cx="388620" cy="388620"/>
          </a:xfrm>
          <a:prstGeom prst="rect">
            <a:avLst/>
          </a:prstGeom>
        </p:spPr>
      </p:pic>
      <p:sp>
        <p:nvSpPr>
          <p:cNvPr id="8" name="Text 5"/>
          <p:cNvSpPr txBox="1"/>
          <p:nvPr/>
        </p:nvSpPr>
        <p:spPr>
          <a:xfrm>
            <a:off x="1828800" y="363016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3995928"/>
            <a:ext cx="9555480" cy="822960"/>
          </a:xfrm>
          <a:prstGeom prst="rect">
            <a:avLst/>
          </a:prstGeom>
          <a:noFill/>
          <a:ln/>
        </p:spPr>
        <p:txBody>
          <a:bodyPr wrap="square" lIns="0" tIns="0" rIns="0" bIns="0" rtlCol="0" anchor="t"/>
          <a:lstStyle/>
          <a:p>
            <a:pPr indent="0" marL="0">
              <a:buNone/>
            </a:pPr>
            <a:r>
              <a:rPr lang="en-US" sz="1500" dirty="0">
                <a:solidFill>
                  <a:schemeClr val="tx1"/>
                </a:solidFill>
              </a:rPr>
              <a:t>Identify the estimated difference, the confidence interval and the null hypothesis. A small p-value alone does not measure the practical value of a treatment.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Cube">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Design first</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The experimental unit defines the replication.</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ArrowsAltH">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Estimate, then test</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Report effects with intervals, not only p.</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Flask">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Match test to data</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Means, proportions, ratios or ranks.</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Calculator">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Plan with power</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Decide the smallest effect that matters.</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12 · Comparing treatments with analysis of variance</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Hypothesis tests and confidence intervals</dc:title>
  <dc:subject>R Programming for Agricultural Data Analysis · Chapter 11</dc:subject>
  <dc:creator>Dr. Pratheesh P. Gopinath</dc:creator>
  <cp:lastModifiedBy>Dr. Pratheesh P. Gopinath</cp:lastModifiedBy>
  <cp:revision>1</cp:revision>
  <dcterms:created xsi:type="dcterms:W3CDTF">2026-10-20T10:13:43Z</dcterms:created>
  <dcterms:modified xsi:type="dcterms:W3CDTF">2026-10-20T10:13:43Z</dcterms:modified>
</cp:coreProperties>
</file>