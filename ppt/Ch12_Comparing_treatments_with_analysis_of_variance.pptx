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015a24f-cbf3-d127-70b6-c816e22f0942}">
          <p14:sldIdLst>
            <p14:sldId id="256"/>
            <p14:sldId id="257"/>
            <p14:sldId id="258"/>
            <p14:sldId id="259"/>
            <p14:sldId id="260"/>
            <p14:sldId id="261"/>
            <p14:sldId id="262"/>
            <p14:sldId id="263"/>
            <p14:sldId id="264"/>
          </p14:sldIdLst>
        </p14:section>
        <p14:section name="Review" id="{70a41d16-38f3-9386-8075-3a9a9ffbf154}">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twelve, comparing treatments with analysis of variance. When an experiment compares three or more treatments, running every pair of t-tests inflates the chance of false positives. Analysis of variance, or ANOVA, starts with one global question and partitions the variation according to the design. This chapter builds the foundation for the field designs in chapter thirteen.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chapter you will fit a one-way analysis of variance and interpret its sums of squares and F-test, check the residuals, use adjusted pairwise comparisons, and add blocks to a simple agricultural experiment. ANOVA partitions variation according to a model, and that model should follow the way treatments were randomized.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just run t-tests between every pair? With five treatments there are ten pairs, and testing each at five percent makes at least one false positive quite likely. ANOVA begins instead with one global null hypothesis: all treatment means are equal. The model says each observation is a general mean plus a treatment effect plus an error, with errors independent and of common variance. The F statistic compares the treatment mean square with the residual mean square; a large F means differences between groups are large relative to variation within groups.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calculate an ANOVA by hand. Three groups have yields three four five, four five six and five six seven. The group means are four, five and six, and the grand mean is five. The treatment sum of squares is three times the sum of squared deviations of the group means, which is six. Within each group the squared deviations add to two, so the residual sum of squares is six. Dividing by the degrees of freedom, two and six, gives mean squares of three and one, so F is three, with a p-value of point one two five. The observed means differ, but the evidence for a population difference is weak. R gives exactly the same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PlantGrowth data, ANOVA gives an F of about four point eight five on two and twenty-seven degrees of freedom, with a p-value of about point zero one six. That tells us at least one group mean differs, but not which. Tukey's honestly significant difference gives an interval and an adjusted p-value for each pair. Then diagnose the errors: the residuals-versus-fitted plot reveals unequal spread, and the normal quantile plot reveals departures from normality. If variances differ substantially, Welch's one-way test is an alternative, but do not follow it automatically with the ordinary Tukey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Field fertility varies across space, so a randomized complete block design puts every treatment once in each block and randomizes within blocks. The model adds a block term. Always make block a factor, otherwise R fits a straight-line trend through the block numbers. Tukey comparisons can then be made for treatments within the blocked model. The standard error of a difference between two treatment means is the square root of two times the error mean square divided by the number of replicates, using the error after blocks have been removed. Chapter thirteen develops this into the full set of field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useful ANOVA report states the design, the factor levels and the independent replication, the model and any exclusions, the treatment means with units, the F-test with its degrees of freedom, the comparison method and the main diagnostic findings. When interpreting, explain the size of the response, not just whether it is significant. A small difference with a wide interval may justify a larger experiment rather than a recommendation. A precisely estimated gain may still be uneconomic. And one site and one season do not establish performance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thirteen. State the global null for PlantGrowth and its residual degrees of freedom. Interpret one Tukey interval. Fit the block model with and without blocks and compare residual mean squares. Explain why three treatment means alone cannot estimate plot-to-plot error. And propose a randomization for a field with a fertility gradient.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laboratory, fit the PlantGrowth ANOVA, run Tukey's comparisons and draw a box plot. Identify the question answered by the F-test and the different question answered by the Tukey intervals.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ANOVA starts with one global test, avoiding the inflated errors of many t-tests. It partitions variation into treatment and residual mean squares. A global test is not a pairwise comparison, so use an adjusted method such as Tukey's. And the model must follow the design, with blocks entered as factors. Next, chapter thirteen covers the full set of field experimental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12 · Comparing treatments with analysis of variance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4.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4.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4.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6  ·  CHAPTER 12</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Comparing treatments with analysis of variance</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Columns">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Fit a one-way ANOVA</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Model, sums of squares and the F-test</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Stethoscope">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Diagnose the errors</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Residual plots and Welch's alternative</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ExchangeAlt">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Compare pairs properly</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Tukey's adjusted comparisons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ThLarge">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Add blocks</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A first randomized block analysis</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ANOVA partitions variation according to a model. The model should follow the randomization.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Why ANOVA?</a:t>
            </a:r>
            <a:endParaRPr lang="en-US" sz="3200" dirty="0"/>
          </a:p>
        </p:txBody>
      </p:sp>
      <p:sp>
        <p:nvSpPr>
          <p:cNvPr id="3" name="card"/>
          <p:cNvSpPr/>
          <p:nvPr/>
        </p:nvSpPr>
        <p:spPr>
          <a:xfrm>
            <a:off x="54864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2056257"/>
            <a:ext cx="731520" cy="731520"/>
          </a:xfrm>
          <a:prstGeom prst="ellipse">
            <a:avLst/>
          </a:prstGeom>
          <a:solidFill>
            <a:schemeClr val="accent4"/>
          </a:solidFill>
          <a:ln/>
        </p:spPr>
      </p:sp>
      <p:pic>
        <p:nvPicPr>
          <p:cNvPr id="5" name="Image 0" descr="FaExclamationTriangle">    </p:cNvPr>
          <p:cNvPicPr>
            <a:picLocks noChangeAspect="1"/>
          </p:cNvPicPr>
          <p:nvPr/>
        </p:nvPicPr>
        <p:blipFill>
          <a:blip r:embed="rId1"/>
          <a:stretch>
            <a:fillRect/>
          </a:stretch>
        </p:blipFill>
        <p:spPr>
          <a:xfrm>
            <a:off x="960120" y="2239137"/>
            <a:ext cx="365760" cy="365760"/>
          </a:xfrm>
          <a:prstGeom prst="rect">
            <a:avLst/>
          </a:prstGeom>
        </p:spPr>
      </p:pic>
      <p:sp>
        <p:nvSpPr>
          <p:cNvPr id="6" name="Text 3"/>
          <p:cNvSpPr txBox="1"/>
          <p:nvPr/>
        </p:nvSpPr>
        <p:spPr>
          <a:xfrm>
            <a:off x="169164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Many t-tests inflate errors</a:t>
            </a:r>
            <a:endParaRPr lang="en-US" sz="1700" dirty="0"/>
          </a:p>
        </p:txBody>
      </p:sp>
      <p:sp>
        <p:nvSpPr>
          <p:cNvPr id="7" name="Text 4"/>
          <p:cNvSpPr txBox="1"/>
          <p:nvPr/>
        </p:nvSpPr>
        <p:spPr>
          <a:xfrm>
            <a:off x="77724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With 5 treatments there are 10 pairs. Testing each at 5% makes at least one false positive much more likely.</a:t>
            </a:r>
            <a:endParaRPr lang="en-US" sz="1800" dirty="0"/>
          </a:p>
        </p:txBody>
      </p:sp>
      <p:sp>
        <p:nvSpPr>
          <p:cNvPr id="8" name="card"/>
          <p:cNvSpPr/>
          <p:nvPr/>
        </p:nvSpPr>
        <p:spPr>
          <a:xfrm>
            <a:off x="6195060" y="1827657"/>
            <a:ext cx="5417820" cy="2400300"/>
          </a:xfrm>
          <a:prstGeom prst="roundRect">
            <a:avLst>
              <a:gd name="adj" fmla="val 4571"/>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2056257"/>
            <a:ext cx="731520" cy="731520"/>
          </a:xfrm>
          <a:prstGeom prst="ellipse">
            <a:avLst/>
          </a:prstGeom>
          <a:solidFill>
            <a:schemeClr val="accent1"/>
          </a:solidFill>
          <a:ln/>
        </p:spPr>
      </p:sp>
      <p:pic>
        <p:nvPicPr>
          <p:cNvPr id="10" name="Image 1" descr="FaBalanceScale">    </p:cNvPr>
          <p:cNvPicPr>
            <a:picLocks noChangeAspect="1"/>
          </p:cNvPicPr>
          <p:nvPr/>
        </p:nvPicPr>
        <p:blipFill>
          <a:blip r:embed="rId2"/>
          <a:stretch>
            <a:fillRect/>
          </a:stretch>
        </p:blipFill>
        <p:spPr>
          <a:xfrm>
            <a:off x="6606540" y="2239137"/>
            <a:ext cx="365760" cy="365760"/>
          </a:xfrm>
          <a:prstGeom prst="rect">
            <a:avLst/>
          </a:prstGeom>
        </p:spPr>
      </p:pic>
      <p:sp>
        <p:nvSpPr>
          <p:cNvPr id="11" name="Text 7"/>
          <p:cNvSpPr txBox="1"/>
          <p:nvPr/>
        </p:nvSpPr>
        <p:spPr>
          <a:xfrm>
            <a:off x="7338060" y="2056257"/>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One global question first</a:t>
            </a:r>
            <a:endParaRPr lang="en-US" sz="1700" dirty="0"/>
          </a:p>
        </p:txBody>
      </p:sp>
      <p:sp>
        <p:nvSpPr>
          <p:cNvPr id="12" name="Text 8"/>
          <p:cNvSpPr txBox="1"/>
          <p:nvPr/>
        </p:nvSpPr>
        <p:spPr>
          <a:xfrm>
            <a:off x="6423660" y="2970657"/>
            <a:ext cx="4960620" cy="1147572"/>
          </a:xfrm>
          <a:prstGeom prst="rect">
            <a:avLst/>
          </a:prstGeom>
          <a:noFill/>
          <a:ln/>
        </p:spPr>
        <p:txBody>
          <a:bodyPr wrap="square" lIns="0" tIns="0" rIns="0" bIns="0" rtlCol="0" anchor="t"/>
          <a:lstStyle/>
          <a:p>
            <a:pPr indent="0" marL="0">
              <a:buNone/>
            </a:pPr>
            <a:r>
              <a:rPr lang="en-US" sz="1800" dirty="0">
                <a:solidFill>
                  <a:schemeClr val="accent5"/>
                </a:solidFill>
              </a:rPr>
              <a:t>H₀: all treatment means are equal. Model: Yᵢⱼ = μ + τᵢ + εᵢⱼ, errors independent with common variance.</a:t>
            </a:r>
            <a:endParaRPr lang="en-US" sz="1800" dirty="0"/>
          </a:p>
        </p:txBody>
      </p:sp>
      <p:sp>
        <p:nvSpPr>
          <p:cNvPr id="13" name="key idea"/>
          <p:cNvSpPr/>
          <p:nvPr/>
        </p:nvSpPr>
        <p:spPr>
          <a:xfrm>
            <a:off x="548640" y="4502277"/>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4502277"/>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F = treatment mean square ÷ residual mean square. A large F means between-group variation is large relative to within-group variation.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Worked calculation: separating sources of variation</a:t>
            </a:r>
            <a:endParaRPr lang="en-US" sz="3200" dirty="0"/>
          </a:p>
        </p:txBody>
      </p:sp>
      <p:sp>
        <p:nvSpPr>
          <p:cNvPr id="3" name="Text 1"/>
          <p:cNvSpPr txBox="1"/>
          <p:nvPr/>
        </p:nvSpPr>
        <p:spPr>
          <a:xfrm>
            <a:off x="548640" y="1325880"/>
            <a:ext cx="11064240" cy="457200"/>
          </a:xfrm>
          <a:prstGeom prst="rect">
            <a:avLst/>
          </a:prstGeom>
          <a:noFill/>
          <a:ln/>
        </p:spPr>
        <p:txBody>
          <a:bodyPr wrap="square" lIns="0" tIns="0" rIns="0" bIns="0" rtlCol="0" anchor="t"/>
          <a:lstStyle/>
          <a:p>
            <a:pPr indent="0" marL="0">
              <a:buNone/>
            </a:pPr>
            <a:r>
              <a:rPr lang="en-US" sz="1700" dirty="0">
                <a:solidFill>
                  <a:schemeClr val="tx2"/>
                </a:solidFill>
              </a:rPr>
              <a:t>Groups A = (3, 4, 5), B = (4, 5, 6), C = (5, 6, 7) t/ha; means 4, 5, 6; grand mean 5</a:t>
            </a:r>
            <a:endParaRPr lang="en-US" sz="1700" dirty="0"/>
          </a:p>
        </p:txBody>
      </p:sp>
      <p:sp>
        <p:nvSpPr>
          <p:cNvPr id="4" name="code panel"/>
          <p:cNvSpPr/>
          <p:nvPr/>
        </p:nvSpPr>
        <p:spPr>
          <a:xfrm>
            <a:off x="548640" y="1874520"/>
            <a:ext cx="6766560" cy="4160520"/>
          </a:xfrm>
          <a:prstGeom prst="roundRect">
            <a:avLst>
              <a:gd name="adj" fmla="val 2198"/>
            </a:avLst>
          </a:prstGeom>
          <a:solidFill>
            <a:schemeClr val="tx1"/>
          </a:solidFill>
          <a:ln/>
        </p:spPr>
      </p:sp>
      <p:sp>
        <p:nvSpPr>
          <p:cNvPr id="5" name="Text 3"/>
          <p:cNvSpPr txBox="1"/>
          <p:nvPr/>
        </p:nvSpPr>
        <p:spPr>
          <a:xfrm>
            <a:off x="822960" y="2075688"/>
            <a:ext cx="6217920" cy="375818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toy &lt;- data.frame(</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group = factor(rep(c("A", "B", "C"), each = 3)),</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yield_t_ha = c(3, 4, 5, 4, 5, 6, 5, 6, 7))</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summary(aov(yield_t_ha ~ group, data = toy))</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pf(3, df1 = 2, df2 = 6, lower.tail = FALSE)  # 0.125</a:t>
            </a:r>
            <a:endParaRPr lang="en-US" sz="1300" dirty="0"/>
          </a:p>
        </p:txBody>
      </p:sp>
      <p:sp>
        <p:nvSpPr>
          <p:cNvPr id="6" name="note"/>
          <p:cNvSpPr/>
          <p:nvPr/>
        </p:nvSpPr>
        <p:spPr>
          <a:xfrm>
            <a:off x="7543800" y="1874520"/>
            <a:ext cx="4069080" cy="1965960"/>
          </a:xfrm>
          <a:prstGeom prst="roundRect">
            <a:avLst>
              <a:gd name="adj" fmla="val 5581"/>
            </a:avLst>
          </a:prstGeom>
          <a:solidFill>
            <a:schemeClr val="bg2"/>
          </a:solidFill>
          <a:ln/>
          <a:effectLst>
            <a:outerShdw sx="100000" sy="100000" kx="0" ky="0" algn="bl" rotWithShape="0" blurRad="76200" dist="25400" dir="5400000">
              <a:srgbClr val="8A97AB">
                <a:alpha val="25000"/>
              </a:srgbClr>
            </a:outerShdw>
          </a:effectLst>
        </p:spPr>
      </p:sp>
      <p:sp>
        <p:nvSpPr>
          <p:cNvPr id="7" name="icon circle"/>
          <p:cNvSpPr/>
          <p:nvPr/>
        </p:nvSpPr>
        <p:spPr>
          <a:xfrm>
            <a:off x="7772400" y="2075688"/>
            <a:ext cx="548640" cy="548640"/>
          </a:xfrm>
          <a:prstGeom prst="ellipse">
            <a:avLst/>
          </a:prstGeom>
          <a:solidFill>
            <a:schemeClr val="accent1"/>
          </a:solidFill>
          <a:ln/>
        </p:spPr>
      </p:sp>
      <p:pic>
        <p:nvPicPr>
          <p:cNvPr id="8" name="Image 0" descr="FaCalculator">    </p:cNvPr>
          <p:cNvPicPr>
            <a:picLocks noChangeAspect="1"/>
          </p:cNvPicPr>
          <p:nvPr/>
        </p:nvPicPr>
        <p:blipFill>
          <a:blip r:embed="rId1"/>
          <a:stretch>
            <a:fillRect/>
          </a:stretch>
        </p:blipFill>
        <p:spPr>
          <a:xfrm>
            <a:off x="7909560" y="2212848"/>
            <a:ext cx="274320" cy="274320"/>
          </a:xfrm>
          <a:prstGeom prst="rect">
            <a:avLst/>
          </a:prstGeom>
        </p:spPr>
      </p:pic>
      <p:sp>
        <p:nvSpPr>
          <p:cNvPr id="9" name="Text 6"/>
          <p:cNvSpPr txBox="1"/>
          <p:nvPr/>
        </p:nvSpPr>
        <p:spPr>
          <a:xfrm>
            <a:off x="8458200" y="205740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By hand</a:t>
            </a:r>
            <a:endParaRPr lang="en-US" sz="1600" dirty="0"/>
          </a:p>
        </p:txBody>
      </p:sp>
      <p:sp>
        <p:nvSpPr>
          <p:cNvPr id="10" name="Text 7"/>
          <p:cNvSpPr txBox="1"/>
          <p:nvPr/>
        </p:nvSpPr>
        <p:spPr>
          <a:xfrm>
            <a:off x="7772400" y="2697480"/>
            <a:ext cx="3611880" cy="1051560"/>
          </a:xfrm>
          <a:prstGeom prst="rect">
            <a:avLst/>
          </a:prstGeom>
          <a:noFill/>
          <a:ln/>
        </p:spPr>
        <p:txBody>
          <a:bodyPr wrap="square" lIns="0" tIns="0" rIns="0" bIns="0" rtlCol="0" anchor="t"/>
          <a:lstStyle/>
          <a:p>
            <a:pPr marL="228600" indent="-228600">
              <a:spcAft>
                <a:spcPts val="800"/>
              </a:spcAft>
              <a:buSzPct val="100000"/>
              <a:buChar char="•"/>
            </a:pPr>
            <a:r>
              <a:rPr lang="en-US" sz="1400" dirty="0">
                <a:solidFill>
                  <a:schemeClr val="tx1"/>
                </a:solidFill>
              </a:rPr>
              <a:t>SS treatments = 3[(4−5)² + 0 + (6−5)²] = 6</a:t>
            </a:r>
            <a:endParaRPr lang="en-US" sz="1400" dirty="0"/>
          </a:p>
          <a:p>
            <a:pPr marL="228600" indent="-228600">
              <a:spcAft>
                <a:spcPts val="800"/>
              </a:spcAft>
              <a:buSzPct val="100000"/>
              <a:buChar char="•"/>
            </a:pPr>
            <a:r>
              <a:rPr lang="en-US" sz="1400" dirty="0">
                <a:solidFill>
                  <a:schemeClr val="tx1"/>
                </a:solidFill>
              </a:rPr>
              <a:t>SS residual = 2 + 2 + 2 = 6</a:t>
            </a:r>
            <a:endParaRPr lang="en-US" sz="1400" dirty="0"/>
          </a:p>
          <a:p>
            <a:pPr marL="228600" indent="-228600">
              <a:spcAft>
                <a:spcPts val="800"/>
              </a:spcAft>
              <a:buSzPct val="100000"/>
              <a:buChar char="•"/>
            </a:pPr>
            <a:r>
              <a:rPr lang="en-US" sz="1400" dirty="0">
                <a:solidFill>
                  <a:schemeClr val="tx1"/>
                </a:solidFill>
              </a:rPr>
              <a:t>MS = 6/2 = 3 and 6/6 = 1</a:t>
            </a:r>
            <a:endParaRPr lang="en-US" sz="1400" dirty="0"/>
          </a:p>
          <a:p>
            <a:pPr marL="228600" indent="-228600">
              <a:spcAft>
                <a:spcPts val="800"/>
              </a:spcAft>
              <a:buSzPct val="100000"/>
              <a:buChar char="•"/>
            </a:pPr>
            <a:r>
              <a:rPr lang="en-US" sz="1400" dirty="0">
                <a:solidFill>
                  <a:schemeClr val="tx1"/>
                </a:solidFill>
              </a:rPr>
              <a:t>F = 3 on 2 and 6 df</a:t>
            </a:r>
            <a:endParaRPr lang="en-US" sz="1400" dirty="0"/>
          </a:p>
        </p:txBody>
      </p:sp>
      <p:sp>
        <p:nvSpPr>
          <p:cNvPr id="11" name="stat"/>
          <p:cNvSpPr/>
          <p:nvPr/>
        </p:nvSpPr>
        <p:spPr>
          <a:xfrm>
            <a:off x="7543800" y="4069080"/>
            <a:ext cx="4069080" cy="1965960"/>
          </a:xfrm>
          <a:prstGeom prst="roundRect">
            <a:avLst>
              <a:gd name="adj" fmla="val 5581"/>
            </a:avLst>
          </a:prstGeom>
          <a:solidFill>
            <a:schemeClr val="tx2"/>
          </a:solidFill>
          <a:ln/>
          <a:effectLst>
            <a:outerShdw sx="100000" sy="100000" kx="0" ky="0" algn="bl" rotWithShape="0" blurRad="76200" dist="25400" dir="5400000">
              <a:srgbClr val="8A97AB">
                <a:alpha val="25000"/>
              </a:srgbClr>
            </a:outerShdw>
          </a:effectLst>
        </p:spPr>
      </p:sp>
      <p:sp>
        <p:nvSpPr>
          <p:cNvPr id="12" name="Text 9"/>
          <p:cNvSpPr txBox="1"/>
          <p:nvPr/>
        </p:nvSpPr>
        <p:spPr>
          <a:xfrm>
            <a:off x="7543800" y="4160520"/>
            <a:ext cx="4069080" cy="1179576"/>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p = 0.125</a:t>
            </a:r>
            <a:endParaRPr lang="en-US" sz="3600" dirty="0"/>
          </a:p>
        </p:txBody>
      </p:sp>
      <p:sp>
        <p:nvSpPr>
          <p:cNvPr id="13" name="Text 10"/>
          <p:cNvSpPr txBox="1"/>
          <p:nvPr/>
        </p:nvSpPr>
        <p:spPr>
          <a:xfrm>
            <a:off x="7726680" y="5287975"/>
            <a:ext cx="3703320" cy="648767"/>
          </a:xfrm>
          <a:prstGeom prst="rect">
            <a:avLst/>
          </a:prstGeom>
          <a:noFill/>
          <a:ln/>
        </p:spPr>
        <p:txBody>
          <a:bodyPr wrap="square" lIns="0" tIns="0" rIns="0" bIns="0" rtlCol="0" anchor="t"/>
          <a:lstStyle/>
          <a:p>
            <a:pPr algn="ctr" indent="0" marL="0">
              <a:buNone/>
            </a:pPr>
            <a:r>
              <a:rPr lang="en-US" sz="1500" dirty="0">
                <a:solidFill>
                  <a:schemeClr val="bg1"/>
                </a:solidFill>
              </a:rPr>
              <a:t>Means differ in the sample, but the evidence is weak</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Worked example: PlantGrowth</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data("PlantGrowth")</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fit &lt;- aov(weight ~ group, data = PlantGrowth)</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summary(fit)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TukeyHSD(fit)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old &lt;- par(mfrow = c(1, 2))</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plot(fit, which = 1)     # residuals vs fitted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plot(fit, which = 2)     # normal Q-Q</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par(old)</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oneway.test(weight ~ group, PlantGrowth,</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var.equal = FALSE)  # Welch</a:t>
            </a:r>
            <a:endParaRPr lang="en-US" sz="1500" dirty="0"/>
          </a:p>
        </p:txBody>
      </p:sp>
      <p:sp>
        <p:nvSpPr>
          <p:cNvPr id="5" name="stat"/>
          <p:cNvSpPr/>
          <p:nvPr/>
        </p:nvSpPr>
        <p:spPr>
          <a:xfrm>
            <a:off x="7543800" y="1325880"/>
            <a:ext cx="4069080" cy="2240280"/>
          </a:xfrm>
          <a:prstGeom prst="roundRect">
            <a:avLst>
              <a:gd name="adj" fmla="val 4898"/>
            </a:avLst>
          </a:prstGeom>
          <a:solidFill>
            <a:schemeClr val="tx2"/>
          </a:solidFill>
          <a:ln/>
          <a:effectLst>
            <a:outerShdw sx="100000" sy="100000" kx="0" ky="0" algn="bl" rotWithShape="0" blurRad="76200" dist="25400" dir="5400000">
              <a:srgbClr val="8A97AB">
                <a:alpha val="25000"/>
              </a:srgbClr>
            </a:outerShdw>
          </a:effectLst>
        </p:spPr>
      </p:sp>
      <p:sp>
        <p:nvSpPr>
          <p:cNvPr id="6" name="Text 4"/>
          <p:cNvSpPr txBox="1"/>
          <p:nvPr/>
        </p:nvSpPr>
        <p:spPr>
          <a:xfrm>
            <a:off x="7543800" y="1417320"/>
            <a:ext cx="4069080" cy="1344168"/>
          </a:xfrm>
          <a:prstGeom prst="rect">
            <a:avLst/>
          </a:prstGeom>
          <a:noFill/>
          <a:ln/>
        </p:spPr>
        <p:txBody>
          <a:bodyPr wrap="square" lIns="0" tIns="0" rIns="0" bIns="0" rtlCol="0" anchor="ctr"/>
          <a:lstStyle/>
          <a:p>
            <a:pPr algn="ctr" indent="0" marL="0">
              <a:buNone/>
            </a:pPr>
            <a:r>
              <a:rPr lang="en-US" sz="4000" b="1" dirty="0">
                <a:solidFill>
                  <a:schemeClr val="accent2"/>
                </a:solidFill>
                <a:latin typeface="Cambria" pitchFamily="34" charset="0"/>
                <a:ea typeface="Cambria" pitchFamily="34" charset="-122"/>
                <a:cs typeface="Cambria" pitchFamily="34" charset="-120"/>
              </a:rPr>
              <a:t>F = 4.85</a:t>
            </a:r>
            <a:endParaRPr lang="en-US" sz="4000" dirty="0"/>
          </a:p>
        </p:txBody>
      </p:sp>
      <p:sp>
        <p:nvSpPr>
          <p:cNvPr id="7" name="Text 5"/>
          <p:cNvSpPr txBox="1"/>
          <p:nvPr/>
        </p:nvSpPr>
        <p:spPr>
          <a:xfrm>
            <a:off x="7726680" y="2714854"/>
            <a:ext cx="3703320" cy="739292"/>
          </a:xfrm>
          <a:prstGeom prst="rect">
            <a:avLst/>
          </a:prstGeom>
          <a:noFill/>
          <a:ln/>
        </p:spPr>
        <p:txBody>
          <a:bodyPr wrap="square" lIns="0" tIns="0" rIns="0" bIns="0" rtlCol="0" anchor="t"/>
          <a:lstStyle/>
          <a:p>
            <a:pPr algn="ctr" indent="0" marL="0">
              <a:buNone/>
            </a:pPr>
            <a:r>
              <a:rPr lang="en-US" sz="1500" dirty="0">
                <a:solidFill>
                  <a:schemeClr val="bg1"/>
                </a:solidFill>
              </a:rPr>
              <a:t>2 and 27 df, p = 0.016</a:t>
            </a:r>
            <a:endParaRPr lang="en-US" sz="1500" dirty="0"/>
          </a:p>
        </p:txBody>
      </p:sp>
      <p:sp>
        <p:nvSpPr>
          <p:cNvPr id="8"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9" name="Text 7"/>
          <p:cNvSpPr txBox="1"/>
          <p:nvPr/>
        </p:nvSpPr>
        <p:spPr>
          <a:xfrm>
            <a:off x="7772400" y="3977640"/>
            <a:ext cx="3657600" cy="548640"/>
          </a:xfrm>
          <a:prstGeom prst="rect">
            <a:avLst/>
          </a:prstGeom>
          <a:noFill/>
          <a:ln/>
        </p:spPr>
        <p:txBody>
          <a:bodyPr wrap="square" lIns="0" tIns="0" rIns="0" bIns="0" rtlCol="0" anchor="ctr"/>
          <a:lstStyle/>
          <a:p>
            <a:pPr indent="0" marL="0">
              <a:buNone/>
            </a:pPr>
            <a:r>
              <a:rPr lang="en-US" sz="1600" b="1" dirty="0">
                <a:solidFill>
                  <a:schemeClr val="tx2"/>
                </a:solidFill>
              </a:rPr>
              <a:t>Global vs pairwise</a:t>
            </a:r>
            <a:endParaRPr lang="en-US" sz="1600" dirty="0"/>
          </a:p>
        </p:txBody>
      </p:sp>
      <p:sp>
        <p:nvSpPr>
          <p:cNvPr id="10" name="Text 8"/>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A significant F says at least one mean differs. Tukey's intervals say which pairs, with adjusted p-values.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Blocking in agricultural experiments</a:t>
            </a:r>
            <a:endParaRPr lang="en-US" sz="3200" dirty="0"/>
          </a:p>
        </p:txBody>
      </p:sp>
      <p:sp>
        <p:nvSpPr>
          <p:cNvPr id="3" name="code panel"/>
          <p:cNvSpPr/>
          <p:nvPr/>
        </p:nvSpPr>
        <p:spPr>
          <a:xfrm>
            <a:off x="548640" y="1325880"/>
            <a:ext cx="6766560" cy="4709160"/>
          </a:xfrm>
          <a:prstGeom prst="roundRect">
            <a:avLst>
              <a:gd name="adj" fmla="val 1942"/>
            </a:avLst>
          </a:prstGeom>
          <a:solidFill>
            <a:schemeClr val="tx1"/>
          </a:solidFill>
          <a:ln/>
        </p:spPr>
      </p:sp>
      <p:sp>
        <p:nvSpPr>
          <p:cNvPr id="4" name="Text 2"/>
          <p:cNvSpPr txBox="1"/>
          <p:nvPr/>
        </p:nvSpPr>
        <p:spPr>
          <a:xfrm>
            <a:off x="822960" y="1527048"/>
            <a:ext cx="6217920" cy="4306824"/>
          </a:xfrm>
          <a:prstGeom prst="rect">
            <a:avLst/>
          </a:prstGeom>
          <a:noFill/>
          <a:ln/>
        </p:spPr>
        <p:txBody>
          <a:bodyPr wrap="square" lIns="0" tIns="0" rIns="0" bIns="0" rtlCol="0" anchor="t"/>
          <a:lstStyle/>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rcbd &lt;- read.csv("data/rcbd.csv")</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rcbd$block &lt;- factor(rcbd$block)</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rcbd$treatment &lt;- factor(rcbd$treatment)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with(rcbd, table(block, treatment))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blocked &lt;- aov(yield_t_ha ~ block + treatment, data = rcbd)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summary(blocked)</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TukeyHSD(blocked, "treatment")</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 </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mse &lt;- anova(blocked)["Residuals", "Mean Sq"]</a:t>
            </a:r>
            <a:endParaRPr lang="en-US" sz="1300" dirty="0"/>
          </a:p>
          <a:p>
            <a:pPr indent="0" marL="0">
              <a:spcAft>
                <a:spcPts val="200"/>
              </a:spcAft>
              <a:buNone/>
            </a:pPr>
            <a:r>
              <a:rPr lang="en-US" sz="1300" dirty="0">
                <a:solidFill>
                  <a:schemeClr val="bg1"/>
                </a:solidFill>
                <a:latin typeface="Courier New" pitchFamily="34" charset="0"/>
                <a:ea typeface="Courier New" pitchFamily="34" charset="-122"/>
                <a:cs typeface="Courier New" pitchFamily="34" charset="-120"/>
              </a:rPr>
              <a:t>sqrt(2 * mse / 6)          # SE of a difference</a:t>
            </a:r>
            <a:endParaRPr lang="en-US" sz="1300" dirty="0"/>
          </a:p>
        </p:txBody>
      </p:sp>
      <p:sp>
        <p:nvSpPr>
          <p:cNvPr id="5" name="note"/>
          <p:cNvSpPr/>
          <p:nvPr/>
        </p:nvSpPr>
        <p:spPr>
          <a:xfrm>
            <a:off x="7543800" y="132588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ThLarge">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Block as a factor</a:t>
            </a:r>
            <a:endParaRPr lang="en-US" sz="1600" dirty="0"/>
          </a:p>
        </p:txBody>
      </p:sp>
      <p:sp>
        <p:nvSpPr>
          <p:cNvPr id="9" name="Text 6"/>
          <p:cNvSpPr txBox="1"/>
          <p:nvPr/>
        </p:nvSpPr>
        <p:spPr>
          <a:xfrm>
            <a:off x="7772400" y="2148840"/>
            <a:ext cx="3611880" cy="132588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factor(block)</a:t>
            </a:r>
            <a:pPr indent="0" marL="0">
              <a:buNone/>
            </a:pPr>
            <a:r>
              <a:rPr lang="en-US" sz="1400" dirty="0">
                <a:solidFill>
                  <a:schemeClr val="tx1"/>
                </a:solidFill>
              </a:rPr>
              <a:t> avoids fitting a straight line through arbitrary block numbers.</a:t>
            </a:r>
            <a:endParaRPr lang="en-US" sz="1400" dirty="0"/>
          </a:p>
        </p:txBody>
      </p:sp>
      <p:sp>
        <p:nvSpPr>
          <p:cNvPr id="10" name="note"/>
          <p:cNvSpPr/>
          <p:nvPr/>
        </p:nvSpPr>
        <p:spPr>
          <a:xfrm>
            <a:off x="7543800" y="3794760"/>
            <a:ext cx="40690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995928"/>
            <a:ext cx="548640" cy="548640"/>
          </a:xfrm>
          <a:prstGeom prst="ellipse">
            <a:avLst/>
          </a:prstGeom>
          <a:solidFill>
            <a:schemeClr val="accent2"/>
          </a:solidFill>
          <a:ln/>
        </p:spPr>
      </p:sp>
      <p:pic>
        <p:nvPicPr>
          <p:cNvPr id="12" name="Image 1" descr="FaCalculator">    </p:cNvPr>
          <p:cNvPicPr>
            <a:picLocks noChangeAspect="1"/>
          </p:cNvPicPr>
          <p:nvPr/>
        </p:nvPicPr>
        <p:blipFill>
          <a:blip r:embed="rId2"/>
          <a:stretch>
            <a:fillRect/>
          </a:stretch>
        </p:blipFill>
        <p:spPr>
          <a:xfrm>
            <a:off x="7909560" y="4133088"/>
            <a:ext cx="274320" cy="274320"/>
          </a:xfrm>
          <a:prstGeom prst="rect">
            <a:avLst/>
          </a:prstGeom>
        </p:spPr>
      </p:pic>
      <p:sp>
        <p:nvSpPr>
          <p:cNvPr id="13" name="Text 9"/>
          <p:cNvSpPr txBox="1"/>
          <p:nvPr/>
        </p:nvSpPr>
        <p:spPr>
          <a:xfrm>
            <a:off x="8458200" y="397764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SE of a difference</a:t>
            </a:r>
            <a:endParaRPr lang="en-US" sz="1600" dirty="0"/>
          </a:p>
        </p:txBody>
      </p:sp>
      <p:sp>
        <p:nvSpPr>
          <p:cNvPr id="14" name="Text 10"/>
          <p:cNvSpPr txBox="1"/>
          <p:nvPr/>
        </p:nvSpPr>
        <p:spPr>
          <a:xfrm>
            <a:off x="7772400" y="4617720"/>
            <a:ext cx="3611880" cy="1325880"/>
          </a:xfrm>
          <a:prstGeom prst="rect">
            <a:avLst/>
          </a:prstGeom>
          <a:noFill/>
          <a:ln/>
        </p:spPr>
        <p:txBody>
          <a:bodyPr wrap="square" lIns="0" tIns="0" rIns="0" bIns="0" rtlCol="0" anchor="t"/>
          <a:lstStyle/>
          <a:p>
            <a:pPr indent="0" marL="0">
              <a:buNone/>
            </a:pPr>
            <a:r>
              <a:rPr lang="en-US" sz="1400" dirty="0">
                <a:solidFill>
                  <a:schemeClr val="tx1"/>
                </a:solidFill>
              </a:rPr>
              <a:t>√(2 MSE / r) uses the error after removing block variation, not the spread of the treatment means.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Reporting an ANOVA</a:t>
            </a:r>
            <a:endParaRPr lang="en-US" sz="3200" dirty="0"/>
          </a:p>
        </p:txBody>
      </p:sp>
      <p:sp>
        <p:nvSpPr>
          <p:cNvPr id="3" name="card"/>
          <p:cNvSpPr/>
          <p:nvPr/>
        </p:nvSpPr>
        <p:spPr>
          <a:xfrm>
            <a:off x="548640" y="1814855"/>
            <a:ext cx="5417820" cy="3396996"/>
          </a:xfrm>
          <a:prstGeom prst="roundRect">
            <a:avLst>
              <a:gd name="adj" fmla="val 323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2043455"/>
            <a:ext cx="731520" cy="731520"/>
          </a:xfrm>
          <a:prstGeom prst="ellipse">
            <a:avLst/>
          </a:prstGeom>
          <a:solidFill>
            <a:schemeClr val="accent1"/>
          </a:solidFill>
          <a:ln/>
        </p:spPr>
      </p:sp>
      <p:pic>
        <p:nvPicPr>
          <p:cNvPr id="5" name="Image 0" descr="FaFileAlt">    </p:cNvPr>
          <p:cNvPicPr>
            <a:picLocks noChangeAspect="1"/>
          </p:cNvPicPr>
          <p:nvPr/>
        </p:nvPicPr>
        <p:blipFill>
          <a:blip r:embed="rId1"/>
          <a:stretch>
            <a:fillRect/>
          </a:stretch>
        </p:blipFill>
        <p:spPr>
          <a:xfrm>
            <a:off x="960120" y="2226335"/>
            <a:ext cx="365760" cy="365760"/>
          </a:xfrm>
          <a:prstGeom prst="rect">
            <a:avLst/>
          </a:prstGeom>
        </p:spPr>
      </p:pic>
      <p:sp>
        <p:nvSpPr>
          <p:cNvPr id="6" name="Text 3"/>
          <p:cNvSpPr txBox="1"/>
          <p:nvPr/>
        </p:nvSpPr>
        <p:spPr>
          <a:xfrm>
            <a:off x="1691640" y="2043455"/>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What to state</a:t>
            </a:r>
            <a:endParaRPr lang="en-US" sz="1700" dirty="0"/>
          </a:p>
        </p:txBody>
      </p:sp>
      <p:sp>
        <p:nvSpPr>
          <p:cNvPr id="7" name="Text 4"/>
          <p:cNvSpPr txBox="1"/>
          <p:nvPr/>
        </p:nvSpPr>
        <p:spPr>
          <a:xfrm>
            <a:off x="777240" y="2957855"/>
            <a:ext cx="4960620" cy="21442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Design, factor levels and independent replication</a:t>
            </a:r>
            <a:endParaRPr lang="en-US" sz="1800" dirty="0"/>
          </a:p>
          <a:p>
            <a:pPr marL="228600" indent="-228600">
              <a:spcAft>
                <a:spcPts val="800"/>
              </a:spcAft>
              <a:buSzPct val="100000"/>
              <a:buChar char="•"/>
            </a:pPr>
            <a:r>
              <a:rPr lang="en-US" sz="1800" dirty="0">
                <a:solidFill>
                  <a:schemeClr val="tx1"/>
                </a:solidFill>
              </a:rPr>
              <a:t>Model and any exclusions</a:t>
            </a:r>
            <a:endParaRPr lang="en-US" sz="1800" dirty="0"/>
          </a:p>
          <a:p>
            <a:pPr marL="228600" indent="-228600">
              <a:spcAft>
                <a:spcPts val="800"/>
              </a:spcAft>
              <a:buSzPct val="100000"/>
              <a:buChar char="•"/>
            </a:pPr>
            <a:r>
              <a:rPr lang="en-US" sz="1800" dirty="0">
                <a:solidFill>
                  <a:schemeClr val="tx1"/>
                </a:solidFill>
              </a:rPr>
              <a:t>Means with units, F, df and p</a:t>
            </a:r>
            <a:endParaRPr lang="en-US" sz="1800" dirty="0"/>
          </a:p>
          <a:p>
            <a:pPr marL="228600" indent="-228600">
              <a:spcAft>
                <a:spcPts val="800"/>
              </a:spcAft>
              <a:buSzPct val="100000"/>
              <a:buChar char="•"/>
            </a:pPr>
            <a:r>
              <a:rPr lang="en-US" sz="1800" dirty="0">
                <a:solidFill>
                  <a:schemeClr val="tx1"/>
                </a:solidFill>
              </a:rPr>
              <a:t>Comparison method and diagnostics</a:t>
            </a:r>
            <a:endParaRPr lang="en-US" sz="1800" dirty="0"/>
          </a:p>
        </p:txBody>
      </p:sp>
      <p:sp>
        <p:nvSpPr>
          <p:cNvPr id="8" name="card"/>
          <p:cNvSpPr/>
          <p:nvPr/>
        </p:nvSpPr>
        <p:spPr>
          <a:xfrm>
            <a:off x="6195060" y="1814855"/>
            <a:ext cx="5417820" cy="3396996"/>
          </a:xfrm>
          <a:prstGeom prst="roundRect">
            <a:avLst>
              <a:gd name="adj" fmla="val 323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2043455"/>
            <a:ext cx="731520" cy="731520"/>
          </a:xfrm>
          <a:prstGeom prst="ellipse">
            <a:avLst/>
          </a:prstGeom>
          <a:solidFill>
            <a:schemeClr val="accent3"/>
          </a:solidFill>
          <a:ln/>
        </p:spPr>
      </p:sp>
      <p:pic>
        <p:nvPicPr>
          <p:cNvPr id="10" name="Image 1" descr="FaSeedling">    </p:cNvPr>
          <p:cNvPicPr>
            <a:picLocks noChangeAspect="1"/>
          </p:cNvPicPr>
          <p:nvPr/>
        </p:nvPicPr>
        <p:blipFill>
          <a:blip r:embed="rId2"/>
          <a:stretch>
            <a:fillRect/>
          </a:stretch>
        </p:blipFill>
        <p:spPr>
          <a:xfrm>
            <a:off x="6606540" y="2226335"/>
            <a:ext cx="365760" cy="365760"/>
          </a:xfrm>
          <a:prstGeom prst="rect">
            <a:avLst/>
          </a:prstGeom>
        </p:spPr>
      </p:pic>
      <p:sp>
        <p:nvSpPr>
          <p:cNvPr id="11" name="Text 7"/>
          <p:cNvSpPr txBox="1"/>
          <p:nvPr/>
        </p:nvSpPr>
        <p:spPr>
          <a:xfrm>
            <a:off x="7338060" y="2043455"/>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How to interpret</a:t>
            </a:r>
            <a:endParaRPr lang="en-US" sz="1700" dirty="0"/>
          </a:p>
        </p:txBody>
      </p:sp>
      <p:sp>
        <p:nvSpPr>
          <p:cNvPr id="12" name="Text 8"/>
          <p:cNvSpPr txBox="1"/>
          <p:nvPr/>
        </p:nvSpPr>
        <p:spPr>
          <a:xfrm>
            <a:off x="6423660" y="2957855"/>
            <a:ext cx="4960620" cy="2144268"/>
          </a:xfrm>
          <a:prstGeom prst="rect">
            <a:avLst/>
          </a:prstGeom>
          <a:noFill/>
          <a:ln/>
        </p:spPr>
        <p:txBody>
          <a:bodyPr wrap="square" lIns="0" tIns="0" rIns="0" bIns="0" rtlCol="0" anchor="t"/>
          <a:lstStyle/>
          <a:p>
            <a:pPr marL="228600" indent="-228600">
              <a:spcAft>
                <a:spcPts val="800"/>
              </a:spcAft>
              <a:buSzPct val="100000"/>
              <a:buChar char="•"/>
            </a:pPr>
            <a:r>
              <a:rPr lang="en-US" sz="1800" dirty="0">
                <a:solidFill>
                  <a:schemeClr val="tx1"/>
                </a:solidFill>
              </a:rPr>
              <a:t>Size of the response, not only its label</a:t>
            </a:r>
            <a:endParaRPr lang="en-US" sz="1800" dirty="0"/>
          </a:p>
          <a:p>
            <a:pPr marL="228600" indent="-228600">
              <a:spcAft>
                <a:spcPts val="800"/>
              </a:spcAft>
              <a:buSzPct val="100000"/>
              <a:buChar char="•"/>
            </a:pPr>
            <a:r>
              <a:rPr lang="en-US" sz="1800" dirty="0">
                <a:solidFill>
                  <a:schemeClr val="tx1"/>
                </a:solidFill>
              </a:rPr>
              <a:t>A wide interval may justify a larger trial</a:t>
            </a:r>
            <a:endParaRPr lang="en-US" sz="1800" dirty="0"/>
          </a:p>
          <a:p>
            <a:pPr marL="228600" indent="-228600">
              <a:spcAft>
                <a:spcPts val="800"/>
              </a:spcAft>
              <a:buSzPct val="100000"/>
              <a:buChar char="•"/>
            </a:pPr>
            <a:r>
              <a:rPr lang="en-US" sz="1800" dirty="0">
                <a:solidFill>
                  <a:schemeClr val="tx1"/>
                </a:solidFill>
              </a:rPr>
              <a:t>A precise gain may still be uneconomic</a:t>
            </a:r>
            <a:endParaRPr lang="en-US" sz="1800" dirty="0"/>
          </a:p>
          <a:p>
            <a:pPr marL="228600" indent="-228600">
              <a:spcAft>
                <a:spcPts val="800"/>
              </a:spcAft>
              <a:buSzPct val="100000"/>
              <a:buChar char="•"/>
            </a:pPr>
            <a:r>
              <a:rPr lang="en-US" sz="1800" dirty="0">
                <a:solidFill>
                  <a:schemeClr val="tx1"/>
                </a:solidFill>
              </a:rPr>
              <a:t>One site and season limits the scope</a:t>
            </a:r>
            <a:endParaRPr lang="en-US" sz="18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13 and exercises</a:t>
            </a:r>
            <a:endParaRPr lang="en-US" sz="3200" dirty="0"/>
          </a:p>
        </p:txBody>
      </p:sp>
      <p:sp>
        <p:nvSpPr>
          <p:cNvPr id="3" name="card"/>
          <p:cNvSpPr/>
          <p:nvPr/>
        </p:nvSpPr>
        <p:spPr>
          <a:xfrm>
            <a:off x="548640" y="137160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531620"/>
            <a:ext cx="502920" cy="502920"/>
          </a:xfrm>
          <a:prstGeom prst="ellipse">
            <a:avLst/>
          </a:prstGeom>
          <a:solidFill>
            <a:schemeClr val="accent1"/>
          </a:solidFill>
          <a:ln/>
        </p:spPr>
      </p:sp>
      <p:sp>
        <p:nvSpPr>
          <p:cNvPr id="5" name="Text 3"/>
          <p:cNvSpPr txBox="1"/>
          <p:nvPr/>
        </p:nvSpPr>
        <p:spPr>
          <a:xfrm>
            <a:off x="749808" y="153162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731520"/>
          </a:xfrm>
          <a:prstGeom prst="rect">
            <a:avLst/>
          </a:prstGeom>
          <a:noFill/>
          <a:ln/>
        </p:spPr>
        <p:txBody>
          <a:bodyPr wrap="square" lIns="0" tIns="0" rIns="0" bIns="0" rtlCol="0" anchor="ctr"/>
          <a:lstStyle/>
          <a:p>
            <a:pPr indent="0" marL="0">
              <a:buNone/>
            </a:pPr>
            <a:r>
              <a:rPr lang="en-US" sz="1400" dirty="0">
                <a:solidFill>
                  <a:schemeClr val="tx1"/>
                </a:solidFill>
              </a:rPr>
              <a:t>Explain the global null in </a:t>
            </a:r>
            <a:pPr indent="0" marL="0">
              <a:buNone/>
            </a:pPr>
            <a:r>
              <a:rPr lang="en-US" sz="1400" dirty="0">
                <a:solidFill>
                  <a:schemeClr val="accent1"/>
                </a:solidFill>
                <a:latin typeface="Courier New" pitchFamily="34" charset="0"/>
                <a:ea typeface="Courier New" pitchFamily="34" charset="-122"/>
                <a:cs typeface="Courier New" pitchFamily="34" charset="-120"/>
              </a:rPr>
              <a:t>PlantGrowth</a:t>
            </a:r>
            <a:pPr indent="0" marL="0">
              <a:buNone/>
            </a:pPr>
            <a:r>
              <a:rPr lang="en-US" sz="1400" dirty="0">
                <a:solidFill>
                  <a:schemeClr val="tx1"/>
                </a:solidFill>
              </a:rPr>
              <a:t> and identify the residual degrees of freedom.</a:t>
            </a:r>
            <a:endParaRPr lang="en-US" sz="1400" dirty="0"/>
          </a:p>
        </p:txBody>
      </p:sp>
      <p:sp>
        <p:nvSpPr>
          <p:cNvPr id="7" name="card"/>
          <p:cNvSpPr/>
          <p:nvPr/>
        </p:nvSpPr>
        <p:spPr>
          <a:xfrm>
            <a:off x="548640" y="233172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491740"/>
            <a:ext cx="502920" cy="502920"/>
          </a:xfrm>
          <a:prstGeom prst="ellipse">
            <a:avLst/>
          </a:prstGeom>
          <a:solidFill>
            <a:schemeClr val="accent1"/>
          </a:solidFill>
          <a:ln/>
        </p:spPr>
      </p:sp>
      <p:sp>
        <p:nvSpPr>
          <p:cNvPr id="9" name="Text 7"/>
          <p:cNvSpPr txBox="1"/>
          <p:nvPr/>
        </p:nvSpPr>
        <p:spPr>
          <a:xfrm>
            <a:off x="749808" y="24917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377440"/>
            <a:ext cx="6629400" cy="731520"/>
          </a:xfrm>
          <a:prstGeom prst="rect">
            <a:avLst/>
          </a:prstGeom>
          <a:noFill/>
          <a:ln/>
        </p:spPr>
        <p:txBody>
          <a:bodyPr wrap="square" lIns="0" tIns="0" rIns="0" bIns="0" rtlCol="0" anchor="ctr"/>
          <a:lstStyle/>
          <a:p>
            <a:pPr indent="0" marL="0">
              <a:buNone/>
            </a:pPr>
            <a:r>
              <a:rPr lang="en-US" sz="1400" dirty="0">
                <a:solidFill>
                  <a:schemeClr val="tx1"/>
                </a:solidFill>
              </a:rPr>
              <a:t>Interpret one Tukey interval and its adjusted p-value.</a:t>
            </a:r>
            <a:endParaRPr lang="en-US" sz="1400" dirty="0"/>
          </a:p>
        </p:txBody>
      </p:sp>
      <p:sp>
        <p:nvSpPr>
          <p:cNvPr id="11" name="card"/>
          <p:cNvSpPr/>
          <p:nvPr/>
        </p:nvSpPr>
        <p:spPr>
          <a:xfrm>
            <a:off x="548640" y="329184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3451860"/>
            <a:ext cx="502920" cy="502920"/>
          </a:xfrm>
          <a:prstGeom prst="ellipse">
            <a:avLst/>
          </a:prstGeom>
          <a:solidFill>
            <a:schemeClr val="accent1"/>
          </a:solidFill>
          <a:ln/>
        </p:spPr>
      </p:sp>
      <p:sp>
        <p:nvSpPr>
          <p:cNvPr id="13" name="Text 11"/>
          <p:cNvSpPr txBox="1"/>
          <p:nvPr/>
        </p:nvSpPr>
        <p:spPr>
          <a:xfrm>
            <a:off x="749808" y="34518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3337560"/>
            <a:ext cx="6629400" cy="731520"/>
          </a:xfrm>
          <a:prstGeom prst="rect">
            <a:avLst/>
          </a:prstGeom>
          <a:noFill/>
          <a:ln/>
        </p:spPr>
        <p:txBody>
          <a:bodyPr wrap="square" lIns="0" tIns="0" rIns="0" bIns="0" rtlCol="0" anchor="ctr"/>
          <a:lstStyle/>
          <a:p>
            <a:pPr indent="0" marL="0">
              <a:buNone/>
            </a:pPr>
            <a:r>
              <a:rPr lang="en-US" sz="1400" dirty="0">
                <a:solidFill>
                  <a:schemeClr val="tx1"/>
                </a:solidFill>
              </a:rPr>
              <a:t>Fit the RCBD model with and without block. Compare residual mean squares; why include block?</a:t>
            </a:r>
            <a:endParaRPr lang="en-US" sz="1400" dirty="0"/>
          </a:p>
        </p:txBody>
      </p:sp>
      <p:sp>
        <p:nvSpPr>
          <p:cNvPr id="15" name="card"/>
          <p:cNvSpPr/>
          <p:nvPr/>
        </p:nvSpPr>
        <p:spPr>
          <a:xfrm>
            <a:off x="548640" y="425196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4411980"/>
            <a:ext cx="502920" cy="502920"/>
          </a:xfrm>
          <a:prstGeom prst="ellipse">
            <a:avLst/>
          </a:prstGeom>
          <a:solidFill>
            <a:schemeClr val="accent1"/>
          </a:solidFill>
          <a:ln/>
        </p:spPr>
      </p:sp>
      <p:sp>
        <p:nvSpPr>
          <p:cNvPr id="17" name="Text 15"/>
          <p:cNvSpPr txBox="1"/>
          <p:nvPr/>
        </p:nvSpPr>
        <p:spPr>
          <a:xfrm>
            <a:off x="749808" y="441198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4297680"/>
            <a:ext cx="6629400" cy="731520"/>
          </a:xfrm>
          <a:prstGeom prst="rect">
            <a:avLst/>
          </a:prstGeom>
          <a:noFill/>
          <a:ln/>
        </p:spPr>
        <p:txBody>
          <a:bodyPr wrap="square" lIns="0" tIns="0" rIns="0" bIns="0" rtlCol="0" anchor="ctr"/>
          <a:lstStyle/>
          <a:p>
            <a:pPr indent="0" marL="0">
              <a:buNone/>
            </a:pPr>
            <a:r>
              <a:rPr lang="en-US" sz="1400" dirty="0">
                <a:solidFill>
                  <a:schemeClr val="tx1"/>
                </a:solidFill>
              </a:rPr>
              <a:t>Explain why an ANOVA on three treatment means alone cannot estimate plot-to-plot error.</a:t>
            </a:r>
            <a:endParaRPr lang="en-US" sz="1400" dirty="0"/>
          </a:p>
        </p:txBody>
      </p:sp>
      <p:sp>
        <p:nvSpPr>
          <p:cNvPr id="19" name="card"/>
          <p:cNvSpPr/>
          <p:nvPr/>
        </p:nvSpPr>
        <p:spPr>
          <a:xfrm>
            <a:off x="548640" y="5212080"/>
            <a:ext cx="7680960" cy="822960"/>
          </a:xfrm>
          <a:prstGeom prst="roundRect">
            <a:avLst>
              <a:gd name="adj" fmla="val 13333"/>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5372100"/>
            <a:ext cx="502920" cy="502920"/>
          </a:xfrm>
          <a:prstGeom prst="ellipse">
            <a:avLst/>
          </a:prstGeom>
          <a:solidFill>
            <a:schemeClr val="accent1"/>
          </a:solidFill>
          <a:ln/>
        </p:spPr>
      </p:sp>
      <p:sp>
        <p:nvSpPr>
          <p:cNvPr id="21" name="Text 19"/>
          <p:cNvSpPr txBox="1"/>
          <p:nvPr/>
        </p:nvSpPr>
        <p:spPr>
          <a:xfrm>
            <a:off x="749808" y="537210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5257800"/>
            <a:ext cx="6629400" cy="731520"/>
          </a:xfrm>
          <a:prstGeom prst="rect">
            <a:avLst/>
          </a:prstGeom>
          <a:noFill/>
          <a:ln/>
        </p:spPr>
        <p:txBody>
          <a:bodyPr wrap="square" lIns="0" tIns="0" rIns="0" bIns="0" rtlCol="0" anchor="ctr"/>
          <a:lstStyle/>
          <a:p>
            <a:pPr indent="0" marL="0">
              <a:buNone/>
            </a:pPr>
            <a:r>
              <a:rPr lang="en-US" sz="1400" dirty="0">
                <a:solidFill>
                  <a:schemeClr val="tx1"/>
                </a:solidFill>
              </a:rPr>
              <a:t>Propose a randomization scheme for three treatments on a field with a fertility gradient.</a:t>
            </a:r>
            <a:endParaRPr lang="en-US" sz="1400" dirty="0"/>
          </a:p>
        </p:txBody>
      </p:sp>
      <p:sp>
        <p:nvSpPr>
          <p:cNvPr id="23"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24"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25" name="Text 22"/>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26" name="Text 23"/>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2437765"/>
          </a:xfrm>
          <a:prstGeom prst="roundRect">
            <a:avLst>
              <a:gd name="adj" fmla="val 3751"/>
            </a:avLst>
          </a:prstGeom>
          <a:solidFill>
            <a:schemeClr val="tx1"/>
          </a:solidFill>
          <a:ln/>
        </p:spPr>
      </p:sp>
      <p:sp>
        <p:nvSpPr>
          <p:cNvPr id="4" name="Text 2"/>
          <p:cNvSpPr txBox="1"/>
          <p:nvPr/>
        </p:nvSpPr>
        <p:spPr>
          <a:xfrm>
            <a:off x="822960" y="1572768"/>
            <a:ext cx="10515600" cy="2035429"/>
          </a:xfrm>
          <a:prstGeom prst="rect">
            <a:avLst/>
          </a:prstGeom>
          <a:noFill/>
          <a:ln/>
        </p:spPr>
        <p:txBody>
          <a:bodyPr wrap="square" lIns="0" tIns="0" rIns="0" bIns="0" rtlCol="0" anchor="t"/>
          <a:lstStyle/>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data(PlantGrowth)</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fit &lt;- aov(weight ~ group, data = PlantGrowth)</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summary(fit)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TukeyHSD(fit)</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boxplot(weight ~ group, PlantGrowth,</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col = c("#abc4e2", "#ebc276", "#87c4a3"),</a:t>
            </a:r>
            <a:endParaRPr lang="en-US" sz="1700" dirty="0"/>
          </a:p>
          <a:p>
            <a:pPr indent="0" marL="0">
              <a:spcAft>
                <a:spcPts val="200"/>
              </a:spcAft>
              <a:buNone/>
            </a:pPr>
            <a:r>
              <a:rPr lang="en-US" sz="1700" dirty="0">
                <a:solidFill>
                  <a:schemeClr val="bg1"/>
                </a:solidFill>
                <a:latin typeface="Courier New" pitchFamily="34" charset="0"/>
                <a:ea typeface="Courier New" pitchFamily="34" charset="-122"/>
                <a:cs typeface="Courier New" pitchFamily="34" charset="-120"/>
              </a:rPr>
              <a:t>        xlab = "Group", ylab = "Dried weight")</a:t>
            </a:r>
            <a:endParaRPr lang="en-US" sz="1700" dirty="0"/>
          </a:p>
        </p:txBody>
      </p:sp>
      <p:sp>
        <p:nvSpPr>
          <p:cNvPr id="5" name="investigate"/>
          <p:cNvSpPr/>
          <p:nvPr/>
        </p:nvSpPr>
        <p:spPr>
          <a:xfrm>
            <a:off x="548640" y="4129405"/>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4422013"/>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4616323"/>
            <a:ext cx="388620" cy="388620"/>
          </a:xfrm>
          <a:prstGeom prst="rect">
            <a:avLst/>
          </a:prstGeom>
        </p:spPr>
      </p:pic>
      <p:sp>
        <p:nvSpPr>
          <p:cNvPr id="8" name="Text 5"/>
          <p:cNvSpPr txBox="1"/>
          <p:nvPr/>
        </p:nvSpPr>
        <p:spPr>
          <a:xfrm>
            <a:off x="1828800" y="4239133"/>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4604893"/>
            <a:ext cx="9555480" cy="822960"/>
          </a:xfrm>
          <a:prstGeom prst="rect">
            <a:avLst/>
          </a:prstGeom>
          <a:noFill/>
          <a:ln/>
        </p:spPr>
        <p:txBody>
          <a:bodyPr wrap="square" lIns="0" tIns="0" rIns="0" bIns="0" rtlCol="0" anchor="t"/>
          <a:lstStyle/>
          <a:p>
            <a:pPr indent="0" marL="0">
              <a:buNone/>
            </a:pPr>
            <a:r>
              <a:rPr lang="en-US" sz="1500" dirty="0">
                <a:solidFill>
                  <a:schemeClr val="tx1"/>
                </a:solidFill>
              </a:rPr>
              <a:t>The omnibus F-test and Tukey comparisons answer different questions. Identify each question, then check the chapter for randomization, independence and residual checks.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BalanceScal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One global test</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Avoid inflating errors with many t-tests.</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Calculator">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Partition variation</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Treatment and residual mean squares give F.</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ExchangeAlt">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Global ≠ pairwise</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Use adjusted comparisons such as Tukey.</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ThLarge">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Model the design</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Blocks belong in the model as factors.</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13 · Designing and analysing field experiments</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treatments with analysis of variance</dc:title>
  <dc:subject>R Programming for Agricultural Data Analysis · Chapter 12</dc:subject>
  <dc:creator>Dr. Pratheesh P. Gopinath</dc:creator>
  <cp:lastModifiedBy>Dr. Pratheesh P. Gopinath</cp:lastModifiedBy>
  <cp:revision>1</cp:revision>
  <dcterms:created xsi:type="dcterms:W3CDTF">2026-10-20T10:13:43Z</dcterms:created>
  <dcterms:modified xsi:type="dcterms:W3CDTF">2026-10-20T10:13:43Z</dcterms:modified>
</cp:coreProperties>
</file>