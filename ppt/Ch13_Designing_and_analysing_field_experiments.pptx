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4.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5.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d6171e8e-d712-a414-f8fd-599b325e7f12}">
          <p14:sldIdLst>
            <p14:sldId id="256"/>
            <p14:sldId id="257"/>
          </p14:sldIdLst>
        </p14:section>
        <p14:section name="Principles and layouts" id="{700a23c6-172e-4f08-705a-66fcd0664c5d}">
          <p14:sldIdLst>
            <p14:sldId id="258"/>
            <p14:sldId id="259"/>
            <p14:sldId id="260"/>
            <p14:sldId id="261"/>
          </p14:sldIdLst>
        </p14:section>
        <p14:section name="Single-factor designs" id="{918fbb6b-0499-3ac1-2a4f-18cc20c63e22}">
          <p14:sldIdLst>
            <p14:sldId id="262"/>
            <p14:sldId id="263"/>
            <p14:sldId id="264"/>
            <p14:sldId id="265"/>
          </p14:sldIdLst>
        </p14:section>
        <p14:section name="Factorial and split-plot experiments" id="{080e1820-47f2-b1fa-6d28-fabfb20d5a03}">
          <p14:sldIdLst>
            <p14:sldId id="266"/>
            <p14:sldId id="267"/>
            <p14:sldId id="268"/>
            <p14:sldId id="269"/>
          </p14:sldIdLst>
        </p14:section>
        <p14:section name="Transformations and mean comparisons" id="{e5542a71-0020-5ff4-46e7-96232a8010e0}">
          <p14:sldIdLst>
            <p14:sldId id="270"/>
            <p14:sldId id="271"/>
            <p14:sldId id="272"/>
            <p14:sldId id="273"/>
            <p14:sldId id="274"/>
            <p14:sldId id="275"/>
          </p14:sldIdLst>
        </p14:section>
        <p14:section name="Review" id="{778d3450-a80f-7ecc-949e-ae3c1cdeea0f}">
          <p14:sldIdLst>
            <p14:sldId id="27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_rels/chart5.xml.rels><?xml version="1.0" encoding="UTF-8" standalone="yes"?><Relationships xmlns="http://schemas.openxmlformats.org/package/2006/relationships"><Relationship Id="rId1" Type="http://schemas.openxmlformats.org/officeDocument/2006/relationships/package" Target="../embeddings/Microsoft_Excel_Worksheet5.xlsx"/></Relationships>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68"/>
                </a:solidFill>
                <a:latin typeface="+mn-lt"/>
              </a:defRPr>
            </a:pPr>
            <a:r>
              <a:rPr sz="1400" b="0" i="0" u="none" strike="noStrike">
                <a:solidFill>
                  <a:srgbClr val="1F3A68"/>
                </a:solidFill>
                <a:latin typeface="+mn-lt"/>
              </a:rPr>
              <a:t>Mean grain yield of six varieties (t/ha), 4 blocks</a:t>
            </a:r>
          </a:p>
        </c:rich>
      </c:tx>
      <c:layout/>
      <c:overlay val="0"/>
    </c:title>
    <c:autoTitleDeleted val="0"/>
    <c:plotArea>
      <c:layout/>
      <c:barChart>
        <c:barDir val="col"/>
        <c:grouping val="clustered"/>
        <c:varyColors val="0"/>
        <c:ser>
          <c:idx val="0"/>
          <c:order val="0"/>
          <c:tx>
            <c:strRef>
              <c:f>Sheet1!$B$1</c:f>
              <c:strCache>
                <c:ptCount val="1"/>
                <c:pt idx="0">
                  <c:v>Mean yield</c:v>
                </c:pt>
              </c:strCache>
            </c:strRef>
          </c:tx>
          <c:spPr>
            <a:solidFill>
              <a:srgbClr val="1F4E8C"/>
            </a:solidFill>
            <a:effectLst/>
          </c:spPr>
          <c:invertIfNegative val="0"/>
          <c:dLbls>
            <c:numFmt formatCode="0.00" sourceLinked="0"/>
            <c:txPr>
              <a:bodyPr/>
              <a:lstStyle/>
              <a:p>
                <a:pPr>
                  <a:defRPr b="0" i="0" strike="noStrike" sz="1100" u="none">
                    <a:solidFill>
                      <a:srgbClr val="1B2A41"/>
                    </a:solidFill>
                    <a:latin typeface="+mn-lt"/>
                  </a:defRPr>
                </a:pPr>
              </a:p>
            </c:txPr>
            <c:showLegendKey val="0"/>
            <c:showVal val="1"/>
            <c:showCatName val="0"/>
            <c:showSerName val="0"/>
            <c:showPercent val="0"/>
            <c:showBubbleSize val="0"/>
            <c:showLeaderLines val="0"/>
          </c:dLbls>
          <c:cat>
            <c:multiLvlStrRef>
              <c:f>Sheet1!$A$2:$A$7</c:f>
              <c:multiLvlStrCache>
                <c:ptCount val="6"/>
                <c:lvl>
                  <c:pt idx="0">
                    <c:v>V1</c:v>
                  </c:pt>
                  <c:pt idx="1">
                    <c:v>V3</c:v>
                  </c:pt>
                  <c:pt idx="2">
                    <c:v>V4</c:v>
                  </c:pt>
                  <c:pt idx="3">
                    <c:v>V2</c:v>
                  </c:pt>
                  <c:pt idx="4">
                    <c:v>V6</c:v>
                  </c:pt>
                  <c:pt idx="5">
                    <c:v>V5</c:v>
                  </c:pt>
                </c:lvl>
              </c:multiLvlStrCache>
            </c:multiLvlStrRef>
          </c:cat>
          <c:val>
            <c:numRef>
              <c:f>Sheet1!$B$2:$B$7</c:f>
              <c:numCache>
                <c:formatCode>General</c:formatCode>
                <c:ptCount val="6"/>
                <c:pt idx="0">
                  <c:v>5.66</c:v>
                </c:pt>
                <c:pt idx="1">
                  <c:v>5.18</c:v>
                </c:pt>
                <c:pt idx="2">
                  <c:v>5.16</c:v>
                </c:pt>
                <c:pt idx="3">
                  <c:v>4.99</c:v>
                </c:pt>
                <c:pt idx="4">
                  <c:v>4.88</c:v>
                </c:pt>
                <c:pt idx="5">
                  <c:v>4.48</c:v>
                </c:pt>
              </c:numCache>
            </c:numRef>
          </c:val>
        </c:ser>
        <c:dLbls>
          <c:numFmt formatCode="0.00" sourceLinked="0"/>
          <c:txPr>
            <a:bodyPr/>
            <a:lstStyle/>
            <a:p>
              <a:pPr>
                <a:defRPr b="0" i="0" strike="noStrike" sz="1100" u="none">
                  <a:solidFill>
                    <a:srgbClr val="1B2A41"/>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2"/>
                </a:solidFill>
                <a:latin typeface="+mn-lt"/>
              </a:defRPr>
            </a:pPr>
            <a:endParaRPr lang="en-US"/>
          </a:p>
        </c:txPr>
        <c:crossAx val="2094734552"/>
        <c:crosses val="autoZero"/>
        <c:auto val="1"/>
        <c:lblAlgn val="ctr"/>
        <c:noMultiLvlLbl val="1"/>
      </c:catAx>
      <c:valAx>
        <c:axId val="2094734552"/>
        <c:scaling>
          <c:orientation val="minMax"/>
          <c:max val="6.5"/>
          <c:min val="0"/>
        </c:scaling>
        <c:delete val="0"/>
        <c:axPos val="l"/>
        <c:majorGridlines>
          <c:spPr>
            <a:ln w="6350" cap="flat">
              <a:solidFill>
                <a:srgbClr val="E1E6EE"/>
              </a:solidFill>
              <a:prstDash val="solid"/>
              <a:round/>
            </a:ln>
          </c:spPr>
        </c:majorGridlines>
        <c:title>
          <c:tx>
            <c:rich>
              <a:bodyPr/>
              <a:lstStyle/>
              <a:p>
                <a:pPr>
                  <a:defRPr sz="1200" b="0" i="0" u="none" strike="noStrike">
                    <a:solidFill>
                      <a:srgbClr val="5B6B82"/>
                    </a:solidFill>
                    <a:latin typeface="+mn-lt"/>
                  </a:defRPr>
                </a:pPr>
                <a:r>
                  <a:rPr sz="1200" b="0" i="0" u="none" strike="noStrike">
                    <a:solidFill>
                      <a:srgbClr val="5B6B82"/>
                    </a:solidFill>
                    <a:latin typeface="+mn-lt"/>
                  </a:rPr>
                  <a:t>t/ha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2"/>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F3A68"/>
                </a:solidFill>
                <a:latin typeface="+mn-lt"/>
              </a:defRPr>
            </a:pPr>
            <a:r>
              <a:rPr sz="1400" b="0" i="0" u="none" strike="noStrike">
                <a:solidFill>
                  <a:srgbClr val="1F3A68"/>
                </a:solidFill>
                <a:latin typeface="+mn-lt"/>
              </a:rPr>
              <a:t>Mean yield (t/ha) by nitrogen level and variety</a:t>
            </a:r>
          </a:p>
        </c:rich>
      </c:tx>
      <c:layout/>
      <c:overlay val="0"/>
    </c:title>
    <c:autoTitleDeleted val="0"/>
    <c:plotArea>
      <c:layout/>
      <c:lineChart>
        <c:varyColors val="0"/>
        <c:ser>
          <c:idx val="0"/>
          <c:order val="0"/>
          <c:tx>
            <c:strRef>
              <c:f>Sheet1!$B$1</c:f>
              <c:strCache>
                <c:ptCount val="1"/>
                <c:pt idx="0">
                  <c:v>Dwarf</c:v>
                </c:pt>
              </c:strCache>
            </c:strRef>
          </c:tx>
          <c:spPr>
            <a:solidFill>
              <a:srgbClr val="1F4E8C"/>
            </a:solidFill>
            <a:ln w="38100" cap="flat">
              <a:solidFill>
                <a:srgbClr val="1F4E8C"/>
              </a:solidFill>
              <a:prstDash val="solid"/>
              <a:round/>
            </a:ln>
            <a:effectLst/>
          </c:spPr>
          <c:invertIfNegative val="0"/>
          <c:dLbls>
            <c:numFmt formatCode="0.0" sourceLinked="0"/>
            <c:txPr>
              <a:bodyPr/>
              <a:lstStyle/>
              <a:p>
                <a:pPr>
                  <a:defRPr b="0" i="0" strike="noStrike" sz="1100" u="none">
                    <a:solidFill>
                      <a:srgbClr val="1B2A41"/>
                    </a:solidFill>
                    <a:latin typeface="+mn-lt"/>
                  </a:defRPr>
                </a:pPr>
              </a:p>
            </c:txPr>
            <c:showLegendKey val="0"/>
            <c:showVal val="0"/>
            <c:showCatName val="0"/>
            <c:showSerName val="0"/>
            <c:showPercent val="0"/>
            <c:showBubbleSize val="0"/>
            <c:showLeaderLines val="0"/>
          </c:dLbls>
          <c:marker>
            <c:symbol val="circle"/>
            <c:size val="9"/>
            <c:spPr>
              <a:solidFill>
                <a:srgbClr val="1F4E8C"/>
              </a:solidFill>
              <a:ln w="9525" cap="flat">
                <a:solidFill>
                  <a:srgbClr val="1F4E8C"/>
                </a:solidFill>
                <a:prstDash val="solid"/>
                <a:round/>
              </a:ln>
              <a:effectLst/>
            </c:spPr>
          </c:marker>
          <c:cat>
            <c:multiLvlStrRef>
              <c:f>Sheet1!$A$2:$A$4</c:f>
              <c:multiLvlStrCache>
                <c:ptCount val="3"/>
                <c:lvl>
                  <c:pt idx="0">
                    <c:v>N0</c:v>
                  </c:pt>
                  <c:pt idx="1">
                    <c:v>N60</c:v>
                  </c:pt>
                  <c:pt idx="2">
                    <c:v>N120</c:v>
                  </c:pt>
                </c:lvl>
              </c:multiLvlStrCache>
            </c:multiLvlStrRef>
          </c:cat>
          <c:val>
            <c:numRef>
              <c:f>Sheet1!$B$2:$B$4</c:f>
              <c:numCache>
                <c:formatCode>General</c:formatCode>
                <c:ptCount val="3"/>
                <c:pt idx="0">
                  <c:v>3.24</c:v>
                </c:pt>
                <c:pt idx="1">
                  <c:v>4.49</c:v>
                </c:pt>
                <c:pt idx="2">
                  <c:v>5.24</c:v>
                </c:pt>
              </c:numCache>
            </c:numRef>
          </c:val>
          <c:smooth val="0"/>
        </c:ser>
        <c:ser>
          <c:idx val="1"/>
          <c:order val="1"/>
          <c:tx>
            <c:strRef>
              <c:f>Sheet1!$C$1</c:f>
              <c:strCache>
                <c:ptCount val="1"/>
                <c:pt idx="0">
                  <c:v>Tall</c:v>
                </c:pt>
              </c:strCache>
            </c:strRef>
          </c:tx>
          <c:spPr>
            <a:solidFill>
              <a:srgbClr val="C99A1E"/>
            </a:solidFill>
            <a:ln w="38100" cap="flat">
              <a:solidFill>
                <a:srgbClr val="C99A1E"/>
              </a:solidFill>
              <a:prstDash val="solid"/>
              <a:round/>
            </a:ln>
            <a:effectLst/>
          </c:spPr>
          <c:invertIfNegative val="0"/>
          <c:dLbls>
            <c:numFmt formatCode="0.0" sourceLinked="0"/>
            <c:txPr>
              <a:bodyPr/>
              <a:lstStyle/>
              <a:p>
                <a:pPr>
                  <a:defRPr b="0" i="0" strike="noStrike" sz="1100" u="none">
                    <a:solidFill>
                      <a:srgbClr val="1B2A41"/>
                    </a:solidFill>
                    <a:latin typeface="+mn-lt"/>
                  </a:defRPr>
                </a:pPr>
              </a:p>
            </c:txPr>
            <c:showLegendKey val="0"/>
            <c:showVal val="0"/>
            <c:showCatName val="0"/>
            <c:showSerName val="0"/>
            <c:showPercent val="0"/>
            <c:showBubbleSize val="0"/>
            <c:showLeaderLines val="0"/>
          </c:dLbls>
          <c:marker>
            <c:symbol val="circle"/>
            <c:size val="9"/>
            <c:spPr>
              <a:solidFill>
                <a:srgbClr val="C99A1E"/>
              </a:solidFill>
              <a:ln w="9525" cap="flat">
                <a:solidFill>
                  <a:srgbClr val="C99A1E"/>
                </a:solidFill>
                <a:prstDash val="solid"/>
                <a:round/>
              </a:ln>
              <a:effectLst/>
            </c:spPr>
          </c:marker>
          <c:cat>
            <c:multiLvlStrRef>
              <c:f>Sheet1!$A$2:$A$4</c:f>
              <c:multiLvlStrCache>
                <c:ptCount val="3"/>
                <c:lvl>
                  <c:pt idx="0">
                    <c:v>N0</c:v>
                  </c:pt>
                  <c:pt idx="1">
                    <c:v>N60</c:v>
                  </c:pt>
                  <c:pt idx="2">
                    <c:v>N120</c:v>
                  </c:pt>
                </c:lvl>
              </c:multiLvlStrCache>
            </c:multiLvlStrRef>
          </c:cat>
          <c:val>
            <c:numRef>
              <c:f>Sheet1!$C$2:$C$4</c:f>
              <c:numCache>
                <c:formatCode>General</c:formatCode>
                <c:ptCount val="3"/>
                <c:pt idx="0">
                  <c:v>3.02</c:v>
                </c:pt>
                <c:pt idx="1">
                  <c:v>3.86</c:v>
                </c:pt>
                <c:pt idx="2">
                  <c:v>4.13</c:v>
                </c:pt>
              </c:numCache>
            </c:numRef>
          </c:val>
          <c:smooth val="0"/>
        </c:ser>
        <c:dLbls>
          <c:numFmt formatCode="0.0" sourceLinked="0"/>
          <c:txPr>
            <a:bodyPr/>
            <a:lstStyle/>
            <a:p>
              <a:pPr>
                <a:defRPr b="0" i="0" strike="noStrike" sz="1100" u="none">
                  <a:solidFill>
                    <a:srgbClr val="1B2A41"/>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200" b="0" i="0" u="none" strike="noStrike">
                    <a:solidFill>
                      <a:srgbClr val="5B6B82"/>
                    </a:solidFill>
                    <a:latin typeface="+mn-lt"/>
                  </a:defRPr>
                </a:pPr>
                <a:r>
                  <a:rPr sz="1200" b="0" i="0" u="none" strike="noStrike">
                    <a:solidFill>
                      <a:srgbClr val="5B6B82"/>
                    </a:solidFill>
                    <a:latin typeface="+mn-lt"/>
                  </a:rPr>
                  <a:t>Nitrogen level</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82"/>
                </a:solidFill>
                <a:latin typeface="+mn-lt"/>
              </a:defRPr>
            </a:pPr>
            <a:endParaRPr lang="en-US"/>
          </a:p>
        </c:txPr>
        <c:crossAx val="2094734552"/>
        <c:crosses val="autoZero"/>
        <c:auto val="1"/>
        <c:lblAlgn val="ctr"/>
        <c:noMultiLvlLbl val="1"/>
      </c:catAx>
      <c:valAx>
        <c:axId val="2094734552"/>
        <c:scaling>
          <c:orientation val="minMax"/>
          <c:max val="5.5"/>
          <c:min val="2.5"/>
        </c:scaling>
        <c:delete val="0"/>
        <c:axPos val="l"/>
        <c:majorGridlines>
          <c:spPr>
            <a:ln w="6350" cap="flat">
              <a:solidFill>
                <a:srgbClr val="E1E6EE"/>
              </a:solidFill>
              <a:prstDash val="solid"/>
              <a:round/>
            </a:ln>
          </c:spPr>
        </c:majorGridlines>
        <c:title>
          <c:tx>
            <c:rich>
              <a:bodyPr/>
              <a:lstStyle/>
              <a:p>
                <a:pPr>
                  <a:defRPr sz="1200" b="0" i="0" u="none" strike="noStrike">
                    <a:solidFill>
                      <a:srgbClr val="5B6B82"/>
                    </a:solidFill>
                    <a:latin typeface="+mn-lt"/>
                  </a:defRPr>
                </a:pPr>
                <a:r>
                  <a:rPr sz="1200" b="0" i="0" u="none" strike="noStrike">
                    <a:solidFill>
                      <a:srgbClr val="5B6B82"/>
                    </a:solidFill>
                    <a:latin typeface="+mn-lt"/>
                  </a:rPr>
                  <a:t>t/ha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6B82"/>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5B6B82"/>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chapter thirteen, designing and analysing field experiments. In the previous chapter we met analysis of variance with a single treatment factor. Today we move to the experiments you will actually lay out in pots, nurseries and fields: the completely randomized design, the randomized complete block design, the Latin square, factorial experiments and the split plot. One rule runs through the whole chapter: the analysis must follow the way treatments were randomized to experimental units.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chapter you should be able to do four things. First, produce a randomized field plan in R and record the seed so it can be checked later. Second, analyse the five standard designs. Third, calculate and interpret the standard error of a mean, the critical difference and the coefficient of variation, which are printed below every table of treatment means in Indian agricultural research. And fourth, transform counts and percentages when needed, and choose a sensible procedure for comparing means.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with the principles that every field experiment rests on, and then see how to randomize a layout in 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 A. Fisher's work at Rothamsted gave agricultural research three principles. Replication means each treatment is applied to more than one experimental unit, so that we can estimate the variation between units treated alike. Randomization means treatments are allocated by chance, which protects comparisons from bias and justifies the error estimate. Local control means grouping similar units together, for example in blocks across a fertility gradient, so that known variation is removed from the error. Before any of this, identify the experimental unit. If five plants are sampled from one plot, those are subsamples of one unit, not five replicates.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Randomization is done before the experiment and recorded. The function sample returns a random permutation, and set seed makes it reproducible, so keep the seed with your field book. For a completely randomized design with five nitrogen levels and four pots each, we simply permute the twenty labels and check with table that each appears four times. For a randomized complete block design, the randomization is done separately inside each block, so each block contains every variety once in a different order. Remember to lay the blocks across the known gradient, so plots within a block are as alike as possible. The agricolae package can also print complete field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Indian agricultural reports conventionally print four quantities below each table of treatment means. The standard error of a mean is the square root of the error mean square divided by the number of replicates. The standard error of a difference is root two times that. The critical difference at five percent multiplies the standard error of a difference by the tabled t value for the error degrees of freedom; two means that differ by more than the CD differ significantly, provided the F test was significant. The coefficient of variation expresses experimental error relative to the general mean, and describes the precision of the whole experiment. All four come from the error mean square of the correct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 those tools in hand, let us analyse the three single-factor designs.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CRD suits homogeneous units such as pots filled from one well-mixed soil. Here dry matter per pot was recorded for five nitrogen levels with four pots each. Setting the factor levels puts the doses in their natural order; otherwise R sorts the labels alphabetically. The F test is highly significant. The coefficient of variation is about nine percent and the critical difference about three point four grams. Dry matter rose from about eighteen grams to about twenty-nine grams, but the neighbouring pairs N40 and N80, and N120 and N160, differ by less than the CD. Because nitrogen doses are quantitative, a response curve is the better agronomic summary.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randomized block design, blocks are formed across the main gradient and every treatment appears once in each block. The model adds a block term. In this simulated trial of six varieties in four blocks, blocks differed substantially. Including them cut the error mean square from about point one one six to point zero three nine. The relative efficiency of about two point six means a completely randomized design would need roughly two and a half times as many replicates for the same precision. Variety V1 gave the highest yield, about five point six six tonnes per hectare, beating the next variety by about half a tonne, more than the critical difference of point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When a field has two gradients at right angles, such as a slope in one direction and an irrigation channel along another, the Latin square removes both. Each treatment occurs once in every row and every column, so the number of replicates equals the number of treatments, which limits the design to about four to eight treatments. The model has row, column and treatment effects. In this five by five square of weed-management treatments, both rows and columns accounted for significant variation. The error has only twelve degrees of freedom, so with small squares the experiment is often repeated.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real research questions involve more than one factor. Let us look at factorial and split-plot experiments.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factorial experiment every combination of factor levels is a treatment. Here three nitrogen levels and two varieties make six combinations laid out in four blocks. The formula nitrogen star variety gives both main effects and their interaction. The interaction is significant, and the plot shows why. At zero nitrogen the two varieties yield about the same, but the dwarf variety responds much more strongly. From sixty to one hundred and twenty kilograms the dwarf gains about three quarters of a tonne, well above the critical difference for combinations, while the tall variety gains less than a third of a tonne. When the interaction matters, compare nitrogen levels within each variety.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factors, such as irrigation, tillage or sowing date, are impractical on small plots. In a split-plot design each block is divided into main plots that receive the hard-to-change factor, and each main plot is divided into subplots for the second factor. There are two randomizations and therefore two error terms. Error a, between main plots, tests irrigation; it has few degrees of freedom. Error b, between subplots, tests nitrogen and the interaction, and is usually smaller. In R, the Error term block slash irrigation tells aov that main plots are identified by block and irrigation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what happens if we analyse the same split-plot data as an ordinary randomized block with nine treatment combinations. The wrong analysis tests irrigation against a pooled error that is too small for main plots, so its F value jumps from about eighteen to about seventy-six. At the same time, it pools main-plot variation into the error for nitrogen, and the interaction, which is highly significant in the correct analysis, disappears. The correct analysis shows that the nitrogen response depends on irrigation: under the least irrigation, yield levels off after one hundred kilograms, while under the most it is still rising. Same data, same R function, different conclusions.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deal with data that break the constant-variance assumption, and with the choice of a mean-comparison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Agricultural data often break the constant-variance assumption in a predictable way. For counts such as insects per plant, variance rises with the mean: in our aphid data the control has a mean of forty-one and a variance near two hundred and fifty, while the best insecticide has a mean of four and variance one. Bartlett's test is clearly significant on the raw counts but not after taking the square root of the count plus a half. For percentages such as germination, the angular or arcsine transformation stabilizes the variance. Comparisons are made on the transformed scale, and means can be back-transformed for presentation. Generalized linear models are the modern alternative, beyond this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significant F test says that at least one mean differs; researchers then want to know which. The critical difference, or least significant difference, controls the error rate of each comparison, and is appropriate for planned comparisons or a few comparisons after a significant F test. Duncan's multiple range test is traditional for ranking many varieties and is common in Indian journals. Tukey's honestly significant difference controls the error for the whole family of pairwise comparisons. The agricolae functions all take the fitted model, so they use the correct error. Decide on the procedure before you see the results, and remember that letter groupings summarize an analysis but do not replace means, standard errors and the CD.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complete report of a designed experiment states five things. The design, number of treatments and replications, plot size, and how randomization was done. The experimental unit and any subsampling. A table of treatment means with units, followed by the standard error of a mean, the critical difference and the coefficient of variation. The F test and the mean-comparison procedure. And an agronomic interpretation of the size of the differences, together with any transformation or missing plots. A suitable sentence might read: V1 gave the highest yield, exceeding the next variety by nought point four nine tonnes per hectare, more than the critical difference.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Practical fourteen. Work through these seven tasks using the datasets supplied with the book. Start by generating your own randomized plan and recording the seed. Then analyse each design, reporting the means, standard errors, critical difference and coefficient of variation. Pay special attention to task six: analyse the split plot both correctly and incorrectly, and list every conclusion that changes. Submit your script and a short written interpretation for each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the live R laboratory at the end of the chapter, you can run a small randomized block analysis directly in your browser. The code fits the blocked model and calculates the standard error of a mean, the critical difference and the coefficient of variation by hand. Then remove the block term and run it again. Watch what happens to the error mean square and the critical difference, and explain why the blocked model is the correct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review. Replication estimates error, randomization makes comparisons fair, and local control reduces error. Each design is a way of randomizing treatments to units, and its analysis must reproduce that structure, which is why the split plot needs two error terms. Report means with their standard error, critical difference and coefficient of variation. Choose your comparison procedure in advance, transform data when their type demands it, and interpret differences in agronomic units. In the next chapter we turn to correlation and regression.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932688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731520" y="3657600"/>
            <a:ext cx="9326880" cy="731520"/>
          </a:xfrm>
          <a:prstGeom prst="rect">
            <a:avLst/>
          </a:prstGeom>
          <a:noFill/>
          <a:ln/>
        </p:spPr>
        <p:txBody>
          <a:bodyPr wrap="square" rtlCol="0"/>
          <a:lstStyle>
            <a:lvl1pPr indent="0" marL="0">
              <a:buNone/>
              <a:defRPr lang="en-US" sz="2200" dirty="0">
                <a:solidFill>
                  <a:schemeClr val="accent6"/>
                </a:solidFill>
              </a:defRPr>
            </a:lvl1pPr>
          </a:lstStyle>
          <a:p>
            <a:pPr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2377440" y="2560320"/>
            <a:ext cx="8778240" cy="11887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3" name="Text 0"/>
          <p:cNvSpPr/>
          <p:nvPr>
            <p:ph idx="101" type="body" hasCustomPrompt="1"/>
          </p:nvPr>
        </p:nvSpPr>
        <p:spPr>
          <a:xfrm>
            <a:off x="2377440" y="3794760"/>
            <a:ext cx="8778240" cy="640080"/>
          </a:xfrm>
          <a:prstGeom prst="rect">
            <a:avLst/>
          </a:prstGeom>
          <a:noFill/>
          <a:ln/>
        </p:spPr>
        <p:txBody>
          <a:bodyPr wrap="square" rtlCol="0"/>
          <a:lstStyle>
            <a:lvl1pPr indent="0" marL="0">
              <a:buNone/>
              <a:defRPr lang="en-US" sz="1800" dirty="0">
                <a:solidFill>
                  <a:schemeClr val="accent6"/>
                </a:solidFill>
              </a:defRPr>
            </a:lvl1pPr>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rtlCol="0"/>
          <a:lstStyle>
            <a:lvl1pPr indent="0" marL="0">
              <a:buNone/>
              <a:defRPr lang="en-US" sz="3200" b="1" dirty="0">
                <a:solidFill>
                  <a:schemeClr val="tx2"/>
                </a:solidFill>
              </a:defRPr>
            </a:lvl1pPr>
          </a:lstStyle>
          <a:p>
            <a:pPr indent="0" marL="0">
              <a:buNone/>
            </a:pPr>
            <a:endParaRPr lang="en-US" sz="3200" dirty="0"/>
          </a:p>
        </p:txBody>
      </p:sp>
      <p:sp>
        <p:nvSpPr>
          <p:cNvPr id="3" name="Text 0"/>
          <p:cNvSpPr/>
          <p:nvPr/>
        </p:nvSpPr>
        <p:spPr>
          <a:xfrm>
            <a:off x="548640" y="6355080"/>
            <a:ext cx="10058400" cy="274320"/>
          </a:xfrm>
          <a:prstGeom prst="rect">
            <a:avLst/>
          </a:prstGeom>
          <a:noFill/>
          <a:ln/>
        </p:spPr>
        <p:txBody>
          <a:bodyPr wrap="square" lIns="0" tIns="0" rIns="0" bIns="0" rtlCol="0" anchor="ctr"/>
          <a:lstStyle/>
          <a:p>
            <a:pPr indent="0" marL="0">
              <a:buNone/>
            </a:pPr>
            <a:r>
              <a:rPr lang="en-US" sz="1000" dirty="0">
                <a:solidFill>
                  <a:schemeClr val="accent5"/>
                </a:solidFill>
              </a:rPr>
              <a:t>Chapter 13 · Designing and analysing field experiments  ·  R Programming for Agricultural Data Analysis</a:t>
            </a:r>
            <a:endParaRPr lang="en-US" sz="10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4.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4.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4.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5.xml"/><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4.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4.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4.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4.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3.xml"/><Relationship Id="rId6"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1463040"/>
            <a:ext cx="9144000" cy="365760"/>
          </a:xfrm>
          <a:prstGeom prst="rect">
            <a:avLst/>
          </a:prstGeom>
          <a:noFill/>
          <a:ln/>
        </p:spPr>
        <p:txBody>
          <a:bodyPr wrap="square" lIns="0" tIns="0" rIns="0" bIns="0" rtlCol="0" anchor="t"/>
          <a:lstStyle/>
          <a:p>
            <a:pPr indent="0" marL="0">
              <a:buNone/>
            </a:pPr>
            <a:r>
              <a:rPr lang="en-US" sz="1600" b="1" spc="300" kern="0" dirty="0">
                <a:solidFill>
                  <a:schemeClr val="accent2"/>
                </a:solidFill>
              </a:rPr>
              <a:t>MODULE 6  ·  CHAPTER 13</a:t>
            </a:r>
            <a:endParaRPr lang="en-US" sz="1600" dirty="0"/>
          </a:p>
        </p:txBody>
      </p:sp>
      <p:sp>
        <p:nvSpPr>
          <p:cNvPr id="3" name="Text 0"/>
          <p:cNvSpPr/>
          <p:nvPr>
            <p:ph idx="100" type="title" hasCustomPrompt="1"/>
          </p:nvPr>
        </p:nvSpPr>
        <p:spPr>
          <a:xfrm>
            <a:off x="731520" y="2103120"/>
            <a:ext cx="9326880" cy="1463040"/>
          </a:xfrm>
          <a:prstGeom prst="rect">
            <a:avLst/>
          </a:prstGeom>
          <a:noFill/>
          <a:ln/>
        </p:spPr>
        <p:txBody>
          <a:bodyPr wrap="square" lIns="0" tIns="0" rIns="0" bIns="0" rtlCol="0" anchor="t"/>
          <a:lstStyle/>
          <a:p>
            <a:pPr algn="l" indent="0" marL="0">
              <a:buNone/>
            </a:pPr>
            <a:r>
              <a:rPr lang="en-US" sz="4400" b="1" dirty="0">
                <a:solidFill>
                  <a:schemeClr val="bg1"/>
                </a:solidFill>
              </a:rPr>
              <a:t>Designing and analysing field experiments</a:t>
            </a:r>
            <a:endParaRPr lang="en-US" sz="4400" dirty="0"/>
          </a:p>
        </p:txBody>
      </p:sp>
      <p:sp>
        <p:nvSpPr>
          <p:cNvPr id="4" name="Text 0"/>
          <p:cNvSpPr/>
          <p:nvPr>
            <p:ph idx="101" type="body" hasCustomPrompt="1"/>
          </p:nvPr>
        </p:nvSpPr>
        <p:spPr>
          <a:xfrm>
            <a:off x="731520" y="3657600"/>
            <a:ext cx="9326880" cy="731520"/>
          </a:xfrm>
          <a:prstGeom prst="rect">
            <a:avLst/>
          </a:prstGeom>
          <a:noFill/>
          <a:ln/>
        </p:spPr>
        <p:txBody>
          <a:bodyPr wrap="square" lIns="0" tIns="0" rIns="0" bIns="0" rtlCol="0" anchor="t"/>
          <a:lstStyle/>
          <a:p>
            <a:pPr indent="0" marL="0">
              <a:buNone/>
            </a:pPr>
            <a:r>
              <a:rPr lang="en-US" sz="2200" dirty="0">
                <a:solidFill>
                  <a:schemeClr val="accent6"/>
                </a:solidFill>
              </a:rPr>
              <a:t>R Programming for Agricultural Data Analysis</a:t>
            </a:r>
            <a:endParaRPr lang="en-US" sz="2200" dirty="0"/>
          </a:p>
        </p:txBody>
      </p:sp>
      <p:sp>
        <p:nvSpPr>
          <p:cNvPr id="5" name="Text 3"/>
          <p:cNvSpPr txBox="1"/>
          <p:nvPr/>
        </p:nvSpPr>
        <p:spPr>
          <a:xfrm>
            <a:off x="731520" y="4937760"/>
            <a:ext cx="10515600" cy="731520"/>
          </a:xfrm>
          <a:prstGeom prst="rect">
            <a:avLst/>
          </a:prstGeom>
          <a:noFill/>
          <a:ln/>
        </p:spPr>
        <p:txBody>
          <a:bodyPr wrap="square" lIns="0" tIns="0" rIns="0" bIns="0" rtlCol="0" anchor="t"/>
          <a:lstStyle/>
          <a:p>
            <a:pPr indent="0" marL="0">
              <a:buNone/>
            </a:pPr>
            <a:r>
              <a:rPr lang="en-US" sz="1500" b="1" dirty="0">
                <a:solidFill>
                  <a:schemeClr val="bg1"/>
                </a:solidFill>
              </a:rPr>
              <a:t>Dr. Pratheesh P. Gopinath</a:t>
            </a:r>
            <a:endParaRPr lang="en-US" sz="1500" dirty="0"/>
          </a:p>
          <a:p>
            <a:pPr indent="0" marL="0">
              <a:buNone/>
            </a:pPr>
            <a:r>
              <a:rPr lang="en-US" sz="1500" dirty="0">
                <a:solidFill>
                  <a:schemeClr val="bg1"/>
                </a:solidFill>
              </a:rPr>
              <a:t>Department of Agricultural Statistics · College of Agriculture, Vellayani · Kerala Agricultural University</a:t>
            </a:r>
            <a:endParaRPr lang="en-US" sz="1500" dirty="0"/>
          </a:p>
        </p:txBody>
      </p:sp>
      <p:pic>
        <p:nvPicPr>
          <p:cNvPr id="6" name="Image 0" descr="chapter icon">    </p:cNvPr>
          <p:cNvPicPr>
            <a:picLocks noChangeAspect="1"/>
          </p:cNvPicPr>
          <p:nvPr/>
        </p:nvPicPr>
        <p:blipFill>
          <a:blip r:embed="rId1"/>
          <a:stretch>
            <a:fillRect/>
          </a:stretch>
        </p:blipFill>
        <p:spPr>
          <a:xfrm>
            <a:off x="10149840" y="1188720"/>
            <a:ext cx="1280160" cy="128016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In this chapter you will</a:t>
            </a:r>
            <a:endParaRPr lang="en-US" sz="3200" dirty="0"/>
          </a:p>
        </p:txBody>
      </p:sp>
      <p:sp>
        <p:nvSpPr>
          <p:cNvPr id="3" name="card"/>
          <p:cNvSpPr/>
          <p:nvPr/>
        </p:nvSpPr>
        <p:spPr>
          <a:xfrm>
            <a:off x="54864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22960" y="1691640"/>
            <a:ext cx="731520" cy="731520"/>
          </a:xfrm>
          <a:prstGeom prst="ellipse">
            <a:avLst/>
          </a:prstGeom>
          <a:solidFill>
            <a:schemeClr val="accent1"/>
          </a:solidFill>
          <a:ln/>
        </p:spPr>
      </p:sp>
      <p:pic>
        <p:nvPicPr>
          <p:cNvPr id="5" name="Image 0" descr="FaRandom">    </p:cNvPr>
          <p:cNvPicPr>
            <a:picLocks noChangeAspect="1"/>
          </p:cNvPicPr>
          <p:nvPr/>
        </p:nvPicPr>
        <p:blipFill>
          <a:blip r:embed="rId1"/>
          <a:stretch>
            <a:fillRect/>
          </a:stretch>
        </p:blipFill>
        <p:spPr>
          <a:xfrm>
            <a:off x="1005840" y="1874520"/>
            <a:ext cx="365760" cy="365760"/>
          </a:xfrm>
          <a:prstGeom prst="rect">
            <a:avLst/>
          </a:prstGeom>
        </p:spPr>
      </p:pic>
      <p:sp>
        <p:nvSpPr>
          <p:cNvPr id="6" name="Text 3"/>
          <p:cNvSpPr txBox="1"/>
          <p:nvPr/>
        </p:nvSpPr>
        <p:spPr>
          <a:xfrm>
            <a:off x="178308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Randomize field layouts</a:t>
            </a:r>
            <a:endParaRPr lang="en-US" sz="1800" dirty="0"/>
          </a:p>
        </p:txBody>
      </p:sp>
      <p:sp>
        <p:nvSpPr>
          <p:cNvPr id="7" name="Text 4"/>
          <p:cNvSpPr txBox="1"/>
          <p:nvPr/>
        </p:nvSpPr>
        <p:spPr>
          <a:xfrm>
            <a:off x="178308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CRD, RCBD and Latin square plans in R, with a recorded seed</a:t>
            </a:r>
            <a:endParaRPr lang="en-US" sz="1400" dirty="0"/>
          </a:p>
        </p:txBody>
      </p:sp>
      <p:sp>
        <p:nvSpPr>
          <p:cNvPr id="8" name="card"/>
          <p:cNvSpPr/>
          <p:nvPr/>
        </p:nvSpPr>
        <p:spPr>
          <a:xfrm>
            <a:off x="6172200" y="137160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46520" y="1691640"/>
            <a:ext cx="731520" cy="731520"/>
          </a:xfrm>
          <a:prstGeom prst="ellipse">
            <a:avLst/>
          </a:prstGeom>
          <a:solidFill>
            <a:schemeClr val="accent1"/>
          </a:solidFill>
          <a:ln/>
        </p:spPr>
      </p:sp>
      <p:pic>
        <p:nvPicPr>
          <p:cNvPr id="10" name="Image 1" descr="FaTable">    </p:cNvPr>
          <p:cNvPicPr>
            <a:picLocks noChangeAspect="1"/>
          </p:cNvPicPr>
          <p:nvPr/>
        </p:nvPicPr>
        <p:blipFill>
          <a:blip r:embed="rId2"/>
          <a:stretch>
            <a:fillRect/>
          </a:stretch>
        </p:blipFill>
        <p:spPr>
          <a:xfrm>
            <a:off x="6629400" y="1874520"/>
            <a:ext cx="365760" cy="365760"/>
          </a:xfrm>
          <a:prstGeom prst="rect">
            <a:avLst/>
          </a:prstGeom>
        </p:spPr>
      </p:pic>
      <p:sp>
        <p:nvSpPr>
          <p:cNvPr id="11" name="Text 7"/>
          <p:cNvSpPr txBox="1"/>
          <p:nvPr/>
        </p:nvSpPr>
        <p:spPr>
          <a:xfrm>
            <a:off x="7406640" y="1645920"/>
            <a:ext cx="4023360" cy="411480"/>
          </a:xfrm>
          <a:prstGeom prst="rect">
            <a:avLst/>
          </a:prstGeom>
          <a:noFill/>
          <a:ln/>
        </p:spPr>
        <p:txBody>
          <a:bodyPr wrap="square" lIns="0" tIns="0" rIns="0" bIns="0" rtlCol="0" anchor="t"/>
          <a:lstStyle/>
          <a:p>
            <a:pPr indent="0" marL="0">
              <a:buNone/>
            </a:pPr>
            <a:r>
              <a:rPr lang="en-US" sz="1800" b="1" dirty="0">
                <a:solidFill>
                  <a:schemeClr val="tx2"/>
                </a:solidFill>
              </a:rPr>
              <a:t>Analyse standard designs</a:t>
            </a:r>
            <a:endParaRPr lang="en-US" sz="1800" dirty="0"/>
          </a:p>
        </p:txBody>
      </p:sp>
      <p:sp>
        <p:nvSpPr>
          <p:cNvPr id="12" name="Text 8"/>
          <p:cNvSpPr txBox="1"/>
          <p:nvPr/>
        </p:nvSpPr>
        <p:spPr>
          <a:xfrm>
            <a:off x="7406640" y="208483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CRD, RCBD, Latin square, factorial and split plot</a:t>
            </a:r>
            <a:endParaRPr lang="en-US" sz="1400" dirty="0"/>
          </a:p>
        </p:txBody>
      </p:sp>
      <p:sp>
        <p:nvSpPr>
          <p:cNvPr id="13" name="card"/>
          <p:cNvSpPr/>
          <p:nvPr/>
        </p:nvSpPr>
        <p:spPr>
          <a:xfrm>
            <a:off x="54864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22960" y="3337560"/>
            <a:ext cx="731520" cy="731520"/>
          </a:xfrm>
          <a:prstGeom prst="ellipse">
            <a:avLst/>
          </a:prstGeom>
          <a:solidFill>
            <a:schemeClr val="accent1"/>
          </a:solidFill>
          <a:ln/>
        </p:spPr>
      </p:sp>
      <p:pic>
        <p:nvPicPr>
          <p:cNvPr id="15" name="Image 2" descr="FaCalculator">    </p:cNvPr>
          <p:cNvPicPr>
            <a:picLocks noChangeAspect="1"/>
          </p:cNvPicPr>
          <p:nvPr/>
        </p:nvPicPr>
        <p:blipFill>
          <a:blip r:embed="rId3"/>
          <a:stretch>
            <a:fillRect/>
          </a:stretch>
        </p:blipFill>
        <p:spPr>
          <a:xfrm>
            <a:off x="1005840" y="3520440"/>
            <a:ext cx="365760" cy="365760"/>
          </a:xfrm>
          <a:prstGeom prst="rect">
            <a:avLst/>
          </a:prstGeom>
        </p:spPr>
      </p:pic>
      <p:sp>
        <p:nvSpPr>
          <p:cNvPr id="16" name="Text 11"/>
          <p:cNvSpPr txBox="1"/>
          <p:nvPr/>
        </p:nvSpPr>
        <p:spPr>
          <a:xfrm>
            <a:off x="178308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Report SEm, CD and CV</a:t>
            </a:r>
            <a:endParaRPr lang="en-US" sz="1800" dirty="0"/>
          </a:p>
        </p:txBody>
      </p:sp>
      <p:sp>
        <p:nvSpPr>
          <p:cNvPr id="17" name="Text 12"/>
          <p:cNvSpPr txBox="1"/>
          <p:nvPr/>
        </p:nvSpPr>
        <p:spPr>
          <a:xfrm>
            <a:off x="178308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The quantities printed under every table of means</a:t>
            </a:r>
            <a:endParaRPr lang="en-US" sz="1400" dirty="0"/>
          </a:p>
        </p:txBody>
      </p:sp>
      <p:sp>
        <p:nvSpPr>
          <p:cNvPr id="18" name="card"/>
          <p:cNvSpPr/>
          <p:nvPr/>
        </p:nvSpPr>
        <p:spPr>
          <a:xfrm>
            <a:off x="6172200" y="3017520"/>
            <a:ext cx="5440680" cy="1371600"/>
          </a:xfrm>
          <a:prstGeom prst="roundRect">
            <a:avLst>
              <a:gd name="adj" fmla="val 8000"/>
            </a:avLst>
          </a:prstGeom>
          <a:solidFill>
            <a:schemeClr val="bg2"/>
          </a:solidFill>
          <a:ln/>
          <a:effectLst>
            <a:outerShdw sx="100000" sy="100000" kx="0" ky="0" algn="bl" rotWithShape="0" blurRad="76200" dist="25400" dir="5400000">
              <a:srgbClr val="8A97AB">
                <a:alpha val="25000"/>
              </a:srgbClr>
            </a:outerShdw>
          </a:effectLst>
        </p:spPr>
      </p:sp>
      <p:sp>
        <p:nvSpPr>
          <p:cNvPr id="19" name="icon circle"/>
          <p:cNvSpPr/>
          <p:nvPr/>
        </p:nvSpPr>
        <p:spPr>
          <a:xfrm>
            <a:off x="6446520" y="3337560"/>
            <a:ext cx="731520" cy="731520"/>
          </a:xfrm>
          <a:prstGeom prst="ellipse">
            <a:avLst/>
          </a:prstGeom>
          <a:solidFill>
            <a:schemeClr val="accent1"/>
          </a:solidFill>
          <a:ln/>
        </p:spPr>
      </p:sp>
      <p:pic>
        <p:nvPicPr>
          <p:cNvPr id="20" name="Image 3" descr="FaExchangeAlt">    </p:cNvPr>
          <p:cNvPicPr>
            <a:picLocks noChangeAspect="1"/>
          </p:cNvPicPr>
          <p:nvPr/>
        </p:nvPicPr>
        <p:blipFill>
          <a:blip r:embed="rId4"/>
          <a:stretch>
            <a:fillRect/>
          </a:stretch>
        </p:blipFill>
        <p:spPr>
          <a:xfrm>
            <a:off x="6629400" y="3520440"/>
            <a:ext cx="365760" cy="365760"/>
          </a:xfrm>
          <a:prstGeom prst="rect">
            <a:avLst/>
          </a:prstGeom>
        </p:spPr>
      </p:pic>
      <p:sp>
        <p:nvSpPr>
          <p:cNvPr id="21" name="Text 15"/>
          <p:cNvSpPr txBox="1"/>
          <p:nvPr/>
        </p:nvSpPr>
        <p:spPr>
          <a:xfrm>
            <a:off x="7406640" y="3291840"/>
            <a:ext cx="4023360" cy="411480"/>
          </a:xfrm>
          <a:prstGeom prst="rect">
            <a:avLst/>
          </a:prstGeom>
          <a:noFill/>
          <a:ln/>
        </p:spPr>
        <p:txBody>
          <a:bodyPr wrap="square" lIns="0" tIns="0" rIns="0" bIns="0" rtlCol="0" anchor="t"/>
          <a:lstStyle/>
          <a:p>
            <a:pPr indent="0" marL="0">
              <a:buNone/>
            </a:pPr>
            <a:r>
              <a:rPr lang="en-US" sz="1800" b="1" dirty="0">
                <a:solidFill>
                  <a:schemeClr val="tx2"/>
                </a:solidFill>
              </a:rPr>
              <a:t>Transform and compare</a:t>
            </a:r>
            <a:endParaRPr lang="en-US" sz="1800" dirty="0"/>
          </a:p>
        </p:txBody>
      </p:sp>
      <p:sp>
        <p:nvSpPr>
          <p:cNvPr id="22" name="Text 16"/>
          <p:cNvSpPr txBox="1"/>
          <p:nvPr/>
        </p:nvSpPr>
        <p:spPr>
          <a:xfrm>
            <a:off x="7406640" y="3730752"/>
            <a:ext cx="4023360" cy="502920"/>
          </a:xfrm>
          <a:prstGeom prst="rect">
            <a:avLst/>
          </a:prstGeom>
          <a:noFill/>
          <a:ln/>
        </p:spPr>
        <p:txBody>
          <a:bodyPr wrap="square" lIns="0" tIns="0" rIns="0" bIns="0" rtlCol="0" anchor="t"/>
          <a:lstStyle/>
          <a:p>
            <a:pPr indent="0" marL="0">
              <a:buNone/>
            </a:pPr>
            <a:r>
              <a:rPr lang="en-US" sz="1400" dirty="0">
                <a:solidFill>
                  <a:schemeClr val="accent5"/>
                </a:solidFill>
              </a:rPr>
              <a:t>Square-root and angular transformations; LSD, DMRT and Tukey</a:t>
            </a:r>
            <a:endParaRPr lang="en-US" sz="1400" dirty="0"/>
          </a:p>
        </p:txBody>
      </p:sp>
      <p:sp>
        <p:nvSpPr>
          <p:cNvPr id="23" name="key idea"/>
          <p:cNvSpPr/>
          <p:nvPr/>
        </p:nvSpPr>
        <p:spPr>
          <a:xfrm>
            <a:off x="548640" y="4709160"/>
            <a:ext cx="11064240" cy="822960"/>
          </a:xfrm>
          <a:prstGeom prst="roundRect">
            <a:avLst>
              <a:gd name="adj" fmla="val 13333"/>
            </a:avLst>
          </a:prstGeom>
          <a:solidFill>
            <a:schemeClr val="accent6"/>
          </a:solidFill>
          <a:ln/>
          <a:effectLst>
            <a:outerShdw sx="100000" sy="100000" kx="0" ky="0" algn="bl" rotWithShape="0" blurRad="76200" dist="25400" dir="5400000">
              <a:srgbClr val="8A97AB">
                <a:alpha val="25000"/>
              </a:srgbClr>
            </a:outerShdw>
          </a:effectLst>
        </p:spPr>
      </p:sp>
      <p:sp>
        <p:nvSpPr>
          <p:cNvPr id="24" name="Text 18"/>
          <p:cNvSpPr txBox="1"/>
          <p:nvPr/>
        </p:nvSpPr>
        <p:spPr>
          <a:xfrm>
            <a:off x="822960" y="4709160"/>
            <a:ext cx="10515600" cy="82296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Every design is a way of randomizing treatments to units. The analysis must reproduce that structure.</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A</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Principles and layouts</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Replication, randomization, local control</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Fisher's three principles</a:t>
            </a:r>
            <a:endParaRPr lang="en-US" sz="3200" dirty="0"/>
          </a:p>
        </p:txBody>
      </p:sp>
      <p:sp>
        <p:nvSpPr>
          <p:cNvPr id="3" name="card"/>
          <p:cNvSpPr/>
          <p:nvPr/>
        </p:nvSpPr>
        <p:spPr>
          <a:xfrm>
            <a:off x="54864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600200"/>
            <a:ext cx="731520" cy="731520"/>
          </a:xfrm>
          <a:prstGeom prst="ellipse">
            <a:avLst/>
          </a:prstGeom>
          <a:solidFill>
            <a:schemeClr val="accent1"/>
          </a:solidFill>
          <a:ln/>
        </p:spPr>
      </p:sp>
      <p:pic>
        <p:nvPicPr>
          <p:cNvPr id="5" name="Image 0" descr="FaClone">    </p:cNvPr>
          <p:cNvPicPr>
            <a:picLocks noChangeAspect="1"/>
          </p:cNvPicPr>
          <p:nvPr/>
        </p:nvPicPr>
        <p:blipFill>
          <a:blip r:embed="rId1"/>
          <a:stretch>
            <a:fillRect/>
          </a:stretch>
        </p:blipFill>
        <p:spPr>
          <a:xfrm>
            <a:off x="960120" y="1783080"/>
            <a:ext cx="365760" cy="365760"/>
          </a:xfrm>
          <a:prstGeom prst="rect">
            <a:avLst/>
          </a:prstGeom>
        </p:spPr>
      </p:pic>
      <p:sp>
        <p:nvSpPr>
          <p:cNvPr id="6" name="Text 3"/>
          <p:cNvSpPr txBox="1"/>
          <p:nvPr/>
        </p:nvSpPr>
        <p:spPr>
          <a:xfrm>
            <a:off x="77724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Replication</a:t>
            </a:r>
            <a:endParaRPr lang="en-US" sz="1700" dirty="0"/>
          </a:p>
        </p:txBody>
      </p:sp>
      <p:sp>
        <p:nvSpPr>
          <p:cNvPr id="7" name="Text 4"/>
          <p:cNvSpPr txBox="1"/>
          <p:nvPr/>
        </p:nvSpPr>
        <p:spPr>
          <a:xfrm>
            <a:off x="77724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Each treatment goes on several units. This estimates experimental error and makes treatment means more precise.</a:t>
            </a:r>
            <a:endParaRPr lang="en-US" sz="1800" dirty="0"/>
          </a:p>
        </p:txBody>
      </p:sp>
      <p:sp>
        <p:nvSpPr>
          <p:cNvPr id="8" name="card"/>
          <p:cNvSpPr/>
          <p:nvPr/>
        </p:nvSpPr>
        <p:spPr>
          <a:xfrm>
            <a:off x="431292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4541520" y="1600200"/>
            <a:ext cx="731520" cy="731520"/>
          </a:xfrm>
          <a:prstGeom prst="ellipse">
            <a:avLst/>
          </a:prstGeom>
          <a:solidFill>
            <a:schemeClr val="accent2"/>
          </a:solidFill>
          <a:ln/>
        </p:spPr>
      </p:sp>
      <p:pic>
        <p:nvPicPr>
          <p:cNvPr id="10" name="Image 1" descr="FaRandom">    </p:cNvPr>
          <p:cNvPicPr>
            <a:picLocks noChangeAspect="1"/>
          </p:cNvPicPr>
          <p:nvPr/>
        </p:nvPicPr>
        <p:blipFill>
          <a:blip r:embed="rId2"/>
          <a:stretch>
            <a:fillRect/>
          </a:stretch>
        </p:blipFill>
        <p:spPr>
          <a:xfrm>
            <a:off x="4724400" y="1783080"/>
            <a:ext cx="365760" cy="365760"/>
          </a:xfrm>
          <a:prstGeom prst="rect">
            <a:avLst/>
          </a:prstGeom>
        </p:spPr>
      </p:pic>
      <p:sp>
        <p:nvSpPr>
          <p:cNvPr id="11" name="Text 7"/>
          <p:cNvSpPr txBox="1"/>
          <p:nvPr/>
        </p:nvSpPr>
        <p:spPr>
          <a:xfrm>
            <a:off x="454152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Randomization</a:t>
            </a:r>
            <a:endParaRPr lang="en-US" sz="1700" dirty="0"/>
          </a:p>
        </p:txBody>
      </p:sp>
      <p:sp>
        <p:nvSpPr>
          <p:cNvPr id="12" name="Text 8"/>
          <p:cNvSpPr txBox="1"/>
          <p:nvPr/>
        </p:nvSpPr>
        <p:spPr>
          <a:xfrm>
            <a:off x="454152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Chance, not the researcher, allocates treatments. It prevents bias and justifies the error used in the F-test.</a:t>
            </a:r>
            <a:endParaRPr lang="en-US" sz="1800" dirty="0"/>
          </a:p>
        </p:txBody>
      </p:sp>
      <p:sp>
        <p:nvSpPr>
          <p:cNvPr id="13" name="card"/>
          <p:cNvSpPr/>
          <p:nvPr/>
        </p:nvSpPr>
        <p:spPr>
          <a:xfrm>
            <a:off x="8077200" y="1371600"/>
            <a:ext cx="3535680" cy="3054096"/>
          </a:xfrm>
          <a:prstGeom prst="roundRect">
            <a:avLst>
              <a:gd name="adj" fmla="val 3593"/>
            </a:avLst>
          </a:prstGeom>
          <a:solidFill>
            <a:schemeClr val="bg2"/>
          </a:solidFill>
          <a:ln/>
          <a:effectLst>
            <a:outerShdw sx="100000" sy="100000" kx="0" ky="0" algn="bl" rotWithShape="0" blurRad="76200" dist="25400" dir="5400000">
              <a:srgbClr val="8A97AB">
                <a:alpha val="25000"/>
              </a:srgbClr>
            </a:outerShdw>
          </a:effectLst>
        </p:spPr>
      </p:sp>
      <p:sp>
        <p:nvSpPr>
          <p:cNvPr id="14" name="icon circle"/>
          <p:cNvSpPr/>
          <p:nvPr/>
        </p:nvSpPr>
        <p:spPr>
          <a:xfrm>
            <a:off x="8305800" y="1600200"/>
            <a:ext cx="731520" cy="731520"/>
          </a:xfrm>
          <a:prstGeom prst="ellipse">
            <a:avLst/>
          </a:prstGeom>
          <a:solidFill>
            <a:schemeClr val="accent3"/>
          </a:solidFill>
          <a:ln/>
        </p:spPr>
      </p:sp>
      <p:pic>
        <p:nvPicPr>
          <p:cNvPr id="15" name="Image 2" descr="FaLayerGroup">    </p:cNvPr>
          <p:cNvPicPr>
            <a:picLocks noChangeAspect="1"/>
          </p:cNvPicPr>
          <p:nvPr/>
        </p:nvPicPr>
        <p:blipFill>
          <a:blip r:embed="rId3"/>
          <a:stretch>
            <a:fillRect/>
          </a:stretch>
        </p:blipFill>
        <p:spPr>
          <a:xfrm>
            <a:off x="8488680" y="1783080"/>
            <a:ext cx="365760" cy="365760"/>
          </a:xfrm>
          <a:prstGeom prst="rect">
            <a:avLst/>
          </a:prstGeom>
        </p:spPr>
      </p:pic>
      <p:sp>
        <p:nvSpPr>
          <p:cNvPr id="16" name="Text 11"/>
          <p:cNvSpPr txBox="1"/>
          <p:nvPr/>
        </p:nvSpPr>
        <p:spPr>
          <a:xfrm>
            <a:off x="8305800" y="2468880"/>
            <a:ext cx="3078480" cy="292608"/>
          </a:xfrm>
          <a:prstGeom prst="rect">
            <a:avLst/>
          </a:prstGeom>
          <a:noFill/>
          <a:ln/>
        </p:spPr>
        <p:txBody>
          <a:bodyPr wrap="square" lIns="0" tIns="0" rIns="0" bIns="0" rtlCol="0" anchor="t"/>
          <a:lstStyle/>
          <a:p>
            <a:pPr indent="0" marL="0">
              <a:buNone/>
            </a:pPr>
            <a:r>
              <a:rPr lang="en-US" sz="1700" b="1" dirty="0">
                <a:solidFill>
                  <a:schemeClr val="tx2"/>
                </a:solidFill>
              </a:rPr>
              <a:t>Local control</a:t>
            </a:r>
            <a:endParaRPr lang="en-US" sz="1700" dirty="0"/>
          </a:p>
        </p:txBody>
      </p:sp>
      <p:sp>
        <p:nvSpPr>
          <p:cNvPr id="17" name="Text 12"/>
          <p:cNvSpPr txBox="1"/>
          <p:nvPr/>
        </p:nvSpPr>
        <p:spPr>
          <a:xfrm>
            <a:off x="8305800" y="2871216"/>
            <a:ext cx="3078480" cy="1444752"/>
          </a:xfrm>
          <a:prstGeom prst="rect">
            <a:avLst/>
          </a:prstGeom>
          <a:noFill/>
          <a:ln/>
        </p:spPr>
        <p:txBody>
          <a:bodyPr wrap="square" lIns="0" tIns="0" rIns="0" bIns="0" rtlCol="0" anchor="t"/>
          <a:lstStyle/>
          <a:p>
            <a:pPr indent="0" marL="0">
              <a:buNone/>
            </a:pPr>
            <a:r>
              <a:rPr lang="en-US" sz="1800" dirty="0">
                <a:solidFill>
                  <a:schemeClr val="accent5"/>
                </a:solidFill>
              </a:rPr>
              <a:t>Group similar units into blocks, rows and columns, or main plots. Known variation leaves the error term.</a:t>
            </a:r>
            <a:endParaRPr lang="en-US" sz="1800" dirty="0"/>
          </a:p>
        </p:txBody>
      </p:sp>
      <p:sp>
        <p:nvSpPr>
          <p:cNvPr id="18" name="key idea"/>
          <p:cNvSpPr/>
          <p:nvPr/>
        </p:nvSpPr>
        <p:spPr>
          <a:xfrm>
            <a:off x="548640" y="4700016"/>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9" name="Text 14"/>
          <p:cNvSpPr txBox="1"/>
          <p:nvPr/>
        </p:nvSpPr>
        <p:spPr>
          <a:xfrm>
            <a:off x="822960" y="4700016"/>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Identify the experimental unit first: the smallest unit to which a treatment is independently applied. Five plants from one plot are subsamples, not replicates.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Randomizing a CRD and an RCBD in R</a:t>
            </a:r>
            <a:endParaRPr lang="en-US" sz="3200" dirty="0"/>
          </a:p>
        </p:txBody>
      </p:sp>
      <p:sp>
        <p:nvSpPr>
          <p:cNvPr id="3" name="code panel"/>
          <p:cNvSpPr/>
          <p:nvPr/>
        </p:nvSpPr>
        <p:spPr>
          <a:xfrm>
            <a:off x="548640" y="1325880"/>
            <a:ext cx="6766560" cy="3977640"/>
          </a:xfrm>
          <a:prstGeom prst="roundRect">
            <a:avLst>
              <a:gd name="adj" fmla="val 2299"/>
            </a:avLst>
          </a:prstGeom>
          <a:solidFill>
            <a:schemeClr val="tx1"/>
          </a:solidFill>
          <a:ln/>
        </p:spPr>
      </p:sp>
      <p:sp>
        <p:nvSpPr>
          <p:cNvPr id="4" name="Text 2"/>
          <p:cNvSpPr txBox="1"/>
          <p:nvPr/>
        </p:nvSpPr>
        <p:spPr>
          <a:xfrm>
            <a:off x="822960" y="1527048"/>
            <a:ext cx="6217920" cy="3575304"/>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set.seed(2026)   # record the seed with the field book</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treatments &lt;- c("N0", "N40", "N80", "N120", "N160")</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crd_plan &lt;- data.frame(pot = 1:20,</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treatment = sample(rep(treatments, times = 4)))</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table(crd_plan$treatment)   # each appears 4 times</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spcAft>
                <a:spcPts val="200"/>
              </a:spcAft>
              <a:buNone/>
            </a:pPr>
            <a:r>
              <a:rPr lang="en-US" sz="1400" dirty="0">
                <a:solidFill>
                  <a:schemeClr val="accent2"/>
                </a:solidFill>
                <a:latin typeface="Courier New" pitchFamily="34" charset="0"/>
                <a:ea typeface="Courier New" pitchFamily="34" charset="-122"/>
                <a:cs typeface="Courier New" pitchFamily="34" charset="-120"/>
              </a:rPr>
              <a:t># RCBD: randomize separately within each block</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varieties &lt;- paste0("V", 1:6)</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rcbd_plan &lt;- do.call(rbind, lapply(1:4, function(b)</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data.frame(block = b, variety = sample(varieties))))</a:t>
            </a:r>
            <a:endParaRPr lang="en-US" sz="1400" dirty="0"/>
          </a:p>
        </p:txBody>
      </p:sp>
      <p:sp>
        <p:nvSpPr>
          <p:cNvPr id="5" name="note"/>
          <p:cNvSpPr/>
          <p:nvPr/>
        </p:nvSpPr>
        <p:spPr>
          <a:xfrm>
            <a:off x="7543800" y="1325880"/>
            <a:ext cx="4069080" cy="1874520"/>
          </a:xfrm>
          <a:prstGeom prst="roundRect">
            <a:avLst>
              <a:gd name="adj" fmla="val 5854"/>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Random">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CRD</a:t>
            </a:r>
            <a:endParaRPr lang="en-US" sz="1600" dirty="0"/>
          </a:p>
        </p:txBody>
      </p:sp>
      <p:sp>
        <p:nvSpPr>
          <p:cNvPr id="9" name="Text 6"/>
          <p:cNvSpPr txBox="1"/>
          <p:nvPr/>
        </p:nvSpPr>
        <p:spPr>
          <a:xfrm>
            <a:off x="7772400" y="2148840"/>
            <a:ext cx="3611880" cy="960120"/>
          </a:xfrm>
          <a:prstGeom prst="rect">
            <a:avLst/>
          </a:prstGeom>
          <a:noFill/>
          <a:ln/>
        </p:spPr>
        <p:txBody>
          <a:bodyPr wrap="square" lIns="0" tIns="0" rIns="0" bIns="0" rtlCol="0" anchor="t"/>
          <a:lstStyle/>
          <a:p>
            <a:pPr indent="0" marL="0">
              <a:buNone/>
            </a:pPr>
            <a:r>
              <a:rPr lang="en-US" sz="1400" dirty="0">
                <a:solidFill>
                  <a:schemeClr val="tx1"/>
                </a:solidFill>
              </a:rPr>
              <a:t>Every unit has the same chance of receiving any treatment. </a:t>
            </a:r>
            <a:pPr indent="0" marL="0">
              <a:buNone/>
            </a:pPr>
            <a:r>
              <a:rPr lang="en-US" sz="1400" dirty="0">
                <a:solidFill>
                  <a:schemeClr val="accent1"/>
                </a:solidFill>
                <a:latin typeface="Courier New" pitchFamily="34" charset="0"/>
                <a:ea typeface="Courier New" pitchFamily="34" charset="-122"/>
                <a:cs typeface="Courier New" pitchFamily="34" charset="-120"/>
              </a:rPr>
              <a:t>sample()</a:t>
            </a:r>
            <a:pPr indent="0" marL="0">
              <a:buNone/>
            </a:pPr>
            <a:r>
              <a:rPr lang="en-US" sz="1400" dirty="0">
                <a:solidFill>
                  <a:schemeClr val="tx1"/>
                </a:solidFill>
              </a:rPr>
              <a:t> permutes all 20 labels at once.</a:t>
            </a:r>
            <a:endParaRPr lang="en-US" sz="1400" dirty="0"/>
          </a:p>
        </p:txBody>
      </p:sp>
      <p:sp>
        <p:nvSpPr>
          <p:cNvPr id="10" name="note"/>
          <p:cNvSpPr/>
          <p:nvPr/>
        </p:nvSpPr>
        <p:spPr>
          <a:xfrm>
            <a:off x="7543800" y="3429000"/>
            <a:ext cx="4069080" cy="1874520"/>
          </a:xfrm>
          <a:prstGeom prst="roundRect">
            <a:avLst>
              <a:gd name="adj" fmla="val 5854"/>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630168"/>
            <a:ext cx="548640" cy="548640"/>
          </a:xfrm>
          <a:prstGeom prst="ellipse">
            <a:avLst/>
          </a:prstGeom>
          <a:solidFill>
            <a:schemeClr val="accent2"/>
          </a:solidFill>
          <a:ln/>
        </p:spPr>
      </p:sp>
      <p:pic>
        <p:nvPicPr>
          <p:cNvPr id="12" name="Image 1" descr="FaThLarge">    </p:cNvPr>
          <p:cNvPicPr>
            <a:picLocks noChangeAspect="1"/>
          </p:cNvPicPr>
          <p:nvPr/>
        </p:nvPicPr>
        <p:blipFill>
          <a:blip r:embed="rId2"/>
          <a:stretch>
            <a:fillRect/>
          </a:stretch>
        </p:blipFill>
        <p:spPr>
          <a:xfrm>
            <a:off x="7909560" y="3767328"/>
            <a:ext cx="274320" cy="274320"/>
          </a:xfrm>
          <a:prstGeom prst="rect">
            <a:avLst/>
          </a:prstGeom>
        </p:spPr>
      </p:pic>
      <p:sp>
        <p:nvSpPr>
          <p:cNvPr id="13" name="Text 9"/>
          <p:cNvSpPr txBox="1"/>
          <p:nvPr/>
        </p:nvSpPr>
        <p:spPr>
          <a:xfrm>
            <a:off x="8458200" y="361188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RCBD</a:t>
            </a:r>
            <a:endParaRPr lang="en-US" sz="1600" dirty="0"/>
          </a:p>
        </p:txBody>
      </p:sp>
      <p:sp>
        <p:nvSpPr>
          <p:cNvPr id="14" name="Text 10"/>
          <p:cNvSpPr txBox="1"/>
          <p:nvPr/>
        </p:nvSpPr>
        <p:spPr>
          <a:xfrm>
            <a:off x="7772400" y="4251960"/>
            <a:ext cx="3611880" cy="960120"/>
          </a:xfrm>
          <a:prstGeom prst="rect">
            <a:avLst/>
          </a:prstGeom>
          <a:noFill/>
          <a:ln/>
        </p:spPr>
        <p:txBody>
          <a:bodyPr wrap="square" lIns="0" tIns="0" rIns="0" bIns="0" rtlCol="0" anchor="t"/>
          <a:lstStyle/>
          <a:p>
            <a:pPr indent="0" marL="0">
              <a:buNone/>
            </a:pPr>
            <a:r>
              <a:rPr lang="en-US" sz="1400" dirty="0">
                <a:solidFill>
                  <a:schemeClr val="tx1"/>
                </a:solidFill>
              </a:rPr>
              <a:t>Each block holds every treatment once, in its own random order. Lay blocks </a:t>
            </a:r>
            <a:pPr indent="0" marL="0">
              <a:buNone/>
            </a:pPr>
            <a:r>
              <a:rPr lang="en-US" sz="1400" b="1" dirty="0">
                <a:solidFill>
                  <a:schemeClr val="tx1"/>
                </a:solidFill>
              </a:rPr>
              <a:t>across</a:t>
            </a:r>
            <a:pPr indent="0" marL="0">
              <a:buNone/>
            </a:pPr>
            <a:r>
              <a:rPr lang="en-US" sz="1400" dirty="0">
                <a:solidFill>
                  <a:schemeClr val="tx1"/>
                </a:solidFill>
              </a:rPr>
              <a:t> the gradient.</a:t>
            </a:r>
            <a:endParaRPr lang="en-US" sz="1400" dirty="0"/>
          </a:p>
        </p:txBody>
      </p:sp>
      <p:sp>
        <p:nvSpPr>
          <p:cNvPr id="15" name="Text 11"/>
          <p:cNvSpPr txBox="1"/>
          <p:nvPr/>
        </p:nvSpPr>
        <p:spPr>
          <a:xfrm>
            <a:off x="548640" y="5440680"/>
            <a:ext cx="11064240" cy="640080"/>
          </a:xfrm>
          <a:prstGeom prst="rect">
            <a:avLst/>
          </a:prstGeom>
          <a:noFill/>
          <a:ln/>
        </p:spPr>
        <p:txBody>
          <a:bodyPr wrap="square" lIns="0" tIns="0" rIns="0" bIns="0" rtlCol="0" anchor="ctr"/>
          <a:lstStyle/>
          <a:p>
            <a:pPr indent="0" marL="0">
              <a:buNone/>
            </a:pPr>
            <a:r>
              <a:rPr lang="en-US" sz="1500" i="1" dirty="0">
                <a:solidFill>
                  <a:schemeClr val="accent5"/>
                </a:solidFill>
              </a:rPr>
              <a:t>A Latin square is randomized by permuting the rows, columns and labels of a cyclic square. </a:t>
            </a:r>
            <a:pPr indent="0" marL="0">
              <a:buNone/>
            </a:pPr>
            <a:r>
              <a:rPr lang="en-US" sz="1500" i="1" dirty="0">
                <a:solidFill>
                  <a:schemeClr val="accent1"/>
                </a:solidFill>
                <a:latin typeface="Courier New" pitchFamily="34" charset="0"/>
                <a:ea typeface="Courier New" pitchFamily="34" charset="-122"/>
                <a:cs typeface="Courier New" pitchFamily="34" charset="-120"/>
              </a:rPr>
              <a:t>agricolae::design.crd()</a:t>
            </a:r>
            <a:pPr indent="0" marL="0">
              <a:buNone/>
            </a:pPr>
            <a:r>
              <a:rPr lang="en-US" sz="1500" i="1" dirty="0">
                <a:solidFill>
                  <a:schemeClr val="accent5"/>
                </a:solidFill>
              </a:rPr>
              <a:t> and </a:t>
            </a:r>
            <a:pPr indent="0" marL="0">
              <a:buNone/>
            </a:pPr>
            <a:r>
              <a:rPr lang="en-US" sz="1500" i="1" dirty="0">
                <a:solidFill>
                  <a:schemeClr val="accent1"/>
                </a:solidFill>
                <a:latin typeface="Courier New" pitchFamily="34" charset="0"/>
                <a:ea typeface="Courier New" pitchFamily="34" charset="-122"/>
                <a:cs typeface="Courier New" pitchFamily="34" charset="-120"/>
              </a:rPr>
              <a:t>design.rcbd()</a:t>
            </a:r>
            <a:pPr indent="0" marL="0">
              <a:buNone/>
            </a:pPr>
            <a:r>
              <a:rPr lang="en-US" sz="1500" i="1" dirty="0">
                <a:solidFill>
                  <a:schemeClr val="accent5"/>
                </a:solidFill>
              </a:rPr>
              <a:t> print ready-made field books.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Quantities reported with every field experiment</a:t>
            </a:r>
            <a:endParaRPr lang="en-US" sz="32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1828800"/>
                <a:gridCol w="3840480"/>
                <a:gridCol w="5394960"/>
              </a:tblGrid>
              <a:tr h="768096">
                <a:tc>
                  <a:txBody>
                    <a:bodyPr/>
                    <a:lstStyle/>
                    <a:p>
                      <a:pPr indent="0" marL="0">
                        <a:buNone/>
                      </a:pPr>
                      <a:r>
                        <a:rPr lang="en-US" sz="1500" b="1" dirty="0">
                          <a:solidFill>
                            <a:schemeClr val="bg1"/>
                          </a:solidFill>
                        </a:rPr>
                        <a:t>Quantity</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Formula</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Meaning</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r>
              <a:tr h="768096">
                <a:tc>
                  <a:txBody>
                    <a:bodyPr/>
                    <a:lstStyle/>
                    <a:p>
                      <a:pPr indent="0" marL="0">
                        <a:buNone/>
                      </a:pPr>
                      <a:r>
                        <a:rPr lang="en-US" sz="1400" b="1" dirty="0">
                          <a:solidFill>
                            <a:schemeClr val="tx2"/>
                          </a:solidFill>
                        </a:rPr>
                        <a:t>SEm±</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√(MSE / r)</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Standard error of one treatment mean based on r replicates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r h="768096">
                <a:tc>
                  <a:txBody>
                    <a:bodyPr/>
                    <a:lstStyle/>
                    <a:p>
                      <a:pPr indent="0" marL="0">
                        <a:buNone/>
                      </a:pPr>
                      <a:r>
                        <a:rPr lang="en-US" sz="1400" b="1" dirty="0">
                          <a:solidFill>
                            <a:schemeClr val="tx2"/>
                          </a:solidFill>
                        </a:rPr>
                        <a:t>SEd</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√(2 MSE / r)</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Standard error of the difference between two means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r>
              <a:tr h="768096">
                <a:tc>
                  <a:txBody>
                    <a:bodyPr/>
                    <a:lstStyle/>
                    <a:p>
                      <a:pPr indent="0" marL="0">
                        <a:buNone/>
                      </a:pPr>
                      <a:r>
                        <a:rPr lang="en-US" sz="1400" b="1" dirty="0">
                          <a:solidFill>
                            <a:schemeClr val="tx2"/>
                          </a:solidFill>
                        </a:rPr>
                        <a:t>CD (5%)</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t(0.025, error df) × SEd</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Least difference between two means that is significant at 5%</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r h="768096">
                <a:tc>
                  <a:txBody>
                    <a:bodyPr/>
                    <a:lstStyle/>
                    <a:p>
                      <a:pPr indent="0" marL="0">
                        <a:buNone/>
                      </a:pPr>
                      <a:r>
                        <a:rPr lang="en-US" sz="1400" b="1" dirty="0">
                          <a:solidFill>
                            <a:schemeClr val="tx2"/>
                          </a:solidFill>
                        </a:rPr>
                        <a:t>CV (%)</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100 √MSE / general mean</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Experimental error relative to the general mean</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r>
            </a:tbl>
          </a:graphicData>
        </a:graphic>
      </p:graphicFrame>
      <p:sp>
        <p:nvSpPr>
          <p:cNvPr id="4" name="key idea"/>
          <p:cNvSpPr/>
          <p:nvPr/>
        </p:nvSpPr>
        <p:spPr>
          <a:xfrm>
            <a:off x="548640" y="5486400"/>
            <a:ext cx="11064240" cy="640080"/>
          </a:xfrm>
          <a:prstGeom prst="roundRect">
            <a:avLst>
              <a:gd name="adj" fmla="val 17143"/>
            </a:avLst>
          </a:prstGeom>
          <a:solidFill>
            <a:schemeClr val="accent6"/>
          </a:solidFill>
          <a:ln/>
          <a:effectLst>
            <a:outerShdw sx="100000" sy="100000" kx="0" ky="0" algn="bl" rotWithShape="0" blurRad="76200" dist="25400" dir="5400000">
              <a:srgbClr val="8A97AB">
                <a:alpha val="25000"/>
              </a:srgbClr>
            </a:outerShdw>
          </a:effectLst>
        </p:spPr>
      </p:sp>
      <p:sp>
        <p:nvSpPr>
          <p:cNvPr id="5" name="Text 2"/>
          <p:cNvSpPr txBox="1"/>
          <p:nvPr/>
        </p:nvSpPr>
        <p:spPr>
          <a:xfrm>
            <a:off x="822960" y="5486400"/>
            <a:ext cx="10515600" cy="64008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All four come from the error mean square (MSE) of the analysis that matches the design.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B</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Single-factor designs</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CRD, RCBD and Latin square</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Completely randomized design: a pot experiment</a:t>
            </a:r>
            <a:endParaRPr lang="en-US" sz="3200" dirty="0"/>
          </a:p>
        </p:txBody>
      </p:sp>
      <p:sp>
        <p:nvSpPr>
          <p:cNvPr id="3" name="code panel"/>
          <p:cNvSpPr/>
          <p:nvPr/>
        </p:nvSpPr>
        <p:spPr>
          <a:xfrm>
            <a:off x="548640" y="1325880"/>
            <a:ext cx="6766560" cy="3977640"/>
          </a:xfrm>
          <a:prstGeom prst="roundRect">
            <a:avLst>
              <a:gd name="adj" fmla="val 2299"/>
            </a:avLst>
          </a:prstGeom>
          <a:solidFill>
            <a:schemeClr val="tx1"/>
          </a:solidFill>
          <a:ln/>
        </p:spPr>
      </p:sp>
      <p:sp>
        <p:nvSpPr>
          <p:cNvPr id="4" name="Text 2"/>
          <p:cNvSpPr txBox="1"/>
          <p:nvPr/>
        </p:nvSpPr>
        <p:spPr>
          <a:xfrm>
            <a:off x="822960" y="1527048"/>
            <a:ext cx="6217920" cy="3575304"/>
          </a:xfrm>
          <a:prstGeom prst="rect">
            <a:avLst/>
          </a:prstGeom>
          <a:noFill/>
          <a:ln/>
        </p:spPr>
        <p:txBody>
          <a:bodyPr wrap="square" lIns="0" tIns="0" rIns="0" bIns="0" rtlCol="0" anchor="t"/>
          <a:lstStyle/>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crd &lt;- read.csv("data/crd.csv")</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crd$nitrogen &lt;- factor(crd$nitrogen,</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  levels = c("N0", "N40", "N80", "N120", "N160"))</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crd_fit &lt;- aov(dry_matter_g_pot ~ nitrogen, data = crd)</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summary(crd_fit)</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tapply(crd$dry_matter_g_pot, crd$nitrogen, mean)</a:t>
            </a:r>
            <a:endParaRPr lang="en-US" sz="1400" dirty="0"/>
          </a:p>
          <a:p>
            <a:pPr indent="0" marL="0">
              <a:spcAft>
                <a:spcPts val="200"/>
              </a:spcAft>
              <a:buNone/>
            </a:pPr>
            <a:r>
              <a:rPr lang="en-US" sz="1400" dirty="0">
                <a:solidFill>
                  <a:schemeClr val="bg1"/>
                </a:solidFill>
                <a:latin typeface="Courier New" pitchFamily="34" charset="0"/>
                <a:ea typeface="Courier New" pitchFamily="34" charset="-122"/>
                <a:cs typeface="Courier New" pitchFamily="34" charset="-120"/>
              </a:rPr>
              <a:t>design_stats(crd_fit, r = 4)  # SEm, SEd, CD, CV</a:t>
            </a:r>
            <a:endParaRPr lang="en-US" sz="1400" dirty="0"/>
          </a:p>
        </p:txBody>
      </p:sp>
      <p:sp>
        <p:nvSpPr>
          <p:cNvPr id="5" name="stat"/>
          <p:cNvSpPr/>
          <p:nvPr/>
        </p:nvSpPr>
        <p:spPr>
          <a:xfrm>
            <a:off x="7543800" y="1325880"/>
            <a:ext cx="4069080" cy="1630017"/>
          </a:xfrm>
          <a:prstGeom prst="roundRect">
            <a:avLst>
              <a:gd name="adj" fmla="val 6732"/>
            </a:avLst>
          </a:prstGeom>
          <a:solidFill>
            <a:schemeClr val="tx2"/>
          </a:solidFill>
          <a:ln/>
          <a:effectLst>
            <a:outerShdw sx="100000" sy="100000" kx="0" ky="0" algn="bl" rotWithShape="0" blurRad="76200" dist="25400" dir="5400000">
              <a:srgbClr val="8A97AB">
                <a:alpha val="25000"/>
              </a:srgbClr>
            </a:outerShdw>
          </a:effectLst>
        </p:spPr>
      </p:sp>
      <p:sp>
        <p:nvSpPr>
          <p:cNvPr id="6" name="Text 4"/>
          <p:cNvSpPr txBox="1"/>
          <p:nvPr/>
        </p:nvSpPr>
        <p:spPr>
          <a:xfrm>
            <a:off x="7543800" y="1417320"/>
            <a:ext cx="4069080" cy="978010"/>
          </a:xfrm>
          <a:prstGeom prst="rect">
            <a:avLst/>
          </a:prstGeom>
          <a:noFill/>
          <a:ln/>
        </p:spPr>
        <p:txBody>
          <a:bodyPr wrap="square" lIns="0" tIns="0" rIns="0" bIns="0" rtlCol="0" anchor="ctr"/>
          <a:lstStyle/>
          <a:p>
            <a:pPr algn="ctr" indent="0" marL="0">
              <a:buNone/>
            </a:pPr>
            <a:r>
              <a:rPr lang="en-US" sz="5400" b="1" dirty="0">
                <a:solidFill>
                  <a:schemeClr val="accent2"/>
                </a:solidFill>
                <a:latin typeface="Cambria" pitchFamily="34" charset="0"/>
                <a:ea typeface="Cambria" pitchFamily="34" charset="-122"/>
                <a:cs typeface="Cambria" pitchFamily="34" charset="-120"/>
              </a:rPr>
              <a:t>3.4 g</a:t>
            </a:r>
            <a:endParaRPr lang="en-US" sz="5400" dirty="0"/>
          </a:p>
        </p:txBody>
      </p:sp>
      <p:sp>
        <p:nvSpPr>
          <p:cNvPr id="7" name="Text 5"/>
          <p:cNvSpPr txBox="1"/>
          <p:nvPr/>
        </p:nvSpPr>
        <p:spPr>
          <a:xfrm>
            <a:off x="7726680" y="2336491"/>
            <a:ext cx="3703320" cy="537906"/>
          </a:xfrm>
          <a:prstGeom prst="rect">
            <a:avLst/>
          </a:prstGeom>
          <a:noFill/>
          <a:ln/>
        </p:spPr>
        <p:txBody>
          <a:bodyPr wrap="square" lIns="0" tIns="0" rIns="0" bIns="0" rtlCol="0" anchor="t"/>
          <a:lstStyle/>
          <a:p>
            <a:pPr algn="ctr" indent="0" marL="0">
              <a:buNone/>
            </a:pPr>
            <a:r>
              <a:rPr lang="en-US" sz="1500" dirty="0">
                <a:solidFill>
                  <a:schemeClr val="bg1"/>
                </a:solidFill>
              </a:rPr>
              <a:t>CD (5%) per pot · CV about 9%</a:t>
            </a:r>
            <a:endParaRPr lang="en-US" sz="1500" dirty="0"/>
          </a:p>
        </p:txBody>
      </p:sp>
      <p:sp>
        <p:nvSpPr>
          <p:cNvPr id="8" name="note"/>
          <p:cNvSpPr/>
          <p:nvPr/>
        </p:nvSpPr>
        <p:spPr>
          <a:xfrm>
            <a:off x="7543800" y="3184497"/>
            <a:ext cx="4069080" cy="2119023"/>
          </a:xfrm>
          <a:prstGeom prst="roundRect">
            <a:avLst>
              <a:gd name="adj" fmla="val 5178"/>
            </a:avLst>
          </a:prstGeom>
          <a:solidFill>
            <a:schemeClr val="bg2"/>
          </a:solidFill>
          <a:ln/>
          <a:effectLst>
            <a:outerShdw sx="100000" sy="100000" kx="0" ky="0" algn="bl" rotWithShape="0" blurRad="76200" dist="25400" dir="5400000">
              <a:srgbClr val="8A97AB">
                <a:alpha val="25000"/>
              </a:srgbClr>
            </a:outerShdw>
          </a:effectLst>
        </p:spPr>
      </p:sp>
      <p:sp>
        <p:nvSpPr>
          <p:cNvPr id="9" name="Text 7"/>
          <p:cNvSpPr txBox="1"/>
          <p:nvPr/>
        </p:nvSpPr>
        <p:spPr>
          <a:xfrm>
            <a:off x="7772400" y="3367377"/>
            <a:ext cx="3657600" cy="548640"/>
          </a:xfrm>
          <a:prstGeom prst="rect">
            <a:avLst/>
          </a:prstGeom>
          <a:noFill/>
          <a:ln/>
        </p:spPr>
        <p:txBody>
          <a:bodyPr wrap="square" lIns="0" tIns="0" rIns="0" bIns="0" rtlCol="0" anchor="ctr"/>
          <a:lstStyle/>
          <a:p>
            <a:pPr indent="0" marL="0">
              <a:buNone/>
            </a:pPr>
            <a:r>
              <a:rPr lang="en-US" sz="1600" b="1" dirty="0">
                <a:solidFill>
                  <a:schemeClr val="tx2"/>
                </a:solidFill>
              </a:rPr>
              <a:t>Reading the result</a:t>
            </a:r>
            <a:endParaRPr lang="en-US" sz="1600" dirty="0"/>
          </a:p>
        </p:txBody>
      </p:sp>
      <p:sp>
        <p:nvSpPr>
          <p:cNvPr id="10" name="Text 8"/>
          <p:cNvSpPr txBox="1"/>
          <p:nvPr/>
        </p:nvSpPr>
        <p:spPr>
          <a:xfrm>
            <a:off x="7772400" y="4007457"/>
            <a:ext cx="3611880" cy="1204623"/>
          </a:xfrm>
          <a:prstGeom prst="rect">
            <a:avLst/>
          </a:prstGeom>
          <a:noFill/>
          <a:ln/>
        </p:spPr>
        <p:txBody>
          <a:bodyPr wrap="square" lIns="0" tIns="0" rIns="0" bIns="0" rtlCol="0" anchor="t"/>
          <a:lstStyle/>
          <a:p>
            <a:pPr indent="0" marL="0">
              <a:buNone/>
            </a:pPr>
            <a:r>
              <a:rPr lang="en-US" sz="1400" dirty="0">
                <a:solidFill>
                  <a:schemeClr val="tx1"/>
                </a:solidFill>
              </a:rPr>
              <a:t>Dry matter rose from about 18 g at N0 to 29 g at N160. N40 vs N80 and N120 vs N160 differ by less than the CD.</a:t>
            </a:r>
            <a:endParaRPr lang="en-US" sz="1400" dirty="0"/>
          </a:p>
        </p:txBody>
      </p:sp>
      <p:sp>
        <p:nvSpPr>
          <p:cNvPr id="11" name="key idea"/>
          <p:cNvSpPr/>
          <p:nvPr/>
        </p:nvSpPr>
        <p:spPr>
          <a:xfrm>
            <a:off x="548640" y="5486400"/>
            <a:ext cx="11064240" cy="640080"/>
          </a:xfrm>
          <a:prstGeom prst="roundRect">
            <a:avLst>
              <a:gd name="adj" fmla="val 17143"/>
            </a:avLst>
          </a:prstGeom>
          <a:solidFill>
            <a:schemeClr val="accent6"/>
          </a:solidFill>
          <a:ln/>
          <a:effectLst>
            <a:outerShdw sx="100000" sy="100000" kx="0" ky="0" algn="bl" rotWithShape="0" blurRad="76200" dist="25400" dir="5400000">
              <a:srgbClr val="8A97AB">
                <a:alpha val="25000"/>
              </a:srgbClr>
            </a:outerShdw>
          </a:effectLst>
        </p:spPr>
      </p:sp>
      <p:sp>
        <p:nvSpPr>
          <p:cNvPr id="12" name="Text 10"/>
          <p:cNvSpPr txBox="1"/>
          <p:nvPr/>
        </p:nvSpPr>
        <p:spPr>
          <a:xfrm>
            <a:off x="822960" y="5486400"/>
            <a:ext cx="10515600" cy="64008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Nitrogen doses are quantitative: a response curve (regression chapter) answers the agronomic question better than pairwise comparisons.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Did blocking help? An RCBD variety trial</a:t>
            </a:r>
            <a:endParaRPr lang="en-US" sz="3200" dirty="0"/>
          </a:p>
        </p:txBody>
      </p:sp>
      <p:graphicFrame>
        <p:nvGraphicFramePr>
          <p:cNvPr id="3" name="Chart 0" descr=""/>
          <p:cNvGraphicFramePr/>
          <p:nvPr/>
        </p:nvGraphicFramePr>
        <p:xfrm>
          <a:off x="548640" y="1325880"/>
          <a:ext cx="6949440" cy="470916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772400" y="1325880"/>
            <a:ext cx="3840480" cy="2240280"/>
          </a:xfrm>
          <a:prstGeom prst="roundRect">
            <a:avLst>
              <a:gd name="adj" fmla="val 4898"/>
            </a:avLst>
          </a:prstGeom>
          <a:solidFill>
            <a:schemeClr val="tx2"/>
          </a:solidFill>
          <a:ln/>
          <a:effectLst>
            <a:outerShdw sx="100000" sy="100000" kx="0" ky="0" algn="bl" rotWithShape="0" blurRad="76200" dist="25400" dir="5400000">
              <a:srgbClr val="8A97AB">
                <a:alpha val="25000"/>
              </a:srgbClr>
            </a:outerShdw>
          </a:effectLst>
        </p:spPr>
      </p:sp>
      <p:sp>
        <p:nvSpPr>
          <p:cNvPr id="5" name="Text 2"/>
          <p:cNvSpPr txBox="1"/>
          <p:nvPr/>
        </p:nvSpPr>
        <p:spPr>
          <a:xfrm>
            <a:off x="7772400" y="1371600"/>
            <a:ext cx="3840480" cy="1344168"/>
          </a:xfrm>
          <a:prstGeom prst="rect">
            <a:avLst/>
          </a:prstGeom>
          <a:noFill/>
          <a:ln/>
        </p:spPr>
        <p:txBody>
          <a:bodyPr wrap="square" lIns="0" tIns="0" rIns="0" bIns="0" rtlCol="0" anchor="ctr"/>
          <a:lstStyle/>
          <a:p>
            <a:pPr algn="ctr" indent="0" marL="0">
              <a:buNone/>
            </a:pPr>
            <a:r>
              <a:rPr lang="en-US" sz="4400" b="1" dirty="0">
                <a:solidFill>
                  <a:schemeClr val="accent2"/>
                </a:solidFill>
                <a:latin typeface="Cambria" pitchFamily="34" charset="0"/>
                <a:ea typeface="Cambria" pitchFamily="34" charset="-122"/>
                <a:cs typeface="Cambria" pitchFamily="34" charset="-120"/>
              </a:rPr>
              <a:t>2.6</a:t>
            </a:r>
            <a:endParaRPr lang="en-US" sz="4400" dirty="0"/>
          </a:p>
        </p:txBody>
      </p:sp>
      <p:sp>
        <p:nvSpPr>
          <p:cNvPr id="6" name="Text 3"/>
          <p:cNvSpPr txBox="1"/>
          <p:nvPr/>
        </p:nvSpPr>
        <p:spPr>
          <a:xfrm>
            <a:off x="7955280" y="2670048"/>
            <a:ext cx="3474720" cy="806501"/>
          </a:xfrm>
          <a:prstGeom prst="rect">
            <a:avLst/>
          </a:prstGeom>
          <a:noFill/>
          <a:ln/>
        </p:spPr>
        <p:txBody>
          <a:bodyPr wrap="square" lIns="0" tIns="0" rIns="0" bIns="0" rtlCol="0" anchor="t"/>
          <a:lstStyle/>
          <a:p>
            <a:pPr algn="ctr" indent="0" marL="0">
              <a:buNone/>
            </a:pPr>
            <a:r>
              <a:rPr lang="en-US" sz="1400" dirty="0">
                <a:solidFill>
                  <a:schemeClr val="bg1"/>
                </a:solidFill>
              </a:rPr>
              <a:t>Relative efficiency of RCBD over CRD</a:t>
            </a:r>
            <a:endParaRPr lang="en-US" sz="1400" dirty="0"/>
          </a:p>
        </p:txBody>
      </p:sp>
      <p:sp>
        <p:nvSpPr>
          <p:cNvPr id="7" name="card"/>
          <p:cNvSpPr/>
          <p:nvPr/>
        </p:nvSpPr>
        <p:spPr>
          <a:xfrm>
            <a:off x="7772400" y="3794760"/>
            <a:ext cx="3840480" cy="2240280"/>
          </a:xfrm>
          <a:prstGeom prst="roundRect">
            <a:avLst>
              <a:gd name="adj" fmla="val 4898"/>
            </a:avLst>
          </a:prstGeom>
          <a:solidFill>
            <a:schemeClr val="bg2"/>
          </a:solidFill>
          <a:ln/>
          <a:effectLst>
            <a:outerShdw sx="100000" sy="100000" kx="0" ky="0" algn="bl" rotWithShape="0" blurRad="76200" dist="25400" dir="5400000">
              <a:srgbClr val="8A97AB">
                <a:alpha val="25000"/>
              </a:srgbClr>
            </a:outerShdw>
          </a:effectLst>
        </p:spPr>
      </p:sp>
      <p:sp>
        <p:nvSpPr>
          <p:cNvPr id="8" name="Text 5"/>
          <p:cNvSpPr txBox="1"/>
          <p:nvPr/>
        </p:nvSpPr>
        <p:spPr>
          <a:xfrm>
            <a:off x="8001000" y="3931920"/>
            <a:ext cx="3383280" cy="411480"/>
          </a:xfrm>
          <a:prstGeom prst="rect">
            <a:avLst/>
          </a:prstGeom>
          <a:noFill/>
          <a:ln/>
        </p:spPr>
        <p:txBody>
          <a:bodyPr wrap="square" lIns="0" tIns="0" rIns="0" bIns="0" rtlCol="0" anchor="t"/>
          <a:lstStyle/>
          <a:p>
            <a:pPr indent="0" marL="0">
              <a:buNone/>
            </a:pPr>
            <a:r>
              <a:rPr lang="en-US" sz="1600" b="1" dirty="0">
                <a:solidFill>
                  <a:schemeClr val="tx2"/>
                </a:solidFill>
              </a:rPr>
              <a:t>Error mean square</a:t>
            </a:r>
            <a:endParaRPr lang="en-US" sz="1600" dirty="0"/>
          </a:p>
        </p:txBody>
      </p:sp>
      <p:sp>
        <p:nvSpPr>
          <p:cNvPr id="9" name="Text 6"/>
          <p:cNvSpPr txBox="1"/>
          <p:nvPr/>
        </p:nvSpPr>
        <p:spPr>
          <a:xfrm>
            <a:off x="8001000" y="4343400"/>
            <a:ext cx="3383280" cy="1600200"/>
          </a:xfrm>
          <a:prstGeom prst="rect">
            <a:avLst/>
          </a:prstGeom>
          <a:noFill/>
          <a:ln/>
        </p:spPr>
        <p:txBody>
          <a:bodyPr wrap="square" lIns="0" tIns="0" rIns="0" bIns="0" rtlCol="0" anchor="t"/>
          <a:lstStyle/>
          <a:p>
            <a:pPr indent="0" marL="0">
              <a:buNone/>
            </a:pPr>
            <a:r>
              <a:rPr lang="en-US" sz="1400" dirty="0">
                <a:solidFill>
                  <a:schemeClr val="tx1"/>
                </a:solidFill>
              </a:rPr>
              <a:t>0.039 with blocks; 0.116 if blocks are ignored. CD = 0.30 t/ha, CV = 3.9%.</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Latin square: two gradients removed</a:t>
            </a:r>
            <a:endParaRPr lang="en-US" sz="3200" dirty="0"/>
          </a:p>
        </p:txBody>
      </p:sp>
      <p:sp>
        <p:nvSpPr>
          <p:cNvPr id="3" name="code panel"/>
          <p:cNvSpPr/>
          <p:nvPr/>
        </p:nvSpPr>
        <p:spPr>
          <a:xfrm>
            <a:off x="548640" y="1325880"/>
            <a:ext cx="6766560" cy="3977640"/>
          </a:xfrm>
          <a:prstGeom prst="roundRect">
            <a:avLst>
              <a:gd name="adj" fmla="val 2299"/>
            </a:avLst>
          </a:prstGeom>
          <a:solidFill>
            <a:schemeClr val="tx1"/>
          </a:solidFill>
          <a:ln/>
        </p:spPr>
      </p:sp>
      <p:sp>
        <p:nvSpPr>
          <p:cNvPr id="4" name="Text 2"/>
          <p:cNvSpPr txBox="1"/>
          <p:nvPr/>
        </p:nvSpPr>
        <p:spPr>
          <a:xfrm>
            <a:off x="822960" y="1527048"/>
            <a:ext cx="6217920" cy="357530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ls &lt;- read.csv("data/latin_square.csv")</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for (v in c("row", "column", "treatment"))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ls[[v]] &lt;- factor(ls[[v]])</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xtabs(~ row + column, data = ls)  # one plot per cell</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ls_fit &lt;- aov(yield_t_ha ~ row + column + treatment,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data = ls)</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summary(ls_fit)</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design_stats(ls_fit, r = 5)</a:t>
            </a:r>
            <a:endParaRPr lang="en-US" sz="1500" dirty="0"/>
          </a:p>
        </p:txBody>
      </p:sp>
      <p:sp>
        <p:nvSpPr>
          <p:cNvPr id="5" name="note"/>
          <p:cNvSpPr/>
          <p:nvPr/>
        </p:nvSpPr>
        <p:spPr>
          <a:xfrm>
            <a:off x="7543800" y="1325880"/>
            <a:ext cx="4069080" cy="1874520"/>
          </a:xfrm>
          <a:prstGeom prst="roundRect">
            <a:avLst>
              <a:gd name="adj" fmla="val 5854"/>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BorderAll">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When to use it</a:t>
            </a:r>
            <a:endParaRPr lang="en-US" sz="1600" dirty="0"/>
          </a:p>
        </p:txBody>
      </p:sp>
      <p:sp>
        <p:nvSpPr>
          <p:cNvPr id="9" name="Text 6"/>
          <p:cNvSpPr txBox="1"/>
          <p:nvPr/>
        </p:nvSpPr>
        <p:spPr>
          <a:xfrm>
            <a:off x="7772400" y="2148840"/>
            <a:ext cx="3611880" cy="960120"/>
          </a:xfrm>
          <a:prstGeom prst="rect">
            <a:avLst/>
          </a:prstGeom>
          <a:noFill/>
          <a:ln/>
        </p:spPr>
        <p:txBody>
          <a:bodyPr wrap="square" lIns="0" tIns="0" rIns="0" bIns="0" rtlCol="0" anchor="t"/>
          <a:lstStyle/>
          <a:p>
            <a:pPr indent="0" marL="0">
              <a:buNone/>
            </a:pPr>
            <a:r>
              <a:rPr lang="en-US" sz="1400" dirty="0">
                <a:solidFill>
                  <a:schemeClr val="tx1"/>
                </a:solidFill>
              </a:rPr>
              <a:t>Slope one way, an irrigation channel the other. Each treatment once per row and once per column.</a:t>
            </a:r>
            <a:endParaRPr lang="en-US" sz="1400" dirty="0"/>
          </a:p>
        </p:txBody>
      </p:sp>
      <p:sp>
        <p:nvSpPr>
          <p:cNvPr id="10" name="note"/>
          <p:cNvSpPr/>
          <p:nvPr/>
        </p:nvSpPr>
        <p:spPr>
          <a:xfrm>
            <a:off x="7543800" y="3429000"/>
            <a:ext cx="4069080" cy="1874520"/>
          </a:xfrm>
          <a:prstGeom prst="roundRect">
            <a:avLst>
              <a:gd name="adj" fmla="val 5854"/>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630168"/>
            <a:ext cx="548640" cy="548640"/>
          </a:xfrm>
          <a:prstGeom prst="ellipse">
            <a:avLst/>
          </a:prstGeom>
          <a:solidFill>
            <a:schemeClr val="accent4"/>
          </a:solidFill>
          <a:ln/>
        </p:spPr>
      </p:sp>
      <p:pic>
        <p:nvPicPr>
          <p:cNvPr id="12" name="Image 1" descr="FaExclamation">    </p:cNvPr>
          <p:cNvPicPr>
            <a:picLocks noChangeAspect="1"/>
          </p:cNvPicPr>
          <p:nvPr/>
        </p:nvPicPr>
        <p:blipFill>
          <a:blip r:embed="rId2"/>
          <a:stretch>
            <a:fillRect/>
          </a:stretch>
        </p:blipFill>
        <p:spPr>
          <a:xfrm>
            <a:off x="7909560" y="3767328"/>
            <a:ext cx="274320" cy="274320"/>
          </a:xfrm>
          <a:prstGeom prst="rect">
            <a:avLst/>
          </a:prstGeom>
        </p:spPr>
      </p:pic>
      <p:sp>
        <p:nvSpPr>
          <p:cNvPr id="13" name="Text 9"/>
          <p:cNvSpPr txBox="1"/>
          <p:nvPr/>
        </p:nvSpPr>
        <p:spPr>
          <a:xfrm>
            <a:off x="8458200" y="361188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Limits</a:t>
            </a:r>
            <a:endParaRPr lang="en-US" sz="1600" dirty="0"/>
          </a:p>
        </p:txBody>
      </p:sp>
      <p:sp>
        <p:nvSpPr>
          <p:cNvPr id="14" name="Text 10"/>
          <p:cNvSpPr txBox="1"/>
          <p:nvPr/>
        </p:nvSpPr>
        <p:spPr>
          <a:xfrm>
            <a:off x="7772400" y="4251960"/>
            <a:ext cx="3611880" cy="960120"/>
          </a:xfrm>
          <a:prstGeom prst="rect">
            <a:avLst/>
          </a:prstGeom>
          <a:noFill/>
          <a:ln/>
        </p:spPr>
        <p:txBody>
          <a:bodyPr wrap="square" lIns="0" tIns="0" rIns="0" bIns="0" rtlCol="0" anchor="t"/>
          <a:lstStyle/>
          <a:p>
            <a:pPr indent="0" marL="0">
              <a:buNone/>
            </a:pPr>
            <a:r>
              <a:rPr lang="en-US" sz="1400" dirty="0">
                <a:solidFill>
                  <a:schemeClr val="tx1"/>
                </a:solidFill>
              </a:rPr>
              <a:t>Replicates = treatments, so 4–8 treatments. Error df = (t−1)(t−2) = 12 for a 5×5 square.</a:t>
            </a:r>
            <a:endParaRPr lang="en-US" sz="1400" dirty="0"/>
          </a:p>
        </p:txBody>
      </p:sp>
      <p:sp>
        <p:nvSpPr>
          <p:cNvPr id="15" name="Text 11"/>
          <p:cNvSpPr txBox="1"/>
          <p:nvPr/>
        </p:nvSpPr>
        <p:spPr>
          <a:xfrm>
            <a:off x="548640" y="5440680"/>
            <a:ext cx="11064240" cy="640080"/>
          </a:xfrm>
          <a:prstGeom prst="rect">
            <a:avLst/>
          </a:prstGeom>
          <a:noFill/>
          <a:ln/>
        </p:spPr>
        <p:txBody>
          <a:bodyPr wrap="square" lIns="0" tIns="0" rIns="0" bIns="0" rtlCol="0" anchor="ctr"/>
          <a:lstStyle/>
          <a:p>
            <a:pPr indent="0" marL="0">
              <a:buNone/>
            </a:pPr>
            <a:r>
              <a:rPr lang="en-US" sz="1500" i="1" dirty="0">
                <a:solidFill>
                  <a:schemeClr val="accent5"/>
                </a:solidFill>
              </a:rPr>
              <a:t>Both rows and columns were significant, confirming two gradients. Hand weeding gave the highest yield; the unweeded check the lowest.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C</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Factorial and split-plot experiments</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Two factors, interactions and two error terms</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Factorial RCBD: the nitrogen response depends on variety</a:t>
            </a:r>
            <a:endParaRPr lang="en-US" sz="3200" dirty="0"/>
          </a:p>
        </p:txBody>
      </p:sp>
      <p:graphicFrame>
        <p:nvGraphicFramePr>
          <p:cNvPr id="3" name="Chart 0" descr=""/>
          <p:cNvGraphicFramePr/>
          <p:nvPr/>
        </p:nvGraphicFramePr>
        <p:xfrm>
          <a:off x="548640" y="1325880"/>
          <a:ext cx="6949440" cy="4709160"/>
        </p:xfrm>
        <a:graphic xmlns:a="http://schemas.openxmlformats.org/drawingml/2006/main">
          <a:graphicData uri="http://schemas.openxmlformats.org/drawingml/2006/chart">
            <c:chart xmlns:c="http://schemas.openxmlformats.org/drawingml/2006/chart" r:id="rId1"/>
          </a:graphicData>
        </a:graphic>
      </p:graphicFrame>
      <p:sp>
        <p:nvSpPr>
          <p:cNvPr id="4" name="card"/>
          <p:cNvSpPr/>
          <p:nvPr/>
        </p:nvSpPr>
        <p:spPr>
          <a:xfrm>
            <a:off x="7772400" y="1325880"/>
            <a:ext cx="3840480" cy="1417320"/>
          </a:xfrm>
          <a:prstGeom prst="roundRect">
            <a:avLst>
              <a:gd name="adj" fmla="val 7742"/>
            </a:avLst>
          </a:prstGeom>
          <a:solidFill>
            <a:schemeClr val="bg2"/>
          </a:solidFill>
          <a:ln/>
          <a:effectLst>
            <a:outerShdw sx="100000" sy="100000" kx="0" ky="0" algn="bl" rotWithShape="0" blurRad="76200" dist="25400" dir="5400000">
              <a:srgbClr val="8A97AB">
                <a:alpha val="25000"/>
              </a:srgbClr>
            </a:outerShdw>
          </a:effectLst>
        </p:spPr>
      </p:sp>
      <p:sp>
        <p:nvSpPr>
          <p:cNvPr id="5" name="Text 2"/>
          <p:cNvSpPr txBox="1"/>
          <p:nvPr/>
        </p:nvSpPr>
        <p:spPr>
          <a:xfrm>
            <a:off x="8001000" y="1463040"/>
            <a:ext cx="3383280" cy="411480"/>
          </a:xfrm>
          <a:prstGeom prst="rect">
            <a:avLst/>
          </a:prstGeom>
          <a:noFill/>
          <a:ln/>
        </p:spPr>
        <p:txBody>
          <a:bodyPr wrap="square" lIns="0" tIns="0" rIns="0" bIns="0" rtlCol="0" anchor="t"/>
          <a:lstStyle/>
          <a:p>
            <a:pPr indent="0" marL="0">
              <a:buNone/>
            </a:pPr>
            <a:r>
              <a:rPr lang="en-US" sz="1600" b="1" dirty="0">
                <a:solidFill>
                  <a:schemeClr val="tx2"/>
                </a:solidFill>
              </a:rPr>
              <a:t>Model</a:t>
            </a:r>
            <a:endParaRPr lang="en-US" sz="1600" dirty="0"/>
          </a:p>
        </p:txBody>
      </p:sp>
      <p:sp>
        <p:nvSpPr>
          <p:cNvPr id="6" name="Text 3"/>
          <p:cNvSpPr txBox="1"/>
          <p:nvPr/>
        </p:nvSpPr>
        <p:spPr>
          <a:xfrm>
            <a:off x="8001000" y="1874520"/>
            <a:ext cx="3383280" cy="777240"/>
          </a:xfrm>
          <a:prstGeom prst="rect">
            <a:avLst/>
          </a:prstGeom>
          <a:noFill/>
          <a:ln/>
        </p:spPr>
        <p:txBody>
          <a:bodyPr wrap="square" lIns="0" tIns="0" rIns="0" bIns="0" rtlCol="0" anchor="t"/>
          <a:lstStyle/>
          <a:p>
            <a:pPr indent="0" marL="0">
              <a:buNone/>
            </a:pPr>
            <a:r>
              <a:rPr lang="en-US" sz="1400" dirty="0">
                <a:solidFill>
                  <a:schemeClr val="accent1"/>
                </a:solidFill>
                <a:latin typeface="Courier New" pitchFamily="34" charset="0"/>
                <a:ea typeface="Courier New" pitchFamily="34" charset="-122"/>
                <a:cs typeface="Courier New" pitchFamily="34" charset="-120"/>
              </a:rPr>
              <a:t>aov(yield ~ block + nitrogen * variety)</a:t>
            </a:r>
            <a:pPr indent="0" marL="0">
              <a:buNone/>
            </a:pPr>
            <a:r>
              <a:rPr lang="en-US" sz="1400" dirty="0">
                <a:solidFill>
                  <a:schemeClr val="tx1"/>
                </a:solidFill>
              </a:rPr>
              <a:t> gives both main effects and the interaction.</a:t>
            </a:r>
            <a:endParaRPr lang="en-US" sz="1400" dirty="0"/>
          </a:p>
        </p:txBody>
      </p:sp>
      <p:sp>
        <p:nvSpPr>
          <p:cNvPr id="7" name="card"/>
          <p:cNvSpPr/>
          <p:nvPr/>
        </p:nvSpPr>
        <p:spPr>
          <a:xfrm>
            <a:off x="7772400" y="2971800"/>
            <a:ext cx="3840480" cy="1417320"/>
          </a:xfrm>
          <a:prstGeom prst="roundRect">
            <a:avLst>
              <a:gd name="adj" fmla="val 7742"/>
            </a:avLst>
          </a:prstGeom>
          <a:solidFill>
            <a:schemeClr val="tx2"/>
          </a:solidFill>
          <a:ln/>
          <a:effectLst>
            <a:outerShdw sx="100000" sy="100000" kx="0" ky="0" algn="bl" rotWithShape="0" blurRad="76200" dist="25400" dir="5400000">
              <a:srgbClr val="8A97AB">
                <a:alpha val="25000"/>
              </a:srgbClr>
            </a:outerShdw>
          </a:effectLst>
        </p:spPr>
      </p:sp>
      <p:sp>
        <p:nvSpPr>
          <p:cNvPr id="8" name="Text 5"/>
          <p:cNvSpPr txBox="1"/>
          <p:nvPr/>
        </p:nvSpPr>
        <p:spPr>
          <a:xfrm>
            <a:off x="7772400" y="3017520"/>
            <a:ext cx="3840480" cy="850392"/>
          </a:xfrm>
          <a:prstGeom prst="rect">
            <a:avLst/>
          </a:prstGeom>
          <a:noFill/>
          <a:ln/>
        </p:spPr>
        <p:txBody>
          <a:bodyPr wrap="square" lIns="0" tIns="0" rIns="0" bIns="0" rtlCol="0" anchor="ctr"/>
          <a:lstStyle/>
          <a:p>
            <a:pPr algn="ctr" indent="0" marL="0">
              <a:buNone/>
            </a:pPr>
            <a:r>
              <a:rPr lang="en-US" sz="3400" b="1" dirty="0">
                <a:solidFill>
                  <a:schemeClr val="accent2"/>
                </a:solidFill>
                <a:latin typeface="Cambria" pitchFamily="34" charset="0"/>
                <a:ea typeface="Cambria" pitchFamily="34" charset="-122"/>
                <a:cs typeface="Cambria" pitchFamily="34" charset="-120"/>
              </a:rPr>
              <a:t>p = 0.006</a:t>
            </a:r>
            <a:endParaRPr lang="en-US" sz="3400" dirty="0"/>
          </a:p>
        </p:txBody>
      </p:sp>
      <p:sp>
        <p:nvSpPr>
          <p:cNvPr id="9" name="Text 6"/>
          <p:cNvSpPr txBox="1"/>
          <p:nvPr/>
        </p:nvSpPr>
        <p:spPr>
          <a:xfrm>
            <a:off x="7955280" y="3822192"/>
            <a:ext cx="3474720" cy="510235"/>
          </a:xfrm>
          <a:prstGeom prst="rect">
            <a:avLst/>
          </a:prstGeom>
          <a:noFill/>
          <a:ln/>
        </p:spPr>
        <p:txBody>
          <a:bodyPr wrap="square" lIns="0" tIns="0" rIns="0" bIns="0" rtlCol="0" anchor="t"/>
          <a:lstStyle/>
          <a:p>
            <a:pPr algn="ctr" indent="0" marL="0">
              <a:buNone/>
            </a:pPr>
            <a:r>
              <a:rPr lang="en-US" sz="1400" dirty="0">
                <a:solidFill>
                  <a:schemeClr val="bg1"/>
                </a:solidFill>
              </a:rPr>
              <a:t>Nitrogen × variety interaction</a:t>
            </a:r>
            <a:endParaRPr lang="en-US" sz="1400" dirty="0"/>
          </a:p>
        </p:txBody>
      </p:sp>
      <p:sp>
        <p:nvSpPr>
          <p:cNvPr id="10" name="card"/>
          <p:cNvSpPr/>
          <p:nvPr/>
        </p:nvSpPr>
        <p:spPr>
          <a:xfrm>
            <a:off x="7772400" y="4617720"/>
            <a:ext cx="3840480" cy="1417320"/>
          </a:xfrm>
          <a:prstGeom prst="roundRect">
            <a:avLst>
              <a:gd name="adj" fmla="val 7742"/>
            </a:avLst>
          </a:prstGeom>
          <a:solidFill>
            <a:schemeClr val="bg2"/>
          </a:solidFill>
          <a:ln/>
          <a:effectLst>
            <a:outerShdw sx="100000" sy="100000" kx="0" ky="0" algn="bl" rotWithShape="0" blurRad="76200" dist="25400" dir="5400000">
              <a:srgbClr val="8A97AB">
                <a:alpha val="25000"/>
              </a:srgbClr>
            </a:outerShdw>
          </a:effectLst>
        </p:spPr>
      </p:sp>
      <p:sp>
        <p:nvSpPr>
          <p:cNvPr id="11" name="Text 8"/>
          <p:cNvSpPr txBox="1"/>
          <p:nvPr/>
        </p:nvSpPr>
        <p:spPr>
          <a:xfrm>
            <a:off x="8001000" y="4754880"/>
            <a:ext cx="3383280" cy="411480"/>
          </a:xfrm>
          <a:prstGeom prst="rect">
            <a:avLst/>
          </a:prstGeom>
          <a:noFill/>
          <a:ln/>
        </p:spPr>
        <p:txBody>
          <a:bodyPr wrap="square" lIns="0" tIns="0" rIns="0" bIns="0" rtlCol="0" anchor="t"/>
          <a:lstStyle/>
          <a:p>
            <a:pPr indent="0" marL="0">
              <a:buNone/>
            </a:pPr>
            <a:r>
              <a:rPr lang="en-US" sz="1600" b="1" dirty="0">
                <a:solidFill>
                  <a:schemeClr val="tx2"/>
                </a:solidFill>
              </a:rPr>
              <a:t>Compare within variety</a:t>
            </a:r>
            <a:endParaRPr lang="en-US" sz="1600" dirty="0"/>
          </a:p>
        </p:txBody>
      </p:sp>
      <p:sp>
        <p:nvSpPr>
          <p:cNvPr id="12" name="Text 9"/>
          <p:cNvSpPr txBox="1"/>
          <p:nvPr/>
        </p:nvSpPr>
        <p:spPr>
          <a:xfrm>
            <a:off x="8001000" y="5166360"/>
            <a:ext cx="3383280" cy="777240"/>
          </a:xfrm>
          <a:prstGeom prst="rect">
            <a:avLst/>
          </a:prstGeom>
          <a:noFill/>
          <a:ln/>
        </p:spPr>
        <p:txBody>
          <a:bodyPr wrap="square" lIns="0" tIns="0" rIns="0" bIns="0" rtlCol="0" anchor="t"/>
          <a:lstStyle/>
          <a:p>
            <a:pPr indent="0" marL="0">
              <a:buNone/>
            </a:pPr>
            <a:r>
              <a:rPr lang="en-US" sz="1400" dirty="0">
                <a:solidFill>
                  <a:schemeClr val="tx1"/>
                </a:solidFill>
              </a:rPr>
              <a:t>Dwarf N60→N120 gains 0.75 t/ha; Tall gains 0.28. Combination CD ≈ 0.34 t/ha.</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Split plot: two randomizations, two error terms</a:t>
            </a:r>
            <a:endParaRPr lang="en-US" sz="3200" dirty="0"/>
          </a:p>
        </p:txBody>
      </p:sp>
      <p:sp>
        <p:nvSpPr>
          <p:cNvPr id="3" name="code panel"/>
          <p:cNvSpPr/>
          <p:nvPr/>
        </p:nvSpPr>
        <p:spPr>
          <a:xfrm>
            <a:off x="548640" y="1325880"/>
            <a:ext cx="6766560" cy="3977640"/>
          </a:xfrm>
          <a:prstGeom prst="roundRect">
            <a:avLst>
              <a:gd name="adj" fmla="val 2299"/>
            </a:avLst>
          </a:prstGeom>
          <a:solidFill>
            <a:schemeClr val="tx1"/>
          </a:solidFill>
          <a:ln/>
        </p:spPr>
      </p:sp>
      <p:sp>
        <p:nvSpPr>
          <p:cNvPr id="4" name="Text 2"/>
          <p:cNvSpPr txBox="1"/>
          <p:nvPr/>
        </p:nvSpPr>
        <p:spPr>
          <a:xfrm>
            <a:off x="822960" y="1527048"/>
            <a:ext cx="6217920" cy="3575304"/>
          </a:xfrm>
          <a:prstGeom prst="rect">
            <a:avLst/>
          </a:prstGeom>
          <a:noFill/>
          <a:ln/>
        </p:spPr>
        <p:txBody>
          <a:bodyPr wrap="square" lIns="0" tIns="0" rIns="0" bIns="0" rtlCol="0" anchor="t"/>
          <a:lstStyle/>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sp &lt;- read.csv("data/split_plot.csv")</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sp$block &lt;- factor(sp$block)</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sp$irrigation &lt;- factor(sp$irrigation)   # main plots</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sp$nitrogen &lt;- factor(sp$nitrogen,       # subplots</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levels = c("N0", "N50", "N100", "N150"))</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sp_fit &lt;- aov(yield_t_ha ~ irrigation * nitrogen +</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              Error(block / irrigation), data = sp)</a:t>
            </a:r>
            <a:endParaRPr lang="en-US" sz="1500" dirty="0"/>
          </a:p>
          <a:p>
            <a:pPr indent="0" marL="0">
              <a:spcAft>
                <a:spcPts val="200"/>
              </a:spcAft>
              <a:buNone/>
            </a:pPr>
            <a:r>
              <a:rPr lang="en-US" sz="1500" dirty="0">
                <a:solidFill>
                  <a:schemeClr val="bg1"/>
                </a:solidFill>
                <a:latin typeface="Courier New" pitchFamily="34" charset="0"/>
                <a:ea typeface="Courier New" pitchFamily="34" charset="-122"/>
                <a:cs typeface="Courier New" pitchFamily="34" charset="-120"/>
              </a:rPr>
              <a:t>summary(sp_fit)</a:t>
            </a:r>
            <a:endParaRPr lang="en-US" sz="1500" dirty="0"/>
          </a:p>
        </p:txBody>
      </p:sp>
      <p:sp>
        <p:nvSpPr>
          <p:cNvPr id="5" name="note"/>
          <p:cNvSpPr/>
          <p:nvPr/>
        </p:nvSpPr>
        <p:spPr>
          <a:xfrm>
            <a:off x="7543800" y="1325880"/>
            <a:ext cx="4069080" cy="1874520"/>
          </a:xfrm>
          <a:prstGeom prst="roundRect">
            <a:avLst>
              <a:gd name="adj" fmla="val 5854"/>
            </a:avLst>
          </a:prstGeom>
          <a:solidFill>
            <a:schemeClr val="bg2"/>
          </a:solidFill>
          <a:ln/>
          <a:effectLst>
            <a:outerShdw sx="100000" sy="100000" kx="0" ky="0" algn="bl" rotWithShape="0" blurRad="76200" dist="25400" dir="5400000">
              <a:srgbClr val="8A97AB">
                <a:alpha val="25000"/>
              </a:srgbClr>
            </a:outerShdw>
          </a:effectLst>
        </p:spPr>
      </p:sp>
      <p:sp>
        <p:nvSpPr>
          <p:cNvPr id="6" name="icon circle"/>
          <p:cNvSpPr/>
          <p:nvPr/>
        </p:nvSpPr>
        <p:spPr>
          <a:xfrm>
            <a:off x="7772400" y="1527048"/>
            <a:ext cx="548640" cy="548640"/>
          </a:xfrm>
          <a:prstGeom prst="ellipse">
            <a:avLst/>
          </a:prstGeom>
          <a:solidFill>
            <a:schemeClr val="accent1"/>
          </a:solidFill>
          <a:ln/>
        </p:spPr>
      </p:sp>
      <p:pic>
        <p:nvPicPr>
          <p:cNvPr id="7" name="Image 0" descr="FaWater">    </p:cNvPr>
          <p:cNvPicPr>
            <a:picLocks noChangeAspect="1"/>
          </p:cNvPicPr>
          <p:nvPr/>
        </p:nvPicPr>
        <p:blipFill>
          <a:blip r:embed="rId1"/>
          <a:stretch>
            <a:fillRect/>
          </a:stretch>
        </p:blipFill>
        <p:spPr>
          <a:xfrm>
            <a:off x="7909560" y="1664208"/>
            <a:ext cx="274320" cy="274320"/>
          </a:xfrm>
          <a:prstGeom prst="rect">
            <a:avLst/>
          </a:prstGeom>
        </p:spPr>
      </p:pic>
      <p:sp>
        <p:nvSpPr>
          <p:cNvPr id="8" name="Text 5"/>
          <p:cNvSpPr txBox="1"/>
          <p:nvPr/>
        </p:nvSpPr>
        <p:spPr>
          <a:xfrm>
            <a:off x="8458200" y="150876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Error (a)</a:t>
            </a:r>
            <a:endParaRPr lang="en-US" sz="1600" dirty="0"/>
          </a:p>
        </p:txBody>
      </p:sp>
      <p:sp>
        <p:nvSpPr>
          <p:cNvPr id="9" name="Text 6"/>
          <p:cNvSpPr txBox="1"/>
          <p:nvPr/>
        </p:nvSpPr>
        <p:spPr>
          <a:xfrm>
            <a:off x="7772400" y="2148840"/>
            <a:ext cx="3611880" cy="960120"/>
          </a:xfrm>
          <a:prstGeom prst="rect">
            <a:avLst/>
          </a:prstGeom>
          <a:noFill/>
          <a:ln/>
        </p:spPr>
        <p:txBody>
          <a:bodyPr wrap="square" lIns="0" tIns="0" rIns="0" bIns="0" rtlCol="0" anchor="t"/>
          <a:lstStyle/>
          <a:p>
            <a:pPr indent="0" marL="0">
              <a:buNone/>
            </a:pPr>
            <a:r>
              <a:rPr lang="en-US" sz="1400" dirty="0">
                <a:solidFill>
                  <a:schemeClr val="tx1"/>
                </a:solidFill>
              </a:rPr>
              <a:t>Main plots within blocks. Tests irrigation. Few df, usually larger.</a:t>
            </a:r>
            <a:endParaRPr lang="en-US" sz="1400" dirty="0"/>
          </a:p>
        </p:txBody>
      </p:sp>
      <p:sp>
        <p:nvSpPr>
          <p:cNvPr id="10" name="note"/>
          <p:cNvSpPr/>
          <p:nvPr/>
        </p:nvSpPr>
        <p:spPr>
          <a:xfrm>
            <a:off x="7543800" y="3429000"/>
            <a:ext cx="4069080" cy="1874520"/>
          </a:xfrm>
          <a:prstGeom prst="roundRect">
            <a:avLst>
              <a:gd name="adj" fmla="val 5854"/>
            </a:avLst>
          </a:prstGeom>
          <a:solidFill>
            <a:schemeClr val="bg2"/>
          </a:solidFill>
          <a:ln/>
          <a:effectLst>
            <a:outerShdw sx="100000" sy="100000" kx="0" ky="0" algn="bl" rotWithShape="0" blurRad="76200" dist="25400" dir="5400000">
              <a:srgbClr val="8A97AB">
                <a:alpha val="25000"/>
              </a:srgbClr>
            </a:outerShdw>
          </a:effectLst>
        </p:spPr>
      </p:sp>
      <p:sp>
        <p:nvSpPr>
          <p:cNvPr id="11" name="icon circle"/>
          <p:cNvSpPr/>
          <p:nvPr/>
        </p:nvSpPr>
        <p:spPr>
          <a:xfrm>
            <a:off x="7772400" y="3630168"/>
            <a:ext cx="548640" cy="548640"/>
          </a:xfrm>
          <a:prstGeom prst="ellipse">
            <a:avLst/>
          </a:prstGeom>
          <a:solidFill>
            <a:schemeClr val="accent3"/>
          </a:solidFill>
          <a:ln/>
        </p:spPr>
      </p:sp>
      <p:pic>
        <p:nvPicPr>
          <p:cNvPr id="12" name="Image 1" descr="FaSeedling">    </p:cNvPr>
          <p:cNvPicPr>
            <a:picLocks noChangeAspect="1"/>
          </p:cNvPicPr>
          <p:nvPr/>
        </p:nvPicPr>
        <p:blipFill>
          <a:blip r:embed="rId2"/>
          <a:stretch>
            <a:fillRect/>
          </a:stretch>
        </p:blipFill>
        <p:spPr>
          <a:xfrm>
            <a:off x="7909560" y="3767328"/>
            <a:ext cx="274320" cy="274320"/>
          </a:xfrm>
          <a:prstGeom prst="rect">
            <a:avLst/>
          </a:prstGeom>
        </p:spPr>
      </p:pic>
      <p:sp>
        <p:nvSpPr>
          <p:cNvPr id="13" name="Text 9"/>
          <p:cNvSpPr txBox="1"/>
          <p:nvPr/>
        </p:nvSpPr>
        <p:spPr>
          <a:xfrm>
            <a:off x="8458200" y="3611880"/>
            <a:ext cx="2971800" cy="548640"/>
          </a:xfrm>
          <a:prstGeom prst="rect">
            <a:avLst/>
          </a:prstGeom>
          <a:noFill/>
          <a:ln/>
        </p:spPr>
        <p:txBody>
          <a:bodyPr wrap="square" lIns="0" tIns="0" rIns="0" bIns="0" rtlCol="0" anchor="ctr"/>
          <a:lstStyle/>
          <a:p>
            <a:pPr indent="0" marL="0">
              <a:buNone/>
            </a:pPr>
            <a:r>
              <a:rPr lang="en-US" sz="1600" b="1" dirty="0">
                <a:solidFill>
                  <a:schemeClr val="tx2"/>
                </a:solidFill>
              </a:rPr>
              <a:t>Error (b)</a:t>
            </a:r>
            <a:endParaRPr lang="en-US" sz="1600" dirty="0"/>
          </a:p>
        </p:txBody>
      </p:sp>
      <p:sp>
        <p:nvSpPr>
          <p:cNvPr id="14" name="Text 10"/>
          <p:cNvSpPr txBox="1"/>
          <p:nvPr/>
        </p:nvSpPr>
        <p:spPr>
          <a:xfrm>
            <a:off x="7772400" y="4251960"/>
            <a:ext cx="3611880" cy="960120"/>
          </a:xfrm>
          <a:prstGeom prst="rect">
            <a:avLst/>
          </a:prstGeom>
          <a:noFill/>
          <a:ln/>
        </p:spPr>
        <p:txBody>
          <a:bodyPr wrap="square" lIns="0" tIns="0" rIns="0" bIns="0" rtlCol="0" anchor="t"/>
          <a:lstStyle/>
          <a:p>
            <a:pPr indent="0" marL="0">
              <a:buNone/>
            </a:pPr>
            <a:r>
              <a:rPr lang="en-US" sz="1400" dirty="0">
                <a:solidFill>
                  <a:schemeClr val="tx1"/>
                </a:solidFill>
              </a:rPr>
              <a:t>Subplots within main plots. Tests nitrogen and the interaction. Usually smaller.</a:t>
            </a:r>
            <a:endParaRPr lang="en-US" sz="1400" dirty="0"/>
          </a:p>
        </p:txBody>
      </p:sp>
      <p:sp>
        <p:nvSpPr>
          <p:cNvPr id="15" name="Text 11"/>
          <p:cNvSpPr txBox="1"/>
          <p:nvPr/>
        </p:nvSpPr>
        <p:spPr>
          <a:xfrm>
            <a:off x="548640" y="5440680"/>
            <a:ext cx="11064240" cy="640080"/>
          </a:xfrm>
          <a:prstGeom prst="rect">
            <a:avLst/>
          </a:prstGeom>
          <a:noFill/>
          <a:ln/>
        </p:spPr>
        <p:txBody>
          <a:bodyPr wrap="square" lIns="0" tIns="0" rIns="0" bIns="0" rtlCol="0" anchor="ctr"/>
          <a:lstStyle/>
          <a:p>
            <a:pPr indent="0" marL="0">
              <a:buNone/>
            </a:pPr>
            <a:r>
              <a:rPr lang="en-US" sz="1500" i="1" dirty="0">
                <a:solidFill>
                  <a:schemeClr val="accent5"/>
                </a:solidFill>
              </a:rPr>
              <a:t>Irrigation needs large areas, so it goes on main plots; nitrogen is applied to subplots inside each main plot.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What goes wrong if the split plot is ignored</a:t>
            </a:r>
            <a:endParaRPr lang="en-US" sz="3200" dirty="0"/>
          </a:p>
        </p:txBody>
      </p:sp>
      <p:sp>
        <p:nvSpPr>
          <p:cNvPr id="3" name="card"/>
          <p:cNvSpPr/>
          <p:nvPr/>
        </p:nvSpPr>
        <p:spPr>
          <a:xfrm>
            <a:off x="548640" y="1371600"/>
            <a:ext cx="5440680" cy="3886200"/>
          </a:xfrm>
          <a:prstGeom prst="roundRect">
            <a:avLst>
              <a:gd name="adj" fmla="val 2824"/>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868680" y="1645920"/>
            <a:ext cx="731520" cy="731520"/>
          </a:xfrm>
          <a:prstGeom prst="ellipse">
            <a:avLst/>
          </a:prstGeom>
          <a:solidFill>
            <a:schemeClr val="accent4"/>
          </a:solidFill>
          <a:ln/>
        </p:spPr>
      </p:sp>
      <p:pic>
        <p:nvPicPr>
          <p:cNvPr id="5" name="Image 0" descr="FaTimes">    </p:cNvPr>
          <p:cNvPicPr>
            <a:picLocks noChangeAspect="1"/>
          </p:cNvPicPr>
          <p:nvPr/>
        </p:nvPicPr>
        <p:blipFill>
          <a:blip r:embed="rId1"/>
          <a:stretch>
            <a:fillRect/>
          </a:stretch>
        </p:blipFill>
        <p:spPr>
          <a:xfrm>
            <a:off x="1051560" y="1828800"/>
            <a:ext cx="365760" cy="365760"/>
          </a:xfrm>
          <a:prstGeom prst="rect">
            <a:avLst/>
          </a:prstGeom>
        </p:spPr>
      </p:pic>
      <p:sp>
        <p:nvSpPr>
          <p:cNvPr id="6" name="Text 3"/>
          <p:cNvSpPr txBox="1"/>
          <p:nvPr/>
        </p:nvSpPr>
        <p:spPr>
          <a:xfrm>
            <a:off x="1783080" y="1645920"/>
            <a:ext cx="4023360" cy="731520"/>
          </a:xfrm>
          <a:prstGeom prst="rect">
            <a:avLst/>
          </a:prstGeom>
          <a:noFill/>
          <a:ln/>
        </p:spPr>
        <p:txBody>
          <a:bodyPr wrap="square" lIns="0" tIns="0" rIns="0" bIns="0" rtlCol="0" anchor="ctr"/>
          <a:lstStyle/>
          <a:p>
            <a:pPr indent="0" marL="0">
              <a:buNone/>
            </a:pPr>
            <a:r>
              <a:rPr lang="en-US" sz="2000" b="1" dirty="0">
                <a:solidFill>
                  <a:schemeClr val="tx2"/>
                </a:solidFill>
              </a:rPr>
              <a:t>Ordinary RCBD analysis (wrong)</a:t>
            </a:r>
            <a:endParaRPr lang="en-US" sz="2000" dirty="0"/>
          </a:p>
        </p:txBody>
      </p:sp>
      <p:sp>
        <p:nvSpPr>
          <p:cNvPr id="7" name="Text 4"/>
          <p:cNvSpPr txBox="1"/>
          <p:nvPr/>
        </p:nvSpPr>
        <p:spPr>
          <a:xfrm>
            <a:off x="868680" y="2606040"/>
            <a:ext cx="4846320" cy="25146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tx1"/>
                </a:solidFill>
              </a:rPr>
              <a:t>One pooled error for everything</a:t>
            </a:r>
            <a:endParaRPr lang="en-US" sz="1600" dirty="0"/>
          </a:p>
          <a:p>
            <a:pPr marL="228600" indent="-228600">
              <a:spcAft>
                <a:spcPts val="800"/>
              </a:spcAft>
              <a:buSzPct val="100000"/>
              <a:buChar char="•"/>
            </a:pPr>
            <a:r>
              <a:rPr lang="en-US" sz="1600" dirty="0">
                <a:solidFill>
                  <a:schemeClr val="tx1"/>
                </a:solidFill>
              </a:rPr>
              <a:t>Irrigation F inflated to about 76</a:t>
            </a:r>
            <a:endParaRPr lang="en-US" sz="1600" dirty="0"/>
          </a:p>
          <a:p>
            <a:pPr marL="228600" indent="-228600">
              <a:spcAft>
                <a:spcPts val="800"/>
              </a:spcAft>
              <a:buSzPct val="100000"/>
              <a:buChar char="•"/>
            </a:pPr>
            <a:r>
              <a:rPr lang="en-US" sz="1600" dirty="0">
                <a:solidFill>
                  <a:schemeClr val="tx1"/>
                </a:solidFill>
              </a:rPr>
              <a:t>Interaction p = 0.26: not significant</a:t>
            </a:r>
            <a:endParaRPr lang="en-US" sz="1600" dirty="0"/>
          </a:p>
          <a:p>
            <a:pPr marL="228600" indent="-228600">
              <a:spcAft>
                <a:spcPts val="800"/>
              </a:spcAft>
              <a:buSzPct val="100000"/>
              <a:buChar char="•"/>
            </a:pPr>
            <a:r>
              <a:rPr lang="en-US" sz="1600" dirty="0">
                <a:solidFill>
                  <a:schemeClr val="tx1"/>
                </a:solidFill>
              </a:rPr>
              <a:t>Conclusion: nitrogen response is the same under all irrigation levels</a:t>
            </a:r>
            <a:endParaRPr lang="en-US" sz="1600" dirty="0"/>
          </a:p>
        </p:txBody>
      </p:sp>
      <p:sp>
        <p:nvSpPr>
          <p:cNvPr id="8" name="card"/>
          <p:cNvSpPr/>
          <p:nvPr/>
        </p:nvSpPr>
        <p:spPr>
          <a:xfrm>
            <a:off x="6172200" y="1371600"/>
            <a:ext cx="5440680" cy="3886200"/>
          </a:xfrm>
          <a:prstGeom prst="roundRect">
            <a:avLst>
              <a:gd name="adj" fmla="val 2824"/>
            </a:avLst>
          </a:prstGeom>
          <a:solidFill>
            <a:schemeClr val="tx2"/>
          </a:solidFill>
          <a:ln/>
          <a:effectLst>
            <a:outerShdw sx="100000" sy="100000" kx="0" ky="0" algn="bl" rotWithShape="0" blurRad="76200" dist="25400" dir="5400000">
              <a:srgbClr val="8A97AB">
                <a:alpha val="25000"/>
              </a:srgbClr>
            </a:outerShdw>
          </a:effectLst>
        </p:spPr>
      </p:sp>
      <p:sp>
        <p:nvSpPr>
          <p:cNvPr id="9" name="icon circle"/>
          <p:cNvSpPr/>
          <p:nvPr/>
        </p:nvSpPr>
        <p:spPr>
          <a:xfrm>
            <a:off x="6492240" y="1645920"/>
            <a:ext cx="731520" cy="731520"/>
          </a:xfrm>
          <a:prstGeom prst="ellipse">
            <a:avLst/>
          </a:prstGeom>
          <a:solidFill>
            <a:schemeClr val="accent2"/>
          </a:solidFill>
          <a:ln/>
        </p:spPr>
      </p:sp>
      <p:pic>
        <p:nvPicPr>
          <p:cNvPr id="10" name="Image 1" descr="FaCheck">    </p:cNvPr>
          <p:cNvPicPr>
            <a:picLocks noChangeAspect="1"/>
          </p:cNvPicPr>
          <p:nvPr/>
        </p:nvPicPr>
        <p:blipFill>
          <a:blip r:embed="rId2"/>
          <a:stretch>
            <a:fillRect/>
          </a:stretch>
        </p:blipFill>
        <p:spPr>
          <a:xfrm>
            <a:off x="6675120" y="1828800"/>
            <a:ext cx="365760" cy="365760"/>
          </a:xfrm>
          <a:prstGeom prst="rect">
            <a:avLst/>
          </a:prstGeom>
        </p:spPr>
      </p:pic>
      <p:sp>
        <p:nvSpPr>
          <p:cNvPr id="11" name="Text 7"/>
          <p:cNvSpPr txBox="1"/>
          <p:nvPr/>
        </p:nvSpPr>
        <p:spPr>
          <a:xfrm>
            <a:off x="7406640" y="1645920"/>
            <a:ext cx="4023360" cy="731520"/>
          </a:xfrm>
          <a:prstGeom prst="rect">
            <a:avLst/>
          </a:prstGeom>
          <a:noFill/>
          <a:ln/>
        </p:spPr>
        <p:txBody>
          <a:bodyPr wrap="square" lIns="0" tIns="0" rIns="0" bIns="0" rtlCol="0" anchor="ctr"/>
          <a:lstStyle/>
          <a:p>
            <a:pPr indent="0" marL="0">
              <a:buNone/>
            </a:pPr>
            <a:r>
              <a:rPr lang="en-US" sz="2000" b="1" dirty="0">
                <a:solidFill>
                  <a:schemeClr val="bg1"/>
                </a:solidFill>
              </a:rPr>
              <a:t>Split-plot analysis (correct)</a:t>
            </a:r>
            <a:endParaRPr lang="en-US" sz="2000" dirty="0"/>
          </a:p>
        </p:txBody>
      </p:sp>
      <p:sp>
        <p:nvSpPr>
          <p:cNvPr id="12" name="Text 8"/>
          <p:cNvSpPr txBox="1"/>
          <p:nvPr/>
        </p:nvSpPr>
        <p:spPr>
          <a:xfrm>
            <a:off x="6492240" y="2606040"/>
            <a:ext cx="4846320" cy="2514600"/>
          </a:xfrm>
          <a:prstGeom prst="rect">
            <a:avLst/>
          </a:prstGeom>
          <a:noFill/>
          <a:ln/>
        </p:spPr>
        <p:txBody>
          <a:bodyPr wrap="square" lIns="0" tIns="0" rIns="0" bIns="0" rtlCol="0" anchor="t"/>
          <a:lstStyle/>
          <a:p>
            <a:pPr marL="228600" indent="-228600">
              <a:spcAft>
                <a:spcPts val="800"/>
              </a:spcAft>
              <a:buSzPct val="100000"/>
              <a:buChar char="•"/>
            </a:pPr>
            <a:r>
              <a:rPr lang="en-US" sz="1600" dirty="0">
                <a:solidFill>
                  <a:schemeClr val="bg1"/>
                </a:solidFill>
              </a:rPr>
              <a:t>Error (a) for irrigation, error (b) for the rest</a:t>
            </a:r>
            <a:endParaRPr lang="en-US" sz="1600" dirty="0"/>
          </a:p>
          <a:p>
            <a:pPr marL="228600" indent="-228600">
              <a:spcAft>
                <a:spcPts val="800"/>
              </a:spcAft>
              <a:buSzPct val="100000"/>
              <a:buChar char="•"/>
            </a:pPr>
            <a:r>
              <a:rPr lang="en-US" sz="1600" dirty="0">
                <a:solidFill>
                  <a:schemeClr val="bg1"/>
                </a:solidFill>
              </a:rPr>
              <a:t>Irrigation F about 18 on 2 and 4 df</a:t>
            </a:r>
            <a:endParaRPr lang="en-US" sz="1600" dirty="0"/>
          </a:p>
          <a:p>
            <a:pPr marL="228600" indent="-228600">
              <a:spcAft>
                <a:spcPts val="800"/>
              </a:spcAft>
              <a:buSzPct val="100000"/>
              <a:buChar char="•"/>
            </a:pPr>
            <a:r>
              <a:rPr lang="en-US" sz="1600" dirty="0">
                <a:solidFill>
                  <a:schemeClr val="bg1"/>
                </a:solidFill>
              </a:rPr>
              <a:t>Interaction p = 0.004: significant</a:t>
            </a:r>
            <a:endParaRPr lang="en-US" sz="1600" dirty="0"/>
          </a:p>
          <a:p>
            <a:pPr marL="228600" indent="-228600">
              <a:spcAft>
                <a:spcPts val="800"/>
              </a:spcAft>
              <a:buSzPct val="100000"/>
              <a:buChar char="•"/>
            </a:pPr>
            <a:r>
              <a:rPr lang="en-US" sz="1600" dirty="0">
                <a:solidFill>
                  <a:schemeClr val="bg1"/>
                </a:solidFill>
              </a:rPr>
              <a:t>Under I1 yield levels off after N100; under I3 it still rises at N150</a:t>
            </a:r>
            <a:endParaRPr lang="en-US" sz="1600" dirty="0"/>
          </a:p>
        </p:txBody>
      </p:sp>
      <p:sp>
        <p:nvSpPr>
          <p:cNvPr id="13" name="key idea"/>
          <p:cNvSpPr/>
          <p:nvPr/>
        </p:nvSpPr>
        <p:spPr>
          <a:xfrm>
            <a:off x="548640" y="5440680"/>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4" name="Text 10"/>
          <p:cNvSpPr txBox="1"/>
          <p:nvPr/>
        </p:nvSpPr>
        <p:spPr>
          <a:xfrm>
            <a:off x="822960" y="5440680"/>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Same data, same function, different conclusions. Only the analysis that follows the randomization is valid.</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ection badge"/>
          <p:cNvSpPr/>
          <p:nvPr/>
        </p:nvSpPr>
        <p:spPr>
          <a:xfrm>
            <a:off x="731520" y="2606040"/>
            <a:ext cx="1188720" cy="1188720"/>
          </a:xfrm>
          <a:prstGeom prst="ellipse">
            <a:avLst/>
          </a:prstGeom>
          <a:solidFill>
            <a:schemeClr val="accent2"/>
          </a:solidFill>
          <a:ln/>
        </p:spPr>
      </p:sp>
      <p:sp>
        <p:nvSpPr>
          <p:cNvPr id="3" name="Text 1"/>
          <p:cNvSpPr txBox="1"/>
          <p:nvPr/>
        </p:nvSpPr>
        <p:spPr>
          <a:xfrm>
            <a:off x="731520" y="2606040"/>
            <a:ext cx="1188720" cy="1188720"/>
          </a:xfrm>
          <a:prstGeom prst="rect">
            <a:avLst/>
          </a:prstGeom>
          <a:noFill/>
          <a:ln/>
        </p:spPr>
        <p:txBody>
          <a:bodyPr wrap="square" lIns="0" tIns="0" rIns="0" bIns="0" rtlCol="0" anchor="ctr"/>
          <a:lstStyle/>
          <a:p>
            <a:pPr algn="ctr" indent="0" marL="0">
              <a:buNone/>
            </a:pPr>
            <a:r>
              <a:rPr lang="en-US" sz="3000" b="1" dirty="0">
                <a:solidFill>
                  <a:schemeClr val="tx2"/>
                </a:solidFill>
                <a:latin typeface="Cambria" pitchFamily="34" charset="0"/>
                <a:ea typeface="Cambria" pitchFamily="34" charset="-122"/>
                <a:cs typeface="Cambria" pitchFamily="34" charset="-120"/>
              </a:rPr>
              <a:t>D</a:t>
            </a:r>
            <a:endParaRPr lang="en-US" sz="3000" dirty="0"/>
          </a:p>
        </p:txBody>
      </p:sp>
      <p:sp>
        <p:nvSpPr>
          <p:cNvPr id="4"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r>
              <a:rPr lang="en-US" sz="3800" b="1" dirty="0">
                <a:solidFill>
                  <a:schemeClr val="bg1"/>
                </a:solidFill>
              </a:rPr>
              <a:t>Transformations and mean comparisons</a:t>
            </a:r>
            <a:endParaRPr lang="en-US" sz="3800" dirty="0"/>
          </a:p>
        </p:txBody>
      </p:sp>
      <p:sp>
        <p:nvSpPr>
          <p:cNvPr id="5"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r>
              <a:rPr lang="en-US" sz="1800" dirty="0">
                <a:solidFill>
                  <a:schemeClr val="accent6"/>
                </a:solidFill>
              </a:rPr>
              <a:t>When variance depends on the mean, and which test to use</a:t>
            </a:r>
            <a:endParaRPr lang="en-US" sz="1800" dirty="0"/>
          </a:p>
        </p:txBody>
      </p:sp>
      <p:pic>
        <p:nvPicPr>
          <p:cNvPr id="6" name="Image 0" descr="decorative icon">    </p:cNvPr>
          <p:cNvPicPr>
            <a:picLocks noChangeAspect="1"/>
          </p:cNvPicPr>
          <p:nvPr/>
        </p:nvPicPr>
        <p:blipFill>
          <a:blip r:embed="rId1"/>
          <a:stretch>
            <a:fillRect/>
          </a:stretch>
        </p:blipFill>
        <p:spPr>
          <a:xfrm>
            <a:off x="9418320" y="4206240"/>
            <a:ext cx="2194560" cy="2194560"/>
          </a:xfrm>
          <a:prstGeom prst="rect">
            <a:avLst/>
          </a:prstGeom>
        </p:spPr>
      </p:pic>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Transforming counts and percentages</a:t>
            </a:r>
            <a:endParaRPr lang="en-US" sz="3200" dirty="0"/>
          </a:p>
        </p:txBody>
      </p:sp>
      <p:sp>
        <p:nvSpPr>
          <p:cNvPr id="3" name="card"/>
          <p:cNvSpPr/>
          <p:nvPr/>
        </p:nvSpPr>
        <p:spPr>
          <a:xfrm>
            <a:off x="548640" y="1723644"/>
            <a:ext cx="5417820" cy="2697480"/>
          </a:xfrm>
          <a:prstGeom prst="roundRect">
            <a:avLst>
              <a:gd name="adj" fmla="val 4068"/>
            </a:avLst>
          </a:prstGeom>
          <a:solidFill>
            <a:schemeClr val="bg2"/>
          </a:solidFill>
          <a:ln/>
          <a:effectLst>
            <a:outerShdw sx="100000" sy="100000" kx="0" ky="0" algn="bl" rotWithShape="0" blurRad="76200" dist="25400" dir="5400000">
              <a:srgbClr val="8A97AB">
                <a:alpha val="25000"/>
              </a:srgbClr>
            </a:outerShdw>
          </a:effectLst>
        </p:spPr>
      </p:sp>
      <p:sp>
        <p:nvSpPr>
          <p:cNvPr id="4" name="icon circle"/>
          <p:cNvSpPr/>
          <p:nvPr/>
        </p:nvSpPr>
        <p:spPr>
          <a:xfrm>
            <a:off x="777240" y="1952244"/>
            <a:ext cx="731520" cy="731520"/>
          </a:xfrm>
          <a:prstGeom prst="ellipse">
            <a:avLst/>
          </a:prstGeom>
          <a:solidFill>
            <a:schemeClr val="accent4"/>
          </a:solidFill>
          <a:ln/>
        </p:spPr>
      </p:sp>
      <p:pic>
        <p:nvPicPr>
          <p:cNvPr id="5" name="Image 0" descr="FaBug">    </p:cNvPr>
          <p:cNvPicPr>
            <a:picLocks noChangeAspect="1"/>
          </p:cNvPicPr>
          <p:nvPr/>
        </p:nvPicPr>
        <p:blipFill>
          <a:blip r:embed="rId1"/>
          <a:stretch>
            <a:fillRect/>
          </a:stretch>
        </p:blipFill>
        <p:spPr>
          <a:xfrm>
            <a:off x="960120" y="2135124"/>
            <a:ext cx="365760" cy="365760"/>
          </a:xfrm>
          <a:prstGeom prst="rect">
            <a:avLst/>
          </a:prstGeom>
        </p:spPr>
      </p:pic>
      <p:sp>
        <p:nvSpPr>
          <p:cNvPr id="6" name="Text 3"/>
          <p:cNvSpPr txBox="1"/>
          <p:nvPr/>
        </p:nvSpPr>
        <p:spPr>
          <a:xfrm>
            <a:off x="1691640" y="1952244"/>
            <a:ext cx="4046220" cy="731520"/>
          </a:xfrm>
          <a:prstGeom prst="rect">
            <a:avLst/>
          </a:prstGeom>
          <a:noFill/>
          <a:ln/>
        </p:spPr>
        <p:txBody>
          <a:bodyPr wrap="square" lIns="0" tIns="0" rIns="0" bIns="0" rtlCol="0" anchor="ctr"/>
          <a:lstStyle/>
          <a:p>
            <a:pPr indent="0" marL="0">
              <a:buNone/>
            </a:pPr>
            <a:r>
              <a:rPr lang="en-US" sz="1700" b="1" dirty="0">
                <a:solidFill>
                  <a:schemeClr val="tx2"/>
                </a:solidFill>
              </a:rPr>
              <a:t>Counts → √(x + 0.5)</a:t>
            </a:r>
            <a:endParaRPr lang="en-US" sz="1700" dirty="0"/>
          </a:p>
        </p:txBody>
      </p:sp>
      <p:sp>
        <p:nvSpPr>
          <p:cNvPr id="7" name="Text 4"/>
          <p:cNvSpPr txBox="1"/>
          <p:nvPr/>
        </p:nvSpPr>
        <p:spPr>
          <a:xfrm>
            <a:off x="777240" y="2866644"/>
            <a:ext cx="4960620" cy="1444752"/>
          </a:xfrm>
          <a:prstGeom prst="rect">
            <a:avLst/>
          </a:prstGeom>
          <a:noFill/>
          <a:ln/>
        </p:spPr>
        <p:txBody>
          <a:bodyPr wrap="square" lIns="0" tIns="0" rIns="0" bIns="0" rtlCol="0" anchor="t"/>
          <a:lstStyle/>
          <a:p>
            <a:pPr indent="0" marL="0">
              <a:buNone/>
            </a:pPr>
            <a:r>
              <a:rPr lang="en-US" sz="1800" dirty="0">
                <a:solidFill>
                  <a:schemeClr val="accent5"/>
                </a:solidFill>
              </a:rPr>
              <a:t>Aphids per plant: control mean 41, variance 247; Insecticide C mean 4, variance 1. Bartlett's test p &lt; 0.001 on raw counts, p = 0.11 after the square-root transformation.</a:t>
            </a:r>
            <a:endParaRPr lang="en-US" sz="1800" dirty="0"/>
          </a:p>
        </p:txBody>
      </p:sp>
      <p:sp>
        <p:nvSpPr>
          <p:cNvPr id="8" name="card"/>
          <p:cNvSpPr/>
          <p:nvPr/>
        </p:nvSpPr>
        <p:spPr>
          <a:xfrm>
            <a:off x="6195060" y="1723644"/>
            <a:ext cx="5417820" cy="2697480"/>
          </a:xfrm>
          <a:prstGeom prst="roundRect">
            <a:avLst>
              <a:gd name="adj" fmla="val 4068"/>
            </a:avLst>
          </a:prstGeom>
          <a:solidFill>
            <a:schemeClr val="bg2"/>
          </a:solidFill>
          <a:ln/>
          <a:effectLst>
            <a:outerShdw sx="100000" sy="100000" kx="0" ky="0" algn="bl" rotWithShape="0" blurRad="76200" dist="25400" dir="5400000">
              <a:srgbClr val="8A97AB">
                <a:alpha val="25000"/>
              </a:srgbClr>
            </a:outerShdw>
          </a:effectLst>
        </p:spPr>
      </p:sp>
      <p:sp>
        <p:nvSpPr>
          <p:cNvPr id="9" name="icon circle"/>
          <p:cNvSpPr/>
          <p:nvPr/>
        </p:nvSpPr>
        <p:spPr>
          <a:xfrm>
            <a:off x="6423660" y="1952244"/>
            <a:ext cx="731520" cy="731520"/>
          </a:xfrm>
          <a:prstGeom prst="ellipse">
            <a:avLst/>
          </a:prstGeom>
          <a:solidFill>
            <a:schemeClr val="accent3"/>
          </a:solidFill>
          <a:ln/>
        </p:spPr>
      </p:sp>
      <p:pic>
        <p:nvPicPr>
          <p:cNvPr id="10" name="Image 1" descr="FaPercent">    </p:cNvPr>
          <p:cNvPicPr>
            <a:picLocks noChangeAspect="1"/>
          </p:cNvPicPr>
          <p:nvPr/>
        </p:nvPicPr>
        <p:blipFill>
          <a:blip r:embed="rId2"/>
          <a:stretch>
            <a:fillRect/>
          </a:stretch>
        </p:blipFill>
        <p:spPr>
          <a:xfrm>
            <a:off x="6606540" y="2135124"/>
            <a:ext cx="365760" cy="365760"/>
          </a:xfrm>
          <a:prstGeom prst="rect">
            <a:avLst/>
          </a:prstGeom>
        </p:spPr>
      </p:pic>
      <p:sp>
        <p:nvSpPr>
          <p:cNvPr id="11" name="Text 7"/>
          <p:cNvSpPr txBox="1"/>
          <p:nvPr/>
        </p:nvSpPr>
        <p:spPr>
          <a:xfrm>
            <a:off x="7338060" y="1952244"/>
            <a:ext cx="4046220" cy="731520"/>
          </a:xfrm>
          <a:prstGeom prst="rect">
            <a:avLst/>
          </a:prstGeom>
          <a:noFill/>
          <a:ln/>
        </p:spPr>
        <p:txBody>
          <a:bodyPr wrap="square" lIns="0" tIns="0" rIns="0" bIns="0" rtlCol="0" anchor="ctr"/>
          <a:lstStyle/>
          <a:p>
            <a:pPr indent="0" marL="0">
              <a:buNone/>
            </a:pPr>
            <a:r>
              <a:rPr lang="en-US" sz="1700" b="1" dirty="0">
                <a:solidFill>
                  <a:schemeClr val="tx2"/>
                </a:solidFill>
              </a:rPr>
              <a:t>Percentages → angular</a:t>
            </a:r>
            <a:endParaRPr lang="en-US" sz="1700" dirty="0"/>
          </a:p>
        </p:txBody>
      </p:sp>
      <p:sp>
        <p:nvSpPr>
          <p:cNvPr id="12" name="Text 8"/>
          <p:cNvSpPr txBox="1"/>
          <p:nvPr/>
        </p:nvSpPr>
        <p:spPr>
          <a:xfrm>
            <a:off x="6423660" y="2866644"/>
            <a:ext cx="4960620" cy="1444752"/>
          </a:xfrm>
          <a:prstGeom prst="rect">
            <a:avLst/>
          </a:prstGeom>
          <a:noFill/>
          <a:ln/>
        </p:spPr>
        <p:txBody>
          <a:bodyPr wrap="square" lIns="0" tIns="0" rIns="0" bIns="0" rtlCol="0" anchor="t"/>
          <a:lstStyle/>
          <a:p>
            <a:pPr indent="0" marL="0">
              <a:buNone/>
            </a:pPr>
            <a:r>
              <a:rPr lang="en-US" sz="1800" dirty="0">
                <a:solidFill>
                  <a:schemeClr val="accent5"/>
                </a:solidFill>
              </a:rPr>
              <a:t>Germination near 90–100% has small variance. Use </a:t>
            </a:r>
            <a:pPr indent="0" marL="0">
              <a:buNone/>
            </a:pPr>
            <a:r>
              <a:rPr lang="en-US" sz="1800" dirty="0">
                <a:solidFill>
                  <a:schemeClr val="accent1"/>
                </a:solidFill>
                <a:latin typeface="Courier New" pitchFamily="34" charset="0"/>
                <a:ea typeface="Courier New" pitchFamily="34" charset="-122"/>
                <a:cs typeface="Courier New" pitchFamily="34" charset="-120"/>
              </a:rPr>
              <a:t>asin(sqrt(p)) * 180 / pi</a:t>
            </a:r>
            <a:pPr indent="0" marL="0">
              <a:buNone/>
            </a:pPr>
            <a:r>
              <a:rPr lang="en-US" sz="1800" dirty="0">
                <a:solidFill>
                  <a:schemeClr val="accent5"/>
                </a:solidFill>
              </a:rPr>
              <a:t> in degrees. Analyse angles; back-transform means for presentation.</a:t>
            </a:r>
            <a:endParaRPr lang="en-US" sz="1800" dirty="0"/>
          </a:p>
        </p:txBody>
      </p:sp>
      <p:sp>
        <p:nvSpPr>
          <p:cNvPr id="13" name="key idea"/>
          <p:cNvSpPr/>
          <p:nvPr/>
        </p:nvSpPr>
        <p:spPr>
          <a:xfrm>
            <a:off x="548640" y="4695444"/>
            <a:ext cx="11064240" cy="685800"/>
          </a:xfrm>
          <a:prstGeom prst="roundRect">
            <a:avLst>
              <a:gd name="adj" fmla="val 16000"/>
            </a:avLst>
          </a:prstGeom>
          <a:solidFill>
            <a:schemeClr val="accent6"/>
          </a:solidFill>
          <a:ln/>
          <a:effectLst>
            <a:outerShdw sx="100000" sy="100000" kx="0" ky="0" algn="bl" rotWithShape="0" blurRad="76200" dist="25400" dir="5400000">
              <a:srgbClr val="8A97AB">
                <a:alpha val="25000"/>
              </a:srgbClr>
            </a:outerShdw>
          </a:effectLst>
        </p:spPr>
      </p:sp>
      <p:sp>
        <p:nvSpPr>
          <p:cNvPr id="14" name="Text 10"/>
          <p:cNvSpPr txBox="1"/>
          <p:nvPr/>
        </p:nvSpPr>
        <p:spPr>
          <a:xfrm>
            <a:off x="822960" y="4695444"/>
            <a:ext cx="10515600" cy="68580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tx1"/>
                </a:solidFill>
              </a:rPr>
              <a:t>Compare means and apply the CD on the transformed scale. Choose a transformation for the type of data, never to make a result significant.</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Comparing treatment means after a significant F-test</a:t>
            </a:r>
            <a:endParaRPr lang="en-US" sz="32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64240" cy="914400"/>
        </p:xfrm>
        <a:graphic>
          <a:graphicData uri="http://schemas.openxmlformats.org/drawingml/2006/table">
            <a:tbl>
              <a:tblPr/>
              <a:tblGrid>
                <a:gridCol w="2651760"/>
                <a:gridCol w="3840480"/>
                <a:gridCol w="4572000"/>
              </a:tblGrid>
              <a:tr h="822960">
                <a:tc>
                  <a:txBody>
                    <a:bodyPr/>
                    <a:lstStyle/>
                    <a:p>
                      <a:pPr indent="0" marL="0">
                        <a:buNone/>
                      </a:pPr>
                      <a:r>
                        <a:rPr lang="en-US" sz="1500" b="1" dirty="0">
                          <a:solidFill>
                            <a:schemeClr val="bg1"/>
                          </a:solidFill>
                        </a:rPr>
                        <a:t>Procedure</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What it controls</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c>
                  <a:txBody>
                    <a:bodyPr/>
                    <a:lstStyle/>
                    <a:p>
                      <a:pPr indent="0" marL="0">
                        <a:buNone/>
                      </a:pPr>
                      <a:r>
                        <a:rPr lang="en-US" sz="1500" b="1" dirty="0">
                          <a:solidFill>
                            <a:schemeClr val="bg1"/>
                          </a:solidFill>
                        </a:rPr>
                        <a:t>Suitable when</a:t>
                      </a:r>
                      <a:endParaRPr lang="en-US" sz="15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tx2"/>
                    </a:solidFill>
                  </a:tcPr>
                </a:tc>
              </a:tr>
              <a:tr h="822960">
                <a:tc>
                  <a:txBody>
                    <a:bodyPr/>
                    <a:lstStyle/>
                    <a:p>
                      <a:pPr indent="0" marL="0">
                        <a:buNone/>
                      </a:pPr>
                      <a:r>
                        <a:rPr lang="en-US" sz="1400" b="1" dirty="0">
                          <a:solidFill>
                            <a:schemeClr val="tx2"/>
                          </a:solidFill>
                        </a:rPr>
                        <a:t>CD / LSD</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Error rate of each comparison</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Planned comparisons, or a few after a significant F (protected LSD)</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r h="822960">
                <a:tc>
                  <a:txBody>
                    <a:bodyPr/>
                    <a:lstStyle/>
                    <a:p>
                      <a:pPr indent="0" marL="0">
                        <a:buNone/>
                      </a:pPr>
                      <a:r>
                        <a:rPr lang="en-US" sz="1400" b="1" dirty="0">
                          <a:solidFill>
                            <a:schemeClr val="tx2"/>
                          </a:solidFill>
                        </a:rPr>
                        <a:t>DMRT</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Rate that depends on distance in the ranking</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Traditionally used to rank many varieties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1"/>
                    </a:solidFill>
                  </a:tcPr>
                </a:tc>
              </a:tr>
              <a:tr h="822960">
                <a:tc>
                  <a:txBody>
                    <a:bodyPr/>
                    <a:lstStyle/>
                    <a:p>
                      <a:pPr indent="0" marL="0">
                        <a:buNone/>
                      </a:pPr>
                      <a:r>
                        <a:rPr lang="en-US" sz="1400" b="1" dirty="0">
                          <a:solidFill>
                            <a:schemeClr val="tx2"/>
                          </a:solidFill>
                        </a:rPr>
                        <a:t>Tukey HSD</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Error rate for the whole family of pairs</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All pairwise comparisons when false positives are costly</a:t>
                      </a:r>
                      <a:endParaRPr lang="en-US" sz="1400" dirty="0"/>
                    </a:p>
                  </a:txBody>
                  <a:tcPr marL="109728" marR="109728" marT="0" marB="0" anchor="ctr">
                    <a:lnL w="6350" cap="flat" cmpd="sng" algn="ctr">
                      <a:solidFill>
                        <a:srgbClr val="D5DDEA"/>
                      </a:solidFill>
                      <a:prstDash val="solid"/>
                      <a:round/>
                      <a:headEnd type="none" w="med" len="med"/>
                      <a:tailEnd type="none" w="med" len="med"/>
                    </a:lnL>
                    <a:lnR w="6350" cap="flat" cmpd="sng" algn="ctr">
                      <a:solidFill>
                        <a:srgbClr val="D5DDEA"/>
                      </a:solidFill>
                      <a:prstDash val="solid"/>
                      <a:round/>
                      <a:headEnd type="none" w="med" len="med"/>
                      <a:tailEnd type="none" w="med" len="med"/>
                    </a:lnR>
                    <a:lnT w="6350" cap="flat" cmpd="sng" algn="ctr">
                      <a:solidFill>
                        <a:srgbClr val="D5DDEA"/>
                      </a:solidFill>
                      <a:prstDash val="solid"/>
                      <a:round/>
                      <a:headEnd type="none" w="med" len="med"/>
                      <a:tailEnd type="none" w="med" len="med"/>
                    </a:lnT>
                    <a:lnB w="6350" cap="flat" cmpd="sng" algn="ctr">
                      <a:solidFill>
                        <a:srgbClr val="D5DDEA"/>
                      </a:solidFill>
                      <a:prstDash val="solid"/>
                      <a:round/>
                      <a:headEnd type="none" w="med" len="med"/>
                      <a:tailEnd type="none" w="med" len="med"/>
                    </a:lnB>
                    <a:solidFill>
                      <a:schemeClr val="bg2"/>
                    </a:solidFill>
                  </a:tcPr>
                </a:tc>
              </a:tr>
            </a:tbl>
          </a:graphicData>
        </a:graphic>
      </p:graphicFrame>
      <p:sp>
        <p:nvSpPr>
          <p:cNvPr id="4" name="key idea"/>
          <p:cNvSpPr/>
          <p:nvPr/>
        </p:nvSpPr>
        <p:spPr>
          <a:xfrm>
            <a:off x="548640" y="5486400"/>
            <a:ext cx="11064240" cy="640080"/>
          </a:xfrm>
          <a:prstGeom prst="roundRect">
            <a:avLst>
              <a:gd name="adj" fmla="val 17143"/>
            </a:avLst>
          </a:prstGeom>
          <a:solidFill>
            <a:schemeClr val="accent6"/>
          </a:solidFill>
          <a:ln/>
          <a:effectLst>
            <a:outerShdw sx="100000" sy="100000" kx="0" ky="0" algn="bl" rotWithShape="0" blurRad="76200" dist="25400" dir="5400000">
              <a:srgbClr val="8A97AB">
                <a:alpha val="25000"/>
              </a:srgbClr>
            </a:outerShdw>
          </a:effectLst>
        </p:spPr>
      </p:sp>
      <p:sp>
        <p:nvSpPr>
          <p:cNvPr id="5" name="Text 2"/>
          <p:cNvSpPr txBox="1"/>
          <p:nvPr/>
        </p:nvSpPr>
        <p:spPr>
          <a:xfrm>
            <a:off x="822960" y="5486400"/>
            <a:ext cx="10515600" cy="640080"/>
          </a:xfrm>
          <a:prstGeom prst="rect">
            <a:avLst/>
          </a:prstGeom>
          <a:noFill/>
          <a:ln/>
        </p:spPr>
        <p:txBody>
          <a:bodyPr wrap="square" lIns="0" tIns="0" rIns="0" bIns="0" rtlCol="0" anchor="ctr"/>
          <a:lstStyle/>
          <a:p>
            <a:pPr indent="0" marL="0">
              <a:buNone/>
            </a:pPr>
            <a:r>
              <a:rPr lang="en-US" sz="1500" b="1" dirty="0">
                <a:solidFill>
                  <a:schemeClr val="accent4"/>
                </a:solidFill>
              </a:rPr>
              <a:t>Key idea  </a:t>
            </a:r>
            <a:pPr indent="0" marL="0">
              <a:buNone/>
            </a:pPr>
            <a:r>
              <a:rPr lang="en-US" sz="1500" dirty="0">
                <a:solidFill>
                  <a:schemeClr val="accent1"/>
                </a:solidFill>
                <a:latin typeface="Courier New" pitchFamily="34" charset="0"/>
                <a:ea typeface="Courier New" pitchFamily="34" charset="-122"/>
                <a:cs typeface="Courier New" pitchFamily="34" charset="-120"/>
              </a:rPr>
              <a:t>agricolae::LSD.test()</a:t>
            </a:r>
            <a:pPr indent="0" marL="0">
              <a:buNone/>
            </a:pPr>
            <a:r>
              <a:rPr lang="en-US" sz="1500" dirty="0">
                <a:solidFill>
                  <a:schemeClr val="tx1"/>
                </a:solidFill>
              </a:rPr>
              <a:t>, </a:t>
            </a:r>
            <a:pPr indent="0" marL="0">
              <a:buNone/>
            </a:pPr>
            <a:r>
              <a:rPr lang="en-US" sz="1500" dirty="0">
                <a:solidFill>
                  <a:schemeClr val="accent1"/>
                </a:solidFill>
                <a:latin typeface="Courier New" pitchFamily="34" charset="0"/>
                <a:ea typeface="Courier New" pitchFamily="34" charset="-122"/>
                <a:cs typeface="Courier New" pitchFamily="34" charset="-120"/>
              </a:rPr>
              <a:t>duncan.test()</a:t>
            </a:r>
            <a:pPr indent="0" marL="0">
              <a:buNone/>
            </a:pPr>
            <a:r>
              <a:rPr lang="en-US" sz="1500" dirty="0">
                <a:solidFill>
                  <a:schemeClr val="tx1"/>
                </a:solidFill>
              </a:rPr>
              <a:t> and </a:t>
            </a:r>
            <a:pPr indent="0" marL="0">
              <a:buNone/>
            </a:pPr>
            <a:r>
              <a:rPr lang="en-US" sz="1500" dirty="0">
                <a:solidFill>
                  <a:schemeClr val="accent1"/>
                </a:solidFill>
                <a:latin typeface="Courier New" pitchFamily="34" charset="0"/>
                <a:ea typeface="Courier New" pitchFamily="34" charset="-122"/>
                <a:cs typeface="Courier New" pitchFamily="34" charset="-120"/>
              </a:rPr>
              <a:t>HSD.test()</a:t>
            </a:r>
            <a:pPr indent="0" marL="0">
              <a:buNone/>
            </a:pPr>
            <a:r>
              <a:rPr lang="en-US" sz="1500" dirty="0">
                <a:solidFill>
                  <a:schemeClr val="tx1"/>
                </a:solidFill>
              </a:rPr>
              <a:t> use the fitted model's error. Choose the procedure before seeing the results.</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Reporting a field experiment</a:t>
            </a:r>
            <a:endParaRPr lang="en-US" sz="3200" dirty="0"/>
          </a:p>
        </p:txBody>
      </p:sp>
      <p:sp>
        <p:nvSpPr>
          <p:cNvPr id="3" name="card"/>
          <p:cNvSpPr/>
          <p:nvPr/>
        </p:nvSpPr>
        <p:spPr>
          <a:xfrm>
            <a:off x="548640" y="1371600"/>
            <a:ext cx="1993392" cy="3931920"/>
          </a:xfrm>
          <a:prstGeom prst="roundRect">
            <a:avLst>
              <a:gd name="adj" fmla="val 5505"/>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77240" y="1600200"/>
            <a:ext cx="594360" cy="594360"/>
          </a:xfrm>
          <a:prstGeom prst="ellipse">
            <a:avLst/>
          </a:prstGeom>
          <a:solidFill>
            <a:schemeClr val="tx2"/>
          </a:solidFill>
          <a:ln/>
        </p:spPr>
      </p:sp>
      <p:sp>
        <p:nvSpPr>
          <p:cNvPr id="5" name="Text 3"/>
          <p:cNvSpPr txBox="1"/>
          <p:nvPr/>
        </p:nvSpPr>
        <p:spPr>
          <a:xfrm>
            <a:off x="777240"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1</a:t>
            </a:r>
            <a:endParaRPr lang="en-US" sz="1800" dirty="0"/>
          </a:p>
        </p:txBody>
      </p:sp>
      <p:sp>
        <p:nvSpPr>
          <p:cNvPr id="6" name="Text 4"/>
          <p:cNvSpPr txBox="1"/>
          <p:nvPr/>
        </p:nvSpPr>
        <p:spPr>
          <a:xfrm>
            <a:off x="777240" y="2377440"/>
            <a:ext cx="1536192" cy="685800"/>
          </a:xfrm>
          <a:prstGeom prst="rect">
            <a:avLst/>
          </a:prstGeom>
          <a:noFill/>
          <a:ln/>
        </p:spPr>
        <p:txBody>
          <a:bodyPr wrap="square" lIns="0" tIns="0" rIns="0" bIns="0" rtlCol="0" anchor="t"/>
          <a:lstStyle/>
          <a:p>
            <a:pPr indent="0" marL="0">
              <a:buNone/>
            </a:pPr>
            <a:r>
              <a:rPr lang="en-US" sz="1800" b="1" dirty="0">
                <a:solidFill>
                  <a:schemeClr val="tx2"/>
                </a:solidFill>
              </a:rPr>
              <a:t>Design</a:t>
            </a:r>
            <a:endParaRPr lang="en-US" sz="1800" dirty="0"/>
          </a:p>
        </p:txBody>
      </p:sp>
      <p:sp>
        <p:nvSpPr>
          <p:cNvPr id="7" name="Text 5"/>
          <p:cNvSpPr txBox="1"/>
          <p:nvPr/>
        </p:nvSpPr>
        <p:spPr>
          <a:xfrm>
            <a:off x="777240" y="3108960"/>
            <a:ext cx="1536192" cy="2103120"/>
          </a:xfrm>
          <a:prstGeom prst="rect">
            <a:avLst/>
          </a:prstGeom>
          <a:noFill/>
          <a:ln/>
        </p:spPr>
        <p:txBody>
          <a:bodyPr wrap="square" lIns="0" tIns="0" rIns="0" bIns="0" rtlCol="0" anchor="t"/>
          <a:lstStyle/>
          <a:p>
            <a:pPr indent="0" marL="0">
              <a:buNone/>
            </a:pPr>
            <a:r>
              <a:rPr lang="en-US" sz="1400" dirty="0">
                <a:solidFill>
                  <a:schemeClr val="accent5"/>
                </a:solidFill>
              </a:rPr>
              <a:t>Design, treatments, replications, plot size, and how randomization was done.</a:t>
            </a:r>
            <a:endParaRPr lang="en-US" sz="1400" dirty="0"/>
          </a:p>
        </p:txBody>
      </p:sp>
      <p:sp>
        <p:nvSpPr>
          <p:cNvPr id="8" name="Shape 6"/>
          <p:cNvSpPr/>
          <p:nvPr/>
        </p:nvSpPr>
        <p:spPr>
          <a:xfrm>
            <a:off x="2560320" y="1892808"/>
            <a:ext cx="237744" cy="0"/>
          </a:xfrm>
          <a:prstGeom prst="line">
            <a:avLst/>
          </a:prstGeom>
          <a:noFill/>
          <a:ln w="25400">
            <a:solidFill>
              <a:schemeClr val="accent2"/>
            </a:solidFill>
            <a:prstDash val="solid"/>
            <a:tailEnd type="triangle"/>
          </a:ln>
        </p:spPr>
      </p:sp>
      <p:sp>
        <p:nvSpPr>
          <p:cNvPr id="9" name="card"/>
          <p:cNvSpPr/>
          <p:nvPr/>
        </p:nvSpPr>
        <p:spPr>
          <a:xfrm>
            <a:off x="2816352" y="1371600"/>
            <a:ext cx="1993392" cy="3931920"/>
          </a:xfrm>
          <a:prstGeom prst="roundRect">
            <a:avLst>
              <a:gd name="adj" fmla="val 5505"/>
            </a:avLst>
          </a:prstGeom>
          <a:solidFill>
            <a:schemeClr val="bg2"/>
          </a:solidFill>
          <a:ln/>
          <a:effectLst>
            <a:outerShdw sx="100000" sy="100000" kx="0" ky="0" algn="bl" rotWithShape="0" blurRad="76200" dist="25400" dir="5400000">
              <a:srgbClr val="8A97AB">
                <a:alpha val="25000"/>
              </a:srgbClr>
            </a:outerShdw>
          </a:effectLst>
        </p:spPr>
      </p:sp>
      <p:sp>
        <p:nvSpPr>
          <p:cNvPr id="10" name="Shape 8"/>
          <p:cNvSpPr/>
          <p:nvPr/>
        </p:nvSpPr>
        <p:spPr>
          <a:xfrm>
            <a:off x="3044952" y="1600200"/>
            <a:ext cx="594360" cy="594360"/>
          </a:xfrm>
          <a:prstGeom prst="ellipse">
            <a:avLst/>
          </a:prstGeom>
          <a:solidFill>
            <a:schemeClr val="tx2"/>
          </a:solidFill>
          <a:ln/>
        </p:spPr>
      </p:sp>
      <p:sp>
        <p:nvSpPr>
          <p:cNvPr id="11" name="Text 9"/>
          <p:cNvSpPr txBox="1"/>
          <p:nvPr/>
        </p:nvSpPr>
        <p:spPr>
          <a:xfrm>
            <a:off x="3044952"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2</a:t>
            </a:r>
            <a:endParaRPr lang="en-US" sz="1800" dirty="0"/>
          </a:p>
        </p:txBody>
      </p:sp>
      <p:sp>
        <p:nvSpPr>
          <p:cNvPr id="12" name="Text 10"/>
          <p:cNvSpPr txBox="1"/>
          <p:nvPr/>
        </p:nvSpPr>
        <p:spPr>
          <a:xfrm>
            <a:off x="3044952" y="2377440"/>
            <a:ext cx="1536192" cy="685800"/>
          </a:xfrm>
          <a:prstGeom prst="rect">
            <a:avLst/>
          </a:prstGeom>
          <a:noFill/>
          <a:ln/>
        </p:spPr>
        <p:txBody>
          <a:bodyPr wrap="square" lIns="0" tIns="0" rIns="0" bIns="0" rtlCol="0" anchor="t"/>
          <a:lstStyle/>
          <a:p>
            <a:pPr indent="0" marL="0">
              <a:buNone/>
            </a:pPr>
            <a:r>
              <a:rPr lang="en-US" sz="1800" b="1" dirty="0">
                <a:solidFill>
                  <a:schemeClr val="tx2"/>
                </a:solidFill>
              </a:rPr>
              <a:t>Units</a:t>
            </a:r>
            <a:endParaRPr lang="en-US" sz="1800" dirty="0"/>
          </a:p>
        </p:txBody>
      </p:sp>
      <p:sp>
        <p:nvSpPr>
          <p:cNvPr id="13" name="Text 11"/>
          <p:cNvSpPr txBox="1"/>
          <p:nvPr/>
        </p:nvSpPr>
        <p:spPr>
          <a:xfrm>
            <a:off x="3044952" y="3108960"/>
            <a:ext cx="1536192" cy="2103120"/>
          </a:xfrm>
          <a:prstGeom prst="rect">
            <a:avLst/>
          </a:prstGeom>
          <a:noFill/>
          <a:ln/>
        </p:spPr>
        <p:txBody>
          <a:bodyPr wrap="square" lIns="0" tIns="0" rIns="0" bIns="0" rtlCol="0" anchor="t"/>
          <a:lstStyle/>
          <a:p>
            <a:pPr indent="0" marL="0">
              <a:buNone/>
            </a:pPr>
            <a:r>
              <a:rPr lang="en-US" sz="1400" dirty="0">
                <a:solidFill>
                  <a:schemeClr val="accent5"/>
                </a:solidFill>
              </a:rPr>
              <a:t>The experimental unit and any subsampling.</a:t>
            </a:r>
            <a:endParaRPr lang="en-US" sz="1400" dirty="0"/>
          </a:p>
        </p:txBody>
      </p:sp>
      <p:sp>
        <p:nvSpPr>
          <p:cNvPr id="14" name="Shape 12"/>
          <p:cNvSpPr/>
          <p:nvPr/>
        </p:nvSpPr>
        <p:spPr>
          <a:xfrm>
            <a:off x="4828032" y="1892808"/>
            <a:ext cx="237744" cy="0"/>
          </a:xfrm>
          <a:prstGeom prst="line">
            <a:avLst/>
          </a:prstGeom>
          <a:noFill/>
          <a:ln w="25400">
            <a:solidFill>
              <a:schemeClr val="accent2"/>
            </a:solidFill>
            <a:prstDash val="solid"/>
            <a:tailEnd type="triangle"/>
          </a:ln>
        </p:spPr>
      </p:sp>
      <p:sp>
        <p:nvSpPr>
          <p:cNvPr id="15" name="card"/>
          <p:cNvSpPr/>
          <p:nvPr/>
        </p:nvSpPr>
        <p:spPr>
          <a:xfrm>
            <a:off x="5084064" y="1371600"/>
            <a:ext cx="1993392" cy="3931920"/>
          </a:xfrm>
          <a:prstGeom prst="roundRect">
            <a:avLst>
              <a:gd name="adj" fmla="val 5505"/>
            </a:avLst>
          </a:prstGeom>
          <a:solidFill>
            <a:schemeClr val="bg2"/>
          </a:solidFill>
          <a:ln/>
          <a:effectLst>
            <a:outerShdw sx="100000" sy="100000" kx="0" ky="0" algn="bl" rotWithShape="0" blurRad="76200" dist="25400" dir="5400000">
              <a:srgbClr val="8A97AB">
                <a:alpha val="25000"/>
              </a:srgbClr>
            </a:outerShdw>
          </a:effectLst>
        </p:spPr>
      </p:sp>
      <p:sp>
        <p:nvSpPr>
          <p:cNvPr id="16" name="Shape 14"/>
          <p:cNvSpPr/>
          <p:nvPr/>
        </p:nvSpPr>
        <p:spPr>
          <a:xfrm>
            <a:off x="5312664" y="1600200"/>
            <a:ext cx="594360" cy="594360"/>
          </a:xfrm>
          <a:prstGeom prst="ellipse">
            <a:avLst/>
          </a:prstGeom>
          <a:solidFill>
            <a:schemeClr val="tx2"/>
          </a:solidFill>
          <a:ln/>
        </p:spPr>
      </p:sp>
      <p:sp>
        <p:nvSpPr>
          <p:cNvPr id="17" name="Text 15"/>
          <p:cNvSpPr txBox="1"/>
          <p:nvPr/>
        </p:nvSpPr>
        <p:spPr>
          <a:xfrm>
            <a:off x="5312664"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3</a:t>
            </a:r>
            <a:endParaRPr lang="en-US" sz="1800" dirty="0"/>
          </a:p>
        </p:txBody>
      </p:sp>
      <p:sp>
        <p:nvSpPr>
          <p:cNvPr id="18" name="Text 16"/>
          <p:cNvSpPr txBox="1"/>
          <p:nvPr/>
        </p:nvSpPr>
        <p:spPr>
          <a:xfrm>
            <a:off x="5312664" y="2377440"/>
            <a:ext cx="1536192" cy="685800"/>
          </a:xfrm>
          <a:prstGeom prst="rect">
            <a:avLst/>
          </a:prstGeom>
          <a:noFill/>
          <a:ln/>
        </p:spPr>
        <p:txBody>
          <a:bodyPr wrap="square" lIns="0" tIns="0" rIns="0" bIns="0" rtlCol="0" anchor="t"/>
          <a:lstStyle/>
          <a:p>
            <a:pPr indent="0" marL="0">
              <a:buNone/>
            </a:pPr>
            <a:r>
              <a:rPr lang="en-US" sz="1800" b="1" dirty="0">
                <a:solidFill>
                  <a:schemeClr val="tx2"/>
                </a:solidFill>
              </a:rPr>
              <a:t>Means table</a:t>
            </a:r>
            <a:endParaRPr lang="en-US" sz="1800" dirty="0"/>
          </a:p>
        </p:txBody>
      </p:sp>
      <p:sp>
        <p:nvSpPr>
          <p:cNvPr id="19" name="Text 17"/>
          <p:cNvSpPr txBox="1"/>
          <p:nvPr/>
        </p:nvSpPr>
        <p:spPr>
          <a:xfrm>
            <a:off x="5312664" y="3108960"/>
            <a:ext cx="1536192" cy="2103120"/>
          </a:xfrm>
          <a:prstGeom prst="rect">
            <a:avLst/>
          </a:prstGeom>
          <a:noFill/>
          <a:ln/>
        </p:spPr>
        <p:txBody>
          <a:bodyPr wrap="square" lIns="0" tIns="0" rIns="0" bIns="0" rtlCol="0" anchor="t"/>
          <a:lstStyle/>
          <a:p>
            <a:pPr indent="0" marL="0">
              <a:buNone/>
            </a:pPr>
            <a:r>
              <a:rPr lang="en-US" sz="1400" dirty="0">
                <a:solidFill>
                  <a:schemeClr val="accent5"/>
                </a:solidFill>
              </a:rPr>
              <a:t>Treatment means with units, then SEm±, CD (5%) and CV (%).</a:t>
            </a:r>
            <a:endParaRPr lang="en-US" sz="1400" dirty="0"/>
          </a:p>
        </p:txBody>
      </p:sp>
      <p:sp>
        <p:nvSpPr>
          <p:cNvPr id="20" name="Shape 18"/>
          <p:cNvSpPr/>
          <p:nvPr/>
        </p:nvSpPr>
        <p:spPr>
          <a:xfrm>
            <a:off x="7095744" y="1892808"/>
            <a:ext cx="237744" cy="0"/>
          </a:xfrm>
          <a:prstGeom prst="line">
            <a:avLst/>
          </a:prstGeom>
          <a:noFill/>
          <a:ln w="25400">
            <a:solidFill>
              <a:schemeClr val="accent2"/>
            </a:solidFill>
            <a:prstDash val="solid"/>
            <a:tailEnd type="triangle"/>
          </a:ln>
        </p:spPr>
      </p:sp>
      <p:sp>
        <p:nvSpPr>
          <p:cNvPr id="21" name="card"/>
          <p:cNvSpPr/>
          <p:nvPr/>
        </p:nvSpPr>
        <p:spPr>
          <a:xfrm>
            <a:off x="7351776" y="1371600"/>
            <a:ext cx="1993392" cy="3931920"/>
          </a:xfrm>
          <a:prstGeom prst="roundRect">
            <a:avLst>
              <a:gd name="adj" fmla="val 5505"/>
            </a:avLst>
          </a:prstGeom>
          <a:solidFill>
            <a:schemeClr val="bg2"/>
          </a:solidFill>
          <a:ln/>
          <a:effectLst>
            <a:outerShdw sx="100000" sy="100000" kx="0" ky="0" algn="bl" rotWithShape="0" blurRad="76200" dist="25400" dir="5400000">
              <a:srgbClr val="8A97AB">
                <a:alpha val="25000"/>
              </a:srgbClr>
            </a:outerShdw>
          </a:effectLst>
        </p:spPr>
      </p:sp>
      <p:sp>
        <p:nvSpPr>
          <p:cNvPr id="22" name="Shape 20"/>
          <p:cNvSpPr/>
          <p:nvPr/>
        </p:nvSpPr>
        <p:spPr>
          <a:xfrm>
            <a:off x="7580376" y="1600200"/>
            <a:ext cx="594360" cy="594360"/>
          </a:xfrm>
          <a:prstGeom prst="ellipse">
            <a:avLst/>
          </a:prstGeom>
          <a:solidFill>
            <a:schemeClr val="tx2"/>
          </a:solidFill>
          <a:ln/>
        </p:spPr>
      </p:sp>
      <p:sp>
        <p:nvSpPr>
          <p:cNvPr id="23" name="Text 21"/>
          <p:cNvSpPr txBox="1"/>
          <p:nvPr/>
        </p:nvSpPr>
        <p:spPr>
          <a:xfrm>
            <a:off x="7580376"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4</a:t>
            </a:r>
            <a:endParaRPr lang="en-US" sz="1800" dirty="0"/>
          </a:p>
        </p:txBody>
      </p:sp>
      <p:sp>
        <p:nvSpPr>
          <p:cNvPr id="24" name="Text 22"/>
          <p:cNvSpPr txBox="1"/>
          <p:nvPr/>
        </p:nvSpPr>
        <p:spPr>
          <a:xfrm>
            <a:off x="7580376" y="2377440"/>
            <a:ext cx="1536192" cy="685800"/>
          </a:xfrm>
          <a:prstGeom prst="rect">
            <a:avLst/>
          </a:prstGeom>
          <a:noFill/>
          <a:ln/>
        </p:spPr>
        <p:txBody>
          <a:bodyPr wrap="square" lIns="0" tIns="0" rIns="0" bIns="0" rtlCol="0" anchor="t"/>
          <a:lstStyle/>
          <a:p>
            <a:pPr indent="0" marL="0">
              <a:buNone/>
            </a:pPr>
            <a:r>
              <a:rPr lang="en-US" sz="1800" b="1" dirty="0">
                <a:solidFill>
                  <a:schemeClr val="tx2"/>
                </a:solidFill>
              </a:rPr>
              <a:t>Tests</a:t>
            </a:r>
            <a:endParaRPr lang="en-US" sz="1800" dirty="0"/>
          </a:p>
        </p:txBody>
      </p:sp>
      <p:sp>
        <p:nvSpPr>
          <p:cNvPr id="25" name="Text 23"/>
          <p:cNvSpPr txBox="1"/>
          <p:nvPr/>
        </p:nvSpPr>
        <p:spPr>
          <a:xfrm>
            <a:off x="7580376" y="3108960"/>
            <a:ext cx="1536192" cy="2103120"/>
          </a:xfrm>
          <a:prstGeom prst="rect">
            <a:avLst/>
          </a:prstGeom>
          <a:noFill/>
          <a:ln/>
        </p:spPr>
        <p:txBody>
          <a:bodyPr wrap="square" lIns="0" tIns="0" rIns="0" bIns="0" rtlCol="0" anchor="t"/>
          <a:lstStyle/>
          <a:p>
            <a:pPr indent="0" marL="0">
              <a:buNone/>
            </a:pPr>
            <a:r>
              <a:rPr lang="en-US" sz="1400" dirty="0">
                <a:solidFill>
                  <a:schemeClr val="accent5"/>
                </a:solidFill>
              </a:rPr>
              <a:t>F-test results and the mean-comparison procedure used.</a:t>
            </a:r>
            <a:endParaRPr lang="en-US" sz="1400" dirty="0"/>
          </a:p>
        </p:txBody>
      </p:sp>
      <p:sp>
        <p:nvSpPr>
          <p:cNvPr id="26" name="Shape 24"/>
          <p:cNvSpPr/>
          <p:nvPr/>
        </p:nvSpPr>
        <p:spPr>
          <a:xfrm>
            <a:off x="9363456" y="1892808"/>
            <a:ext cx="237744" cy="0"/>
          </a:xfrm>
          <a:prstGeom prst="line">
            <a:avLst/>
          </a:prstGeom>
          <a:noFill/>
          <a:ln w="25400">
            <a:solidFill>
              <a:schemeClr val="accent2"/>
            </a:solidFill>
            <a:prstDash val="solid"/>
            <a:tailEnd type="triangle"/>
          </a:ln>
        </p:spPr>
      </p:sp>
      <p:sp>
        <p:nvSpPr>
          <p:cNvPr id="27" name="card"/>
          <p:cNvSpPr/>
          <p:nvPr/>
        </p:nvSpPr>
        <p:spPr>
          <a:xfrm>
            <a:off x="9619488" y="1371600"/>
            <a:ext cx="1993392" cy="3931920"/>
          </a:xfrm>
          <a:prstGeom prst="roundRect">
            <a:avLst>
              <a:gd name="adj" fmla="val 5505"/>
            </a:avLst>
          </a:prstGeom>
          <a:solidFill>
            <a:schemeClr val="bg2"/>
          </a:solidFill>
          <a:ln/>
          <a:effectLst>
            <a:outerShdw sx="100000" sy="100000" kx="0" ky="0" algn="bl" rotWithShape="0" blurRad="76200" dist="25400" dir="5400000">
              <a:srgbClr val="8A97AB">
                <a:alpha val="25000"/>
              </a:srgbClr>
            </a:outerShdw>
          </a:effectLst>
        </p:spPr>
      </p:sp>
      <p:sp>
        <p:nvSpPr>
          <p:cNvPr id="28" name="Shape 26"/>
          <p:cNvSpPr/>
          <p:nvPr/>
        </p:nvSpPr>
        <p:spPr>
          <a:xfrm>
            <a:off x="9848088" y="1600200"/>
            <a:ext cx="594360" cy="594360"/>
          </a:xfrm>
          <a:prstGeom prst="ellipse">
            <a:avLst/>
          </a:prstGeom>
          <a:solidFill>
            <a:schemeClr val="tx2"/>
          </a:solidFill>
          <a:ln/>
        </p:spPr>
      </p:sp>
      <p:sp>
        <p:nvSpPr>
          <p:cNvPr id="29" name="Text 27"/>
          <p:cNvSpPr txBox="1"/>
          <p:nvPr/>
        </p:nvSpPr>
        <p:spPr>
          <a:xfrm>
            <a:off x="9848088" y="1600200"/>
            <a:ext cx="594360" cy="594360"/>
          </a:xfrm>
          <a:prstGeom prst="rect">
            <a:avLst/>
          </a:prstGeom>
          <a:no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5</a:t>
            </a:r>
            <a:endParaRPr lang="en-US" sz="1800" dirty="0"/>
          </a:p>
        </p:txBody>
      </p:sp>
      <p:sp>
        <p:nvSpPr>
          <p:cNvPr id="30" name="Text 28"/>
          <p:cNvSpPr txBox="1"/>
          <p:nvPr/>
        </p:nvSpPr>
        <p:spPr>
          <a:xfrm>
            <a:off x="9848088" y="2377440"/>
            <a:ext cx="1536192" cy="685800"/>
          </a:xfrm>
          <a:prstGeom prst="rect">
            <a:avLst/>
          </a:prstGeom>
          <a:noFill/>
          <a:ln/>
        </p:spPr>
        <p:txBody>
          <a:bodyPr wrap="square" lIns="0" tIns="0" rIns="0" bIns="0" rtlCol="0" anchor="t"/>
          <a:lstStyle/>
          <a:p>
            <a:pPr indent="0" marL="0">
              <a:buNone/>
            </a:pPr>
            <a:r>
              <a:rPr lang="en-US" sz="1800" b="1" dirty="0">
                <a:solidFill>
                  <a:schemeClr val="tx2"/>
                </a:solidFill>
              </a:rPr>
              <a:t>Interpretation</a:t>
            </a:r>
            <a:endParaRPr lang="en-US" sz="1800" dirty="0"/>
          </a:p>
        </p:txBody>
      </p:sp>
      <p:sp>
        <p:nvSpPr>
          <p:cNvPr id="31" name="Text 29"/>
          <p:cNvSpPr txBox="1"/>
          <p:nvPr/>
        </p:nvSpPr>
        <p:spPr>
          <a:xfrm>
            <a:off x="9848088" y="3108960"/>
            <a:ext cx="1536192" cy="2103120"/>
          </a:xfrm>
          <a:prstGeom prst="rect">
            <a:avLst/>
          </a:prstGeom>
          <a:noFill/>
          <a:ln/>
        </p:spPr>
        <p:txBody>
          <a:bodyPr wrap="square" lIns="0" tIns="0" rIns="0" bIns="0" rtlCol="0" anchor="t"/>
          <a:lstStyle/>
          <a:p>
            <a:pPr indent="0" marL="0">
              <a:buNone/>
            </a:pPr>
            <a:r>
              <a:rPr lang="en-US" sz="1400" dirty="0">
                <a:solidFill>
                  <a:schemeClr val="accent5"/>
                </a:solidFill>
              </a:rPr>
              <a:t>Size of differences in agronomic terms; transformations and missing plots noted.</a:t>
            </a:r>
            <a:endParaRPr lang="en-US" sz="1400" dirty="0"/>
          </a:p>
        </p:txBody>
      </p:sp>
      <p:sp>
        <p:nvSpPr>
          <p:cNvPr id="32" name="key idea"/>
          <p:cNvSpPr/>
          <p:nvPr/>
        </p:nvSpPr>
        <p:spPr>
          <a:xfrm>
            <a:off x="548640" y="5486400"/>
            <a:ext cx="11064240" cy="594360"/>
          </a:xfrm>
          <a:prstGeom prst="roundRect">
            <a:avLst>
              <a:gd name="adj" fmla="val 18462"/>
            </a:avLst>
          </a:prstGeom>
          <a:solidFill>
            <a:schemeClr val="accent6"/>
          </a:solidFill>
          <a:ln/>
          <a:effectLst>
            <a:outerShdw sx="100000" sy="100000" kx="0" ky="0" algn="bl" rotWithShape="0" blurRad="76200" dist="25400" dir="5400000">
              <a:srgbClr val="8A97AB">
                <a:alpha val="25000"/>
              </a:srgbClr>
            </a:outerShdw>
          </a:effectLst>
        </p:spPr>
      </p:sp>
      <p:sp>
        <p:nvSpPr>
          <p:cNvPr id="33" name="Text 31"/>
          <p:cNvSpPr txBox="1"/>
          <p:nvPr/>
        </p:nvSpPr>
        <p:spPr>
          <a:xfrm>
            <a:off x="822960" y="5486400"/>
            <a:ext cx="10515600" cy="594360"/>
          </a:xfrm>
          <a:prstGeom prst="rect">
            <a:avLst/>
          </a:prstGeom>
          <a:noFill/>
          <a:ln/>
        </p:spPr>
        <p:txBody>
          <a:bodyPr wrap="square" lIns="0" tIns="0" rIns="0" bIns="0" rtlCol="0" anchor="ctr"/>
          <a:lstStyle/>
          <a:p>
            <a:pPr indent="0" marL="0">
              <a:buNone/>
            </a:pPr>
            <a:r>
              <a:rPr lang="en-US" sz="1500" b="1" dirty="0">
                <a:solidFill>
                  <a:schemeClr val="accent4"/>
                </a:solidFill>
              </a:rPr>
              <a:t>Note  </a:t>
            </a:r>
            <a:pPr indent="0" marL="0">
              <a:buNone/>
            </a:pPr>
            <a:r>
              <a:rPr lang="en-US" sz="1500" dirty="0">
                <a:solidFill>
                  <a:schemeClr val="tx1"/>
                </a:solidFill>
              </a:rPr>
              <a:t>Example: "V1 gave the highest yield (5.66 t/ha), exceeding the next variety by 0.49 t/ha, more than the CD of 0.30 t/ha."</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Practical 14 and exercises</a:t>
            </a:r>
            <a:endParaRPr lang="en-US" sz="3200" dirty="0"/>
          </a:p>
        </p:txBody>
      </p:sp>
      <p:sp>
        <p:nvSpPr>
          <p:cNvPr id="3" name="card"/>
          <p:cNvSpPr/>
          <p:nvPr/>
        </p:nvSpPr>
        <p:spPr>
          <a:xfrm>
            <a:off x="548640" y="1371600"/>
            <a:ext cx="7680960" cy="548640"/>
          </a:xfrm>
          <a:prstGeom prst="roundRect">
            <a:avLst>
              <a:gd name="adj" fmla="val 20000"/>
            </a:avLst>
          </a:prstGeom>
          <a:solidFill>
            <a:schemeClr val="bg2"/>
          </a:solidFill>
          <a:ln/>
          <a:effectLst>
            <a:outerShdw sx="100000" sy="100000" kx="0" ky="0" algn="bl" rotWithShape="0" blurRad="76200" dist="25400" dir="5400000">
              <a:srgbClr val="8A97AB">
                <a:alpha val="25000"/>
              </a:srgbClr>
            </a:outerShdw>
          </a:effectLst>
        </p:spPr>
      </p:sp>
      <p:sp>
        <p:nvSpPr>
          <p:cNvPr id="4" name="Shape 2"/>
          <p:cNvSpPr/>
          <p:nvPr/>
        </p:nvSpPr>
        <p:spPr>
          <a:xfrm>
            <a:off x="749808" y="1394460"/>
            <a:ext cx="502920" cy="502920"/>
          </a:xfrm>
          <a:prstGeom prst="ellipse">
            <a:avLst/>
          </a:prstGeom>
          <a:solidFill>
            <a:schemeClr val="accent1"/>
          </a:solidFill>
          <a:ln/>
        </p:spPr>
      </p:sp>
      <p:sp>
        <p:nvSpPr>
          <p:cNvPr id="5" name="Text 3"/>
          <p:cNvSpPr txBox="1"/>
          <p:nvPr/>
        </p:nvSpPr>
        <p:spPr>
          <a:xfrm>
            <a:off x="749808" y="13944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6" name="Text 4"/>
          <p:cNvSpPr txBox="1"/>
          <p:nvPr/>
        </p:nvSpPr>
        <p:spPr>
          <a:xfrm>
            <a:off x="1463040" y="1417320"/>
            <a:ext cx="6629400" cy="457200"/>
          </a:xfrm>
          <a:prstGeom prst="rect">
            <a:avLst/>
          </a:prstGeom>
          <a:noFill/>
          <a:ln/>
        </p:spPr>
        <p:txBody>
          <a:bodyPr wrap="square" lIns="0" tIns="0" rIns="0" bIns="0" rtlCol="0" anchor="ctr"/>
          <a:lstStyle/>
          <a:p>
            <a:pPr indent="0" marL="0">
              <a:buNone/>
            </a:pPr>
            <a:r>
              <a:rPr lang="en-US" sz="1300" dirty="0">
                <a:solidFill>
                  <a:schemeClr val="tx1"/>
                </a:solidFill>
              </a:rPr>
              <a:t>Generate and print a randomized RCBD plan for seven treatments in three blocks. Record the seed.</a:t>
            </a:r>
            <a:endParaRPr lang="en-US" sz="1300" dirty="0"/>
          </a:p>
        </p:txBody>
      </p:sp>
      <p:sp>
        <p:nvSpPr>
          <p:cNvPr id="7" name="card"/>
          <p:cNvSpPr/>
          <p:nvPr/>
        </p:nvSpPr>
        <p:spPr>
          <a:xfrm>
            <a:off x="548640" y="2057400"/>
            <a:ext cx="7680960" cy="548640"/>
          </a:xfrm>
          <a:prstGeom prst="roundRect">
            <a:avLst>
              <a:gd name="adj" fmla="val 20000"/>
            </a:avLst>
          </a:prstGeom>
          <a:solidFill>
            <a:schemeClr val="bg2"/>
          </a:solidFill>
          <a:ln/>
          <a:effectLst>
            <a:outerShdw sx="100000" sy="100000" kx="0" ky="0" algn="bl" rotWithShape="0" blurRad="76200" dist="25400" dir="5400000">
              <a:srgbClr val="8A97AB">
                <a:alpha val="25000"/>
              </a:srgbClr>
            </a:outerShdw>
          </a:effectLst>
        </p:spPr>
      </p:sp>
      <p:sp>
        <p:nvSpPr>
          <p:cNvPr id="8" name="Shape 6"/>
          <p:cNvSpPr/>
          <p:nvPr/>
        </p:nvSpPr>
        <p:spPr>
          <a:xfrm>
            <a:off x="749808" y="2080260"/>
            <a:ext cx="502920" cy="502920"/>
          </a:xfrm>
          <a:prstGeom prst="ellipse">
            <a:avLst/>
          </a:prstGeom>
          <a:solidFill>
            <a:schemeClr val="accent1"/>
          </a:solidFill>
          <a:ln/>
        </p:spPr>
      </p:sp>
      <p:sp>
        <p:nvSpPr>
          <p:cNvPr id="9" name="Text 7"/>
          <p:cNvSpPr txBox="1"/>
          <p:nvPr/>
        </p:nvSpPr>
        <p:spPr>
          <a:xfrm>
            <a:off x="749808" y="20802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Text 8"/>
          <p:cNvSpPr txBox="1"/>
          <p:nvPr/>
        </p:nvSpPr>
        <p:spPr>
          <a:xfrm>
            <a:off x="1463040" y="2103120"/>
            <a:ext cx="6629400" cy="457200"/>
          </a:xfrm>
          <a:prstGeom prst="rect">
            <a:avLst/>
          </a:prstGeom>
          <a:noFill/>
          <a:ln/>
        </p:spPr>
        <p:txBody>
          <a:bodyPr wrap="square" lIns="0" tIns="0" rIns="0" bIns="0" rtlCol="0" anchor="ctr"/>
          <a:lstStyle/>
          <a:p>
            <a:pPr indent="0" marL="0">
              <a:buNone/>
            </a:pPr>
            <a:r>
              <a:rPr lang="en-US" sz="1300" dirty="0">
                <a:solidFill>
                  <a:schemeClr val="tx1"/>
                </a:solidFill>
              </a:rPr>
              <a:t>Analyse </a:t>
            </a:r>
            <a:pPr indent="0" marL="0">
              <a:buNone/>
            </a:pPr>
            <a:r>
              <a:rPr lang="en-US" sz="1300" dirty="0">
                <a:solidFill>
                  <a:schemeClr val="accent1"/>
                </a:solidFill>
                <a:latin typeface="Courier New" pitchFamily="34" charset="0"/>
                <a:ea typeface="Courier New" pitchFamily="34" charset="-122"/>
                <a:cs typeface="Courier New" pitchFamily="34" charset="-120"/>
              </a:rPr>
              <a:t>crd.csv</a:t>
            </a:r>
            <a:pPr indent="0" marL="0">
              <a:buNone/>
            </a:pPr>
            <a:r>
              <a:rPr lang="en-US" sz="1300" dirty="0">
                <a:solidFill>
                  <a:schemeClr val="tx1"/>
                </a:solidFill>
              </a:rPr>
              <a:t>: means, SEm±, CD (5%) and CV. Which levels do not differ from N160?</a:t>
            </a:r>
            <a:endParaRPr lang="en-US" sz="1300" dirty="0"/>
          </a:p>
        </p:txBody>
      </p:sp>
      <p:sp>
        <p:nvSpPr>
          <p:cNvPr id="11" name="card"/>
          <p:cNvSpPr/>
          <p:nvPr/>
        </p:nvSpPr>
        <p:spPr>
          <a:xfrm>
            <a:off x="548640" y="2743200"/>
            <a:ext cx="7680960" cy="548640"/>
          </a:xfrm>
          <a:prstGeom prst="roundRect">
            <a:avLst>
              <a:gd name="adj" fmla="val 20000"/>
            </a:avLst>
          </a:prstGeom>
          <a:solidFill>
            <a:schemeClr val="bg2"/>
          </a:solidFill>
          <a:ln/>
          <a:effectLst>
            <a:outerShdw sx="100000" sy="100000" kx="0" ky="0" algn="bl" rotWithShape="0" blurRad="76200" dist="25400" dir="5400000">
              <a:srgbClr val="8A97AB">
                <a:alpha val="25000"/>
              </a:srgbClr>
            </a:outerShdw>
          </a:effectLst>
        </p:spPr>
      </p:sp>
      <p:sp>
        <p:nvSpPr>
          <p:cNvPr id="12" name="Shape 10"/>
          <p:cNvSpPr/>
          <p:nvPr/>
        </p:nvSpPr>
        <p:spPr>
          <a:xfrm>
            <a:off x="749808" y="2766060"/>
            <a:ext cx="502920" cy="502920"/>
          </a:xfrm>
          <a:prstGeom prst="ellipse">
            <a:avLst/>
          </a:prstGeom>
          <a:solidFill>
            <a:schemeClr val="accent1"/>
          </a:solidFill>
          <a:ln/>
        </p:spPr>
      </p:sp>
      <p:sp>
        <p:nvSpPr>
          <p:cNvPr id="13" name="Text 11"/>
          <p:cNvSpPr txBox="1"/>
          <p:nvPr/>
        </p:nvSpPr>
        <p:spPr>
          <a:xfrm>
            <a:off x="749808" y="27660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4" name="Text 12"/>
          <p:cNvSpPr txBox="1"/>
          <p:nvPr/>
        </p:nvSpPr>
        <p:spPr>
          <a:xfrm>
            <a:off x="1463040" y="2788920"/>
            <a:ext cx="6629400" cy="457200"/>
          </a:xfrm>
          <a:prstGeom prst="rect">
            <a:avLst/>
          </a:prstGeom>
          <a:noFill/>
          <a:ln/>
        </p:spPr>
        <p:txBody>
          <a:bodyPr wrap="square" lIns="0" tIns="0" rIns="0" bIns="0" rtlCol="0" anchor="ctr"/>
          <a:lstStyle/>
          <a:p>
            <a:pPr indent="0" marL="0">
              <a:buNone/>
            </a:pPr>
            <a:r>
              <a:rPr lang="en-US" sz="1300" dirty="0">
                <a:solidFill>
                  <a:schemeClr val="tx1"/>
                </a:solidFill>
              </a:rPr>
              <a:t>Analyse </a:t>
            </a:r>
            <a:pPr indent="0" marL="0">
              <a:buNone/>
            </a:pPr>
            <a:r>
              <a:rPr lang="en-US" sz="1300" dirty="0">
                <a:solidFill>
                  <a:schemeClr val="accent1"/>
                </a:solidFill>
                <a:latin typeface="Courier New" pitchFamily="34" charset="0"/>
                <a:ea typeface="Courier New" pitchFamily="34" charset="-122"/>
                <a:cs typeface="Courier New" pitchFamily="34" charset="-120"/>
              </a:rPr>
              <a:t>rcbd_varieties.csv</a:t>
            </a:r>
            <a:pPr indent="0" marL="0">
              <a:buNone/>
            </a:pPr>
            <a:r>
              <a:rPr lang="en-US" sz="1300" dirty="0">
                <a:solidFill>
                  <a:schemeClr val="tx1"/>
                </a:solidFill>
              </a:rPr>
              <a:t> with and without blocks; calculate the relative efficiency.</a:t>
            </a:r>
            <a:endParaRPr lang="en-US" sz="1300" dirty="0"/>
          </a:p>
        </p:txBody>
      </p:sp>
      <p:sp>
        <p:nvSpPr>
          <p:cNvPr id="15" name="card"/>
          <p:cNvSpPr/>
          <p:nvPr/>
        </p:nvSpPr>
        <p:spPr>
          <a:xfrm>
            <a:off x="548640" y="3429000"/>
            <a:ext cx="7680960" cy="548640"/>
          </a:xfrm>
          <a:prstGeom prst="roundRect">
            <a:avLst>
              <a:gd name="adj" fmla="val 20000"/>
            </a:avLst>
          </a:prstGeom>
          <a:solidFill>
            <a:schemeClr val="bg2"/>
          </a:solidFill>
          <a:ln/>
          <a:effectLst>
            <a:outerShdw sx="100000" sy="100000" kx="0" ky="0" algn="bl" rotWithShape="0" blurRad="76200" dist="25400" dir="5400000">
              <a:srgbClr val="8A97AB">
                <a:alpha val="25000"/>
              </a:srgbClr>
            </a:outerShdw>
          </a:effectLst>
        </p:spPr>
      </p:sp>
      <p:sp>
        <p:nvSpPr>
          <p:cNvPr id="16" name="Shape 14"/>
          <p:cNvSpPr/>
          <p:nvPr/>
        </p:nvSpPr>
        <p:spPr>
          <a:xfrm>
            <a:off x="749808" y="3451860"/>
            <a:ext cx="502920" cy="502920"/>
          </a:xfrm>
          <a:prstGeom prst="ellipse">
            <a:avLst/>
          </a:prstGeom>
          <a:solidFill>
            <a:schemeClr val="accent1"/>
          </a:solidFill>
          <a:ln/>
        </p:spPr>
      </p:sp>
      <p:sp>
        <p:nvSpPr>
          <p:cNvPr id="17" name="Text 15"/>
          <p:cNvSpPr txBox="1"/>
          <p:nvPr/>
        </p:nvSpPr>
        <p:spPr>
          <a:xfrm>
            <a:off x="749808" y="34518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18" name="Text 16"/>
          <p:cNvSpPr txBox="1"/>
          <p:nvPr/>
        </p:nvSpPr>
        <p:spPr>
          <a:xfrm>
            <a:off x="1463040" y="3474720"/>
            <a:ext cx="6629400" cy="457200"/>
          </a:xfrm>
          <a:prstGeom prst="rect">
            <a:avLst/>
          </a:prstGeom>
          <a:noFill/>
          <a:ln/>
        </p:spPr>
        <p:txBody>
          <a:bodyPr wrap="square" lIns="0" tIns="0" rIns="0" bIns="0" rtlCol="0" anchor="ctr"/>
          <a:lstStyle/>
          <a:p>
            <a:pPr indent="0" marL="0">
              <a:buNone/>
            </a:pPr>
            <a:r>
              <a:rPr lang="en-US" sz="1300" dirty="0">
                <a:solidFill>
                  <a:schemeClr val="tx1"/>
                </a:solidFill>
              </a:rPr>
              <a:t>Confirm that </a:t>
            </a:r>
            <a:pPr indent="0" marL="0">
              <a:buNone/>
            </a:pPr>
            <a:r>
              <a:rPr lang="en-US" sz="1300" dirty="0">
                <a:solidFill>
                  <a:schemeClr val="accent1"/>
                </a:solidFill>
                <a:latin typeface="Courier New" pitchFamily="34" charset="0"/>
                <a:ea typeface="Courier New" pitchFamily="34" charset="-122"/>
                <a:cs typeface="Courier New" pitchFamily="34" charset="-120"/>
              </a:rPr>
              <a:t>latin_square.csv</a:t>
            </a:r>
            <a:pPr indent="0" marL="0">
              <a:buNone/>
            </a:pPr>
            <a:r>
              <a:rPr lang="en-US" sz="1300" dirty="0">
                <a:solidFill>
                  <a:schemeClr val="tx1"/>
                </a:solidFill>
              </a:rPr>
              <a:t> is a Latin square. Why does the error have 12 df?</a:t>
            </a:r>
            <a:endParaRPr lang="en-US" sz="1300" dirty="0"/>
          </a:p>
        </p:txBody>
      </p:sp>
      <p:sp>
        <p:nvSpPr>
          <p:cNvPr id="19" name="card"/>
          <p:cNvSpPr/>
          <p:nvPr/>
        </p:nvSpPr>
        <p:spPr>
          <a:xfrm>
            <a:off x="548640" y="4114800"/>
            <a:ext cx="7680960" cy="548640"/>
          </a:xfrm>
          <a:prstGeom prst="roundRect">
            <a:avLst>
              <a:gd name="adj" fmla="val 20000"/>
            </a:avLst>
          </a:prstGeom>
          <a:solidFill>
            <a:schemeClr val="bg2"/>
          </a:solidFill>
          <a:ln/>
          <a:effectLst>
            <a:outerShdw sx="100000" sy="100000" kx="0" ky="0" algn="bl" rotWithShape="0" blurRad="76200" dist="25400" dir="5400000">
              <a:srgbClr val="8A97AB">
                <a:alpha val="25000"/>
              </a:srgbClr>
            </a:outerShdw>
          </a:effectLst>
        </p:spPr>
      </p:sp>
      <p:sp>
        <p:nvSpPr>
          <p:cNvPr id="20" name="Shape 18"/>
          <p:cNvSpPr/>
          <p:nvPr/>
        </p:nvSpPr>
        <p:spPr>
          <a:xfrm>
            <a:off x="749808" y="4137660"/>
            <a:ext cx="502920" cy="502920"/>
          </a:xfrm>
          <a:prstGeom prst="ellipse">
            <a:avLst/>
          </a:prstGeom>
          <a:solidFill>
            <a:schemeClr val="accent1"/>
          </a:solidFill>
          <a:ln/>
        </p:spPr>
      </p:sp>
      <p:sp>
        <p:nvSpPr>
          <p:cNvPr id="21" name="Text 19"/>
          <p:cNvSpPr txBox="1"/>
          <p:nvPr/>
        </p:nvSpPr>
        <p:spPr>
          <a:xfrm>
            <a:off x="749808" y="41376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5</a:t>
            </a:r>
            <a:endParaRPr lang="en-US" sz="1500" dirty="0"/>
          </a:p>
        </p:txBody>
      </p:sp>
      <p:sp>
        <p:nvSpPr>
          <p:cNvPr id="22" name="Text 20"/>
          <p:cNvSpPr txBox="1"/>
          <p:nvPr/>
        </p:nvSpPr>
        <p:spPr>
          <a:xfrm>
            <a:off x="1463040" y="4160520"/>
            <a:ext cx="6629400" cy="457200"/>
          </a:xfrm>
          <a:prstGeom prst="rect">
            <a:avLst/>
          </a:prstGeom>
          <a:noFill/>
          <a:ln/>
        </p:spPr>
        <p:txBody>
          <a:bodyPr wrap="square" lIns="0" tIns="0" rIns="0" bIns="0" rtlCol="0" anchor="ctr"/>
          <a:lstStyle/>
          <a:p>
            <a:pPr indent="0" marL="0">
              <a:buNone/>
            </a:pPr>
            <a:r>
              <a:rPr lang="en-US" sz="1300" dirty="0">
                <a:solidFill>
                  <a:schemeClr val="tx1"/>
                </a:solidFill>
              </a:rPr>
              <a:t>In </a:t>
            </a:r>
            <a:pPr indent="0" marL="0">
              <a:buNone/>
            </a:pPr>
            <a:r>
              <a:rPr lang="en-US" sz="1300" dirty="0">
                <a:solidFill>
                  <a:schemeClr val="accent1"/>
                </a:solidFill>
                <a:latin typeface="Courier New" pitchFamily="34" charset="0"/>
                <a:ea typeface="Courier New" pitchFamily="34" charset="-122"/>
                <a:cs typeface="Courier New" pitchFamily="34" charset="-120"/>
              </a:rPr>
              <a:t>factorial_rcbd.csv</a:t>
            </a:r>
            <a:pPr indent="0" marL="0">
              <a:buNone/>
            </a:pPr>
            <a:r>
              <a:rPr lang="en-US" sz="1300" dirty="0">
                <a:solidFill>
                  <a:schemeClr val="tx1"/>
                </a:solidFill>
              </a:rPr>
              <a:t>, compare N0 and N120 within each variety using the right CD.</a:t>
            </a:r>
            <a:endParaRPr lang="en-US" sz="1300" dirty="0"/>
          </a:p>
        </p:txBody>
      </p:sp>
      <p:sp>
        <p:nvSpPr>
          <p:cNvPr id="23" name="card"/>
          <p:cNvSpPr/>
          <p:nvPr/>
        </p:nvSpPr>
        <p:spPr>
          <a:xfrm>
            <a:off x="548640" y="4800600"/>
            <a:ext cx="7680960" cy="548640"/>
          </a:xfrm>
          <a:prstGeom prst="roundRect">
            <a:avLst>
              <a:gd name="adj" fmla="val 20000"/>
            </a:avLst>
          </a:prstGeom>
          <a:solidFill>
            <a:schemeClr val="bg2"/>
          </a:solidFill>
          <a:ln/>
          <a:effectLst>
            <a:outerShdw sx="100000" sy="100000" kx="0" ky="0" algn="bl" rotWithShape="0" blurRad="76200" dist="25400" dir="5400000">
              <a:srgbClr val="8A97AB">
                <a:alpha val="25000"/>
              </a:srgbClr>
            </a:outerShdw>
          </a:effectLst>
        </p:spPr>
      </p:sp>
      <p:sp>
        <p:nvSpPr>
          <p:cNvPr id="24" name="Shape 22"/>
          <p:cNvSpPr/>
          <p:nvPr/>
        </p:nvSpPr>
        <p:spPr>
          <a:xfrm>
            <a:off x="749808" y="4823460"/>
            <a:ext cx="502920" cy="502920"/>
          </a:xfrm>
          <a:prstGeom prst="ellipse">
            <a:avLst/>
          </a:prstGeom>
          <a:solidFill>
            <a:schemeClr val="accent1"/>
          </a:solidFill>
          <a:ln/>
        </p:spPr>
      </p:sp>
      <p:sp>
        <p:nvSpPr>
          <p:cNvPr id="25" name="Text 23"/>
          <p:cNvSpPr txBox="1"/>
          <p:nvPr/>
        </p:nvSpPr>
        <p:spPr>
          <a:xfrm>
            <a:off x="749808" y="48234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6</a:t>
            </a:r>
            <a:endParaRPr lang="en-US" sz="1500" dirty="0"/>
          </a:p>
        </p:txBody>
      </p:sp>
      <p:sp>
        <p:nvSpPr>
          <p:cNvPr id="26" name="Text 24"/>
          <p:cNvSpPr txBox="1"/>
          <p:nvPr/>
        </p:nvSpPr>
        <p:spPr>
          <a:xfrm>
            <a:off x="1463040" y="4846320"/>
            <a:ext cx="6629400" cy="457200"/>
          </a:xfrm>
          <a:prstGeom prst="rect">
            <a:avLst/>
          </a:prstGeom>
          <a:noFill/>
          <a:ln/>
        </p:spPr>
        <p:txBody>
          <a:bodyPr wrap="square" lIns="0" tIns="0" rIns="0" bIns="0" rtlCol="0" anchor="ctr"/>
          <a:lstStyle/>
          <a:p>
            <a:pPr indent="0" marL="0">
              <a:buNone/>
            </a:pPr>
            <a:r>
              <a:rPr lang="en-US" sz="1300" dirty="0">
                <a:solidFill>
                  <a:schemeClr val="tx1"/>
                </a:solidFill>
              </a:rPr>
              <a:t>Analyse </a:t>
            </a:r>
            <a:pPr indent="0" marL="0">
              <a:buNone/>
            </a:pPr>
            <a:r>
              <a:rPr lang="en-US" sz="1300" dirty="0">
                <a:solidFill>
                  <a:schemeClr val="accent1"/>
                </a:solidFill>
                <a:latin typeface="Courier New" pitchFamily="34" charset="0"/>
                <a:ea typeface="Courier New" pitchFamily="34" charset="-122"/>
                <a:cs typeface="Courier New" pitchFamily="34" charset="-120"/>
              </a:rPr>
              <a:t>split_plot.csv</a:t>
            </a:r>
            <a:pPr indent="0" marL="0">
              <a:buNone/>
            </a:pPr>
            <a:r>
              <a:rPr lang="en-US" sz="1300" dirty="0">
                <a:solidFill>
                  <a:schemeClr val="tx1"/>
                </a:solidFill>
              </a:rPr>
              <a:t> correctly and incorrectly. List every conclusion that changes.</a:t>
            </a:r>
            <a:endParaRPr lang="en-US" sz="1300" dirty="0"/>
          </a:p>
        </p:txBody>
      </p:sp>
      <p:sp>
        <p:nvSpPr>
          <p:cNvPr id="27" name="card"/>
          <p:cNvSpPr/>
          <p:nvPr/>
        </p:nvSpPr>
        <p:spPr>
          <a:xfrm>
            <a:off x="548640" y="5486400"/>
            <a:ext cx="7680960" cy="548640"/>
          </a:xfrm>
          <a:prstGeom prst="roundRect">
            <a:avLst>
              <a:gd name="adj" fmla="val 20000"/>
            </a:avLst>
          </a:prstGeom>
          <a:solidFill>
            <a:schemeClr val="bg2"/>
          </a:solidFill>
          <a:ln/>
          <a:effectLst>
            <a:outerShdw sx="100000" sy="100000" kx="0" ky="0" algn="bl" rotWithShape="0" blurRad="76200" dist="25400" dir="5400000">
              <a:srgbClr val="8A97AB">
                <a:alpha val="25000"/>
              </a:srgbClr>
            </a:outerShdw>
          </a:effectLst>
        </p:spPr>
      </p:sp>
      <p:sp>
        <p:nvSpPr>
          <p:cNvPr id="28" name="Shape 26"/>
          <p:cNvSpPr/>
          <p:nvPr/>
        </p:nvSpPr>
        <p:spPr>
          <a:xfrm>
            <a:off x="749808" y="5509260"/>
            <a:ext cx="502920" cy="502920"/>
          </a:xfrm>
          <a:prstGeom prst="ellipse">
            <a:avLst/>
          </a:prstGeom>
          <a:solidFill>
            <a:schemeClr val="accent1"/>
          </a:solidFill>
          <a:ln/>
        </p:spPr>
      </p:sp>
      <p:sp>
        <p:nvSpPr>
          <p:cNvPr id="29" name="Text 27"/>
          <p:cNvSpPr txBox="1"/>
          <p:nvPr/>
        </p:nvSpPr>
        <p:spPr>
          <a:xfrm>
            <a:off x="749808" y="5509260"/>
            <a:ext cx="502920" cy="502920"/>
          </a:xfrm>
          <a:prstGeom prst="rect">
            <a:avLst/>
          </a:prstGeom>
          <a:no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7</a:t>
            </a:r>
            <a:endParaRPr lang="en-US" sz="1500" dirty="0"/>
          </a:p>
        </p:txBody>
      </p:sp>
      <p:sp>
        <p:nvSpPr>
          <p:cNvPr id="30" name="Text 28"/>
          <p:cNvSpPr txBox="1"/>
          <p:nvPr/>
        </p:nvSpPr>
        <p:spPr>
          <a:xfrm>
            <a:off x="1463040" y="5532120"/>
            <a:ext cx="6629400" cy="457200"/>
          </a:xfrm>
          <a:prstGeom prst="rect">
            <a:avLst/>
          </a:prstGeom>
          <a:noFill/>
          <a:ln/>
        </p:spPr>
        <p:txBody>
          <a:bodyPr wrap="square" lIns="0" tIns="0" rIns="0" bIns="0" rtlCol="0" anchor="ctr"/>
          <a:lstStyle/>
          <a:p>
            <a:pPr indent="0" marL="0">
              <a:buNone/>
            </a:pPr>
            <a:r>
              <a:rPr lang="en-US" sz="1300" dirty="0">
                <a:solidFill>
                  <a:schemeClr val="tx1"/>
                </a:solidFill>
              </a:rPr>
              <a:t>Analyse </a:t>
            </a:r>
            <a:pPr indent="0" marL="0">
              <a:buNone/>
            </a:pPr>
            <a:r>
              <a:rPr lang="en-US" sz="1300" dirty="0">
                <a:solidFill>
                  <a:schemeClr val="accent1"/>
                </a:solidFill>
                <a:latin typeface="Courier New" pitchFamily="34" charset="0"/>
                <a:ea typeface="Courier New" pitchFamily="34" charset="-122"/>
                <a:cs typeface="Courier New" pitchFamily="34" charset="-120"/>
              </a:rPr>
              <a:t>aphid_counts.csv</a:t>
            </a:r>
            <a:pPr indent="0" marL="0">
              <a:buNone/>
            </a:pPr>
            <a:r>
              <a:rPr lang="en-US" sz="1300" dirty="0">
                <a:solidFill>
                  <a:schemeClr val="tx1"/>
                </a:solidFill>
              </a:rPr>
              <a:t> on the raw and square-root scales; compare residual plots.</a:t>
            </a:r>
            <a:endParaRPr lang="en-US" sz="1300" dirty="0"/>
          </a:p>
        </p:txBody>
      </p:sp>
      <p:sp>
        <p:nvSpPr>
          <p:cNvPr id="31" name="submit"/>
          <p:cNvSpPr/>
          <p:nvPr/>
        </p:nvSpPr>
        <p:spPr>
          <a:xfrm>
            <a:off x="8458200" y="1371600"/>
            <a:ext cx="3154680" cy="4663440"/>
          </a:xfrm>
          <a:prstGeom prst="roundRect">
            <a:avLst>
              <a:gd name="adj" fmla="val 3478"/>
            </a:avLst>
          </a:prstGeom>
          <a:solidFill>
            <a:schemeClr val="tx2"/>
          </a:solidFill>
          <a:ln/>
          <a:effectLst>
            <a:outerShdw sx="100000" sy="100000" kx="0" ky="0" algn="bl" rotWithShape="0" blurRad="76200" dist="25400" dir="5400000">
              <a:srgbClr val="8A97AB">
                <a:alpha val="25000"/>
              </a:srgbClr>
            </a:outerShdw>
          </a:effectLst>
        </p:spPr>
      </p:sp>
      <p:pic>
        <p:nvPicPr>
          <p:cNvPr id="32" name="Image 0" descr="clipboard icon">    </p:cNvPr>
          <p:cNvPicPr>
            <a:picLocks noChangeAspect="1"/>
          </p:cNvPicPr>
          <p:nvPr/>
        </p:nvPicPr>
        <p:blipFill>
          <a:blip r:embed="rId1"/>
          <a:stretch>
            <a:fillRect/>
          </a:stretch>
        </p:blipFill>
        <p:spPr>
          <a:xfrm>
            <a:off x="9582912" y="1691640"/>
            <a:ext cx="914400" cy="914400"/>
          </a:xfrm>
          <a:prstGeom prst="rect">
            <a:avLst/>
          </a:prstGeom>
        </p:spPr>
      </p:pic>
      <p:sp>
        <p:nvSpPr>
          <p:cNvPr id="33" name="Text 30"/>
          <p:cNvSpPr txBox="1"/>
          <p:nvPr/>
        </p:nvSpPr>
        <p:spPr>
          <a:xfrm>
            <a:off x="8549640" y="2743200"/>
            <a:ext cx="2971800" cy="411480"/>
          </a:xfrm>
          <a:prstGeom prst="rect">
            <a:avLst/>
          </a:prstGeom>
          <a:noFill/>
          <a:ln/>
        </p:spPr>
        <p:txBody>
          <a:bodyPr wrap="square" lIns="0" tIns="0" rIns="0" bIns="0" rtlCol="0" anchor="t"/>
          <a:lstStyle/>
          <a:p>
            <a:pPr algn="ctr" indent="0" marL="0">
              <a:buNone/>
            </a:pPr>
            <a:r>
              <a:rPr lang="en-US" sz="2000" b="1" dirty="0">
                <a:solidFill>
                  <a:schemeClr val="bg1"/>
                </a:solidFill>
              </a:rPr>
              <a:t>Submit</a:t>
            </a:r>
            <a:endParaRPr lang="en-US" sz="2000" dirty="0"/>
          </a:p>
        </p:txBody>
      </p:sp>
      <p:sp>
        <p:nvSpPr>
          <p:cNvPr id="34" name="Text 31"/>
          <p:cNvSpPr txBox="1"/>
          <p:nvPr/>
        </p:nvSpPr>
        <p:spPr>
          <a:xfrm>
            <a:off x="8686800" y="3200400"/>
            <a:ext cx="2697480" cy="2651760"/>
          </a:xfrm>
          <a:prstGeom prst="rect">
            <a:avLst/>
          </a:prstGeom>
          <a:noFill/>
          <a:ln/>
        </p:spPr>
        <p:txBody>
          <a:bodyPr wrap="square" lIns="0" tIns="0" rIns="0" bIns="0" rtlCol="0" anchor="t"/>
          <a:lstStyle/>
          <a:p>
            <a:pPr algn="ctr" indent="0" marL="0">
              <a:buNone/>
            </a:pPr>
            <a:r>
              <a:rPr lang="en-US" sz="1400" dirty="0">
                <a:solidFill>
                  <a:schemeClr val="accent6"/>
                </a:solidFill>
              </a:rPr>
              <a:t>your script and a short written interpretation. Code that runs is necessary; a defensible explanation is equally necessary.</a:t>
            </a:r>
            <a:endParaRPr lang="en-US" sz="14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64240" cy="822960"/>
          </a:xfrm>
          <a:prstGeom prst="rect">
            <a:avLst/>
          </a:prstGeom>
          <a:noFill/>
          <a:ln/>
        </p:spPr>
        <p:txBody>
          <a:bodyPr wrap="square" lIns="0" tIns="0" rIns="0" bIns="0" rtlCol="0" anchor="ctr"/>
          <a:lstStyle/>
          <a:p>
            <a:pPr indent="0" marL="0">
              <a:buNone/>
            </a:pPr>
            <a:r>
              <a:rPr lang="en-US" sz="3200" b="1" dirty="0">
                <a:solidFill>
                  <a:schemeClr val="tx2"/>
                </a:solidFill>
              </a:rPr>
              <a:t>Live R laboratory</a:t>
            </a:r>
            <a:endParaRPr lang="en-US" sz="3200" dirty="0"/>
          </a:p>
        </p:txBody>
      </p:sp>
      <p:sp>
        <p:nvSpPr>
          <p:cNvPr id="3" name="code panel"/>
          <p:cNvSpPr/>
          <p:nvPr/>
        </p:nvSpPr>
        <p:spPr>
          <a:xfrm>
            <a:off x="548640" y="1371600"/>
            <a:ext cx="11064240" cy="3247390"/>
          </a:xfrm>
          <a:prstGeom prst="roundRect">
            <a:avLst>
              <a:gd name="adj" fmla="val 2816"/>
            </a:avLst>
          </a:prstGeom>
          <a:solidFill>
            <a:schemeClr val="tx1"/>
          </a:solidFill>
          <a:ln/>
        </p:spPr>
      </p:sp>
      <p:sp>
        <p:nvSpPr>
          <p:cNvPr id="4" name="Text 2"/>
          <p:cNvSpPr txBox="1"/>
          <p:nvPr/>
        </p:nvSpPr>
        <p:spPr>
          <a:xfrm>
            <a:off x="822960" y="1572768"/>
            <a:ext cx="10515600" cy="2845054"/>
          </a:xfrm>
          <a:prstGeom prst="rect">
            <a:avLst/>
          </a:prstGeom>
          <a:noFill/>
          <a:ln/>
        </p:spPr>
        <p:txBody>
          <a:bodyPr wrap="square" lIns="0" tIns="0" rIns="0" bIns="0" rtlCol="0" anchor="t"/>
          <a:lstStyle/>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yield &lt;- c(4.8, 5.4, 4.0, 5.5,</a:t>
            </a:r>
            <a:endParaRPr lang="en-US" sz="1600" dirty="0"/>
          </a:p>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           4.6, 4.9, 4.1, 5.3,</a:t>
            </a:r>
            <a:endParaRPr lang="en-US" sz="1600" dirty="0"/>
          </a:p>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           4.1, 5.0, 3.5, 5.1)</a:t>
            </a:r>
            <a:endParaRPr lang="en-US" sz="1600" dirty="0"/>
          </a:p>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trial &lt;- data.frame(block = factor(rep(1:3, each = 4)),</a:t>
            </a:r>
            <a:endParaRPr lang="en-US" sz="1600" dirty="0"/>
          </a:p>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  variety = factor(rep(c("V1", "V2", "V3", "V4"), times = 3)), yield = yield)</a:t>
            </a:r>
            <a:endParaRPr lang="en-US" sz="1600" dirty="0"/>
          </a:p>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fit &lt;- aov(yield ~ block + variety, data = trial)</a:t>
            </a:r>
            <a:endParaRPr lang="en-US" sz="1600" dirty="0"/>
          </a:p>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summary(fit)</a:t>
            </a:r>
            <a:endParaRPr lang="en-US" sz="1600" dirty="0"/>
          </a:p>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mse &lt;- deviance(fit) / df.residual(fit); r &lt;- 3</a:t>
            </a:r>
            <a:endParaRPr lang="en-US" sz="1600" dirty="0"/>
          </a:p>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c(SEm = sqrt(mse / r), CD_5pc = qt(0.975, df.residual(fit)) * sqrt(2 * mse / r),</a:t>
            </a:r>
            <a:endParaRPr lang="en-US" sz="1600" dirty="0"/>
          </a:p>
          <a:p>
            <a:pPr indent="0" marL="0">
              <a:spcAft>
                <a:spcPts val="200"/>
              </a:spcAft>
              <a:buNone/>
            </a:pPr>
            <a:r>
              <a:rPr lang="en-US" sz="1600" dirty="0">
                <a:solidFill>
                  <a:schemeClr val="bg1"/>
                </a:solidFill>
                <a:latin typeface="Courier New" pitchFamily="34" charset="0"/>
                <a:ea typeface="Courier New" pitchFamily="34" charset="-122"/>
                <a:cs typeface="Courier New" pitchFamily="34" charset="-120"/>
              </a:rPr>
              <a:t>  CV_pc = 100 * sqrt(mse) / mean(yield))</a:t>
            </a:r>
            <a:endParaRPr lang="en-US" sz="1600" dirty="0"/>
          </a:p>
        </p:txBody>
      </p:sp>
      <p:sp>
        <p:nvSpPr>
          <p:cNvPr id="5" name="investigate"/>
          <p:cNvSpPr/>
          <p:nvPr/>
        </p:nvSpPr>
        <p:spPr>
          <a:xfrm>
            <a:off x="548640" y="4939030"/>
            <a:ext cx="11064240" cy="1371600"/>
          </a:xfrm>
          <a:prstGeom prst="roundRect">
            <a:avLst>
              <a:gd name="adj" fmla="val 8000"/>
            </a:avLst>
          </a:prstGeom>
          <a:solidFill>
            <a:schemeClr val="accent6"/>
          </a:solidFill>
          <a:ln/>
          <a:effectLst>
            <a:outerShdw sx="100000" sy="100000" kx="0" ky="0" algn="bl" rotWithShape="0" blurRad="76200" dist="25400" dir="5400000">
              <a:srgbClr val="8A97AB">
                <a:alpha val="25000"/>
              </a:srgbClr>
            </a:outerShdw>
          </a:effectLst>
        </p:spPr>
      </p:sp>
      <p:sp>
        <p:nvSpPr>
          <p:cNvPr id="6" name="icon circle"/>
          <p:cNvSpPr/>
          <p:nvPr/>
        </p:nvSpPr>
        <p:spPr>
          <a:xfrm>
            <a:off x="822960" y="5231638"/>
            <a:ext cx="777240" cy="777240"/>
          </a:xfrm>
          <a:prstGeom prst="ellipse">
            <a:avLst/>
          </a:prstGeom>
          <a:solidFill>
            <a:schemeClr val="accent2"/>
          </a:solidFill>
          <a:ln/>
        </p:spPr>
      </p:sp>
      <p:pic>
        <p:nvPicPr>
          <p:cNvPr id="7" name="Image 0" descr="FaSearch">    </p:cNvPr>
          <p:cNvPicPr>
            <a:picLocks noChangeAspect="1"/>
          </p:cNvPicPr>
          <p:nvPr/>
        </p:nvPicPr>
        <p:blipFill>
          <a:blip r:embed="rId1"/>
          <a:stretch>
            <a:fillRect/>
          </a:stretch>
        </p:blipFill>
        <p:spPr>
          <a:xfrm>
            <a:off x="1017270" y="5425948"/>
            <a:ext cx="388620" cy="388620"/>
          </a:xfrm>
          <a:prstGeom prst="rect">
            <a:avLst/>
          </a:prstGeom>
        </p:spPr>
      </p:pic>
      <p:sp>
        <p:nvSpPr>
          <p:cNvPr id="8" name="Text 5"/>
          <p:cNvSpPr txBox="1"/>
          <p:nvPr/>
        </p:nvSpPr>
        <p:spPr>
          <a:xfrm>
            <a:off x="1828800" y="5048758"/>
            <a:ext cx="9509760" cy="365760"/>
          </a:xfrm>
          <a:prstGeom prst="rect">
            <a:avLst/>
          </a:prstGeom>
          <a:noFill/>
          <a:ln/>
        </p:spPr>
        <p:txBody>
          <a:bodyPr wrap="square" lIns="0" tIns="0" rIns="0" bIns="0" rtlCol="0" anchor="t"/>
          <a:lstStyle/>
          <a:p>
            <a:pPr indent="0" marL="0">
              <a:buNone/>
            </a:pPr>
            <a:r>
              <a:rPr lang="en-US" sz="1700" b="1" dirty="0">
                <a:solidFill>
                  <a:schemeClr val="tx2"/>
                </a:solidFill>
              </a:rPr>
              <a:t>Investigate</a:t>
            </a:r>
            <a:endParaRPr lang="en-US" sz="1700" dirty="0"/>
          </a:p>
        </p:txBody>
      </p:sp>
      <p:sp>
        <p:nvSpPr>
          <p:cNvPr id="9" name="Text 6"/>
          <p:cNvSpPr txBox="1"/>
          <p:nvPr/>
        </p:nvSpPr>
        <p:spPr>
          <a:xfrm>
            <a:off x="1828800" y="5414518"/>
            <a:ext cx="9555480" cy="822960"/>
          </a:xfrm>
          <a:prstGeom prst="rect">
            <a:avLst/>
          </a:prstGeom>
          <a:noFill/>
          <a:ln/>
        </p:spPr>
        <p:txBody>
          <a:bodyPr wrap="square" lIns="0" tIns="0" rIns="0" bIns="0" rtlCol="0" anchor="t"/>
          <a:lstStyle/>
          <a:p>
            <a:pPr indent="0" marL="0">
              <a:buNone/>
            </a:pPr>
            <a:r>
              <a:rPr lang="en-US" sz="1500" dirty="0">
                <a:solidFill>
                  <a:schemeClr val="tx1"/>
                </a:solidFill>
              </a:rPr>
              <a:t>Remove </a:t>
            </a:r>
            <a:pPr indent="0" marL="0">
              <a:buNone/>
            </a:pPr>
            <a:r>
              <a:rPr lang="en-US" sz="1500" dirty="0">
                <a:solidFill>
                  <a:schemeClr val="accent1"/>
                </a:solidFill>
                <a:latin typeface="Courier New" pitchFamily="34" charset="0"/>
                <a:ea typeface="Courier New" pitchFamily="34" charset="-122"/>
                <a:cs typeface="Courier New" pitchFamily="34" charset="-120"/>
              </a:rPr>
              <a:t>block +</a:t>
            </a:r>
            <a:pPr indent="0" marL="0">
              <a:buNone/>
            </a:pPr>
            <a:r>
              <a:rPr lang="en-US" sz="1500" dirty="0">
                <a:solidFill>
                  <a:schemeClr val="tx1"/>
                </a:solidFill>
              </a:rPr>
              <a:t> from the model and rerun. How do the error mean square and CD change? Explain why the blocked model is the correct one for this design.</a:t>
            </a:r>
            <a:endParaRPr lang="en-US" sz="1500" dirty="0"/>
          </a:p>
        </p:txBody>
      </p:sp>
      <p:sp>
        <p:nvSpPr>
          <p:cNvPr id="25" name="Slide Number Placeholder 0"/>
          <p:cNvSpPr>
            <a:spLocks noGrp="1"/>
          </p:cNvSpPr>
          <p:nvPr>
            <p:ph type="sldNum" sz="quarter" idx="4294967295"/>
          </p:nvPr>
        </p:nvSpPr>
        <p:spPr>
          <a:xfrm>
            <a:off x="1106424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txBox="1"/>
          <p:nvPr/>
        </p:nvSpPr>
        <p:spPr>
          <a:xfrm>
            <a:off x="731520" y="640080"/>
            <a:ext cx="10698480" cy="82296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Chapter review</a:t>
            </a:r>
            <a:endParaRPr lang="en-US" sz="4000" dirty="0"/>
          </a:p>
        </p:txBody>
      </p:sp>
      <p:sp>
        <p:nvSpPr>
          <p:cNvPr id="3" name="icon circle"/>
          <p:cNvSpPr/>
          <p:nvPr/>
        </p:nvSpPr>
        <p:spPr>
          <a:xfrm>
            <a:off x="731520" y="1828800"/>
            <a:ext cx="914400" cy="914400"/>
          </a:xfrm>
          <a:prstGeom prst="ellipse">
            <a:avLst/>
          </a:prstGeom>
          <a:solidFill>
            <a:schemeClr val="accent2"/>
          </a:solidFill>
          <a:ln/>
        </p:spPr>
      </p:sp>
      <p:pic>
        <p:nvPicPr>
          <p:cNvPr id="4" name="Image 0" descr="FaClone">    </p:cNvPr>
          <p:cNvPicPr>
            <a:picLocks noChangeAspect="1"/>
          </p:cNvPicPr>
          <p:nvPr/>
        </p:nvPicPr>
        <p:blipFill>
          <a:blip r:embed="rId1"/>
          <a:stretch>
            <a:fillRect/>
          </a:stretch>
        </p:blipFill>
        <p:spPr>
          <a:xfrm>
            <a:off x="960120" y="2057400"/>
            <a:ext cx="457200" cy="457200"/>
          </a:xfrm>
          <a:prstGeom prst="rect">
            <a:avLst/>
          </a:prstGeom>
        </p:spPr>
      </p:pic>
      <p:sp>
        <p:nvSpPr>
          <p:cNvPr id="5" name="Text 2"/>
          <p:cNvSpPr txBox="1"/>
          <p:nvPr/>
        </p:nvSpPr>
        <p:spPr>
          <a:xfrm>
            <a:off x="19202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Replicate, randomize, control</a:t>
            </a:r>
            <a:endParaRPr lang="en-US" sz="1900" dirty="0"/>
          </a:p>
        </p:txBody>
      </p:sp>
      <p:sp>
        <p:nvSpPr>
          <p:cNvPr id="6" name="Text 3"/>
          <p:cNvSpPr txBox="1"/>
          <p:nvPr/>
        </p:nvSpPr>
        <p:spPr>
          <a:xfrm>
            <a:off x="19202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Replication estimates error, randomization makes comparisons fair, local control reduces error.</a:t>
            </a:r>
            <a:endParaRPr lang="en-US" sz="1400" dirty="0"/>
          </a:p>
        </p:txBody>
      </p:sp>
      <p:sp>
        <p:nvSpPr>
          <p:cNvPr id="7" name="icon circle"/>
          <p:cNvSpPr/>
          <p:nvPr/>
        </p:nvSpPr>
        <p:spPr>
          <a:xfrm>
            <a:off x="6217920" y="1828800"/>
            <a:ext cx="914400" cy="914400"/>
          </a:xfrm>
          <a:prstGeom prst="ellipse">
            <a:avLst/>
          </a:prstGeom>
          <a:solidFill>
            <a:schemeClr val="accent2"/>
          </a:solidFill>
          <a:ln/>
        </p:spPr>
      </p:sp>
      <p:pic>
        <p:nvPicPr>
          <p:cNvPr id="8" name="Image 1" descr="FaProjectDiagram">    </p:cNvPr>
          <p:cNvPicPr>
            <a:picLocks noChangeAspect="1"/>
          </p:cNvPicPr>
          <p:nvPr/>
        </p:nvPicPr>
        <p:blipFill>
          <a:blip r:embed="rId2"/>
          <a:stretch>
            <a:fillRect/>
          </a:stretch>
        </p:blipFill>
        <p:spPr>
          <a:xfrm>
            <a:off x="6446520" y="2057400"/>
            <a:ext cx="457200" cy="457200"/>
          </a:xfrm>
          <a:prstGeom prst="rect">
            <a:avLst/>
          </a:prstGeom>
        </p:spPr>
      </p:pic>
      <p:sp>
        <p:nvSpPr>
          <p:cNvPr id="9" name="Text 5"/>
          <p:cNvSpPr txBox="1"/>
          <p:nvPr/>
        </p:nvSpPr>
        <p:spPr>
          <a:xfrm>
            <a:off x="7406640" y="1828800"/>
            <a:ext cx="4069080" cy="457200"/>
          </a:xfrm>
          <a:prstGeom prst="rect">
            <a:avLst/>
          </a:prstGeom>
          <a:noFill/>
          <a:ln/>
        </p:spPr>
        <p:txBody>
          <a:bodyPr wrap="square" lIns="0" tIns="0" rIns="0" bIns="0" rtlCol="0" anchor="t"/>
          <a:lstStyle/>
          <a:p>
            <a:pPr indent="0" marL="0">
              <a:buNone/>
            </a:pPr>
            <a:r>
              <a:rPr lang="en-US" sz="1900" b="1" dirty="0">
                <a:solidFill>
                  <a:schemeClr val="bg1"/>
                </a:solidFill>
              </a:rPr>
              <a:t>Analysis follows randomization</a:t>
            </a:r>
            <a:endParaRPr lang="en-US" sz="1900" dirty="0"/>
          </a:p>
        </p:txBody>
      </p:sp>
      <p:sp>
        <p:nvSpPr>
          <p:cNvPr id="10" name="Text 6"/>
          <p:cNvSpPr txBox="1"/>
          <p:nvPr/>
        </p:nvSpPr>
        <p:spPr>
          <a:xfrm>
            <a:off x="7406640" y="230428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Blocks, rows, columns and main plots belong in the model because they shaped the layout.</a:t>
            </a:r>
            <a:endParaRPr lang="en-US" sz="1400" dirty="0"/>
          </a:p>
        </p:txBody>
      </p:sp>
      <p:sp>
        <p:nvSpPr>
          <p:cNvPr id="11" name="icon circle"/>
          <p:cNvSpPr/>
          <p:nvPr/>
        </p:nvSpPr>
        <p:spPr>
          <a:xfrm>
            <a:off x="731520" y="3520440"/>
            <a:ext cx="914400" cy="914400"/>
          </a:xfrm>
          <a:prstGeom prst="ellipse">
            <a:avLst/>
          </a:prstGeom>
          <a:solidFill>
            <a:schemeClr val="accent2"/>
          </a:solidFill>
          <a:ln/>
        </p:spPr>
      </p:sp>
      <p:pic>
        <p:nvPicPr>
          <p:cNvPr id="12" name="Image 2" descr="FaCalculator">    </p:cNvPr>
          <p:cNvPicPr>
            <a:picLocks noChangeAspect="1"/>
          </p:cNvPicPr>
          <p:nvPr/>
        </p:nvPicPr>
        <p:blipFill>
          <a:blip r:embed="rId3"/>
          <a:stretch>
            <a:fillRect/>
          </a:stretch>
        </p:blipFill>
        <p:spPr>
          <a:xfrm>
            <a:off x="960120" y="3749040"/>
            <a:ext cx="457200" cy="457200"/>
          </a:xfrm>
          <a:prstGeom prst="rect">
            <a:avLst/>
          </a:prstGeom>
        </p:spPr>
      </p:pic>
      <p:sp>
        <p:nvSpPr>
          <p:cNvPr id="13" name="Text 8"/>
          <p:cNvSpPr txBox="1"/>
          <p:nvPr/>
        </p:nvSpPr>
        <p:spPr>
          <a:xfrm>
            <a:off x="19202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Report SEm, CD and CV</a:t>
            </a:r>
            <a:endParaRPr lang="en-US" sz="1900" dirty="0"/>
          </a:p>
        </p:txBody>
      </p:sp>
      <p:sp>
        <p:nvSpPr>
          <p:cNvPr id="14" name="Text 9"/>
          <p:cNvSpPr txBox="1"/>
          <p:nvPr/>
        </p:nvSpPr>
        <p:spPr>
          <a:xfrm>
            <a:off x="19202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Below every means table, in agronomic units.</a:t>
            </a:r>
            <a:endParaRPr lang="en-US" sz="1400" dirty="0"/>
          </a:p>
        </p:txBody>
      </p:sp>
      <p:sp>
        <p:nvSpPr>
          <p:cNvPr id="15" name="icon circle"/>
          <p:cNvSpPr/>
          <p:nvPr/>
        </p:nvSpPr>
        <p:spPr>
          <a:xfrm>
            <a:off x="6217920" y="3520440"/>
            <a:ext cx="914400" cy="914400"/>
          </a:xfrm>
          <a:prstGeom prst="ellipse">
            <a:avLst/>
          </a:prstGeom>
          <a:solidFill>
            <a:schemeClr val="accent2"/>
          </a:solidFill>
          <a:ln/>
        </p:spPr>
      </p:sp>
      <p:pic>
        <p:nvPicPr>
          <p:cNvPr id="16" name="Image 3" descr="FaBalanceScale">    </p:cNvPr>
          <p:cNvPicPr>
            <a:picLocks noChangeAspect="1"/>
          </p:cNvPicPr>
          <p:nvPr/>
        </p:nvPicPr>
        <p:blipFill>
          <a:blip r:embed="rId4"/>
          <a:stretch>
            <a:fillRect/>
          </a:stretch>
        </p:blipFill>
        <p:spPr>
          <a:xfrm>
            <a:off x="6446520" y="3749040"/>
            <a:ext cx="457200" cy="457200"/>
          </a:xfrm>
          <a:prstGeom prst="rect">
            <a:avLst/>
          </a:prstGeom>
        </p:spPr>
      </p:pic>
      <p:sp>
        <p:nvSpPr>
          <p:cNvPr id="17" name="Text 11"/>
          <p:cNvSpPr txBox="1"/>
          <p:nvPr/>
        </p:nvSpPr>
        <p:spPr>
          <a:xfrm>
            <a:off x="7406640" y="3520440"/>
            <a:ext cx="4069080" cy="457200"/>
          </a:xfrm>
          <a:prstGeom prst="rect">
            <a:avLst/>
          </a:prstGeom>
          <a:noFill/>
          <a:ln/>
        </p:spPr>
        <p:txBody>
          <a:bodyPr wrap="square" lIns="0" tIns="0" rIns="0" bIns="0" rtlCol="0" anchor="t"/>
          <a:lstStyle/>
          <a:p>
            <a:pPr indent="0" marL="0">
              <a:buNone/>
            </a:pPr>
            <a:r>
              <a:rPr lang="en-US" sz="1900" b="1" dirty="0">
                <a:solidFill>
                  <a:schemeClr val="bg1"/>
                </a:solidFill>
              </a:rPr>
              <a:t>Choose comparisons in advance</a:t>
            </a:r>
            <a:endParaRPr lang="en-US" sz="1900" dirty="0"/>
          </a:p>
        </p:txBody>
      </p:sp>
      <p:sp>
        <p:nvSpPr>
          <p:cNvPr id="18" name="Text 12"/>
          <p:cNvSpPr txBox="1"/>
          <p:nvPr/>
        </p:nvSpPr>
        <p:spPr>
          <a:xfrm>
            <a:off x="7406640" y="3995928"/>
            <a:ext cx="4069080" cy="868680"/>
          </a:xfrm>
          <a:prstGeom prst="rect">
            <a:avLst/>
          </a:prstGeom>
          <a:noFill/>
          <a:ln/>
        </p:spPr>
        <p:txBody>
          <a:bodyPr wrap="square" lIns="0" tIns="0" rIns="0" bIns="0" rtlCol="0" anchor="t"/>
          <a:lstStyle/>
          <a:p>
            <a:pPr indent="0" marL="0">
              <a:buNone/>
            </a:pPr>
            <a:r>
              <a:rPr lang="en-US" sz="1400" dirty="0">
                <a:solidFill>
                  <a:schemeClr val="accent6"/>
                </a:solidFill>
              </a:rPr>
              <a:t>Transform when the data type demands it; interpret the size of differences.</a:t>
            </a:r>
            <a:endParaRPr lang="en-US" sz="1400" dirty="0"/>
          </a:p>
        </p:txBody>
      </p:sp>
      <p:sp>
        <p:nvSpPr>
          <p:cNvPr id="19" name="Text 13"/>
          <p:cNvSpPr txBox="1"/>
          <p:nvPr/>
        </p:nvSpPr>
        <p:spPr>
          <a:xfrm>
            <a:off x="731520" y="5669280"/>
            <a:ext cx="10058400" cy="365760"/>
          </a:xfrm>
          <a:prstGeom prst="rect">
            <a:avLst/>
          </a:prstGeom>
          <a:noFill/>
          <a:ln/>
        </p:spPr>
        <p:txBody>
          <a:bodyPr wrap="square" lIns="0" tIns="0" rIns="0" bIns="0" rtlCol="0" anchor="t"/>
          <a:lstStyle/>
          <a:p>
            <a:pPr indent="0" marL="0">
              <a:buNone/>
            </a:pPr>
            <a:r>
              <a:rPr lang="en-US" sz="1600" i="1" dirty="0">
                <a:solidFill>
                  <a:schemeClr val="accent2"/>
                </a:solidFill>
              </a:rPr>
              <a:t>Next: Chapter 14 · Correlation and regression for agricultural prediction</a:t>
            </a:r>
            <a:endParaRPr lang="en-US" sz="1600" dirty="0"/>
          </a:p>
        </p:txBody>
      </p:sp>
      <p:sp>
        <p:nvSpPr>
          <p:cNvPr id="21" name="Text 0"/>
          <p:cNvSpPr/>
          <p:nvPr>
            <p:ph idx="100" type="title" hasCustomPrompt="1"/>
          </p:nvPr>
        </p:nvSpPr>
        <p:spPr>
          <a:xfrm>
            <a:off x="2377440" y="2560320"/>
            <a:ext cx="8778240" cy="1188720"/>
          </a:xfrm>
          <a:prstGeom prst="rect">
            <a:avLst/>
          </a:prstGeom>
          <a:noFill/>
          <a:ln/>
        </p:spPr>
        <p:txBody>
          <a:bodyPr wrap="square" lIns="0" tIns="0" rIns="0" bIns="0" rtlCol="0" anchor="ctr"/>
          <a:lstStyle/>
          <a:p>
            <a:pPr algn="l" indent="0" marL="0">
              <a:buNone/>
            </a:pPr>
            <a:endParaRPr lang="en-US" sz="3800" dirty="0"/>
          </a:p>
        </p:txBody>
      </p:sp>
      <p:sp>
        <p:nvSpPr>
          <p:cNvPr id="22" name="Text 0"/>
          <p:cNvSpPr/>
          <p:nvPr>
            <p:ph idx="101" type="body" hasCustomPrompt="1"/>
          </p:nvPr>
        </p:nvSpPr>
        <p:spPr>
          <a:xfrm>
            <a:off x="2377440" y="3794760"/>
            <a:ext cx="8778240" cy="640080"/>
          </a:xfrm>
          <a:prstGeom prst="rect">
            <a:avLst/>
          </a:prstGeom>
          <a:noFill/>
          <a:ln/>
        </p:spPr>
        <p:txBody>
          <a:bodyPr wrap="square" lIns="0" tIns="0" rIns="0" bIns="0" rtlCol="0" anchor="t"/>
          <a:lstStyle/>
          <a:p>
            <a:pPr indent="0" marL="0">
              <a:buNone/>
            </a:pPr>
            <a:endParaRPr lang="en-US" sz="1800" dirty="0"/>
          </a:p>
        </p:txBody>
      </p:sp>
      <p:sp>
        <p:nvSpPr>
          <p:cNvPr id="25" name="Slide Number Placeholder 0"/>
          <p:cNvSpPr>
            <a:spLocks noGrp="1"/>
          </p:cNvSpPr>
          <p:nvPr>
            <p:ph type="sldNum" sz="quarter" idx="4294967295"/>
          </p:nvPr>
        </p:nvSpPr>
        <p:spPr>
          <a:xfrm>
            <a:off x="11338560"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21</a:t>
            </a:fld>
            <a:endParaRPr lang="en-US"/>
          </a:p>
        </p:txBody>
      </p:sp>
    </p:spTree>
  </p:cSld>
  <p:clrMapOvr>
    <a:masterClrMapping/>
  </p:clrMapOvr>
</p:sld>
</file>

<file path=ppt/theme/theme1.xml><?xml version="1.0" encoding="utf-8"?>
<a:theme xmlns:a="http://schemas.openxmlformats.org/drawingml/2006/main" name="Office Theme">
  <a:themeElements>
    <a:clrScheme name="KAU R Textbook">
      <a:dk1>
        <a:srgbClr val="1B2A41"/>
      </a:dk1>
      <a:lt1>
        <a:srgbClr val="FFFFFF"/>
      </a:lt1>
      <a:dk2>
        <a:srgbClr val="1F3A68"/>
      </a:dk2>
      <a:lt2>
        <a:srgbClr val="EEF3FA"/>
      </a:lt2>
      <a:accent1>
        <a:srgbClr val="1F4E8C"/>
      </a:accent1>
      <a:accent2>
        <a:srgbClr val="C99A1E"/>
      </a:accent2>
      <a:accent3>
        <a:srgbClr val="2E7D4F"/>
      </a:accent3>
      <a:accent4>
        <a:srgbClr val="B5452E"/>
      </a:accent4>
      <a:accent5>
        <a:srgbClr val="5B6B82"/>
      </a:accent5>
      <a:accent6>
        <a:srgbClr val="F4EBCF"/>
      </a:accent6>
      <a:hlink>
        <a:srgbClr val="1F4E8C"/>
      </a:hlink>
      <a:folHlink>
        <a:srgbClr val="5B6B8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Designing and analysing field experiments</dc:title>
  <dc:subject>R Programming for Agricultural Data Analysis · Chapter 13</dc:subject>
  <dc:creator>Dr. Pratheesh P. Gopinath</dc:creator>
  <cp:lastModifiedBy>Dr. Pratheesh P. Gopinath</cp:lastModifiedBy>
  <cp:revision>1</cp:revision>
  <dcterms:created xsi:type="dcterms:W3CDTF">2026-10-20T10:13:43Z</dcterms:created>
  <dcterms:modified xsi:type="dcterms:W3CDTF">2026-10-20T10:13:43Z</dcterms:modified>
</cp:coreProperties>
</file>