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7205b937-d95e-4489-cf92-b496be453b79}">
          <p14:sldIdLst>
            <p14:sldId id="256"/>
            <p14:sldId id="257"/>
            <p14:sldId id="258"/>
            <p14:sldId id="259"/>
            <p14:sldId id="260"/>
            <p14:sldId id="261"/>
            <p14:sldId id="262"/>
            <p14:sldId id="263"/>
            <p14:sldId id="264"/>
          </p14:sldIdLst>
        </p14:section>
        <p14:section name="Review" id="{5c040610-fcf3-de1e-b40a-4730faafe18a}">
          <p14:sldIdLst>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chapter fourteen, correlation and regression for agricultural prediction. How does yield change with nitrogen? How well can rainfall and nitrogen together predict yield on a new farm? In this chapter we measure association, fit simple and multiple regression models, check them, and evaluate predictions honestly.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this chapter you will distinguish Pearson and Spearman correlation, interpret simple and multiple regression coefficients, check model assumptions and influential observations, and evaluate predictions on observations the model has not seen. Correlation describes association, regression specifies a conditional response, and prediction needs its own evaluation.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with a scatter plot, then measure association. Pearson's correlation measures the strength of a linear relationship and is sensitive to outliers. Spearman's correlation uses ranks, so it captures any monotonic relationship and resists outliers. But association is not a treatment effect. In farm records, farmers choose how much nitrogen to apply, and better-managed farms may both apply more and yield more for other reasons. Only randomized experiments separate those explanations.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Simple linear regression fits a straight line by least squares, choosing the intercept and slope that minimize the sum of squared residuals. The slope is the change in mean yield, in tonnes per hectare, for each extra kilogram of nitrogen, and it applies only within the observed range. Confint gives its confidence interval. R squared is the share of yield variation explained by the model, and the residual standard error is the typical size of a residual, in tonnes per hectare. A slope cannot be estimated if every farm used the same dose: you need a range of predictor values.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Multiple regression adds more predictors. The nitrogen coefficient now means the change in mean yield per kilogram of nitrogen while rainfall is held fixed, which is a conditional effect and can differ from the simple slope. Categorical predictors, such as treatment and variety in a designed trial, enter as factors. Each coefficient is the difference from the reference level, the first level of the factor, so a compost coefficient is compost minus control. Change the reference level with relevel if another comparison is more natural.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Always check residuals. Plot model gives residuals against fitted values, a normal quantile plot, and leverage. Curvature suggests a non-linear relationship, and a fan shape suggests unequal spread. Observations with unusual predictor values have high leverage and pull the line strongly. Cook's distance measures how much one observation changes the fit; check such points against the records, but do not delete them automatically. If residuals curve, a quadratic term may capture a plateau in the nitrogen response, but an apparent optimum is not a fertilizer recommendation, especially outside the observed range.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Predict gives two kinds of interval. A confidence interval describes the mean yield of farms with these values; a prediction interval describes a single new farm, and it is always wider because it includes farm-to-farm variation. To evaluate predictive performance honestly, fit the model on a training set and measure its errors on held-out farms, comparing root mean squared error and mean absolute error with a simple baseline that predicts the training mean. A random split is fine for independent farms, but not when the same farm, future years or neighbouring fields would appear in both sets.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fifteen. Compare the two correlation coefficients. Interpret the rainfall coefficient with its units and explain why it is not automatically causal. Compare the simple and multiple nitrogen slopes. Compare confidence and prediction intervals. And evaluate the model on held-out farms against a baseline, identifying a setting where a random split would be inappropriate.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live laboratory you fit a straight line to six simulated nitrogen doses, predict at fifty kilograms with a prediction interval, and draw the fitted line. Interpret the slope with its units, and explain how a prediction interval differs from a confidence interval.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review: measure association with the right correlation. Interpret regression coefficients with units and with what is held fixed. Diagnose the model before drawing conclusions. And evaluate predictions on new data with prediction intervals. Next we turn analyses into reproducible reports.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103120"/>
            <a:ext cx="9326880" cy="146304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3" name="Text 0"/>
          <p:cNvSpPr/>
          <p:nvPr>
            <p:ph idx="101" type="body" hasCustomPrompt="1"/>
          </p:nvPr>
        </p:nvSpPr>
        <p:spPr>
          <a:xfrm>
            <a:off x="731520" y="3657600"/>
            <a:ext cx="9326880" cy="731520"/>
          </a:xfrm>
          <a:prstGeom prst="rect">
            <a:avLst/>
          </a:prstGeom>
          <a:noFill/>
          <a:ln/>
        </p:spPr>
        <p:txBody>
          <a:bodyPr wrap="square" rtlCol="0"/>
          <a:lstStyle>
            <a:lvl1pPr indent="0" marL="0">
              <a:buNone/>
              <a:defRPr lang="en-US" sz="2200" dirty="0">
                <a:solidFill>
                  <a:schemeClr val="accent6"/>
                </a:solidFill>
              </a:defRPr>
            </a:lvl1pPr>
          </a:lstStyle>
          <a:p>
            <a:pPr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2377440" y="2560320"/>
            <a:ext cx="8778240" cy="1188720"/>
          </a:xfrm>
          <a:prstGeom prst="rect">
            <a:avLst/>
          </a:prstGeom>
          <a:noFill/>
          <a:ln/>
        </p:spPr>
        <p:txBody>
          <a:bodyPr wrap="square" rtlCol="0"/>
          <a:lstStyle>
            <a:lvl1pPr algn="l" indent="0" marL="0">
              <a:buNone/>
              <a:defRPr lang="en-US" sz="3800" b="1" dirty="0">
                <a:solidFill>
                  <a:schemeClr val="bg1"/>
                </a:solidFill>
              </a:defRPr>
            </a:lvl1pPr>
          </a:lstStyle>
          <a:p>
            <a:pPr algn="l" indent="0" marL="0">
              <a:buNone/>
            </a:pPr>
            <a:endParaRPr lang="en-US" sz="3800" dirty="0"/>
          </a:p>
        </p:txBody>
      </p:sp>
      <p:sp>
        <p:nvSpPr>
          <p:cNvPr id="3" name="Text 0"/>
          <p:cNvSpPr/>
          <p:nvPr>
            <p:ph idx="101" type="body" hasCustomPrompt="1"/>
          </p:nvPr>
        </p:nvSpPr>
        <p:spPr>
          <a:xfrm>
            <a:off x="2377440" y="3794760"/>
            <a:ext cx="8778240" cy="640080"/>
          </a:xfrm>
          <a:prstGeom prst="rect">
            <a:avLst/>
          </a:prstGeom>
          <a:noFill/>
          <a:ln/>
        </p:spPr>
        <p:txBody>
          <a:bodyPr wrap="square" rtlCol="0"/>
          <a:lstStyle>
            <a:lvl1pPr indent="0" marL="0">
              <a:buNone/>
              <a:defRPr lang="en-US" sz="1800" dirty="0">
                <a:solidFill>
                  <a:schemeClr val="accent6"/>
                </a:solidFill>
              </a:defRPr>
            </a:lvl1pPr>
          </a:lstStyle>
          <a:p>
            <a:pPr indent="0" marL="0">
              <a:buNone/>
            </a:pPr>
            <a:endParaRPr lang="en-US" sz="1800" dirty="0"/>
          </a:p>
        </p:txBody>
      </p:sp>
      <p:sp>
        <p:nvSpPr>
          <p:cNvPr id="25" name="Slide Number Placeholder 0"/>
          <p:cNvSpPr>
            <a:spLocks noGrp="1"/>
          </p:cNvSpPr>
          <p:nvPr>
            <p:ph type="sldNum" sz="quarter" idx="4294967295"/>
          </p:nvPr>
        </p:nvSpPr>
        <p:spPr>
          <a:xfrm>
            <a:off x="1133856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lstStyle>
            <a:lvl1pPr indent="0" marL="0">
              <a:buNone/>
              <a:defRPr lang="en-US" sz="3200" b="1" dirty="0">
                <a:solidFill>
                  <a:schemeClr val="tx2"/>
                </a:solidFill>
              </a:defRPr>
            </a:lvl1pPr>
          </a:lstStyle>
          <a:p>
            <a:pPr indent="0" marL="0">
              <a:buNone/>
            </a:pPr>
            <a:endParaRPr lang="en-US" sz="3200" dirty="0"/>
          </a:p>
        </p:txBody>
      </p:sp>
      <p:sp>
        <p:nvSpPr>
          <p:cNvPr id="3" name="Text 0"/>
          <p:cNvSpPr/>
          <p:nvPr/>
        </p:nvSpPr>
        <p:spPr>
          <a:xfrm>
            <a:off x="548640" y="6355080"/>
            <a:ext cx="10058400" cy="274320"/>
          </a:xfrm>
          <a:prstGeom prst="rect">
            <a:avLst/>
          </a:prstGeom>
          <a:noFill/>
          <a:ln/>
        </p:spPr>
        <p:txBody>
          <a:bodyPr wrap="square" lIns="0" tIns="0" rIns="0" bIns="0" rtlCol="0" anchor="ctr"/>
          <a:lstStyle/>
          <a:p>
            <a:pPr indent="0" marL="0">
              <a:buNone/>
            </a:pPr>
            <a:r>
              <a:rPr lang="en-US" sz="1000" dirty="0">
                <a:solidFill>
                  <a:schemeClr val="accent5"/>
                </a:solidFill>
              </a:rPr>
              <a:t>Chapter 14 · Correlation and regression for agricultural prediction  ·  R Programming for Agricultural Data Analysis</a:t>
            </a:r>
            <a:endParaRPr lang="en-US" sz="10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3856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4.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4.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4.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4.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4.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4.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4.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4.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3.xml"/><Relationship Id="rId6"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731520" y="1463040"/>
            <a:ext cx="9144000" cy="365760"/>
          </a:xfrm>
          <a:prstGeom prst="rect">
            <a:avLst/>
          </a:prstGeom>
          <a:noFill/>
          <a:ln/>
        </p:spPr>
        <p:txBody>
          <a:bodyPr wrap="square" lIns="0" tIns="0" rIns="0" bIns="0" rtlCol="0" anchor="t"/>
          <a:lstStyle/>
          <a:p>
            <a:pPr indent="0" marL="0">
              <a:buNone/>
            </a:pPr>
            <a:r>
              <a:rPr lang="en-US" sz="1600" b="1" spc="300" kern="0" dirty="0">
                <a:solidFill>
                  <a:schemeClr val="accent2"/>
                </a:solidFill>
              </a:rPr>
              <a:t>MODULE 6  ·  CHAPTER 14</a:t>
            </a:r>
            <a:endParaRPr lang="en-US" sz="1600" dirty="0"/>
          </a:p>
        </p:txBody>
      </p:sp>
      <p:sp>
        <p:nvSpPr>
          <p:cNvPr id="3" name="Text 0"/>
          <p:cNvSpPr/>
          <p:nvPr>
            <p:ph idx="100" type="title" hasCustomPrompt="1"/>
          </p:nvPr>
        </p:nvSpPr>
        <p:spPr>
          <a:xfrm>
            <a:off x="731520" y="2103120"/>
            <a:ext cx="9326880" cy="1463040"/>
          </a:xfrm>
          <a:prstGeom prst="rect">
            <a:avLst/>
          </a:prstGeom>
          <a:noFill/>
          <a:ln/>
        </p:spPr>
        <p:txBody>
          <a:bodyPr wrap="square" lIns="0" tIns="0" rIns="0" bIns="0" rtlCol="0" anchor="t"/>
          <a:lstStyle/>
          <a:p>
            <a:pPr algn="l" indent="0" marL="0">
              <a:buNone/>
            </a:pPr>
            <a:r>
              <a:rPr lang="en-US" sz="4400" b="1" dirty="0">
                <a:solidFill>
                  <a:schemeClr val="bg1"/>
                </a:solidFill>
              </a:rPr>
              <a:t>Correlation and regression for agricultural prediction</a:t>
            </a:r>
            <a:endParaRPr lang="en-US" sz="4400" dirty="0"/>
          </a:p>
        </p:txBody>
      </p:sp>
      <p:sp>
        <p:nvSpPr>
          <p:cNvPr id="4" name="Text 0"/>
          <p:cNvSpPr/>
          <p:nvPr>
            <p:ph idx="101" type="body" hasCustomPrompt="1"/>
          </p:nvPr>
        </p:nvSpPr>
        <p:spPr>
          <a:xfrm>
            <a:off x="731520" y="3657600"/>
            <a:ext cx="9326880" cy="731520"/>
          </a:xfrm>
          <a:prstGeom prst="rect">
            <a:avLst/>
          </a:prstGeom>
          <a:noFill/>
          <a:ln/>
        </p:spPr>
        <p:txBody>
          <a:bodyPr wrap="square" lIns="0" tIns="0" rIns="0" bIns="0" rtlCol="0" anchor="t"/>
          <a:lstStyle/>
          <a:p>
            <a:pPr indent="0" marL="0">
              <a:buNone/>
            </a:pPr>
            <a:r>
              <a:rPr lang="en-US" sz="2200" dirty="0">
                <a:solidFill>
                  <a:schemeClr val="accent6"/>
                </a:solidFill>
              </a:rPr>
              <a:t>R Programming for Agricultural Data Analysis</a:t>
            </a:r>
            <a:endParaRPr lang="en-US" sz="2200" dirty="0"/>
          </a:p>
        </p:txBody>
      </p:sp>
      <p:sp>
        <p:nvSpPr>
          <p:cNvPr id="5" name="Text 3"/>
          <p:cNvSpPr txBox="1"/>
          <p:nvPr/>
        </p:nvSpPr>
        <p:spPr>
          <a:xfrm>
            <a:off x="731520" y="4937760"/>
            <a:ext cx="10515600" cy="731520"/>
          </a:xfrm>
          <a:prstGeom prst="rect">
            <a:avLst/>
          </a:prstGeom>
          <a:noFill/>
          <a:ln/>
        </p:spPr>
        <p:txBody>
          <a:bodyPr wrap="square" lIns="0" tIns="0" rIns="0" bIns="0" rtlCol="0" anchor="t"/>
          <a:lstStyle/>
          <a:p>
            <a:pPr indent="0" marL="0">
              <a:buNone/>
            </a:pPr>
            <a:r>
              <a:rPr lang="en-US" sz="1500" b="1" dirty="0">
                <a:solidFill>
                  <a:schemeClr val="bg1"/>
                </a:solidFill>
              </a:rPr>
              <a:t>Dr. Pratheesh P. Gopinath</a:t>
            </a:r>
            <a:endParaRPr lang="en-US" sz="1500" dirty="0"/>
          </a:p>
          <a:p>
            <a:pPr indent="0" marL="0">
              <a:buNone/>
            </a:pPr>
            <a:r>
              <a:rPr lang="en-US" sz="1500" dirty="0">
                <a:solidFill>
                  <a:schemeClr val="bg1"/>
                </a:solidFill>
              </a:rPr>
              <a:t>Department of Agricultural Statistics · College of Agriculture, Vellayani · Kerala Agricultural University</a:t>
            </a:r>
            <a:endParaRPr lang="en-US" sz="1500" dirty="0"/>
          </a:p>
        </p:txBody>
      </p:sp>
      <p:pic>
        <p:nvPicPr>
          <p:cNvPr id="6" name="Image 0" descr="chapter icon">    </p:cNvPr>
          <p:cNvPicPr>
            <a:picLocks noChangeAspect="1"/>
          </p:cNvPicPr>
          <p:nvPr/>
        </p:nvPicPr>
        <p:blipFill>
          <a:blip r:embed="rId1"/>
          <a:stretch>
            <a:fillRect/>
          </a:stretch>
        </p:blipFill>
        <p:spPr>
          <a:xfrm>
            <a:off x="10149840" y="1188720"/>
            <a:ext cx="1280160" cy="128016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200" b="1" dirty="0">
                <a:solidFill>
                  <a:schemeClr val="tx2"/>
                </a:solidFill>
              </a:rPr>
              <a:t>In this chapter you will</a:t>
            </a:r>
            <a:endParaRPr lang="en-US" sz="3200" dirty="0"/>
          </a:p>
        </p:txBody>
      </p:sp>
      <p:sp>
        <p:nvSpPr>
          <p:cNvPr id="3" name="card"/>
          <p:cNvSpPr/>
          <p:nvPr/>
        </p:nvSpPr>
        <p:spPr>
          <a:xfrm>
            <a:off x="548640" y="1371600"/>
            <a:ext cx="5440680" cy="1371600"/>
          </a:xfrm>
          <a:prstGeom prst="roundRect">
            <a:avLst>
              <a:gd name="adj" fmla="val 8000"/>
            </a:avLst>
          </a:prstGeom>
          <a:solidFill>
            <a:schemeClr val="bg2"/>
          </a:solidFill>
          <a:ln/>
          <a:effectLst>
            <a:outerShdw sx="100000" sy="100000" kx="0" ky="0" algn="bl" rotWithShape="0" blurRad="76200" dist="25400" dir="5400000">
              <a:srgbClr val="8A97AB">
                <a:alpha val="25000"/>
              </a:srgbClr>
            </a:outerShdw>
          </a:effectLst>
        </p:spPr>
      </p:sp>
      <p:sp>
        <p:nvSpPr>
          <p:cNvPr id="4" name="icon circle"/>
          <p:cNvSpPr/>
          <p:nvPr/>
        </p:nvSpPr>
        <p:spPr>
          <a:xfrm>
            <a:off x="822960" y="1691640"/>
            <a:ext cx="731520" cy="731520"/>
          </a:xfrm>
          <a:prstGeom prst="ellipse">
            <a:avLst/>
          </a:prstGeom>
          <a:solidFill>
            <a:schemeClr val="accent1"/>
          </a:solidFill>
          <a:ln/>
        </p:spPr>
      </p:sp>
      <p:pic>
        <p:nvPicPr>
          <p:cNvPr id="5" name="Image 0" descr="FaProjectDiagram">    </p:cNvPr>
          <p:cNvPicPr>
            <a:picLocks noChangeAspect="1"/>
          </p:cNvPicPr>
          <p:nvPr/>
        </p:nvPicPr>
        <p:blipFill>
          <a:blip r:embed="rId1"/>
          <a:stretch>
            <a:fillRect/>
          </a:stretch>
        </p:blipFill>
        <p:spPr>
          <a:xfrm>
            <a:off x="1005840" y="1874520"/>
            <a:ext cx="365760" cy="365760"/>
          </a:xfrm>
          <a:prstGeom prst="rect">
            <a:avLst/>
          </a:prstGeom>
        </p:spPr>
      </p:pic>
      <p:sp>
        <p:nvSpPr>
          <p:cNvPr id="6" name="Text 3"/>
          <p:cNvSpPr txBox="1"/>
          <p:nvPr/>
        </p:nvSpPr>
        <p:spPr>
          <a:xfrm>
            <a:off x="1783080" y="1645920"/>
            <a:ext cx="4023360" cy="411480"/>
          </a:xfrm>
          <a:prstGeom prst="rect">
            <a:avLst/>
          </a:prstGeom>
          <a:noFill/>
          <a:ln/>
        </p:spPr>
        <p:txBody>
          <a:bodyPr wrap="square" lIns="0" tIns="0" rIns="0" bIns="0" rtlCol="0" anchor="t"/>
          <a:lstStyle/>
          <a:p>
            <a:pPr indent="0" marL="0">
              <a:buNone/>
            </a:pPr>
            <a:r>
              <a:rPr lang="en-US" sz="1800" b="1" dirty="0">
                <a:solidFill>
                  <a:schemeClr val="tx2"/>
                </a:solidFill>
              </a:rPr>
              <a:t>Measure association</a:t>
            </a:r>
            <a:endParaRPr lang="en-US" sz="1800" dirty="0"/>
          </a:p>
        </p:txBody>
      </p:sp>
      <p:sp>
        <p:nvSpPr>
          <p:cNvPr id="7" name="Text 4"/>
          <p:cNvSpPr txBox="1"/>
          <p:nvPr/>
        </p:nvSpPr>
        <p:spPr>
          <a:xfrm>
            <a:off x="1783080" y="2084832"/>
            <a:ext cx="4023360" cy="502920"/>
          </a:xfrm>
          <a:prstGeom prst="rect">
            <a:avLst/>
          </a:prstGeom>
          <a:noFill/>
          <a:ln/>
        </p:spPr>
        <p:txBody>
          <a:bodyPr wrap="square" lIns="0" tIns="0" rIns="0" bIns="0" rtlCol="0" anchor="t"/>
          <a:lstStyle/>
          <a:p>
            <a:pPr indent="0" marL="0">
              <a:buNone/>
            </a:pPr>
            <a:r>
              <a:rPr lang="en-US" sz="1400" dirty="0">
                <a:solidFill>
                  <a:schemeClr val="accent5"/>
                </a:solidFill>
              </a:rPr>
              <a:t>Pearson and Spearman correlation</a:t>
            </a:r>
            <a:endParaRPr lang="en-US" sz="1400" dirty="0"/>
          </a:p>
        </p:txBody>
      </p:sp>
      <p:sp>
        <p:nvSpPr>
          <p:cNvPr id="8" name="card"/>
          <p:cNvSpPr/>
          <p:nvPr/>
        </p:nvSpPr>
        <p:spPr>
          <a:xfrm>
            <a:off x="6172200" y="1371600"/>
            <a:ext cx="5440680" cy="1371600"/>
          </a:xfrm>
          <a:prstGeom prst="roundRect">
            <a:avLst>
              <a:gd name="adj" fmla="val 8000"/>
            </a:avLst>
          </a:prstGeom>
          <a:solidFill>
            <a:schemeClr val="bg2"/>
          </a:solidFill>
          <a:ln/>
          <a:effectLst>
            <a:outerShdw sx="100000" sy="100000" kx="0" ky="0" algn="bl" rotWithShape="0" blurRad="76200" dist="25400" dir="5400000">
              <a:srgbClr val="8A97AB">
                <a:alpha val="25000"/>
              </a:srgbClr>
            </a:outerShdw>
          </a:effectLst>
        </p:spPr>
      </p:sp>
      <p:sp>
        <p:nvSpPr>
          <p:cNvPr id="9" name="icon circle"/>
          <p:cNvSpPr/>
          <p:nvPr/>
        </p:nvSpPr>
        <p:spPr>
          <a:xfrm>
            <a:off x="6446520" y="1691640"/>
            <a:ext cx="731520" cy="731520"/>
          </a:xfrm>
          <a:prstGeom prst="ellipse">
            <a:avLst/>
          </a:prstGeom>
          <a:solidFill>
            <a:schemeClr val="accent1"/>
          </a:solidFill>
          <a:ln/>
        </p:spPr>
      </p:sp>
      <p:pic>
        <p:nvPicPr>
          <p:cNvPr id="10" name="Image 1" descr="FaChartLine">    </p:cNvPr>
          <p:cNvPicPr>
            <a:picLocks noChangeAspect="1"/>
          </p:cNvPicPr>
          <p:nvPr/>
        </p:nvPicPr>
        <p:blipFill>
          <a:blip r:embed="rId2"/>
          <a:stretch>
            <a:fillRect/>
          </a:stretch>
        </p:blipFill>
        <p:spPr>
          <a:xfrm>
            <a:off x="6629400" y="1874520"/>
            <a:ext cx="365760" cy="365760"/>
          </a:xfrm>
          <a:prstGeom prst="rect">
            <a:avLst/>
          </a:prstGeom>
        </p:spPr>
      </p:pic>
      <p:sp>
        <p:nvSpPr>
          <p:cNvPr id="11" name="Text 7"/>
          <p:cNvSpPr txBox="1"/>
          <p:nvPr/>
        </p:nvSpPr>
        <p:spPr>
          <a:xfrm>
            <a:off x="7406640" y="1645920"/>
            <a:ext cx="4023360" cy="411480"/>
          </a:xfrm>
          <a:prstGeom prst="rect">
            <a:avLst/>
          </a:prstGeom>
          <a:noFill/>
          <a:ln/>
        </p:spPr>
        <p:txBody>
          <a:bodyPr wrap="square" lIns="0" tIns="0" rIns="0" bIns="0" rtlCol="0" anchor="t"/>
          <a:lstStyle/>
          <a:p>
            <a:pPr indent="0" marL="0">
              <a:buNone/>
            </a:pPr>
            <a:r>
              <a:rPr lang="en-US" sz="1800" b="1" dirty="0">
                <a:solidFill>
                  <a:schemeClr val="tx2"/>
                </a:solidFill>
              </a:rPr>
              <a:t>Fit regression models</a:t>
            </a:r>
            <a:endParaRPr lang="en-US" sz="1800" dirty="0"/>
          </a:p>
        </p:txBody>
      </p:sp>
      <p:sp>
        <p:nvSpPr>
          <p:cNvPr id="12" name="Text 8"/>
          <p:cNvSpPr txBox="1"/>
          <p:nvPr/>
        </p:nvSpPr>
        <p:spPr>
          <a:xfrm>
            <a:off x="7406640" y="2084832"/>
            <a:ext cx="4023360" cy="502920"/>
          </a:xfrm>
          <a:prstGeom prst="rect">
            <a:avLst/>
          </a:prstGeom>
          <a:noFill/>
          <a:ln/>
        </p:spPr>
        <p:txBody>
          <a:bodyPr wrap="square" lIns="0" tIns="0" rIns="0" bIns="0" rtlCol="0" anchor="t"/>
          <a:lstStyle/>
          <a:p>
            <a:pPr indent="0" marL="0">
              <a:buNone/>
            </a:pPr>
            <a:r>
              <a:rPr lang="en-US" sz="1400" dirty="0">
                <a:solidFill>
                  <a:schemeClr val="accent5"/>
                </a:solidFill>
              </a:rPr>
              <a:t>Simple, multiple and categorical predictors</a:t>
            </a:r>
            <a:endParaRPr lang="en-US" sz="1400" dirty="0"/>
          </a:p>
        </p:txBody>
      </p:sp>
      <p:sp>
        <p:nvSpPr>
          <p:cNvPr id="13" name="card"/>
          <p:cNvSpPr/>
          <p:nvPr/>
        </p:nvSpPr>
        <p:spPr>
          <a:xfrm>
            <a:off x="548640" y="3017520"/>
            <a:ext cx="5440680" cy="1371600"/>
          </a:xfrm>
          <a:prstGeom prst="roundRect">
            <a:avLst>
              <a:gd name="adj" fmla="val 8000"/>
            </a:avLst>
          </a:prstGeom>
          <a:solidFill>
            <a:schemeClr val="bg2"/>
          </a:solidFill>
          <a:ln/>
          <a:effectLst>
            <a:outerShdw sx="100000" sy="100000" kx="0" ky="0" algn="bl" rotWithShape="0" blurRad="76200" dist="25400" dir="5400000">
              <a:srgbClr val="8A97AB">
                <a:alpha val="25000"/>
              </a:srgbClr>
            </a:outerShdw>
          </a:effectLst>
        </p:spPr>
      </p:sp>
      <p:sp>
        <p:nvSpPr>
          <p:cNvPr id="14" name="icon circle"/>
          <p:cNvSpPr/>
          <p:nvPr/>
        </p:nvSpPr>
        <p:spPr>
          <a:xfrm>
            <a:off x="822960" y="3337560"/>
            <a:ext cx="731520" cy="731520"/>
          </a:xfrm>
          <a:prstGeom prst="ellipse">
            <a:avLst/>
          </a:prstGeom>
          <a:solidFill>
            <a:schemeClr val="accent1"/>
          </a:solidFill>
          <a:ln/>
        </p:spPr>
      </p:sp>
      <p:pic>
        <p:nvPicPr>
          <p:cNvPr id="15" name="Image 2" descr="FaStethoscope">    </p:cNvPr>
          <p:cNvPicPr>
            <a:picLocks noChangeAspect="1"/>
          </p:cNvPicPr>
          <p:nvPr/>
        </p:nvPicPr>
        <p:blipFill>
          <a:blip r:embed="rId3"/>
          <a:stretch>
            <a:fillRect/>
          </a:stretch>
        </p:blipFill>
        <p:spPr>
          <a:xfrm>
            <a:off x="1005840" y="3520440"/>
            <a:ext cx="365760" cy="365760"/>
          </a:xfrm>
          <a:prstGeom prst="rect">
            <a:avLst/>
          </a:prstGeom>
        </p:spPr>
      </p:pic>
      <p:sp>
        <p:nvSpPr>
          <p:cNvPr id="16" name="Text 11"/>
          <p:cNvSpPr txBox="1"/>
          <p:nvPr/>
        </p:nvSpPr>
        <p:spPr>
          <a:xfrm>
            <a:off x="1783080" y="3291840"/>
            <a:ext cx="4023360" cy="411480"/>
          </a:xfrm>
          <a:prstGeom prst="rect">
            <a:avLst/>
          </a:prstGeom>
          <a:noFill/>
          <a:ln/>
        </p:spPr>
        <p:txBody>
          <a:bodyPr wrap="square" lIns="0" tIns="0" rIns="0" bIns="0" rtlCol="0" anchor="t"/>
          <a:lstStyle/>
          <a:p>
            <a:pPr indent="0" marL="0">
              <a:buNone/>
            </a:pPr>
            <a:r>
              <a:rPr lang="en-US" sz="1800" b="1" dirty="0">
                <a:solidFill>
                  <a:schemeClr val="tx2"/>
                </a:solidFill>
              </a:rPr>
              <a:t>Check the model</a:t>
            </a:r>
            <a:endParaRPr lang="en-US" sz="1800" dirty="0"/>
          </a:p>
        </p:txBody>
      </p:sp>
      <p:sp>
        <p:nvSpPr>
          <p:cNvPr id="17" name="Text 12"/>
          <p:cNvSpPr txBox="1"/>
          <p:nvPr/>
        </p:nvSpPr>
        <p:spPr>
          <a:xfrm>
            <a:off x="1783080" y="3730752"/>
            <a:ext cx="4023360" cy="502920"/>
          </a:xfrm>
          <a:prstGeom prst="rect">
            <a:avLst/>
          </a:prstGeom>
          <a:noFill/>
          <a:ln/>
        </p:spPr>
        <p:txBody>
          <a:bodyPr wrap="square" lIns="0" tIns="0" rIns="0" bIns="0" rtlCol="0" anchor="t"/>
          <a:lstStyle/>
          <a:p>
            <a:pPr indent="0" marL="0">
              <a:buNone/>
            </a:pPr>
            <a:r>
              <a:rPr lang="en-US" sz="1400" dirty="0">
                <a:solidFill>
                  <a:schemeClr val="accent5"/>
                </a:solidFill>
              </a:rPr>
              <a:t>Residuals, leverage and influence</a:t>
            </a:r>
            <a:endParaRPr lang="en-US" sz="1400" dirty="0"/>
          </a:p>
        </p:txBody>
      </p:sp>
      <p:sp>
        <p:nvSpPr>
          <p:cNvPr id="18" name="card"/>
          <p:cNvSpPr/>
          <p:nvPr/>
        </p:nvSpPr>
        <p:spPr>
          <a:xfrm>
            <a:off x="6172200" y="3017520"/>
            <a:ext cx="5440680" cy="1371600"/>
          </a:xfrm>
          <a:prstGeom prst="roundRect">
            <a:avLst>
              <a:gd name="adj" fmla="val 8000"/>
            </a:avLst>
          </a:prstGeom>
          <a:solidFill>
            <a:schemeClr val="bg2"/>
          </a:solidFill>
          <a:ln/>
          <a:effectLst>
            <a:outerShdw sx="100000" sy="100000" kx="0" ky="0" algn="bl" rotWithShape="0" blurRad="76200" dist="25400" dir="5400000">
              <a:srgbClr val="8A97AB">
                <a:alpha val="25000"/>
              </a:srgbClr>
            </a:outerShdw>
          </a:effectLst>
        </p:spPr>
      </p:sp>
      <p:sp>
        <p:nvSpPr>
          <p:cNvPr id="19" name="icon circle"/>
          <p:cNvSpPr/>
          <p:nvPr/>
        </p:nvSpPr>
        <p:spPr>
          <a:xfrm>
            <a:off x="6446520" y="3337560"/>
            <a:ext cx="731520" cy="731520"/>
          </a:xfrm>
          <a:prstGeom prst="ellipse">
            <a:avLst/>
          </a:prstGeom>
          <a:solidFill>
            <a:schemeClr val="accent1"/>
          </a:solidFill>
          <a:ln/>
        </p:spPr>
      </p:sp>
      <p:pic>
        <p:nvPicPr>
          <p:cNvPr id="20" name="Image 3" descr="FaBullseye">    </p:cNvPr>
          <p:cNvPicPr>
            <a:picLocks noChangeAspect="1"/>
          </p:cNvPicPr>
          <p:nvPr/>
        </p:nvPicPr>
        <p:blipFill>
          <a:blip r:embed="rId4"/>
          <a:stretch>
            <a:fillRect/>
          </a:stretch>
        </p:blipFill>
        <p:spPr>
          <a:xfrm>
            <a:off x="6629400" y="3520440"/>
            <a:ext cx="365760" cy="365760"/>
          </a:xfrm>
          <a:prstGeom prst="rect">
            <a:avLst/>
          </a:prstGeom>
        </p:spPr>
      </p:pic>
      <p:sp>
        <p:nvSpPr>
          <p:cNvPr id="21" name="Text 15"/>
          <p:cNvSpPr txBox="1"/>
          <p:nvPr/>
        </p:nvSpPr>
        <p:spPr>
          <a:xfrm>
            <a:off x="7406640" y="3291840"/>
            <a:ext cx="4023360" cy="411480"/>
          </a:xfrm>
          <a:prstGeom prst="rect">
            <a:avLst/>
          </a:prstGeom>
          <a:noFill/>
          <a:ln/>
        </p:spPr>
        <p:txBody>
          <a:bodyPr wrap="square" lIns="0" tIns="0" rIns="0" bIns="0" rtlCol="0" anchor="t"/>
          <a:lstStyle/>
          <a:p>
            <a:pPr indent="0" marL="0">
              <a:buNone/>
            </a:pPr>
            <a:r>
              <a:rPr lang="en-US" sz="1800" b="1" dirty="0">
                <a:solidFill>
                  <a:schemeClr val="tx2"/>
                </a:solidFill>
              </a:rPr>
              <a:t>Predict honestly</a:t>
            </a:r>
            <a:endParaRPr lang="en-US" sz="1800" dirty="0"/>
          </a:p>
        </p:txBody>
      </p:sp>
      <p:sp>
        <p:nvSpPr>
          <p:cNvPr id="22" name="Text 16"/>
          <p:cNvSpPr txBox="1"/>
          <p:nvPr/>
        </p:nvSpPr>
        <p:spPr>
          <a:xfrm>
            <a:off x="7406640" y="3730752"/>
            <a:ext cx="4023360" cy="502920"/>
          </a:xfrm>
          <a:prstGeom prst="rect">
            <a:avLst/>
          </a:prstGeom>
          <a:noFill/>
          <a:ln/>
        </p:spPr>
        <p:txBody>
          <a:bodyPr wrap="square" lIns="0" tIns="0" rIns="0" bIns="0" rtlCol="0" anchor="t"/>
          <a:lstStyle/>
          <a:p>
            <a:pPr indent="0" marL="0">
              <a:buNone/>
            </a:pPr>
            <a:r>
              <a:rPr lang="en-US" sz="1400" dirty="0">
                <a:solidFill>
                  <a:schemeClr val="accent5"/>
                </a:solidFill>
              </a:rPr>
              <a:t>Intervals and evaluation on held-out data</a:t>
            </a:r>
            <a:endParaRPr lang="en-US" sz="1400" dirty="0"/>
          </a:p>
        </p:txBody>
      </p:sp>
      <p:sp>
        <p:nvSpPr>
          <p:cNvPr id="23" name="key idea"/>
          <p:cNvSpPr/>
          <p:nvPr/>
        </p:nvSpPr>
        <p:spPr>
          <a:xfrm>
            <a:off x="548640" y="4709160"/>
            <a:ext cx="11064240" cy="822960"/>
          </a:xfrm>
          <a:prstGeom prst="roundRect">
            <a:avLst>
              <a:gd name="adj" fmla="val 13333"/>
            </a:avLst>
          </a:prstGeom>
          <a:solidFill>
            <a:schemeClr val="accent6"/>
          </a:solidFill>
          <a:ln/>
          <a:effectLst>
            <a:outerShdw sx="100000" sy="100000" kx="0" ky="0" algn="bl" rotWithShape="0" blurRad="76200" dist="25400" dir="5400000">
              <a:srgbClr val="8A97AB">
                <a:alpha val="25000"/>
              </a:srgbClr>
            </a:outerShdw>
          </a:effectLst>
        </p:spPr>
      </p:sp>
      <p:sp>
        <p:nvSpPr>
          <p:cNvPr id="24" name="Text 18"/>
          <p:cNvSpPr txBox="1"/>
          <p:nvPr/>
        </p:nvSpPr>
        <p:spPr>
          <a:xfrm>
            <a:off x="822960" y="4709160"/>
            <a:ext cx="10515600" cy="822960"/>
          </a:xfrm>
          <a:prstGeom prst="rect">
            <a:avLst/>
          </a:prstGeom>
          <a:noFill/>
          <a:ln/>
        </p:spPr>
        <p:txBody>
          <a:bodyPr wrap="square" lIns="0" tIns="0" rIns="0" bIns="0" rtlCol="0" anchor="ctr"/>
          <a:lstStyle/>
          <a:p>
            <a:pPr indent="0" marL="0">
              <a:buNone/>
            </a:pPr>
            <a:r>
              <a:rPr lang="en-US" sz="1500" b="1" dirty="0">
                <a:solidFill>
                  <a:schemeClr val="accent4"/>
                </a:solidFill>
              </a:rPr>
              <a:t>Key idea  </a:t>
            </a:r>
            <a:pPr indent="0" marL="0">
              <a:buNone/>
            </a:pPr>
            <a:r>
              <a:rPr lang="en-US" sz="1500" dirty="0">
                <a:solidFill>
                  <a:schemeClr val="tx1"/>
                </a:solidFill>
              </a:rPr>
              <a:t>Correlation describes association; regression specifies a conditional response; prediction needs separate evaluation.</a:t>
            </a:r>
            <a:endParaRPr lang="en-US" sz="15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200" b="1" dirty="0">
                <a:solidFill>
                  <a:schemeClr val="tx2"/>
                </a:solidFill>
              </a:rPr>
              <a:t>Association is not a treatment effect</a:t>
            </a:r>
            <a:endParaRPr lang="en-US" sz="3200" dirty="0"/>
          </a:p>
        </p:txBody>
      </p:sp>
      <p:sp>
        <p:nvSpPr>
          <p:cNvPr id="3" name="code panel"/>
          <p:cNvSpPr/>
          <p:nvPr/>
        </p:nvSpPr>
        <p:spPr>
          <a:xfrm>
            <a:off x="548640" y="1325880"/>
            <a:ext cx="6766560" cy="4709160"/>
          </a:xfrm>
          <a:prstGeom prst="roundRect">
            <a:avLst>
              <a:gd name="adj" fmla="val 1942"/>
            </a:avLst>
          </a:prstGeom>
          <a:solidFill>
            <a:schemeClr val="tx1"/>
          </a:solidFill>
          <a:ln/>
        </p:spPr>
      </p:sp>
      <p:sp>
        <p:nvSpPr>
          <p:cNvPr id="4" name="Text 2"/>
          <p:cNvSpPr txBox="1"/>
          <p:nvPr/>
        </p:nvSpPr>
        <p:spPr>
          <a:xfrm>
            <a:off x="822960" y="1527048"/>
            <a:ext cx="6217920" cy="4306824"/>
          </a:xfrm>
          <a:prstGeom prst="rect">
            <a:avLst/>
          </a:prstGeom>
          <a:noFill/>
          <a:ln/>
        </p:spPr>
        <p:txBody>
          <a:bodyPr wrap="square" lIns="0" tIns="0" rIns="0" bIns="0" rtlCol="0" anchor="t"/>
          <a:lstStyle/>
          <a:p>
            <a:pPr indent="0" marL="0">
              <a:spcAft>
                <a:spcPts val="200"/>
              </a:spcAft>
              <a:buNone/>
            </a:pPr>
            <a:r>
              <a:rPr lang="en-US" sz="1400" dirty="0">
                <a:solidFill>
                  <a:schemeClr val="bg1"/>
                </a:solidFill>
                <a:latin typeface="Courier New" pitchFamily="34" charset="0"/>
                <a:ea typeface="Courier New" pitchFamily="34" charset="-122"/>
                <a:cs typeface="Courier New" pitchFamily="34" charset="-120"/>
              </a:rPr>
              <a:t>farm &lt;- read.csv("data/farm_yield.csv")</a:t>
            </a:r>
            <a:endParaRPr lang="en-US" sz="1400" dirty="0"/>
          </a:p>
          <a:p>
            <a:pPr indent="0" marL="0">
              <a:spcAft>
                <a:spcPts val="200"/>
              </a:spcAft>
              <a:buNone/>
            </a:pPr>
            <a:r>
              <a:rPr lang="en-US" sz="1400" dirty="0">
                <a:solidFill>
                  <a:schemeClr val="bg1"/>
                </a:solidFill>
                <a:latin typeface="Courier New" pitchFamily="34" charset="0"/>
                <a:ea typeface="Courier New" pitchFamily="34" charset="-122"/>
                <a:cs typeface="Courier New" pitchFamily="34" charset="-120"/>
              </a:rPr>
              <a:t>plot(yield_t_ha ~ nitrogen_kg_ha, data = farm, pch = 19,</a:t>
            </a:r>
            <a:endParaRPr lang="en-US" sz="1400" dirty="0"/>
          </a:p>
          <a:p>
            <a:pPr indent="0" marL="0">
              <a:spcAft>
                <a:spcPts val="200"/>
              </a:spcAft>
              <a:buNone/>
            </a:pPr>
            <a:r>
              <a:rPr lang="en-US" sz="1400" dirty="0">
                <a:solidFill>
                  <a:schemeClr val="bg1"/>
                </a:solidFill>
                <a:latin typeface="Courier New" pitchFamily="34" charset="0"/>
                <a:ea typeface="Courier New" pitchFamily="34" charset="-122"/>
                <a:cs typeface="Courier New" pitchFamily="34" charset="-120"/>
              </a:rPr>
              <a:t>     xlab = "Nitrogen (kg/ha)", ylab = "Yield (t/ha)")</a:t>
            </a:r>
            <a:endParaRPr lang="en-US" sz="1400" dirty="0"/>
          </a:p>
          <a:p>
            <a:pPr indent="0" marL="0">
              <a:spcAft>
                <a:spcPts val="200"/>
              </a:spcAft>
              <a:buNone/>
            </a:pPr>
            <a:r>
              <a:rPr lang="en-US" sz="1400" dirty="0">
                <a:solidFill>
                  <a:schemeClr val="bg1"/>
                </a:solidFill>
                <a:latin typeface="Courier New" pitchFamily="34" charset="0"/>
                <a:ea typeface="Courier New" pitchFamily="34" charset="-122"/>
                <a:cs typeface="Courier New" pitchFamily="34" charset="-120"/>
              </a:rPr>
              <a:t>cor.test(farm$nitrogen_kg_ha, farm$yield_t_ha,</a:t>
            </a:r>
            <a:endParaRPr lang="en-US" sz="1400" dirty="0"/>
          </a:p>
          <a:p>
            <a:pPr indent="0" marL="0">
              <a:spcAft>
                <a:spcPts val="200"/>
              </a:spcAft>
              <a:buNone/>
            </a:pPr>
            <a:r>
              <a:rPr lang="en-US" sz="1400" dirty="0">
                <a:solidFill>
                  <a:schemeClr val="bg1"/>
                </a:solidFill>
                <a:latin typeface="Courier New" pitchFamily="34" charset="0"/>
                <a:ea typeface="Courier New" pitchFamily="34" charset="-122"/>
                <a:cs typeface="Courier New" pitchFamily="34" charset="-120"/>
              </a:rPr>
              <a:t>         method = "pearson")</a:t>
            </a:r>
            <a:endParaRPr lang="en-US" sz="1400" dirty="0"/>
          </a:p>
          <a:p>
            <a:pPr indent="0" marL="0">
              <a:spcAft>
                <a:spcPts val="200"/>
              </a:spcAft>
              <a:buNone/>
            </a:pPr>
            <a:r>
              <a:rPr lang="en-US" sz="1400" dirty="0">
                <a:solidFill>
                  <a:schemeClr val="bg1"/>
                </a:solidFill>
                <a:latin typeface="Courier New" pitchFamily="34" charset="0"/>
                <a:ea typeface="Courier New" pitchFamily="34" charset="-122"/>
                <a:cs typeface="Courier New" pitchFamily="34" charset="-120"/>
              </a:rPr>
              <a:t>cor.test(farm$nitrogen_kg_ha, farm$yield_t_ha,</a:t>
            </a:r>
            <a:endParaRPr lang="en-US" sz="1400" dirty="0"/>
          </a:p>
          <a:p>
            <a:pPr indent="0" marL="0">
              <a:spcAft>
                <a:spcPts val="200"/>
              </a:spcAft>
              <a:buNone/>
            </a:pPr>
            <a:r>
              <a:rPr lang="en-US" sz="1400" dirty="0">
                <a:solidFill>
                  <a:schemeClr val="bg1"/>
                </a:solidFill>
                <a:latin typeface="Courier New" pitchFamily="34" charset="0"/>
                <a:ea typeface="Courier New" pitchFamily="34" charset="-122"/>
                <a:cs typeface="Courier New" pitchFamily="34" charset="-120"/>
              </a:rPr>
              <a:t>         method = "spearman", exact = FALSE)</a:t>
            </a:r>
            <a:endParaRPr lang="en-US" sz="1400" dirty="0"/>
          </a:p>
        </p:txBody>
      </p:sp>
      <p:sp>
        <p:nvSpPr>
          <p:cNvPr id="5" name="note"/>
          <p:cNvSpPr/>
          <p:nvPr/>
        </p:nvSpPr>
        <p:spPr>
          <a:xfrm>
            <a:off x="7543800" y="1325880"/>
            <a:ext cx="4069080" cy="1417320"/>
          </a:xfrm>
          <a:prstGeom prst="roundRect">
            <a:avLst>
              <a:gd name="adj" fmla="val 7742"/>
            </a:avLst>
          </a:prstGeom>
          <a:solidFill>
            <a:schemeClr val="bg2"/>
          </a:solidFill>
          <a:ln/>
          <a:effectLst>
            <a:outerShdw sx="100000" sy="100000" kx="0" ky="0" algn="bl" rotWithShape="0" blurRad="76200" dist="25400" dir="5400000">
              <a:srgbClr val="8A97AB">
                <a:alpha val="25000"/>
              </a:srgbClr>
            </a:outerShdw>
          </a:effectLst>
        </p:spPr>
      </p:sp>
      <p:sp>
        <p:nvSpPr>
          <p:cNvPr id="6" name="icon circle"/>
          <p:cNvSpPr/>
          <p:nvPr/>
        </p:nvSpPr>
        <p:spPr>
          <a:xfrm>
            <a:off x="7772400" y="1527048"/>
            <a:ext cx="548640" cy="548640"/>
          </a:xfrm>
          <a:prstGeom prst="ellipse">
            <a:avLst/>
          </a:prstGeom>
          <a:solidFill>
            <a:schemeClr val="accent1"/>
          </a:solidFill>
          <a:ln/>
        </p:spPr>
      </p:sp>
      <p:pic>
        <p:nvPicPr>
          <p:cNvPr id="7" name="Image 0" descr="FaChartLine">    </p:cNvPr>
          <p:cNvPicPr>
            <a:picLocks noChangeAspect="1"/>
          </p:cNvPicPr>
          <p:nvPr/>
        </p:nvPicPr>
        <p:blipFill>
          <a:blip r:embed="rId1"/>
          <a:stretch>
            <a:fillRect/>
          </a:stretch>
        </p:blipFill>
        <p:spPr>
          <a:xfrm>
            <a:off x="7909560" y="1664208"/>
            <a:ext cx="274320" cy="274320"/>
          </a:xfrm>
          <a:prstGeom prst="rect">
            <a:avLst/>
          </a:prstGeom>
        </p:spPr>
      </p:pic>
      <p:sp>
        <p:nvSpPr>
          <p:cNvPr id="8" name="Text 5"/>
          <p:cNvSpPr txBox="1"/>
          <p:nvPr/>
        </p:nvSpPr>
        <p:spPr>
          <a:xfrm>
            <a:off x="8458200" y="1508760"/>
            <a:ext cx="2971800" cy="548640"/>
          </a:xfrm>
          <a:prstGeom prst="rect">
            <a:avLst/>
          </a:prstGeom>
          <a:noFill/>
          <a:ln/>
        </p:spPr>
        <p:txBody>
          <a:bodyPr wrap="square" lIns="0" tIns="0" rIns="0" bIns="0" rtlCol="0" anchor="ctr"/>
          <a:lstStyle/>
          <a:p>
            <a:pPr indent="0" marL="0">
              <a:buNone/>
            </a:pPr>
            <a:r>
              <a:rPr lang="en-US" sz="1600" b="1" dirty="0">
                <a:solidFill>
                  <a:schemeClr val="tx2"/>
                </a:solidFill>
              </a:rPr>
              <a:t>Pearson r</a:t>
            </a:r>
            <a:endParaRPr lang="en-US" sz="1600" dirty="0"/>
          </a:p>
        </p:txBody>
      </p:sp>
      <p:sp>
        <p:nvSpPr>
          <p:cNvPr id="9" name="Text 6"/>
          <p:cNvSpPr txBox="1"/>
          <p:nvPr/>
        </p:nvSpPr>
        <p:spPr>
          <a:xfrm>
            <a:off x="7772400" y="2148840"/>
            <a:ext cx="3611880" cy="502920"/>
          </a:xfrm>
          <a:prstGeom prst="rect">
            <a:avLst/>
          </a:prstGeom>
          <a:noFill/>
          <a:ln/>
        </p:spPr>
        <p:txBody>
          <a:bodyPr wrap="square" lIns="0" tIns="0" rIns="0" bIns="0" rtlCol="0" anchor="t"/>
          <a:lstStyle/>
          <a:p>
            <a:pPr indent="0" marL="0">
              <a:buNone/>
            </a:pPr>
            <a:r>
              <a:rPr lang="en-US" sz="1400" dirty="0">
                <a:solidFill>
                  <a:schemeClr val="tx1"/>
                </a:solidFill>
              </a:rPr>
              <a:t>Strength of a </a:t>
            </a:r>
            <a:pPr indent="0" marL="0">
              <a:buNone/>
            </a:pPr>
            <a:r>
              <a:rPr lang="en-US" sz="1400" b="1" dirty="0">
                <a:solidFill>
                  <a:schemeClr val="tx1"/>
                </a:solidFill>
              </a:rPr>
              <a:t>linear</a:t>
            </a:r>
            <a:pPr indent="0" marL="0">
              <a:buNone/>
            </a:pPr>
            <a:r>
              <a:rPr lang="en-US" sz="1400" dirty="0">
                <a:solidFill>
                  <a:schemeClr val="tx1"/>
                </a:solidFill>
              </a:rPr>
              <a:t> relationship; sensitive to outliers.</a:t>
            </a:r>
            <a:endParaRPr lang="en-US" sz="1400" dirty="0"/>
          </a:p>
        </p:txBody>
      </p:sp>
      <p:sp>
        <p:nvSpPr>
          <p:cNvPr id="10" name="note"/>
          <p:cNvSpPr/>
          <p:nvPr/>
        </p:nvSpPr>
        <p:spPr>
          <a:xfrm>
            <a:off x="7543800" y="2971800"/>
            <a:ext cx="4069080" cy="1417320"/>
          </a:xfrm>
          <a:prstGeom prst="roundRect">
            <a:avLst>
              <a:gd name="adj" fmla="val 7742"/>
            </a:avLst>
          </a:prstGeom>
          <a:solidFill>
            <a:schemeClr val="bg2"/>
          </a:solidFill>
          <a:ln/>
          <a:effectLst>
            <a:outerShdw sx="100000" sy="100000" kx="0" ky="0" algn="bl" rotWithShape="0" blurRad="76200" dist="25400" dir="5400000">
              <a:srgbClr val="8A97AB">
                <a:alpha val="25000"/>
              </a:srgbClr>
            </a:outerShdw>
          </a:effectLst>
        </p:spPr>
      </p:sp>
      <p:sp>
        <p:nvSpPr>
          <p:cNvPr id="11" name="icon circle"/>
          <p:cNvSpPr/>
          <p:nvPr/>
        </p:nvSpPr>
        <p:spPr>
          <a:xfrm>
            <a:off x="7772400" y="3172968"/>
            <a:ext cx="548640" cy="548640"/>
          </a:xfrm>
          <a:prstGeom prst="ellipse">
            <a:avLst/>
          </a:prstGeom>
          <a:solidFill>
            <a:schemeClr val="accent2"/>
          </a:solidFill>
          <a:ln/>
        </p:spPr>
      </p:sp>
      <p:pic>
        <p:nvPicPr>
          <p:cNvPr id="12" name="Image 1" descr="FaSortAmountUp">    </p:cNvPr>
          <p:cNvPicPr>
            <a:picLocks noChangeAspect="1"/>
          </p:cNvPicPr>
          <p:nvPr/>
        </p:nvPicPr>
        <p:blipFill>
          <a:blip r:embed="rId2"/>
          <a:stretch>
            <a:fillRect/>
          </a:stretch>
        </p:blipFill>
        <p:spPr>
          <a:xfrm>
            <a:off x="7909560" y="3310128"/>
            <a:ext cx="274320" cy="274320"/>
          </a:xfrm>
          <a:prstGeom prst="rect">
            <a:avLst/>
          </a:prstGeom>
        </p:spPr>
      </p:pic>
      <p:sp>
        <p:nvSpPr>
          <p:cNvPr id="13" name="Text 9"/>
          <p:cNvSpPr txBox="1"/>
          <p:nvPr/>
        </p:nvSpPr>
        <p:spPr>
          <a:xfrm>
            <a:off x="8458200" y="3154680"/>
            <a:ext cx="2971800" cy="548640"/>
          </a:xfrm>
          <a:prstGeom prst="rect">
            <a:avLst/>
          </a:prstGeom>
          <a:noFill/>
          <a:ln/>
        </p:spPr>
        <p:txBody>
          <a:bodyPr wrap="square" lIns="0" tIns="0" rIns="0" bIns="0" rtlCol="0" anchor="ctr"/>
          <a:lstStyle/>
          <a:p>
            <a:pPr indent="0" marL="0">
              <a:buNone/>
            </a:pPr>
            <a:r>
              <a:rPr lang="en-US" sz="1600" b="1" dirty="0">
                <a:solidFill>
                  <a:schemeClr val="tx2"/>
                </a:solidFill>
              </a:rPr>
              <a:t>Spearman ρ</a:t>
            </a:r>
            <a:endParaRPr lang="en-US" sz="1600" dirty="0"/>
          </a:p>
        </p:txBody>
      </p:sp>
      <p:sp>
        <p:nvSpPr>
          <p:cNvPr id="14" name="Text 10"/>
          <p:cNvSpPr txBox="1"/>
          <p:nvPr/>
        </p:nvSpPr>
        <p:spPr>
          <a:xfrm>
            <a:off x="7772400" y="3794760"/>
            <a:ext cx="3611880" cy="502920"/>
          </a:xfrm>
          <a:prstGeom prst="rect">
            <a:avLst/>
          </a:prstGeom>
          <a:noFill/>
          <a:ln/>
        </p:spPr>
        <p:txBody>
          <a:bodyPr wrap="square" lIns="0" tIns="0" rIns="0" bIns="0" rtlCol="0" anchor="t"/>
          <a:lstStyle/>
          <a:p>
            <a:pPr indent="0" marL="0">
              <a:buNone/>
            </a:pPr>
            <a:r>
              <a:rPr lang="en-US" sz="1400" dirty="0">
                <a:solidFill>
                  <a:schemeClr val="tx1"/>
                </a:solidFill>
              </a:rPr>
              <a:t>Correlation of ranks: any </a:t>
            </a:r>
            <a:pPr indent="0" marL="0">
              <a:buNone/>
            </a:pPr>
            <a:r>
              <a:rPr lang="en-US" sz="1400" b="1" dirty="0">
                <a:solidFill>
                  <a:schemeClr val="tx1"/>
                </a:solidFill>
              </a:rPr>
              <a:t>monotonic</a:t>
            </a:r>
            <a:pPr indent="0" marL="0">
              <a:buNone/>
            </a:pPr>
            <a:r>
              <a:rPr lang="en-US" sz="1400" dirty="0">
                <a:solidFill>
                  <a:schemeClr val="tx1"/>
                </a:solidFill>
              </a:rPr>
              <a:t> relationship; robust to outliers.</a:t>
            </a:r>
            <a:endParaRPr lang="en-US" sz="1400" dirty="0"/>
          </a:p>
        </p:txBody>
      </p:sp>
      <p:sp>
        <p:nvSpPr>
          <p:cNvPr id="15" name="warn"/>
          <p:cNvSpPr/>
          <p:nvPr/>
        </p:nvSpPr>
        <p:spPr>
          <a:xfrm>
            <a:off x="7543800" y="4617720"/>
            <a:ext cx="4069080" cy="1417320"/>
          </a:xfrm>
          <a:prstGeom prst="roundRect">
            <a:avLst>
              <a:gd name="adj" fmla="val 7742"/>
            </a:avLst>
          </a:prstGeom>
          <a:solidFill>
            <a:schemeClr val="accent6"/>
          </a:solidFill>
          <a:ln/>
          <a:effectLst>
            <a:outerShdw sx="100000" sy="100000" kx="0" ky="0" algn="bl" rotWithShape="0" blurRad="76200" dist="25400" dir="5400000">
              <a:srgbClr val="8A97AB">
                <a:alpha val="25000"/>
              </a:srgbClr>
            </a:outerShdw>
          </a:effectLst>
        </p:spPr>
      </p:sp>
      <p:sp>
        <p:nvSpPr>
          <p:cNvPr id="16" name="Text 12"/>
          <p:cNvSpPr txBox="1"/>
          <p:nvPr/>
        </p:nvSpPr>
        <p:spPr>
          <a:xfrm>
            <a:off x="7772400" y="4800600"/>
            <a:ext cx="3657600" cy="548640"/>
          </a:xfrm>
          <a:prstGeom prst="rect">
            <a:avLst/>
          </a:prstGeom>
          <a:noFill/>
          <a:ln/>
        </p:spPr>
        <p:txBody>
          <a:bodyPr wrap="square" lIns="0" tIns="0" rIns="0" bIns="0" rtlCol="0" anchor="ctr"/>
          <a:lstStyle/>
          <a:p>
            <a:pPr indent="0" marL="0">
              <a:buNone/>
            </a:pPr>
            <a:r>
              <a:rPr lang="en-US" sz="1600" b="1" dirty="0">
                <a:solidFill>
                  <a:schemeClr val="accent4"/>
                </a:solidFill>
              </a:rPr>
              <a:t>Not causation</a:t>
            </a:r>
            <a:endParaRPr lang="en-US" sz="1600" dirty="0"/>
          </a:p>
        </p:txBody>
      </p:sp>
      <p:sp>
        <p:nvSpPr>
          <p:cNvPr id="17" name="Text 13"/>
          <p:cNvSpPr txBox="1"/>
          <p:nvPr/>
        </p:nvSpPr>
        <p:spPr>
          <a:xfrm>
            <a:off x="7772400" y="5440680"/>
            <a:ext cx="3611880" cy="502920"/>
          </a:xfrm>
          <a:prstGeom prst="rect">
            <a:avLst/>
          </a:prstGeom>
          <a:noFill/>
          <a:ln/>
        </p:spPr>
        <p:txBody>
          <a:bodyPr wrap="square" lIns="0" tIns="0" rIns="0" bIns="0" rtlCol="0" anchor="t"/>
          <a:lstStyle/>
          <a:p>
            <a:pPr indent="0" marL="0">
              <a:buNone/>
            </a:pPr>
            <a:r>
              <a:rPr lang="en-US" sz="1400" dirty="0">
                <a:solidFill>
                  <a:schemeClr val="tx1"/>
                </a:solidFill>
              </a:rPr>
              <a:t>Farmers choose their nitrogen. Better-managed farms may apply more and yield more.</a:t>
            </a:r>
            <a:endParaRPr lang="en-US" sz="14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200" b="1" dirty="0">
                <a:solidFill>
                  <a:schemeClr val="tx2"/>
                </a:solidFill>
              </a:rPr>
              <a:t>Simple linear regression</a:t>
            </a:r>
            <a:endParaRPr lang="en-US" sz="3200" dirty="0"/>
          </a:p>
        </p:txBody>
      </p:sp>
      <p:sp>
        <p:nvSpPr>
          <p:cNvPr id="3" name="code panel"/>
          <p:cNvSpPr/>
          <p:nvPr/>
        </p:nvSpPr>
        <p:spPr>
          <a:xfrm>
            <a:off x="548640" y="1325880"/>
            <a:ext cx="6766560" cy="4709160"/>
          </a:xfrm>
          <a:prstGeom prst="roundRect">
            <a:avLst>
              <a:gd name="adj" fmla="val 1942"/>
            </a:avLst>
          </a:prstGeom>
          <a:solidFill>
            <a:schemeClr val="tx1"/>
          </a:solidFill>
          <a:ln/>
        </p:spPr>
      </p:sp>
      <p:sp>
        <p:nvSpPr>
          <p:cNvPr id="4" name="Text 2"/>
          <p:cNvSpPr txBox="1"/>
          <p:nvPr/>
        </p:nvSpPr>
        <p:spPr>
          <a:xfrm>
            <a:off x="822960" y="1527048"/>
            <a:ext cx="6217920" cy="4306824"/>
          </a:xfrm>
          <a:prstGeom prst="rect">
            <a:avLst/>
          </a:prstGeom>
          <a:noFill/>
          <a:ln/>
        </p:spPr>
        <p:txBody>
          <a:bodyPr wrap="square" lIns="0" tIns="0" rIns="0" bIns="0" rtlCol="0" anchor="t"/>
          <a:lstStyle/>
          <a:p>
            <a:pPr indent="0" marL="0">
              <a:spcAft>
                <a:spcPts val="200"/>
              </a:spcAft>
              <a:buNone/>
            </a:pPr>
            <a:r>
              <a:rPr lang="en-US" sz="1400" dirty="0">
                <a:solidFill>
                  <a:schemeClr val="bg1"/>
                </a:solidFill>
                <a:latin typeface="Courier New" pitchFamily="34" charset="0"/>
                <a:ea typeface="Courier New" pitchFamily="34" charset="-122"/>
                <a:cs typeface="Courier New" pitchFamily="34" charset="-120"/>
              </a:rPr>
              <a:t>simple &lt;- lm(yield_t_ha ~ nitrogen_kg_ha, data = farm)</a:t>
            </a:r>
            <a:endParaRPr lang="en-US" sz="1400" dirty="0"/>
          </a:p>
          <a:p>
            <a:pPr indent="0" marL="0">
              <a:spcAft>
                <a:spcPts val="200"/>
              </a:spcAft>
              <a:buNone/>
            </a:pPr>
            <a:r>
              <a:rPr lang="en-US" sz="1400" dirty="0">
                <a:solidFill>
                  <a:schemeClr val="bg1"/>
                </a:solidFill>
                <a:latin typeface="Courier New" pitchFamily="34" charset="0"/>
                <a:ea typeface="Courier New" pitchFamily="34" charset="-122"/>
                <a:cs typeface="Courier New" pitchFamily="34" charset="-120"/>
              </a:rPr>
              <a:t>summary(simple)</a:t>
            </a:r>
            <a:endParaRPr lang="en-US" sz="1400" dirty="0"/>
          </a:p>
          <a:p>
            <a:pPr indent="0" marL="0">
              <a:spcAft>
                <a:spcPts val="200"/>
              </a:spcAft>
              <a:buNone/>
            </a:pPr>
            <a:r>
              <a:rPr lang="en-US" sz="1400" dirty="0">
                <a:solidFill>
                  <a:schemeClr val="bg1"/>
                </a:solidFill>
                <a:latin typeface="Courier New" pitchFamily="34" charset="0"/>
                <a:ea typeface="Courier New" pitchFamily="34" charset="-122"/>
                <a:cs typeface="Courier New" pitchFamily="34" charset="-120"/>
              </a:rPr>
              <a:t>confint(simple)</a:t>
            </a:r>
            <a:endParaRPr lang="en-US" sz="1400" dirty="0"/>
          </a:p>
          <a:p>
            <a:pPr indent="0" marL="0">
              <a:spcAft>
                <a:spcPts val="200"/>
              </a:spcAft>
              <a:buNone/>
            </a:pPr>
            <a:r>
              <a:rPr lang="en-US" sz="1400" dirty="0">
                <a:solidFill>
                  <a:schemeClr val="bg1"/>
                </a:solidFill>
                <a:latin typeface="Courier New" pitchFamily="34" charset="0"/>
                <a:ea typeface="Courier New" pitchFamily="34" charset="-122"/>
                <a:cs typeface="Courier New" pitchFamily="34" charset="-120"/>
              </a:rPr>
              <a:t>abline(simple, col = "#bc7c21", lwd = 2)</a:t>
            </a:r>
            <a:endParaRPr lang="en-US" sz="1400" dirty="0"/>
          </a:p>
        </p:txBody>
      </p:sp>
      <p:sp>
        <p:nvSpPr>
          <p:cNvPr id="5" name="note"/>
          <p:cNvSpPr/>
          <p:nvPr/>
        </p:nvSpPr>
        <p:spPr>
          <a:xfrm>
            <a:off x="7543800" y="1325880"/>
            <a:ext cx="4069080" cy="1417320"/>
          </a:xfrm>
          <a:prstGeom prst="roundRect">
            <a:avLst>
              <a:gd name="adj" fmla="val 7742"/>
            </a:avLst>
          </a:prstGeom>
          <a:solidFill>
            <a:schemeClr val="bg2"/>
          </a:solidFill>
          <a:ln/>
          <a:effectLst>
            <a:outerShdw sx="100000" sy="100000" kx="0" ky="0" algn="bl" rotWithShape="0" blurRad="76200" dist="25400" dir="5400000">
              <a:srgbClr val="8A97AB">
                <a:alpha val="25000"/>
              </a:srgbClr>
            </a:outerShdw>
          </a:effectLst>
        </p:spPr>
      </p:sp>
      <p:sp>
        <p:nvSpPr>
          <p:cNvPr id="6" name="icon circle"/>
          <p:cNvSpPr/>
          <p:nvPr/>
        </p:nvSpPr>
        <p:spPr>
          <a:xfrm>
            <a:off x="7772400" y="1527048"/>
            <a:ext cx="548640" cy="548640"/>
          </a:xfrm>
          <a:prstGeom prst="ellipse">
            <a:avLst/>
          </a:prstGeom>
          <a:solidFill>
            <a:schemeClr val="accent1"/>
          </a:solidFill>
          <a:ln/>
        </p:spPr>
      </p:sp>
      <p:pic>
        <p:nvPicPr>
          <p:cNvPr id="7" name="Image 0" descr="FaRulerCombined">    </p:cNvPr>
          <p:cNvPicPr>
            <a:picLocks noChangeAspect="1"/>
          </p:cNvPicPr>
          <p:nvPr/>
        </p:nvPicPr>
        <p:blipFill>
          <a:blip r:embed="rId1"/>
          <a:stretch>
            <a:fillRect/>
          </a:stretch>
        </p:blipFill>
        <p:spPr>
          <a:xfrm>
            <a:off x="7909560" y="1664208"/>
            <a:ext cx="274320" cy="274320"/>
          </a:xfrm>
          <a:prstGeom prst="rect">
            <a:avLst/>
          </a:prstGeom>
        </p:spPr>
      </p:pic>
      <p:sp>
        <p:nvSpPr>
          <p:cNvPr id="8" name="Text 5"/>
          <p:cNvSpPr txBox="1"/>
          <p:nvPr/>
        </p:nvSpPr>
        <p:spPr>
          <a:xfrm>
            <a:off x="8458200" y="1508760"/>
            <a:ext cx="2971800" cy="548640"/>
          </a:xfrm>
          <a:prstGeom prst="rect">
            <a:avLst/>
          </a:prstGeom>
          <a:noFill/>
          <a:ln/>
        </p:spPr>
        <p:txBody>
          <a:bodyPr wrap="square" lIns="0" tIns="0" rIns="0" bIns="0" rtlCol="0" anchor="ctr"/>
          <a:lstStyle/>
          <a:p>
            <a:pPr indent="0" marL="0">
              <a:buNone/>
            </a:pPr>
            <a:r>
              <a:rPr lang="en-US" sz="1600" b="1" dirty="0">
                <a:solidFill>
                  <a:schemeClr val="tx2"/>
                </a:solidFill>
              </a:rPr>
              <a:t>Least squares</a:t>
            </a:r>
            <a:endParaRPr lang="en-US" sz="1600" dirty="0"/>
          </a:p>
        </p:txBody>
      </p:sp>
      <p:sp>
        <p:nvSpPr>
          <p:cNvPr id="9" name="Text 6"/>
          <p:cNvSpPr txBox="1"/>
          <p:nvPr/>
        </p:nvSpPr>
        <p:spPr>
          <a:xfrm>
            <a:off x="7772400" y="2148840"/>
            <a:ext cx="3611880" cy="502920"/>
          </a:xfrm>
          <a:prstGeom prst="rect">
            <a:avLst/>
          </a:prstGeom>
          <a:noFill/>
          <a:ln/>
        </p:spPr>
        <p:txBody>
          <a:bodyPr wrap="square" lIns="0" tIns="0" rIns="0" bIns="0" rtlCol="0" anchor="t"/>
          <a:lstStyle/>
          <a:p>
            <a:pPr indent="0" marL="0">
              <a:buNone/>
            </a:pPr>
            <a:r>
              <a:rPr lang="en-US" sz="1400" dirty="0">
                <a:solidFill>
                  <a:schemeClr val="tx1"/>
                </a:solidFill>
              </a:rPr>
              <a:t>Chooses the intercept and slope that minimise the sum of squared residuals.</a:t>
            </a:r>
            <a:endParaRPr lang="en-US" sz="1400" dirty="0"/>
          </a:p>
        </p:txBody>
      </p:sp>
      <p:sp>
        <p:nvSpPr>
          <p:cNvPr id="10" name="note"/>
          <p:cNvSpPr/>
          <p:nvPr/>
        </p:nvSpPr>
        <p:spPr>
          <a:xfrm>
            <a:off x="7543800" y="2971800"/>
            <a:ext cx="4069080" cy="1417320"/>
          </a:xfrm>
          <a:prstGeom prst="roundRect">
            <a:avLst>
              <a:gd name="adj" fmla="val 7742"/>
            </a:avLst>
          </a:prstGeom>
          <a:solidFill>
            <a:schemeClr val="bg2"/>
          </a:solidFill>
          <a:ln/>
          <a:effectLst>
            <a:outerShdw sx="100000" sy="100000" kx="0" ky="0" algn="bl" rotWithShape="0" blurRad="76200" dist="25400" dir="5400000">
              <a:srgbClr val="8A97AB">
                <a:alpha val="25000"/>
              </a:srgbClr>
            </a:outerShdw>
          </a:effectLst>
        </p:spPr>
      </p:sp>
      <p:sp>
        <p:nvSpPr>
          <p:cNvPr id="11" name="icon circle"/>
          <p:cNvSpPr/>
          <p:nvPr/>
        </p:nvSpPr>
        <p:spPr>
          <a:xfrm>
            <a:off x="7772400" y="3172968"/>
            <a:ext cx="548640" cy="548640"/>
          </a:xfrm>
          <a:prstGeom prst="ellipse">
            <a:avLst/>
          </a:prstGeom>
          <a:solidFill>
            <a:schemeClr val="accent2"/>
          </a:solidFill>
          <a:ln/>
        </p:spPr>
      </p:sp>
      <p:pic>
        <p:nvPicPr>
          <p:cNvPr id="12" name="Image 1" descr="FaArrowUp">    </p:cNvPr>
          <p:cNvPicPr>
            <a:picLocks noChangeAspect="1"/>
          </p:cNvPicPr>
          <p:nvPr/>
        </p:nvPicPr>
        <p:blipFill>
          <a:blip r:embed="rId2"/>
          <a:stretch>
            <a:fillRect/>
          </a:stretch>
        </p:blipFill>
        <p:spPr>
          <a:xfrm>
            <a:off x="7909560" y="3310128"/>
            <a:ext cx="274320" cy="274320"/>
          </a:xfrm>
          <a:prstGeom prst="rect">
            <a:avLst/>
          </a:prstGeom>
        </p:spPr>
      </p:pic>
      <p:sp>
        <p:nvSpPr>
          <p:cNvPr id="13" name="Text 9"/>
          <p:cNvSpPr txBox="1"/>
          <p:nvPr/>
        </p:nvSpPr>
        <p:spPr>
          <a:xfrm>
            <a:off x="8458200" y="3154680"/>
            <a:ext cx="2971800" cy="548640"/>
          </a:xfrm>
          <a:prstGeom prst="rect">
            <a:avLst/>
          </a:prstGeom>
          <a:noFill/>
          <a:ln/>
        </p:spPr>
        <p:txBody>
          <a:bodyPr wrap="square" lIns="0" tIns="0" rIns="0" bIns="0" rtlCol="0" anchor="ctr"/>
          <a:lstStyle/>
          <a:p>
            <a:pPr indent="0" marL="0">
              <a:buNone/>
            </a:pPr>
            <a:r>
              <a:rPr lang="en-US" sz="1600" b="1" dirty="0">
                <a:solidFill>
                  <a:schemeClr val="tx2"/>
                </a:solidFill>
              </a:rPr>
              <a:t>Slope with units</a:t>
            </a:r>
            <a:endParaRPr lang="en-US" sz="1600" dirty="0"/>
          </a:p>
        </p:txBody>
      </p:sp>
      <p:sp>
        <p:nvSpPr>
          <p:cNvPr id="14" name="Text 10"/>
          <p:cNvSpPr txBox="1"/>
          <p:nvPr/>
        </p:nvSpPr>
        <p:spPr>
          <a:xfrm>
            <a:off x="7772400" y="3794760"/>
            <a:ext cx="3611880" cy="502920"/>
          </a:xfrm>
          <a:prstGeom prst="rect">
            <a:avLst/>
          </a:prstGeom>
          <a:noFill/>
          <a:ln/>
        </p:spPr>
        <p:txBody>
          <a:bodyPr wrap="square" lIns="0" tIns="0" rIns="0" bIns="0" rtlCol="0" anchor="t"/>
          <a:lstStyle/>
          <a:p>
            <a:pPr indent="0" marL="0">
              <a:buNone/>
            </a:pPr>
            <a:r>
              <a:rPr lang="en-US" sz="1400" dirty="0">
                <a:solidFill>
                  <a:schemeClr val="tx1"/>
                </a:solidFill>
              </a:rPr>
              <a:t>Change in </a:t>
            </a:r>
            <a:pPr indent="0" marL="0">
              <a:buNone/>
            </a:pPr>
            <a:r>
              <a:rPr lang="en-US" sz="1400" b="1" dirty="0">
                <a:solidFill>
                  <a:schemeClr val="tx1"/>
                </a:solidFill>
              </a:rPr>
              <a:t>mean</a:t>
            </a:r>
            <a:pPr indent="0" marL="0">
              <a:buNone/>
            </a:pPr>
            <a:r>
              <a:rPr lang="en-US" sz="1400" dirty="0">
                <a:solidFill>
                  <a:schemeClr val="tx1"/>
                </a:solidFill>
              </a:rPr>
              <a:t> yield (t/ha) per 1 kg/ha more nitrogen, within the observed range.</a:t>
            </a:r>
            <a:endParaRPr lang="en-US" sz="1400" dirty="0"/>
          </a:p>
        </p:txBody>
      </p:sp>
      <p:sp>
        <p:nvSpPr>
          <p:cNvPr id="15" name="note"/>
          <p:cNvSpPr/>
          <p:nvPr/>
        </p:nvSpPr>
        <p:spPr>
          <a:xfrm>
            <a:off x="7543800" y="4617720"/>
            <a:ext cx="4069080" cy="1417320"/>
          </a:xfrm>
          <a:prstGeom prst="roundRect">
            <a:avLst>
              <a:gd name="adj" fmla="val 7742"/>
            </a:avLst>
          </a:prstGeom>
          <a:solidFill>
            <a:schemeClr val="bg2"/>
          </a:solidFill>
          <a:ln/>
          <a:effectLst>
            <a:outerShdw sx="100000" sy="100000" kx="0" ky="0" algn="bl" rotWithShape="0" blurRad="76200" dist="25400" dir="5400000">
              <a:srgbClr val="8A97AB">
                <a:alpha val="25000"/>
              </a:srgbClr>
            </a:outerShdw>
          </a:effectLst>
        </p:spPr>
      </p:sp>
      <p:sp>
        <p:nvSpPr>
          <p:cNvPr id="16" name="icon circle"/>
          <p:cNvSpPr/>
          <p:nvPr/>
        </p:nvSpPr>
        <p:spPr>
          <a:xfrm>
            <a:off x="7772400" y="4818888"/>
            <a:ext cx="548640" cy="548640"/>
          </a:xfrm>
          <a:prstGeom prst="ellipse">
            <a:avLst/>
          </a:prstGeom>
          <a:solidFill>
            <a:schemeClr val="accent3"/>
          </a:solidFill>
          <a:ln/>
        </p:spPr>
      </p:sp>
      <p:pic>
        <p:nvPicPr>
          <p:cNvPr id="17" name="Image 2" descr="FaPercent">    </p:cNvPr>
          <p:cNvPicPr>
            <a:picLocks noChangeAspect="1"/>
          </p:cNvPicPr>
          <p:nvPr/>
        </p:nvPicPr>
        <p:blipFill>
          <a:blip r:embed="rId3"/>
          <a:stretch>
            <a:fillRect/>
          </a:stretch>
        </p:blipFill>
        <p:spPr>
          <a:xfrm>
            <a:off x="7909560" y="4956048"/>
            <a:ext cx="274320" cy="274320"/>
          </a:xfrm>
          <a:prstGeom prst="rect">
            <a:avLst/>
          </a:prstGeom>
        </p:spPr>
      </p:pic>
      <p:sp>
        <p:nvSpPr>
          <p:cNvPr id="18" name="Text 13"/>
          <p:cNvSpPr txBox="1"/>
          <p:nvPr/>
        </p:nvSpPr>
        <p:spPr>
          <a:xfrm>
            <a:off x="8458200" y="4800600"/>
            <a:ext cx="2971800" cy="548640"/>
          </a:xfrm>
          <a:prstGeom prst="rect">
            <a:avLst/>
          </a:prstGeom>
          <a:noFill/>
          <a:ln/>
        </p:spPr>
        <p:txBody>
          <a:bodyPr wrap="square" lIns="0" tIns="0" rIns="0" bIns="0" rtlCol="0" anchor="ctr"/>
          <a:lstStyle/>
          <a:p>
            <a:pPr indent="0" marL="0">
              <a:buNone/>
            </a:pPr>
            <a:r>
              <a:rPr lang="en-US" sz="1600" b="1" dirty="0">
                <a:solidFill>
                  <a:schemeClr val="tx2"/>
                </a:solidFill>
              </a:rPr>
              <a:t>R² and residual SE</a:t>
            </a:r>
            <a:endParaRPr lang="en-US" sz="1600" dirty="0"/>
          </a:p>
        </p:txBody>
      </p:sp>
      <p:sp>
        <p:nvSpPr>
          <p:cNvPr id="19" name="Text 14"/>
          <p:cNvSpPr txBox="1"/>
          <p:nvPr/>
        </p:nvSpPr>
        <p:spPr>
          <a:xfrm>
            <a:off x="7772400" y="5440680"/>
            <a:ext cx="3611880" cy="502920"/>
          </a:xfrm>
          <a:prstGeom prst="rect">
            <a:avLst/>
          </a:prstGeom>
          <a:noFill/>
          <a:ln/>
        </p:spPr>
        <p:txBody>
          <a:bodyPr wrap="square" lIns="0" tIns="0" rIns="0" bIns="0" rtlCol="0" anchor="t"/>
          <a:lstStyle/>
          <a:p>
            <a:pPr indent="0" marL="0">
              <a:buNone/>
            </a:pPr>
            <a:r>
              <a:rPr lang="en-US" sz="1400" dirty="0">
                <a:solidFill>
                  <a:schemeClr val="tx1"/>
                </a:solidFill>
              </a:rPr>
              <a:t>Share of variation explained; typical size of a residual in t/ha.</a:t>
            </a:r>
            <a:endParaRPr lang="en-US" sz="14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200" b="1" dirty="0">
                <a:solidFill>
                  <a:schemeClr val="tx2"/>
                </a:solidFill>
              </a:rPr>
              <a:t>Multiple regression and conditional coefficients</a:t>
            </a:r>
            <a:endParaRPr lang="en-US" sz="3200" dirty="0"/>
          </a:p>
        </p:txBody>
      </p:sp>
      <p:sp>
        <p:nvSpPr>
          <p:cNvPr id="3" name="code panel"/>
          <p:cNvSpPr/>
          <p:nvPr/>
        </p:nvSpPr>
        <p:spPr>
          <a:xfrm>
            <a:off x="548640" y="1325880"/>
            <a:ext cx="6766560" cy="4709160"/>
          </a:xfrm>
          <a:prstGeom prst="roundRect">
            <a:avLst>
              <a:gd name="adj" fmla="val 1942"/>
            </a:avLst>
          </a:prstGeom>
          <a:solidFill>
            <a:schemeClr val="tx1"/>
          </a:solidFill>
          <a:ln/>
        </p:spPr>
      </p:sp>
      <p:sp>
        <p:nvSpPr>
          <p:cNvPr id="4" name="Text 2"/>
          <p:cNvSpPr txBox="1"/>
          <p:nvPr/>
        </p:nvSpPr>
        <p:spPr>
          <a:xfrm>
            <a:off x="822960" y="1527048"/>
            <a:ext cx="6217920" cy="4306824"/>
          </a:xfrm>
          <a:prstGeom prst="rect">
            <a:avLst/>
          </a:prstGeom>
          <a:noFill/>
          <a:ln/>
        </p:spPr>
        <p:txBody>
          <a:bodyPr wrap="square" lIns="0" tIns="0" rIns="0" bIns="0" rtlCol="0" anchor="t"/>
          <a:lstStyle/>
          <a:p>
            <a:pPr indent="0" marL="0">
              <a:spcAft>
                <a:spcPts val="200"/>
              </a:spcAft>
              <a:buNone/>
            </a:pPr>
            <a:r>
              <a:rPr lang="en-US" sz="1300" dirty="0">
                <a:solidFill>
                  <a:schemeClr val="bg1"/>
                </a:solidFill>
                <a:latin typeface="Courier New" pitchFamily="34" charset="0"/>
                <a:ea typeface="Courier New" pitchFamily="34" charset="-122"/>
                <a:cs typeface="Courier New" pitchFamily="34" charset="-120"/>
              </a:rPr>
              <a:t>multiple &lt;- lm(yield_t_ha ~ nitrogen_kg_ha + rainfall_mm,</a:t>
            </a:r>
            <a:endParaRPr lang="en-US" sz="1300" dirty="0"/>
          </a:p>
          <a:p>
            <a:pPr indent="0" marL="0">
              <a:spcAft>
                <a:spcPts val="200"/>
              </a:spcAft>
              <a:buNone/>
            </a:pPr>
            <a:r>
              <a:rPr lang="en-US" sz="1300" dirty="0">
                <a:solidFill>
                  <a:schemeClr val="bg1"/>
                </a:solidFill>
                <a:latin typeface="Courier New" pitchFamily="34" charset="0"/>
                <a:ea typeface="Courier New" pitchFamily="34" charset="-122"/>
                <a:cs typeface="Courier New" pitchFamily="34" charset="-120"/>
              </a:rPr>
              <a:t>               data = farm)</a:t>
            </a:r>
            <a:endParaRPr lang="en-US" sz="1300" dirty="0"/>
          </a:p>
          <a:p>
            <a:pPr indent="0" marL="0">
              <a:spcAft>
                <a:spcPts val="200"/>
              </a:spcAft>
              <a:buNone/>
            </a:pPr>
            <a:r>
              <a:rPr lang="en-US" sz="1300" dirty="0">
                <a:solidFill>
                  <a:schemeClr val="bg1"/>
                </a:solidFill>
                <a:latin typeface="Courier New" pitchFamily="34" charset="0"/>
                <a:ea typeface="Courier New" pitchFamily="34" charset="-122"/>
                <a:cs typeface="Courier New" pitchFamily="34" charset="-120"/>
              </a:rPr>
              <a:t>summary(multiple)</a:t>
            </a:r>
            <a:endParaRPr lang="en-US" sz="1300" dirty="0"/>
          </a:p>
          <a:p>
            <a:pPr indent="0" marL="0">
              <a:spcAft>
                <a:spcPts val="200"/>
              </a:spcAft>
              <a:buNone/>
            </a:pPr>
            <a:r>
              <a:rPr lang="en-US" sz="1300" dirty="0">
                <a:solidFill>
                  <a:schemeClr val="bg1"/>
                </a:solidFill>
                <a:latin typeface="Courier New" pitchFamily="34" charset="0"/>
                <a:ea typeface="Courier New" pitchFamily="34" charset="-122"/>
                <a:cs typeface="Courier New" pitchFamily="34" charset="-120"/>
              </a:rPr>
              <a:t> </a:t>
            </a:r>
            <a:endParaRPr lang="en-US" sz="1300" dirty="0"/>
          </a:p>
          <a:p>
            <a:pPr indent="0" marL="0">
              <a:spcAft>
                <a:spcPts val="200"/>
              </a:spcAft>
              <a:buNone/>
            </a:pPr>
            <a:r>
              <a:rPr lang="en-US" sz="1300" dirty="0">
                <a:solidFill>
                  <a:schemeClr val="accent2"/>
                </a:solidFill>
                <a:latin typeface="Courier New" pitchFamily="34" charset="0"/>
                <a:ea typeface="Courier New" pitchFamily="34" charset="-122"/>
                <a:cs typeface="Courier New" pitchFamily="34" charset="-120"/>
              </a:rPr>
              <a:t># Categorical predictors in a designed trial</a:t>
            </a:r>
            <a:endParaRPr lang="en-US" sz="1300" dirty="0"/>
          </a:p>
          <a:p>
            <a:pPr indent="0" marL="0">
              <a:spcAft>
                <a:spcPts val="200"/>
              </a:spcAft>
              <a:buNone/>
            </a:pPr>
            <a:r>
              <a:rPr lang="en-US" sz="1300" dirty="0">
                <a:solidFill>
                  <a:schemeClr val="bg1"/>
                </a:solidFill>
                <a:latin typeface="Courier New" pitchFamily="34" charset="0"/>
                <a:ea typeface="Courier New" pitchFamily="34" charset="-122"/>
                <a:cs typeface="Courier New" pitchFamily="34" charset="-120"/>
              </a:rPr>
              <a:t>trial &lt;- read.csv("data/crop_trial.csv")</a:t>
            </a:r>
            <a:endParaRPr lang="en-US" sz="1300" dirty="0"/>
          </a:p>
          <a:p>
            <a:pPr indent="0" marL="0">
              <a:spcAft>
                <a:spcPts val="200"/>
              </a:spcAft>
              <a:buNone/>
            </a:pPr>
            <a:r>
              <a:rPr lang="en-US" sz="1300" dirty="0">
                <a:solidFill>
                  <a:schemeClr val="bg1"/>
                </a:solidFill>
                <a:latin typeface="Courier New" pitchFamily="34" charset="0"/>
                <a:ea typeface="Courier New" pitchFamily="34" charset="-122"/>
                <a:cs typeface="Courier New" pitchFamily="34" charset="-120"/>
              </a:rPr>
              <a:t>trial$block &lt;- factor(trial$block)</a:t>
            </a:r>
            <a:endParaRPr lang="en-US" sz="1300" dirty="0"/>
          </a:p>
          <a:p>
            <a:pPr indent="0" marL="0">
              <a:spcAft>
                <a:spcPts val="200"/>
              </a:spcAft>
              <a:buNone/>
            </a:pPr>
            <a:r>
              <a:rPr lang="en-US" sz="1300" dirty="0">
                <a:solidFill>
                  <a:schemeClr val="bg1"/>
                </a:solidFill>
                <a:latin typeface="Courier New" pitchFamily="34" charset="0"/>
                <a:ea typeface="Courier New" pitchFamily="34" charset="-122"/>
                <a:cs typeface="Courier New" pitchFamily="34" charset="-120"/>
              </a:rPr>
              <a:t>variety_model &lt;- lm(yield_t_ha ~ block + treatment + variety,</a:t>
            </a:r>
            <a:endParaRPr lang="en-US" sz="1300" dirty="0"/>
          </a:p>
          <a:p>
            <a:pPr indent="0" marL="0">
              <a:spcAft>
                <a:spcPts val="200"/>
              </a:spcAft>
              <a:buNone/>
            </a:pPr>
            <a:r>
              <a:rPr lang="en-US" sz="1300" dirty="0">
                <a:solidFill>
                  <a:schemeClr val="bg1"/>
                </a:solidFill>
                <a:latin typeface="Courier New" pitchFamily="34" charset="0"/>
                <a:ea typeface="Courier New" pitchFamily="34" charset="-122"/>
                <a:cs typeface="Courier New" pitchFamily="34" charset="-120"/>
              </a:rPr>
              <a:t>                    data = trial)</a:t>
            </a:r>
            <a:endParaRPr lang="en-US" sz="1300" dirty="0"/>
          </a:p>
          <a:p>
            <a:pPr indent="0" marL="0">
              <a:spcAft>
                <a:spcPts val="200"/>
              </a:spcAft>
              <a:buNone/>
            </a:pPr>
            <a:r>
              <a:rPr lang="en-US" sz="1300" dirty="0">
                <a:solidFill>
                  <a:schemeClr val="bg1"/>
                </a:solidFill>
                <a:latin typeface="Courier New" pitchFamily="34" charset="0"/>
                <a:ea typeface="Courier New" pitchFamily="34" charset="-122"/>
                <a:cs typeface="Courier New" pitchFamily="34" charset="-120"/>
              </a:rPr>
              <a:t>summary(variety_model)</a:t>
            </a:r>
            <a:endParaRPr lang="en-US" sz="1300" dirty="0"/>
          </a:p>
        </p:txBody>
      </p:sp>
      <p:sp>
        <p:nvSpPr>
          <p:cNvPr id="5" name="note"/>
          <p:cNvSpPr/>
          <p:nvPr/>
        </p:nvSpPr>
        <p:spPr>
          <a:xfrm>
            <a:off x="7543800" y="1325880"/>
            <a:ext cx="4069080" cy="2240280"/>
          </a:xfrm>
          <a:prstGeom prst="roundRect">
            <a:avLst>
              <a:gd name="adj" fmla="val 4898"/>
            </a:avLst>
          </a:prstGeom>
          <a:solidFill>
            <a:schemeClr val="bg2"/>
          </a:solidFill>
          <a:ln/>
          <a:effectLst>
            <a:outerShdw sx="100000" sy="100000" kx="0" ky="0" algn="bl" rotWithShape="0" blurRad="76200" dist="25400" dir="5400000">
              <a:srgbClr val="8A97AB">
                <a:alpha val="25000"/>
              </a:srgbClr>
            </a:outerShdw>
          </a:effectLst>
        </p:spPr>
      </p:sp>
      <p:sp>
        <p:nvSpPr>
          <p:cNvPr id="6" name="icon circle"/>
          <p:cNvSpPr/>
          <p:nvPr/>
        </p:nvSpPr>
        <p:spPr>
          <a:xfrm>
            <a:off x="7772400" y="1527048"/>
            <a:ext cx="548640" cy="548640"/>
          </a:xfrm>
          <a:prstGeom prst="ellipse">
            <a:avLst/>
          </a:prstGeom>
          <a:solidFill>
            <a:schemeClr val="accent1"/>
          </a:solidFill>
          <a:ln/>
        </p:spPr>
      </p:sp>
      <p:pic>
        <p:nvPicPr>
          <p:cNvPr id="7" name="Image 0" descr="FaSlidersH">    </p:cNvPr>
          <p:cNvPicPr>
            <a:picLocks noChangeAspect="1"/>
          </p:cNvPicPr>
          <p:nvPr/>
        </p:nvPicPr>
        <p:blipFill>
          <a:blip r:embed="rId1"/>
          <a:stretch>
            <a:fillRect/>
          </a:stretch>
        </p:blipFill>
        <p:spPr>
          <a:xfrm>
            <a:off x="7909560" y="1664208"/>
            <a:ext cx="274320" cy="274320"/>
          </a:xfrm>
          <a:prstGeom prst="rect">
            <a:avLst/>
          </a:prstGeom>
        </p:spPr>
      </p:pic>
      <p:sp>
        <p:nvSpPr>
          <p:cNvPr id="8" name="Text 5"/>
          <p:cNvSpPr txBox="1"/>
          <p:nvPr/>
        </p:nvSpPr>
        <p:spPr>
          <a:xfrm>
            <a:off x="8458200" y="1508760"/>
            <a:ext cx="2971800" cy="548640"/>
          </a:xfrm>
          <a:prstGeom prst="rect">
            <a:avLst/>
          </a:prstGeom>
          <a:noFill/>
          <a:ln/>
        </p:spPr>
        <p:txBody>
          <a:bodyPr wrap="square" lIns="0" tIns="0" rIns="0" bIns="0" rtlCol="0" anchor="ctr"/>
          <a:lstStyle/>
          <a:p>
            <a:pPr indent="0" marL="0">
              <a:buNone/>
            </a:pPr>
            <a:r>
              <a:rPr lang="en-US" sz="1600" b="1" dirty="0">
                <a:solidFill>
                  <a:schemeClr val="tx2"/>
                </a:solidFill>
              </a:rPr>
              <a:t>Holding others fixed</a:t>
            </a:r>
            <a:endParaRPr lang="en-US" sz="1600" dirty="0"/>
          </a:p>
        </p:txBody>
      </p:sp>
      <p:sp>
        <p:nvSpPr>
          <p:cNvPr id="9" name="Text 6"/>
          <p:cNvSpPr txBox="1"/>
          <p:nvPr/>
        </p:nvSpPr>
        <p:spPr>
          <a:xfrm>
            <a:off x="7772400" y="2148840"/>
            <a:ext cx="3611880" cy="1325880"/>
          </a:xfrm>
          <a:prstGeom prst="rect">
            <a:avLst/>
          </a:prstGeom>
          <a:noFill/>
          <a:ln/>
        </p:spPr>
        <p:txBody>
          <a:bodyPr wrap="square" lIns="0" tIns="0" rIns="0" bIns="0" rtlCol="0" anchor="t"/>
          <a:lstStyle/>
          <a:p>
            <a:pPr indent="0" marL="0">
              <a:buNone/>
            </a:pPr>
            <a:r>
              <a:rPr lang="en-US" sz="1400" dirty="0">
                <a:solidFill>
                  <a:schemeClr val="tx1"/>
                </a:solidFill>
              </a:rPr>
              <a:t>The nitrogen coefficient is now the change in mean yield per kg/ha </a:t>
            </a:r>
            <a:pPr indent="0" marL="0">
              <a:buNone/>
            </a:pPr>
            <a:r>
              <a:rPr lang="en-US" sz="1400" b="1" dirty="0">
                <a:solidFill>
                  <a:schemeClr val="tx1"/>
                </a:solidFill>
              </a:rPr>
              <a:t>at fixed rainfall</a:t>
            </a:r>
            <a:pPr indent="0" marL="0">
              <a:buNone/>
            </a:pPr>
            <a:r>
              <a:rPr lang="en-US" sz="1400" dirty="0">
                <a:solidFill>
                  <a:schemeClr val="tx1"/>
                </a:solidFill>
              </a:rPr>
              <a:t>.</a:t>
            </a:r>
            <a:endParaRPr lang="en-US" sz="1400" dirty="0"/>
          </a:p>
        </p:txBody>
      </p:sp>
      <p:sp>
        <p:nvSpPr>
          <p:cNvPr id="10" name="note"/>
          <p:cNvSpPr/>
          <p:nvPr/>
        </p:nvSpPr>
        <p:spPr>
          <a:xfrm>
            <a:off x="7543800" y="3794760"/>
            <a:ext cx="4069080" cy="2240280"/>
          </a:xfrm>
          <a:prstGeom prst="roundRect">
            <a:avLst>
              <a:gd name="adj" fmla="val 4898"/>
            </a:avLst>
          </a:prstGeom>
          <a:solidFill>
            <a:schemeClr val="bg2"/>
          </a:solidFill>
          <a:ln/>
          <a:effectLst>
            <a:outerShdw sx="100000" sy="100000" kx="0" ky="0" algn="bl" rotWithShape="0" blurRad="76200" dist="25400" dir="5400000">
              <a:srgbClr val="8A97AB">
                <a:alpha val="25000"/>
              </a:srgbClr>
            </a:outerShdw>
          </a:effectLst>
        </p:spPr>
      </p:sp>
      <p:sp>
        <p:nvSpPr>
          <p:cNvPr id="11" name="icon circle"/>
          <p:cNvSpPr/>
          <p:nvPr/>
        </p:nvSpPr>
        <p:spPr>
          <a:xfrm>
            <a:off x="7772400" y="3995928"/>
            <a:ext cx="548640" cy="548640"/>
          </a:xfrm>
          <a:prstGeom prst="ellipse">
            <a:avLst/>
          </a:prstGeom>
          <a:solidFill>
            <a:schemeClr val="accent2"/>
          </a:solidFill>
          <a:ln/>
        </p:spPr>
      </p:sp>
      <p:pic>
        <p:nvPicPr>
          <p:cNvPr id="12" name="Image 1" descr="FaFlag">    </p:cNvPr>
          <p:cNvPicPr>
            <a:picLocks noChangeAspect="1"/>
          </p:cNvPicPr>
          <p:nvPr/>
        </p:nvPicPr>
        <p:blipFill>
          <a:blip r:embed="rId2"/>
          <a:stretch>
            <a:fillRect/>
          </a:stretch>
        </p:blipFill>
        <p:spPr>
          <a:xfrm>
            <a:off x="7909560" y="4133088"/>
            <a:ext cx="274320" cy="274320"/>
          </a:xfrm>
          <a:prstGeom prst="rect">
            <a:avLst/>
          </a:prstGeom>
        </p:spPr>
      </p:pic>
      <p:sp>
        <p:nvSpPr>
          <p:cNvPr id="13" name="Text 9"/>
          <p:cNvSpPr txBox="1"/>
          <p:nvPr/>
        </p:nvSpPr>
        <p:spPr>
          <a:xfrm>
            <a:off x="8458200" y="3977640"/>
            <a:ext cx="2971800" cy="548640"/>
          </a:xfrm>
          <a:prstGeom prst="rect">
            <a:avLst/>
          </a:prstGeom>
          <a:noFill/>
          <a:ln/>
        </p:spPr>
        <p:txBody>
          <a:bodyPr wrap="square" lIns="0" tIns="0" rIns="0" bIns="0" rtlCol="0" anchor="ctr"/>
          <a:lstStyle/>
          <a:p>
            <a:pPr indent="0" marL="0">
              <a:buNone/>
            </a:pPr>
            <a:r>
              <a:rPr lang="en-US" sz="1600" b="1" dirty="0">
                <a:solidFill>
                  <a:schemeClr val="tx2"/>
                </a:solidFill>
              </a:rPr>
              <a:t>Reference levels</a:t>
            </a:r>
            <a:endParaRPr lang="en-US" sz="1600" dirty="0"/>
          </a:p>
        </p:txBody>
      </p:sp>
      <p:sp>
        <p:nvSpPr>
          <p:cNvPr id="14" name="Text 10"/>
          <p:cNvSpPr txBox="1"/>
          <p:nvPr/>
        </p:nvSpPr>
        <p:spPr>
          <a:xfrm>
            <a:off x="7772400" y="4617720"/>
            <a:ext cx="3611880" cy="1325880"/>
          </a:xfrm>
          <a:prstGeom prst="rect">
            <a:avLst/>
          </a:prstGeom>
          <a:noFill/>
          <a:ln/>
        </p:spPr>
        <p:txBody>
          <a:bodyPr wrap="square" lIns="0" tIns="0" rIns="0" bIns="0" rtlCol="0" anchor="t"/>
          <a:lstStyle/>
          <a:p>
            <a:pPr indent="0" marL="0">
              <a:buNone/>
            </a:pPr>
            <a:r>
              <a:rPr lang="en-US" sz="1400" dirty="0">
                <a:solidFill>
                  <a:schemeClr val="tx1"/>
                </a:solidFill>
              </a:rPr>
              <a:t>A factor's coefficients are differences from its first level, e.g. Compost − Control.</a:t>
            </a:r>
            <a:endParaRPr lang="en-US" sz="14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200" b="1" dirty="0">
                <a:solidFill>
                  <a:schemeClr val="tx2"/>
                </a:solidFill>
              </a:rPr>
              <a:t>Residuals, leverage and influence</a:t>
            </a:r>
            <a:endParaRPr lang="en-US" sz="3200" dirty="0"/>
          </a:p>
        </p:txBody>
      </p:sp>
      <p:sp>
        <p:nvSpPr>
          <p:cNvPr id="3" name="card"/>
          <p:cNvSpPr/>
          <p:nvPr/>
        </p:nvSpPr>
        <p:spPr>
          <a:xfrm>
            <a:off x="548640" y="1371600"/>
            <a:ext cx="3535680" cy="3054096"/>
          </a:xfrm>
          <a:prstGeom prst="roundRect">
            <a:avLst>
              <a:gd name="adj" fmla="val 3593"/>
            </a:avLst>
          </a:prstGeom>
          <a:solidFill>
            <a:schemeClr val="bg2"/>
          </a:solidFill>
          <a:ln/>
          <a:effectLst>
            <a:outerShdw sx="100000" sy="100000" kx="0" ky="0" algn="bl" rotWithShape="0" blurRad="76200" dist="25400" dir="5400000">
              <a:srgbClr val="8A97AB">
                <a:alpha val="25000"/>
              </a:srgbClr>
            </a:outerShdw>
          </a:effectLst>
        </p:spPr>
      </p:sp>
      <p:sp>
        <p:nvSpPr>
          <p:cNvPr id="4" name="icon circle"/>
          <p:cNvSpPr/>
          <p:nvPr/>
        </p:nvSpPr>
        <p:spPr>
          <a:xfrm>
            <a:off x="777240" y="1600200"/>
            <a:ext cx="731520" cy="731520"/>
          </a:xfrm>
          <a:prstGeom prst="ellipse">
            <a:avLst/>
          </a:prstGeom>
          <a:solidFill>
            <a:schemeClr val="accent1"/>
          </a:solidFill>
          <a:ln/>
        </p:spPr>
      </p:sp>
      <p:pic>
        <p:nvPicPr>
          <p:cNvPr id="5" name="Image 0" descr="FaStethoscope">    </p:cNvPr>
          <p:cNvPicPr>
            <a:picLocks noChangeAspect="1"/>
          </p:cNvPicPr>
          <p:nvPr/>
        </p:nvPicPr>
        <p:blipFill>
          <a:blip r:embed="rId1"/>
          <a:stretch>
            <a:fillRect/>
          </a:stretch>
        </p:blipFill>
        <p:spPr>
          <a:xfrm>
            <a:off x="960120" y="1783080"/>
            <a:ext cx="365760" cy="365760"/>
          </a:xfrm>
          <a:prstGeom prst="rect">
            <a:avLst/>
          </a:prstGeom>
        </p:spPr>
      </p:pic>
      <p:sp>
        <p:nvSpPr>
          <p:cNvPr id="6" name="Text 3"/>
          <p:cNvSpPr txBox="1"/>
          <p:nvPr/>
        </p:nvSpPr>
        <p:spPr>
          <a:xfrm>
            <a:off x="777240" y="2468880"/>
            <a:ext cx="3078480" cy="292608"/>
          </a:xfrm>
          <a:prstGeom prst="rect">
            <a:avLst/>
          </a:prstGeom>
          <a:noFill/>
          <a:ln/>
        </p:spPr>
        <p:txBody>
          <a:bodyPr wrap="square" lIns="0" tIns="0" rIns="0" bIns="0" rtlCol="0" anchor="t"/>
          <a:lstStyle/>
          <a:p>
            <a:pPr indent="0" marL="0">
              <a:buNone/>
            </a:pPr>
            <a:r>
              <a:rPr lang="en-US" sz="1700" b="1" dirty="0">
                <a:solidFill>
                  <a:schemeClr val="tx2"/>
                </a:solidFill>
              </a:rPr>
              <a:t>Residual plots</a:t>
            </a:r>
            <a:endParaRPr lang="en-US" sz="1700" dirty="0"/>
          </a:p>
        </p:txBody>
      </p:sp>
      <p:sp>
        <p:nvSpPr>
          <p:cNvPr id="7" name="Text 4"/>
          <p:cNvSpPr txBox="1"/>
          <p:nvPr/>
        </p:nvSpPr>
        <p:spPr>
          <a:xfrm>
            <a:off x="777240" y="2871216"/>
            <a:ext cx="3078480" cy="1444752"/>
          </a:xfrm>
          <a:prstGeom prst="rect">
            <a:avLst/>
          </a:prstGeom>
          <a:noFill/>
          <a:ln/>
        </p:spPr>
        <p:txBody>
          <a:bodyPr wrap="square" lIns="0" tIns="0" rIns="0" bIns="0" rtlCol="0" anchor="t"/>
          <a:lstStyle/>
          <a:p>
            <a:pPr indent="0" marL="0">
              <a:buNone/>
            </a:pPr>
            <a:r>
              <a:rPr lang="en-US" sz="1800" dirty="0">
                <a:solidFill>
                  <a:schemeClr val="accent1"/>
                </a:solidFill>
                <a:latin typeface="Courier New" pitchFamily="34" charset="0"/>
                <a:ea typeface="Courier New" pitchFamily="34" charset="-122"/>
                <a:cs typeface="Courier New" pitchFamily="34" charset="-120"/>
              </a:rPr>
              <a:t>plot(model)</a:t>
            </a:r>
            <a:pPr indent="0" marL="0">
              <a:buNone/>
            </a:pPr>
            <a:r>
              <a:rPr lang="en-US" sz="1800" dirty="0">
                <a:solidFill>
                  <a:schemeClr val="accent5"/>
                </a:solidFill>
              </a:rPr>
              <a:t>: curvature, unequal spread or non-normality appear as patterns.</a:t>
            </a:r>
            <a:endParaRPr lang="en-US" sz="1800" dirty="0"/>
          </a:p>
        </p:txBody>
      </p:sp>
      <p:sp>
        <p:nvSpPr>
          <p:cNvPr id="8" name="card"/>
          <p:cNvSpPr/>
          <p:nvPr/>
        </p:nvSpPr>
        <p:spPr>
          <a:xfrm>
            <a:off x="4312920" y="1371600"/>
            <a:ext cx="3535680" cy="3054096"/>
          </a:xfrm>
          <a:prstGeom prst="roundRect">
            <a:avLst>
              <a:gd name="adj" fmla="val 3593"/>
            </a:avLst>
          </a:prstGeom>
          <a:solidFill>
            <a:schemeClr val="bg2"/>
          </a:solidFill>
          <a:ln/>
          <a:effectLst>
            <a:outerShdw sx="100000" sy="100000" kx="0" ky="0" algn="bl" rotWithShape="0" blurRad="76200" dist="25400" dir="5400000">
              <a:srgbClr val="8A97AB">
                <a:alpha val="25000"/>
              </a:srgbClr>
            </a:outerShdw>
          </a:effectLst>
        </p:spPr>
      </p:sp>
      <p:sp>
        <p:nvSpPr>
          <p:cNvPr id="9" name="icon circle"/>
          <p:cNvSpPr/>
          <p:nvPr/>
        </p:nvSpPr>
        <p:spPr>
          <a:xfrm>
            <a:off x="4541520" y="1600200"/>
            <a:ext cx="731520" cy="731520"/>
          </a:xfrm>
          <a:prstGeom prst="ellipse">
            <a:avLst/>
          </a:prstGeom>
          <a:solidFill>
            <a:schemeClr val="accent2"/>
          </a:solidFill>
          <a:ln/>
        </p:spPr>
      </p:sp>
      <p:pic>
        <p:nvPicPr>
          <p:cNvPr id="10" name="Image 1" descr="FaExpandArrowsAlt">    </p:cNvPr>
          <p:cNvPicPr>
            <a:picLocks noChangeAspect="1"/>
          </p:cNvPicPr>
          <p:nvPr/>
        </p:nvPicPr>
        <p:blipFill>
          <a:blip r:embed="rId2"/>
          <a:stretch>
            <a:fillRect/>
          </a:stretch>
        </p:blipFill>
        <p:spPr>
          <a:xfrm>
            <a:off x="4724400" y="1783080"/>
            <a:ext cx="365760" cy="365760"/>
          </a:xfrm>
          <a:prstGeom prst="rect">
            <a:avLst/>
          </a:prstGeom>
        </p:spPr>
      </p:pic>
      <p:sp>
        <p:nvSpPr>
          <p:cNvPr id="11" name="Text 7"/>
          <p:cNvSpPr txBox="1"/>
          <p:nvPr/>
        </p:nvSpPr>
        <p:spPr>
          <a:xfrm>
            <a:off x="4541520" y="2468880"/>
            <a:ext cx="3078480" cy="292608"/>
          </a:xfrm>
          <a:prstGeom prst="rect">
            <a:avLst/>
          </a:prstGeom>
          <a:noFill/>
          <a:ln/>
        </p:spPr>
        <p:txBody>
          <a:bodyPr wrap="square" lIns="0" tIns="0" rIns="0" bIns="0" rtlCol="0" anchor="t"/>
          <a:lstStyle/>
          <a:p>
            <a:pPr indent="0" marL="0">
              <a:buNone/>
            </a:pPr>
            <a:r>
              <a:rPr lang="en-US" sz="1700" b="1" dirty="0">
                <a:solidFill>
                  <a:schemeClr val="tx2"/>
                </a:solidFill>
              </a:rPr>
              <a:t>Leverage</a:t>
            </a:r>
            <a:endParaRPr lang="en-US" sz="1700" dirty="0"/>
          </a:p>
        </p:txBody>
      </p:sp>
      <p:sp>
        <p:nvSpPr>
          <p:cNvPr id="12" name="Text 8"/>
          <p:cNvSpPr txBox="1"/>
          <p:nvPr/>
        </p:nvSpPr>
        <p:spPr>
          <a:xfrm>
            <a:off x="4541520" y="2871216"/>
            <a:ext cx="3078480" cy="1444752"/>
          </a:xfrm>
          <a:prstGeom prst="rect">
            <a:avLst/>
          </a:prstGeom>
          <a:noFill/>
          <a:ln/>
        </p:spPr>
        <p:txBody>
          <a:bodyPr wrap="square" lIns="0" tIns="0" rIns="0" bIns="0" rtlCol="0" anchor="t"/>
          <a:lstStyle/>
          <a:p>
            <a:pPr indent="0" marL="0">
              <a:buNone/>
            </a:pPr>
            <a:r>
              <a:rPr lang="en-US" sz="1800" dirty="0">
                <a:solidFill>
                  <a:schemeClr val="accent5"/>
                </a:solidFill>
              </a:rPr>
              <a:t>Unusual predictor values, such as one farm at 250 kg N/ha, pull the line strongly.</a:t>
            </a:r>
            <a:endParaRPr lang="en-US" sz="1800" dirty="0"/>
          </a:p>
        </p:txBody>
      </p:sp>
      <p:sp>
        <p:nvSpPr>
          <p:cNvPr id="13" name="card"/>
          <p:cNvSpPr/>
          <p:nvPr/>
        </p:nvSpPr>
        <p:spPr>
          <a:xfrm>
            <a:off x="8077200" y="1371600"/>
            <a:ext cx="3535680" cy="3054096"/>
          </a:xfrm>
          <a:prstGeom prst="roundRect">
            <a:avLst>
              <a:gd name="adj" fmla="val 3593"/>
            </a:avLst>
          </a:prstGeom>
          <a:solidFill>
            <a:schemeClr val="bg2"/>
          </a:solidFill>
          <a:ln/>
          <a:effectLst>
            <a:outerShdw sx="100000" sy="100000" kx="0" ky="0" algn="bl" rotWithShape="0" blurRad="76200" dist="25400" dir="5400000">
              <a:srgbClr val="8A97AB">
                <a:alpha val="25000"/>
              </a:srgbClr>
            </a:outerShdw>
          </a:effectLst>
        </p:spPr>
      </p:sp>
      <p:sp>
        <p:nvSpPr>
          <p:cNvPr id="14" name="icon circle"/>
          <p:cNvSpPr/>
          <p:nvPr/>
        </p:nvSpPr>
        <p:spPr>
          <a:xfrm>
            <a:off x="8305800" y="1600200"/>
            <a:ext cx="731520" cy="731520"/>
          </a:xfrm>
          <a:prstGeom prst="ellipse">
            <a:avLst/>
          </a:prstGeom>
          <a:solidFill>
            <a:schemeClr val="accent4"/>
          </a:solidFill>
          <a:ln/>
        </p:spPr>
      </p:sp>
      <p:pic>
        <p:nvPicPr>
          <p:cNvPr id="15" name="Image 2" descr="FaBullseye">    </p:cNvPr>
          <p:cNvPicPr>
            <a:picLocks noChangeAspect="1"/>
          </p:cNvPicPr>
          <p:nvPr/>
        </p:nvPicPr>
        <p:blipFill>
          <a:blip r:embed="rId3"/>
          <a:stretch>
            <a:fillRect/>
          </a:stretch>
        </p:blipFill>
        <p:spPr>
          <a:xfrm>
            <a:off x="8488680" y="1783080"/>
            <a:ext cx="365760" cy="365760"/>
          </a:xfrm>
          <a:prstGeom prst="rect">
            <a:avLst/>
          </a:prstGeom>
        </p:spPr>
      </p:pic>
      <p:sp>
        <p:nvSpPr>
          <p:cNvPr id="16" name="Text 11"/>
          <p:cNvSpPr txBox="1"/>
          <p:nvPr/>
        </p:nvSpPr>
        <p:spPr>
          <a:xfrm>
            <a:off x="8305800" y="2468880"/>
            <a:ext cx="3078480" cy="292608"/>
          </a:xfrm>
          <a:prstGeom prst="rect">
            <a:avLst/>
          </a:prstGeom>
          <a:noFill/>
          <a:ln/>
        </p:spPr>
        <p:txBody>
          <a:bodyPr wrap="square" lIns="0" tIns="0" rIns="0" bIns="0" rtlCol="0" anchor="t"/>
          <a:lstStyle/>
          <a:p>
            <a:pPr indent="0" marL="0">
              <a:buNone/>
            </a:pPr>
            <a:r>
              <a:rPr lang="en-US" sz="1700" b="1" dirty="0">
                <a:solidFill>
                  <a:schemeClr val="tx2"/>
                </a:solidFill>
              </a:rPr>
              <a:t>Influence</a:t>
            </a:r>
            <a:endParaRPr lang="en-US" sz="1700" dirty="0"/>
          </a:p>
        </p:txBody>
      </p:sp>
      <p:sp>
        <p:nvSpPr>
          <p:cNvPr id="17" name="Text 12"/>
          <p:cNvSpPr txBox="1"/>
          <p:nvPr/>
        </p:nvSpPr>
        <p:spPr>
          <a:xfrm>
            <a:off x="8305800" y="2871216"/>
            <a:ext cx="3078480" cy="1444752"/>
          </a:xfrm>
          <a:prstGeom prst="rect">
            <a:avLst/>
          </a:prstGeom>
          <a:noFill/>
          <a:ln/>
        </p:spPr>
        <p:txBody>
          <a:bodyPr wrap="square" lIns="0" tIns="0" rIns="0" bIns="0" rtlCol="0" anchor="t"/>
          <a:lstStyle/>
          <a:p>
            <a:pPr indent="0" marL="0">
              <a:buNone/>
            </a:pPr>
            <a:r>
              <a:rPr lang="en-US" sz="1800" dirty="0">
                <a:solidFill>
                  <a:schemeClr val="accent5"/>
                </a:solidFill>
              </a:rPr>
              <a:t>Cook's distance shows how much one observation changes the fit. Check it; do not delete it automatically.</a:t>
            </a:r>
            <a:endParaRPr lang="en-US" sz="1800" dirty="0"/>
          </a:p>
        </p:txBody>
      </p:sp>
      <p:sp>
        <p:nvSpPr>
          <p:cNvPr id="18" name="key idea"/>
          <p:cNvSpPr/>
          <p:nvPr/>
        </p:nvSpPr>
        <p:spPr>
          <a:xfrm>
            <a:off x="548640" y="4700016"/>
            <a:ext cx="11064240" cy="685800"/>
          </a:xfrm>
          <a:prstGeom prst="roundRect">
            <a:avLst>
              <a:gd name="adj" fmla="val 16000"/>
            </a:avLst>
          </a:prstGeom>
          <a:solidFill>
            <a:schemeClr val="accent6"/>
          </a:solidFill>
          <a:ln/>
          <a:effectLst>
            <a:outerShdw sx="100000" sy="100000" kx="0" ky="0" algn="bl" rotWithShape="0" blurRad="76200" dist="25400" dir="5400000">
              <a:srgbClr val="8A97AB">
                <a:alpha val="25000"/>
              </a:srgbClr>
            </a:outerShdw>
          </a:effectLst>
        </p:spPr>
      </p:sp>
      <p:sp>
        <p:nvSpPr>
          <p:cNvPr id="19" name="Text 14"/>
          <p:cNvSpPr txBox="1"/>
          <p:nvPr/>
        </p:nvSpPr>
        <p:spPr>
          <a:xfrm>
            <a:off x="822960" y="4700016"/>
            <a:ext cx="10515600" cy="685800"/>
          </a:xfrm>
          <a:prstGeom prst="rect">
            <a:avLst/>
          </a:prstGeom>
          <a:noFill/>
          <a:ln/>
        </p:spPr>
        <p:txBody>
          <a:bodyPr wrap="square" lIns="0" tIns="0" rIns="0" bIns="0" rtlCol="0" anchor="ctr"/>
          <a:lstStyle/>
          <a:p>
            <a:pPr indent="0" marL="0">
              <a:buNone/>
            </a:pPr>
            <a:r>
              <a:rPr lang="en-US" sz="1500" b="1" dirty="0">
                <a:solidFill>
                  <a:schemeClr val="accent4"/>
                </a:solidFill>
              </a:rPr>
              <a:t>Key idea  </a:t>
            </a:r>
            <a:pPr indent="0" marL="0">
              <a:buNone/>
            </a:pPr>
            <a:r>
              <a:rPr lang="en-US" sz="1500" dirty="0">
                <a:solidFill>
                  <a:schemeClr val="tx1"/>
                </a:solidFill>
              </a:rPr>
              <a:t>A curved residual pattern may mean a plateau: try a quadratic term, </a:t>
            </a:r>
            <a:pPr indent="0" marL="0">
              <a:buNone/>
            </a:pPr>
            <a:r>
              <a:rPr lang="en-US" sz="1500" dirty="0">
                <a:solidFill>
                  <a:schemeClr val="accent1"/>
                </a:solidFill>
                <a:latin typeface="Courier New" pitchFamily="34" charset="0"/>
                <a:ea typeface="Courier New" pitchFamily="34" charset="-122"/>
                <a:cs typeface="Courier New" pitchFamily="34" charset="-120"/>
              </a:rPr>
              <a:t>I(nitrogen_kg_ha^2)</a:t>
            </a:r>
            <a:pPr indent="0" marL="0">
              <a:buNone/>
            </a:pPr>
            <a:r>
              <a:rPr lang="en-US" sz="1500" dirty="0">
                <a:solidFill>
                  <a:schemeClr val="tx1"/>
                </a:solidFill>
              </a:rPr>
              <a:t>, but an apparent optimum outside the data is not a recommendation.</a:t>
            </a:r>
            <a:endParaRPr lang="en-US" sz="15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200" b="1" dirty="0">
                <a:solidFill>
                  <a:schemeClr val="tx2"/>
                </a:solidFill>
              </a:rPr>
              <a:t>Predict and evaluate honestly</a:t>
            </a:r>
            <a:endParaRPr lang="en-US" sz="3200" dirty="0"/>
          </a:p>
        </p:txBody>
      </p:sp>
      <p:sp>
        <p:nvSpPr>
          <p:cNvPr id="3" name="code panel"/>
          <p:cNvSpPr/>
          <p:nvPr/>
        </p:nvSpPr>
        <p:spPr>
          <a:xfrm>
            <a:off x="548640" y="1325880"/>
            <a:ext cx="6766560" cy="4709160"/>
          </a:xfrm>
          <a:prstGeom prst="roundRect">
            <a:avLst>
              <a:gd name="adj" fmla="val 1942"/>
            </a:avLst>
          </a:prstGeom>
          <a:solidFill>
            <a:schemeClr val="tx1"/>
          </a:solidFill>
          <a:ln/>
        </p:spPr>
      </p:sp>
      <p:sp>
        <p:nvSpPr>
          <p:cNvPr id="4" name="Text 2"/>
          <p:cNvSpPr txBox="1"/>
          <p:nvPr/>
        </p:nvSpPr>
        <p:spPr>
          <a:xfrm>
            <a:off x="822960" y="1527048"/>
            <a:ext cx="6217920" cy="4306824"/>
          </a:xfrm>
          <a:prstGeom prst="rect">
            <a:avLst/>
          </a:prstGeom>
          <a:noFill/>
          <a:ln/>
        </p:spPr>
        <p:txBody>
          <a:bodyPr wrap="square" lIns="0" tIns="0" rIns="0" bIns="0" rtlCol="0" anchor="t"/>
          <a:lstStyle/>
          <a:p>
            <a:pPr indent="0" marL="0">
              <a:spcAft>
                <a:spcPts val="200"/>
              </a:spcAft>
              <a:buNone/>
            </a:pPr>
            <a:r>
              <a:rPr lang="en-US" sz="1300" dirty="0">
                <a:solidFill>
                  <a:schemeClr val="bg1"/>
                </a:solidFill>
                <a:latin typeface="Courier New" pitchFamily="34" charset="0"/>
                <a:ea typeface="Courier New" pitchFamily="34" charset="-122"/>
                <a:cs typeface="Courier New" pitchFamily="34" charset="-120"/>
              </a:rPr>
              <a:t>new_farm &lt;- data.frame(nitrogen_kg_ha = 100,</a:t>
            </a:r>
            <a:endParaRPr lang="en-US" sz="1300" dirty="0"/>
          </a:p>
          <a:p>
            <a:pPr indent="0" marL="0">
              <a:spcAft>
                <a:spcPts val="200"/>
              </a:spcAft>
              <a:buNone/>
            </a:pPr>
            <a:r>
              <a:rPr lang="en-US" sz="1300" dirty="0">
                <a:solidFill>
                  <a:schemeClr val="bg1"/>
                </a:solidFill>
                <a:latin typeface="Courier New" pitchFamily="34" charset="0"/>
                <a:ea typeface="Courier New" pitchFamily="34" charset="-122"/>
                <a:cs typeface="Courier New" pitchFamily="34" charset="-120"/>
              </a:rPr>
              <a:t>                       rainfall_mm = 750)</a:t>
            </a:r>
            <a:endParaRPr lang="en-US" sz="1300" dirty="0"/>
          </a:p>
          <a:p>
            <a:pPr indent="0" marL="0">
              <a:spcAft>
                <a:spcPts val="200"/>
              </a:spcAft>
              <a:buNone/>
            </a:pPr>
            <a:r>
              <a:rPr lang="en-US" sz="1300" dirty="0">
                <a:solidFill>
                  <a:schemeClr val="bg1"/>
                </a:solidFill>
                <a:latin typeface="Courier New" pitchFamily="34" charset="0"/>
                <a:ea typeface="Courier New" pitchFamily="34" charset="-122"/>
                <a:cs typeface="Courier New" pitchFamily="34" charset="-120"/>
              </a:rPr>
              <a:t>predict(multiple, new_farm, interval = "confidence")</a:t>
            </a:r>
            <a:endParaRPr lang="en-US" sz="1300" dirty="0"/>
          </a:p>
          <a:p>
            <a:pPr indent="0" marL="0">
              <a:spcAft>
                <a:spcPts val="200"/>
              </a:spcAft>
              <a:buNone/>
            </a:pPr>
            <a:r>
              <a:rPr lang="en-US" sz="1300" dirty="0">
                <a:solidFill>
                  <a:schemeClr val="bg1"/>
                </a:solidFill>
                <a:latin typeface="Courier New" pitchFamily="34" charset="0"/>
                <a:ea typeface="Courier New" pitchFamily="34" charset="-122"/>
                <a:cs typeface="Courier New" pitchFamily="34" charset="-120"/>
              </a:rPr>
              <a:t>predict(multiple, new_farm, interval = "prediction")</a:t>
            </a:r>
            <a:endParaRPr lang="en-US" sz="1300" dirty="0"/>
          </a:p>
          <a:p>
            <a:pPr indent="0" marL="0">
              <a:spcAft>
                <a:spcPts val="200"/>
              </a:spcAft>
              <a:buNone/>
            </a:pPr>
            <a:r>
              <a:rPr lang="en-US" sz="1300" dirty="0">
                <a:solidFill>
                  <a:schemeClr val="bg1"/>
                </a:solidFill>
                <a:latin typeface="Courier New" pitchFamily="34" charset="0"/>
                <a:ea typeface="Courier New" pitchFamily="34" charset="-122"/>
                <a:cs typeface="Courier New" pitchFamily="34" charset="-120"/>
              </a:rPr>
              <a:t> </a:t>
            </a:r>
            <a:endParaRPr lang="en-US" sz="1300" dirty="0"/>
          </a:p>
          <a:p>
            <a:pPr indent="0" marL="0">
              <a:spcAft>
                <a:spcPts val="200"/>
              </a:spcAft>
              <a:buNone/>
            </a:pPr>
            <a:r>
              <a:rPr lang="en-US" sz="1300" dirty="0">
                <a:solidFill>
                  <a:schemeClr val="bg1"/>
                </a:solidFill>
                <a:latin typeface="Courier New" pitchFamily="34" charset="0"/>
                <a:ea typeface="Courier New" pitchFamily="34" charset="-122"/>
                <a:cs typeface="Courier New" pitchFamily="34" charset="-120"/>
              </a:rPr>
              <a:t>set.seed(531)</a:t>
            </a:r>
            <a:endParaRPr lang="en-US" sz="1300" dirty="0"/>
          </a:p>
          <a:p>
            <a:pPr indent="0" marL="0">
              <a:spcAft>
                <a:spcPts val="200"/>
              </a:spcAft>
              <a:buNone/>
            </a:pPr>
            <a:r>
              <a:rPr lang="en-US" sz="1300" dirty="0">
                <a:solidFill>
                  <a:schemeClr val="bg1"/>
                </a:solidFill>
                <a:latin typeface="Courier New" pitchFamily="34" charset="0"/>
                <a:ea typeface="Courier New" pitchFamily="34" charset="-122"/>
                <a:cs typeface="Courier New" pitchFamily="34" charset="-120"/>
              </a:rPr>
              <a:t>rows  &lt;- sample(nrow(farm), 70)</a:t>
            </a:r>
            <a:endParaRPr lang="en-US" sz="1300" dirty="0"/>
          </a:p>
          <a:p>
            <a:pPr indent="0" marL="0">
              <a:spcAft>
                <a:spcPts val="200"/>
              </a:spcAft>
              <a:buNone/>
            </a:pPr>
            <a:r>
              <a:rPr lang="en-US" sz="1300" dirty="0">
                <a:solidFill>
                  <a:schemeClr val="bg1"/>
                </a:solidFill>
                <a:latin typeface="Courier New" pitchFamily="34" charset="0"/>
                <a:ea typeface="Courier New" pitchFamily="34" charset="-122"/>
                <a:cs typeface="Courier New" pitchFamily="34" charset="-120"/>
              </a:rPr>
              <a:t>train &lt;- farm[rows, ]; test &lt;- farm[-rows, ]</a:t>
            </a:r>
            <a:endParaRPr lang="en-US" sz="1300" dirty="0"/>
          </a:p>
          <a:p>
            <a:pPr indent="0" marL="0">
              <a:spcAft>
                <a:spcPts val="200"/>
              </a:spcAft>
              <a:buNone/>
            </a:pPr>
            <a:r>
              <a:rPr lang="en-US" sz="1300" dirty="0">
                <a:solidFill>
                  <a:schemeClr val="bg1"/>
                </a:solidFill>
                <a:latin typeface="Courier New" pitchFamily="34" charset="0"/>
                <a:ea typeface="Courier New" pitchFamily="34" charset="-122"/>
                <a:cs typeface="Courier New" pitchFamily="34" charset="-120"/>
              </a:rPr>
              <a:t>fit_train &lt;- lm(yield_t_ha ~ nitrogen_kg_ha + rainfall_mm,</a:t>
            </a:r>
            <a:endParaRPr lang="en-US" sz="1300" dirty="0"/>
          </a:p>
          <a:p>
            <a:pPr indent="0" marL="0">
              <a:spcAft>
                <a:spcPts val="200"/>
              </a:spcAft>
              <a:buNone/>
            </a:pPr>
            <a:r>
              <a:rPr lang="en-US" sz="1300" dirty="0">
                <a:solidFill>
                  <a:schemeClr val="bg1"/>
                </a:solidFill>
                <a:latin typeface="Courier New" pitchFamily="34" charset="0"/>
                <a:ea typeface="Courier New" pitchFamily="34" charset="-122"/>
                <a:cs typeface="Courier New" pitchFamily="34" charset="-120"/>
              </a:rPr>
              <a:t>                data = train)</a:t>
            </a:r>
            <a:endParaRPr lang="en-US" sz="1300" dirty="0"/>
          </a:p>
          <a:p>
            <a:pPr indent="0" marL="0">
              <a:spcAft>
                <a:spcPts val="200"/>
              </a:spcAft>
              <a:buNone/>
            </a:pPr>
            <a:r>
              <a:rPr lang="en-US" sz="1300" dirty="0">
                <a:solidFill>
                  <a:schemeClr val="bg1"/>
                </a:solidFill>
                <a:latin typeface="Courier New" pitchFamily="34" charset="0"/>
                <a:ea typeface="Courier New" pitchFamily="34" charset="-122"/>
                <a:cs typeface="Courier New" pitchFamily="34" charset="-120"/>
              </a:rPr>
              <a:t>pred &lt;- predict(fit_train, test)</a:t>
            </a:r>
            <a:endParaRPr lang="en-US" sz="1300" dirty="0"/>
          </a:p>
          <a:p>
            <a:pPr indent="0" marL="0">
              <a:spcAft>
                <a:spcPts val="200"/>
              </a:spcAft>
              <a:buNone/>
            </a:pPr>
            <a:r>
              <a:rPr lang="en-US" sz="1300" dirty="0">
                <a:solidFill>
                  <a:schemeClr val="bg1"/>
                </a:solidFill>
                <a:latin typeface="Courier New" pitchFamily="34" charset="0"/>
                <a:ea typeface="Courier New" pitchFamily="34" charset="-122"/>
                <a:cs typeface="Courier New" pitchFamily="34" charset="-120"/>
              </a:rPr>
              <a:t>c(RMSE = sqrt(mean((test$yield_t_ha - pred)^2)),</a:t>
            </a:r>
            <a:endParaRPr lang="en-US" sz="1300" dirty="0"/>
          </a:p>
          <a:p>
            <a:pPr indent="0" marL="0">
              <a:spcAft>
                <a:spcPts val="200"/>
              </a:spcAft>
              <a:buNone/>
            </a:pPr>
            <a:r>
              <a:rPr lang="en-US" sz="1300" dirty="0">
                <a:solidFill>
                  <a:schemeClr val="bg1"/>
                </a:solidFill>
                <a:latin typeface="Courier New" pitchFamily="34" charset="0"/>
                <a:ea typeface="Courier New" pitchFamily="34" charset="-122"/>
                <a:cs typeface="Courier New" pitchFamily="34" charset="-120"/>
              </a:rPr>
              <a:t>  MAE  = mean(abs(test$yield_t_ha - pred)))</a:t>
            </a:r>
            <a:endParaRPr lang="en-US" sz="1300" dirty="0"/>
          </a:p>
        </p:txBody>
      </p:sp>
      <p:sp>
        <p:nvSpPr>
          <p:cNvPr id="5" name="note"/>
          <p:cNvSpPr/>
          <p:nvPr/>
        </p:nvSpPr>
        <p:spPr>
          <a:xfrm>
            <a:off x="7543800" y="1325880"/>
            <a:ext cx="4069080" cy="2240280"/>
          </a:xfrm>
          <a:prstGeom prst="roundRect">
            <a:avLst>
              <a:gd name="adj" fmla="val 4898"/>
            </a:avLst>
          </a:prstGeom>
          <a:solidFill>
            <a:schemeClr val="bg2"/>
          </a:solidFill>
          <a:ln/>
          <a:effectLst>
            <a:outerShdw sx="100000" sy="100000" kx="0" ky="0" algn="bl" rotWithShape="0" blurRad="76200" dist="25400" dir="5400000">
              <a:srgbClr val="8A97AB">
                <a:alpha val="25000"/>
              </a:srgbClr>
            </a:outerShdw>
          </a:effectLst>
        </p:spPr>
      </p:sp>
      <p:sp>
        <p:nvSpPr>
          <p:cNvPr id="6" name="icon circle"/>
          <p:cNvSpPr/>
          <p:nvPr/>
        </p:nvSpPr>
        <p:spPr>
          <a:xfrm>
            <a:off x="7772400" y="1527048"/>
            <a:ext cx="548640" cy="548640"/>
          </a:xfrm>
          <a:prstGeom prst="ellipse">
            <a:avLst/>
          </a:prstGeom>
          <a:solidFill>
            <a:schemeClr val="accent1"/>
          </a:solidFill>
          <a:ln/>
        </p:spPr>
      </p:sp>
      <p:pic>
        <p:nvPicPr>
          <p:cNvPr id="7" name="Image 0" descr="FaArrowsAltV">    </p:cNvPr>
          <p:cNvPicPr>
            <a:picLocks noChangeAspect="1"/>
          </p:cNvPicPr>
          <p:nvPr/>
        </p:nvPicPr>
        <p:blipFill>
          <a:blip r:embed="rId1"/>
          <a:stretch>
            <a:fillRect/>
          </a:stretch>
        </p:blipFill>
        <p:spPr>
          <a:xfrm>
            <a:off x="7909560" y="1664208"/>
            <a:ext cx="274320" cy="274320"/>
          </a:xfrm>
          <a:prstGeom prst="rect">
            <a:avLst/>
          </a:prstGeom>
        </p:spPr>
      </p:pic>
      <p:sp>
        <p:nvSpPr>
          <p:cNvPr id="8" name="Text 5"/>
          <p:cNvSpPr txBox="1"/>
          <p:nvPr/>
        </p:nvSpPr>
        <p:spPr>
          <a:xfrm>
            <a:off x="8458200" y="1508760"/>
            <a:ext cx="2971800" cy="548640"/>
          </a:xfrm>
          <a:prstGeom prst="rect">
            <a:avLst/>
          </a:prstGeom>
          <a:noFill/>
          <a:ln/>
        </p:spPr>
        <p:txBody>
          <a:bodyPr wrap="square" lIns="0" tIns="0" rIns="0" bIns="0" rtlCol="0" anchor="ctr"/>
          <a:lstStyle/>
          <a:p>
            <a:pPr indent="0" marL="0">
              <a:buNone/>
            </a:pPr>
            <a:r>
              <a:rPr lang="en-US" sz="1600" b="1" dirty="0">
                <a:solidFill>
                  <a:schemeClr val="tx2"/>
                </a:solidFill>
              </a:rPr>
              <a:t>Two intervals</a:t>
            </a:r>
            <a:endParaRPr lang="en-US" sz="1600" dirty="0"/>
          </a:p>
        </p:txBody>
      </p:sp>
      <p:sp>
        <p:nvSpPr>
          <p:cNvPr id="9" name="Text 6"/>
          <p:cNvSpPr txBox="1"/>
          <p:nvPr/>
        </p:nvSpPr>
        <p:spPr>
          <a:xfrm>
            <a:off x="7772400" y="2148840"/>
            <a:ext cx="3611880" cy="1325880"/>
          </a:xfrm>
          <a:prstGeom prst="rect">
            <a:avLst/>
          </a:prstGeom>
          <a:noFill/>
          <a:ln/>
        </p:spPr>
        <p:txBody>
          <a:bodyPr wrap="square" lIns="0" tIns="0" rIns="0" bIns="0" rtlCol="0" anchor="t"/>
          <a:lstStyle/>
          <a:p>
            <a:pPr indent="0" marL="0">
              <a:buNone/>
            </a:pPr>
            <a:r>
              <a:rPr lang="en-US" sz="1400" b="1" dirty="0">
                <a:solidFill>
                  <a:schemeClr val="tx1"/>
                </a:solidFill>
              </a:rPr>
              <a:t>Confidence</a:t>
            </a:r>
            <a:pPr indent="0" marL="0">
              <a:buNone/>
            </a:pPr>
            <a:r>
              <a:rPr lang="en-US" sz="1400" dirty="0">
                <a:solidFill>
                  <a:schemeClr val="tx1"/>
                </a:solidFill>
              </a:rPr>
              <a:t>: the mean yield of such farms. </a:t>
            </a:r>
            <a:pPr indent="0" marL="0">
              <a:buNone/>
            </a:pPr>
            <a:r>
              <a:rPr lang="en-US" sz="1400" b="1" dirty="0">
                <a:solidFill>
                  <a:schemeClr val="tx1"/>
                </a:solidFill>
              </a:rPr>
              <a:t>Prediction</a:t>
            </a:r>
            <a:pPr indent="0" marL="0">
              <a:buNone/>
            </a:pPr>
            <a:r>
              <a:rPr lang="en-US" sz="1400" dirty="0">
                <a:solidFill>
                  <a:schemeClr val="tx1"/>
                </a:solidFill>
              </a:rPr>
              <a:t>: one new farm, always wider.</a:t>
            </a:r>
            <a:endParaRPr lang="en-US" sz="1400" dirty="0"/>
          </a:p>
        </p:txBody>
      </p:sp>
      <p:sp>
        <p:nvSpPr>
          <p:cNvPr id="10" name="note"/>
          <p:cNvSpPr/>
          <p:nvPr/>
        </p:nvSpPr>
        <p:spPr>
          <a:xfrm>
            <a:off x="7543800" y="3794760"/>
            <a:ext cx="4069080" cy="2240280"/>
          </a:xfrm>
          <a:prstGeom prst="roundRect">
            <a:avLst>
              <a:gd name="adj" fmla="val 4898"/>
            </a:avLst>
          </a:prstGeom>
          <a:solidFill>
            <a:schemeClr val="bg2"/>
          </a:solidFill>
          <a:ln/>
          <a:effectLst>
            <a:outerShdw sx="100000" sy="100000" kx="0" ky="0" algn="bl" rotWithShape="0" blurRad="76200" dist="25400" dir="5400000">
              <a:srgbClr val="8A97AB">
                <a:alpha val="25000"/>
              </a:srgbClr>
            </a:outerShdw>
          </a:effectLst>
        </p:spPr>
      </p:sp>
      <p:sp>
        <p:nvSpPr>
          <p:cNvPr id="11" name="icon circle"/>
          <p:cNvSpPr/>
          <p:nvPr/>
        </p:nvSpPr>
        <p:spPr>
          <a:xfrm>
            <a:off x="7772400" y="3995928"/>
            <a:ext cx="548640" cy="548640"/>
          </a:xfrm>
          <a:prstGeom prst="ellipse">
            <a:avLst/>
          </a:prstGeom>
          <a:solidFill>
            <a:schemeClr val="accent2"/>
          </a:solidFill>
          <a:ln/>
        </p:spPr>
      </p:sp>
      <p:pic>
        <p:nvPicPr>
          <p:cNvPr id="12" name="Image 1" descr="FaCut">    </p:cNvPr>
          <p:cNvPicPr>
            <a:picLocks noChangeAspect="1"/>
          </p:cNvPicPr>
          <p:nvPr/>
        </p:nvPicPr>
        <p:blipFill>
          <a:blip r:embed="rId2"/>
          <a:stretch>
            <a:fillRect/>
          </a:stretch>
        </p:blipFill>
        <p:spPr>
          <a:xfrm>
            <a:off x="7909560" y="4133088"/>
            <a:ext cx="274320" cy="274320"/>
          </a:xfrm>
          <a:prstGeom prst="rect">
            <a:avLst/>
          </a:prstGeom>
        </p:spPr>
      </p:pic>
      <p:sp>
        <p:nvSpPr>
          <p:cNvPr id="13" name="Text 9"/>
          <p:cNvSpPr txBox="1"/>
          <p:nvPr/>
        </p:nvSpPr>
        <p:spPr>
          <a:xfrm>
            <a:off x="8458200" y="3977640"/>
            <a:ext cx="2971800" cy="548640"/>
          </a:xfrm>
          <a:prstGeom prst="rect">
            <a:avLst/>
          </a:prstGeom>
          <a:noFill/>
          <a:ln/>
        </p:spPr>
        <p:txBody>
          <a:bodyPr wrap="square" lIns="0" tIns="0" rIns="0" bIns="0" rtlCol="0" anchor="ctr"/>
          <a:lstStyle/>
          <a:p>
            <a:pPr indent="0" marL="0">
              <a:buNone/>
            </a:pPr>
            <a:r>
              <a:rPr lang="en-US" sz="1600" b="1" dirty="0">
                <a:solidFill>
                  <a:schemeClr val="tx2"/>
                </a:solidFill>
              </a:rPr>
              <a:t>Held-out evaluation</a:t>
            </a:r>
            <a:endParaRPr lang="en-US" sz="1600" dirty="0"/>
          </a:p>
        </p:txBody>
      </p:sp>
      <p:sp>
        <p:nvSpPr>
          <p:cNvPr id="14" name="Text 10"/>
          <p:cNvSpPr txBox="1"/>
          <p:nvPr/>
        </p:nvSpPr>
        <p:spPr>
          <a:xfrm>
            <a:off x="7772400" y="4617720"/>
            <a:ext cx="3611880" cy="1325880"/>
          </a:xfrm>
          <a:prstGeom prst="rect">
            <a:avLst/>
          </a:prstGeom>
          <a:noFill/>
          <a:ln/>
        </p:spPr>
        <p:txBody>
          <a:bodyPr wrap="square" lIns="0" tIns="0" rIns="0" bIns="0" rtlCol="0" anchor="t"/>
          <a:lstStyle/>
          <a:p>
            <a:pPr indent="0" marL="0">
              <a:buNone/>
            </a:pPr>
            <a:r>
              <a:rPr lang="en-US" sz="1400" dirty="0">
                <a:solidFill>
                  <a:schemeClr val="tx1"/>
                </a:solidFill>
              </a:rPr>
              <a:t>Compare test RMSE and MAE with a baseline that predicts the training mean.</a:t>
            </a:r>
            <a:endParaRPr lang="en-US" sz="14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200" b="1" dirty="0">
                <a:solidFill>
                  <a:schemeClr val="tx2"/>
                </a:solidFill>
              </a:rPr>
              <a:t>Practical 15 and exercises</a:t>
            </a:r>
            <a:endParaRPr lang="en-US" sz="3200" dirty="0"/>
          </a:p>
        </p:txBody>
      </p:sp>
      <p:sp>
        <p:nvSpPr>
          <p:cNvPr id="3" name="card"/>
          <p:cNvSpPr/>
          <p:nvPr/>
        </p:nvSpPr>
        <p:spPr>
          <a:xfrm>
            <a:off x="548640" y="1371600"/>
            <a:ext cx="7680960" cy="822960"/>
          </a:xfrm>
          <a:prstGeom prst="roundRect">
            <a:avLst>
              <a:gd name="adj" fmla="val 13333"/>
            </a:avLst>
          </a:prstGeom>
          <a:solidFill>
            <a:schemeClr val="bg2"/>
          </a:solidFill>
          <a:ln/>
          <a:effectLst>
            <a:outerShdw sx="100000" sy="100000" kx="0" ky="0" algn="bl" rotWithShape="0" blurRad="76200" dist="25400" dir="5400000">
              <a:srgbClr val="8A97AB">
                <a:alpha val="25000"/>
              </a:srgbClr>
            </a:outerShdw>
          </a:effectLst>
        </p:spPr>
      </p:sp>
      <p:sp>
        <p:nvSpPr>
          <p:cNvPr id="4" name="Shape 2"/>
          <p:cNvSpPr/>
          <p:nvPr/>
        </p:nvSpPr>
        <p:spPr>
          <a:xfrm>
            <a:off x="749808" y="1531620"/>
            <a:ext cx="502920" cy="502920"/>
          </a:xfrm>
          <a:prstGeom prst="ellipse">
            <a:avLst/>
          </a:prstGeom>
          <a:solidFill>
            <a:schemeClr val="accent1"/>
          </a:solidFill>
          <a:ln/>
        </p:spPr>
      </p:sp>
      <p:sp>
        <p:nvSpPr>
          <p:cNvPr id="5" name="Text 3"/>
          <p:cNvSpPr txBox="1"/>
          <p:nvPr/>
        </p:nvSpPr>
        <p:spPr>
          <a:xfrm>
            <a:off x="749808" y="1531620"/>
            <a:ext cx="502920" cy="502920"/>
          </a:xfrm>
          <a:prstGeom prst="rect">
            <a:avLst/>
          </a:prstGeom>
          <a:noFill/>
          <a:ln/>
        </p:spPr>
        <p:txBody>
          <a:bodyPr wrap="square" lIns="0" tIns="0" rIns="0" bIns="0" rtlCol="0" anchor="ctr"/>
          <a:lstStyle/>
          <a:p>
            <a:pPr algn="ctr" indent="0" marL="0">
              <a:buNone/>
            </a:pPr>
            <a:r>
              <a:rPr lang="en-US" sz="1500" b="1" dirty="0">
                <a:solidFill>
                  <a:schemeClr val="bg1"/>
                </a:solidFill>
                <a:latin typeface="Cambria" pitchFamily="34" charset="0"/>
                <a:ea typeface="Cambria" pitchFamily="34" charset="-122"/>
                <a:cs typeface="Cambria" pitchFamily="34" charset="-120"/>
              </a:rPr>
              <a:t>1</a:t>
            </a:r>
            <a:endParaRPr lang="en-US" sz="1500" dirty="0"/>
          </a:p>
        </p:txBody>
      </p:sp>
      <p:sp>
        <p:nvSpPr>
          <p:cNvPr id="6" name="Text 4"/>
          <p:cNvSpPr txBox="1"/>
          <p:nvPr/>
        </p:nvSpPr>
        <p:spPr>
          <a:xfrm>
            <a:off x="1463040" y="1417320"/>
            <a:ext cx="6629400" cy="731520"/>
          </a:xfrm>
          <a:prstGeom prst="rect">
            <a:avLst/>
          </a:prstGeom>
          <a:noFill/>
          <a:ln/>
        </p:spPr>
        <p:txBody>
          <a:bodyPr wrap="square" lIns="0" tIns="0" rIns="0" bIns="0" rtlCol="0" anchor="ctr"/>
          <a:lstStyle/>
          <a:p>
            <a:pPr indent="0" marL="0">
              <a:buNone/>
            </a:pPr>
            <a:r>
              <a:rPr lang="en-US" sz="1400" dirty="0">
                <a:solidFill>
                  <a:schemeClr val="tx1"/>
                </a:solidFill>
              </a:rPr>
              <a:t>Compare Pearson and Spearman coefficients and explain their target relationships.</a:t>
            </a:r>
            <a:endParaRPr lang="en-US" sz="1400" dirty="0"/>
          </a:p>
        </p:txBody>
      </p:sp>
      <p:sp>
        <p:nvSpPr>
          <p:cNvPr id="7" name="card"/>
          <p:cNvSpPr/>
          <p:nvPr/>
        </p:nvSpPr>
        <p:spPr>
          <a:xfrm>
            <a:off x="548640" y="2331720"/>
            <a:ext cx="7680960" cy="822960"/>
          </a:xfrm>
          <a:prstGeom prst="roundRect">
            <a:avLst>
              <a:gd name="adj" fmla="val 13333"/>
            </a:avLst>
          </a:prstGeom>
          <a:solidFill>
            <a:schemeClr val="bg2"/>
          </a:solidFill>
          <a:ln/>
          <a:effectLst>
            <a:outerShdw sx="100000" sy="100000" kx="0" ky="0" algn="bl" rotWithShape="0" blurRad="76200" dist="25400" dir="5400000">
              <a:srgbClr val="8A97AB">
                <a:alpha val="25000"/>
              </a:srgbClr>
            </a:outerShdw>
          </a:effectLst>
        </p:spPr>
      </p:sp>
      <p:sp>
        <p:nvSpPr>
          <p:cNvPr id="8" name="Shape 6"/>
          <p:cNvSpPr/>
          <p:nvPr/>
        </p:nvSpPr>
        <p:spPr>
          <a:xfrm>
            <a:off x="749808" y="2491740"/>
            <a:ext cx="502920" cy="502920"/>
          </a:xfrm>
          <a:prstGeom prst="ellipse">
            <a:avLst/>
          </a:prstGeom>
          <a:solidFill>
            <a:schemeClr val="accent1"/>
          </a:solidFill>
          <a:ln/>
        </p:spPr>
      </p:sp>
      <p:sp>
        <p:nvSpPr>
          <p:cNvPr id="9" name="Text 7"/>
          <p:cNvSpPr txBox="1"/>
          <p:nvPr/>
        </p:nvSpPr>
        <p:spPr>
          <a:xfrm>
            <a:off x="749808" y="2491740"/>
            <a:ext cx="502920" cy="502920"/>
          </a:xfrm>
          <a:prstGeom prst="rect">
            <a:avLst/>
          </a:prstGeom>
          <a:noFill/>
          <a:ln/>
        </p:spPr>
        <p:txBody>
          <a:bodyPr wrap="square" lIns="0" tIns="0" rIns="0" bIns="0" rtlCol="0" anchor="ctr"/>
          <a:lstStyle/>
          <a:p>
            <a:pPr algn="ctr" indent="0" marL="0">
              <a:buNone/>
            </a:pPr>
            <a:r>
              <a:rPr lang="en-US" sz="1500" b="1" dirty="0">
                <a:solidFill>
                  <a:schemeClr val="bg1"/>
                </a:solidFill>
                <a:latin typeface="Cambria" pitchFamily="34" charset="0"/>
                <a:ea typeface="Cambria" pitchFamily="34" charset="-122"/>
                <a:cs typeface="Cambria" pitchFamily="34" charset="-120"/>
              </a:rPr>
              <a:t>2</a:t>
            </a:r>
            <a:endParaRPr lang="en-US" sz="1500" dirty="0"/>
          </a:p>
        </p:txBody>
      </p:sp>
      <p:sp>
        <p:nvSpPr>
          <p:cNvPr id="10" name="Text 8"/>
          <p:cNvSpPr txBox="1"/>
          <p:nvPr/>
        </p:nvSpPr>
        <p:spPr>
          <a:xfrm>
            <a:off x="1463040" y="2377440"/>
            <a:ext cx="6629400" cy="731520"/>
          </a:xfrm>
          <a:prstGeom prst="rect">
            <a:avLst/>
          </a:prstGeom>
          <a:noFill/>
          <a:ln/>
        </p:spPr>
        <p:txBody>
          <a:bodyPr wrap="square" lIns="0" tIns="0" rIns="0" bIns="0" rtlCol="0" anchor="ctr"/>
          <a:lstStyle/>
          <a:p>
            <a:pPr indent="0" marL="0">
              <a:buNone/>
            </a:pPr>
            <a:r>
              <a:rPr lang="en-US" sz="1400" dirty="0">
                <a:solidFill>
                  <a:schemeClr val="tx1"/>
                </a:solidFill>
              </a:rPr>
              <a:t>Interpret the rainfall coefficient with its units. Why is it not automatically a causal effect?</a:t>
            </a:r>
            <a:endParaRPr lang="en-US" sz="1400" dirty="0"/>
          </a:p>
        </p:txBody>
      </p:sp>
      <p:sp>
        <p:nvSpPr>
          <p:cNvPr id="11" name="card"/>
          <p:cNvSpPr/>
          <p:nvPr/>
        </p:nvSpPr>
        <p:spPr>
          <a:xfrm>
            <a:off x="548640" y="3291840"/>
            <a:ext cx="7680960" cy="822960"/>
          </a:xfrm>
          <a:prstGeom prst="roundRect">
            <a:avLst>
              <a:gd name="adj" fmla="val 13333"/>
            </a:avLst>
          </a:prstGeom>
          <a:solidFill>
            <a:schemeClr val="bg2"/>
          </a:solidFill>
          <a:ln/>
          <a:effectLst>
            <a:outerShdw sx="100000" sy="100000" kx="0" ky="0" algn="bl" rotWithShape="0" blurRad="76200" dist="25400" dir="5400000">
              <a:srgbClr val="8A97AB">
                <a:alpha val="25000"/>
              </a:srgbClr>
            </a:outerShdw>
          </a:effectLst>
        </p:spPr>
      </p:sp>
      <p:sp>
        <p:nvSpPr>
          <p:cNvPr id="12" name="Shape 10"/>
          <p:cNvSpPr/>
          <p:nvPr/>
        </p:nvSpPr>
        <p:spPr>
          <a:xfrm>
            <a:off x="749808" y="3451860"/>
            <a:ext cx="502920" cy="502920"/>
          </a:xfrm>
          <a:prstGeom prst="ellipse">
            <a:avLst/>
          </a:prstGeom>
          <a:solidFill>
            <a:schemeClr val="accent1"/>
          </a:solidFill>
          <a:ln/>
        </p:spPr>
      </p:sp>
      <p:sp>
        <p:nvSpPr>
          <p:cNvPr id="13" name="Text 11"/>
          <p:cNvSpPr txBox="1"/>
          <p:nvPr/>
        </p:nvSpPr>
        <p:spPr>
          <a:xfrm>
            <a:off x="749808" y="3451860"/>
            <a:ext cx="502920" cy="502920"/>
          </a:xfrm>
          <a:prstGeom prst="rect">
            <a:avLst/>
          </a:prstGeom>
          <a:noFill/>
          <a:ln/>
        </p:spPr>
        <p:txBody>
          <a:bodyPr wrap="square" lIns="0" tIns="0" rIns="0" bIns="0" rtlCol="0" anchor="ctr"/>
          <a:lstStyle/>
          <a:p>
            <a:pPr algn="ctr" indent="0" marL="0">
              <a:buNone/>
            </a:pPr>
            <a:r>
              <a:rPr lang="en-US" sz="1500" b="1" dirty="0">
                <a:solidFill>
                  <a:schemeClr val="bg1"/>
                </a:solidFill>
                <a:latin typeface="Cambria" pitchFamily="34" charset="0"/>
                <a:ea typeface="Cambria" pitchFamily="34" charset="-122"/>
                <a:cs typeface="Cambria" pitchFamily="34" charset="-120"/>
              </a:rPr>
              <a:t>3</a:t>
            </a:r>
            <a:endParaRPr lang="en-US" sz="1500" dirty="0"/>
          </a:p>
        </p:txBody>
      </p:sp>
      <p:sp>
        <p:nvSpPr>
          <p:cNvPr id="14" name="Text 12"/>
          <p:cNvSpPr txBox="1"/>
          <p:nvPr/>
        </p:nvSpPr>
        <p:spPr>
          <a:xfrm>
            <a:off x="1463040" y="3337560"/>
            <a:ext cx="6629400" cy="731520"/>
          </a:xfrm>
          <a:prstGeom prst="rect">
            <a:avLst/>
          </a:prstGeom>
          <a:noFill/>
          <a:ln/>
        </p:spPr>
        <p:txBody>
          <a:bodyPr wrap="square" lIns="0" tIns="0" rIns="0" bIns="0" rtlCol="0" anchor="ctr"/>
          <a:lstStyle/>
          <a:p>
            <a:pPr indent="0" marL="0">
              <a:buNone/>
            </a:pPr>
            <a:r>
              <a:rPr lang="en-US" sz="1400" dirty="0">
                <a:solidFill>
                  <a:schemeClr val="tx1"/>
                </a:solidFill>
              </a:rPr>
              <a:t>Compare the simple and multiple nitrogen slopes. What changes in their interpretation?</a:t>
            </a:r>
            <a:endParaRPr lang="en-US" sz="1400" dirty="0"/>
          </a:p>
        </p:txBody>
      </p:sp>
      <p:sp>
        <p:nvSpPr>
          <p:cNvPr id="15" name="card"/>
          <p:cNvSpPr/>
          <p:nvPr/>
        </p:nvSpPr>
        <p:spPr>
          <a:xfrm>
            <a:off x="548640" y="4251960"/>
            <a:ext cx="7680960" cy="822960"/>
          </a:xfrm>
          <a:prstGeom prst="roundRect">
            <a:avLst>
              <a:gd name="adj" fmla="val 13333"/>
            </a:avLst>
          </a:prstGeom>
          <a:solidFill>
            <a:schemeClr val="bg2"/>
          </a:solidFill>
          <a:ln/>
          <a:effectLst>
            <a:outerShdw sx="100000" sy="100000" kx="0" ky="0" algn="bl" rotWithShape="0" blurRad="76200" dist="25400" dir="5400000">
              <a:srgbClr val="8A97AB">
                <a:alpha val="25000"/>
              </a:srgbClr>
            </a:outerShdw>
          </a:effectLst>
        </p:spPr>
      </p:sp>
      <p:sp>
        <p:nvSpPr>
          <p:cNvPr id="16" name="Shape 14"/>
          <p:cNvSpPr/>
          <p:nvPr/>
        </p:nvSpPr>
        <p:spPr>
          <a:xfrm>
            <a:off x="749808" y="4411980"/>
            <a:ext cx="502920" cy="502920"/>
          </a:xfrm>
          <a:prstGeom prst="ellipse">
            <a:avLst/>
          </a:prstGeom>
          <a:solidFill>
            <a:schemeClr val="accent1"/>
          </a:solidFill>
          <a:ln/>
        </p:spPr>
      </p:sp>
      <p:sp>
        <p:nvSpPr>
          <p:cNvPr id="17" name="Text 15"/>
          <p:cNvSpPr txBox="1"/>
          <p:nvPr/>
        </p:nvSpPr>
        <p:spPr>
          <a:xfrm>
            <a:off x="749808" y="4411980"/>
            <a:ext cx="502920" cy="502920"/>
          </a:xfrm>
          <a:prstGeom prst="rect">
            <a:avLst/>
          </a:prstGeom>
          <a:noFill/>
          <a:ln/>
        </p:spPr>
        <p:txBody>
          <a:bodyPr wrap="square" lIns="0" tIns="0" rIns="0" bIns="0" rtlCol="0" anchor="ctr"/>
          <a:lstStyle/>
          <a:p>
            <a:pPr algn="ctr" indent="0" marL="0">
              <a:buNone/>
            </a:pPr>
            <a:r>
              <a:rPr lang="en-US" sz="1500" b="1" dirty="0">
                <a:solidFill>
                  <a:schemeClr val="bg1"/>
                </a:solidFill>
                <a:latin typeface="Cambria" pitchFamily="34" charset="0"/>
                <a:ea typeface="Cambria" pitchFamily="34" charset="-122"/>
                <a:cs typeface="Cambria" pitchFamily="34" charset="-120"/>
              </a:rPr>
              <a:t>4</a:t>
            </a:r>
            <a:endParaRPr lang="en-US" sz="1500" dirty="0"/>
          </a:p>
        </p:txBody>
      </p:sp>
      <p:sp>
        <p:nvSpPr>
          <p:cNvPr id="18" name="Text 16"/>
          <p:cNvSpPr txBox="1"/>
          <p:nvPr/>
        </p:nvSpPr>
        <p:spPr>
          <a:xfrm>
            <a:off x="1463040" y="4297680"/>
            <a:ext cx="6629400" cy="731520"/>
          </a:xfrm>
          <a:prstGeom prst="rect">
            <a:avLst/>
          </a:prstGeom>
          <a:noFill/>
          <a:ln/>
        </p:spPr>
        <p:txBody>
          <a:bodyPr wrap="square" lIns="0" tIns="0" rIns="0" bIns="0" rtlCol="0" anchor="ctr"/>
          <a:lstStyle/>
          <a:p>
            <a:pPr indent="0" marL="0">
              <a:buNone/>
            </a:pPr>
            <a:r>
              <a:rPr lang="en-US" sz="1400" dirty="0">
                <a:solidFill>
                  <a:schemeClr val="tx1"/>
                </a:solidFill>
              </a:rPr>
              <a:t>Compare a confidence and a prediction interval for the same new record.</a:t>
            </a:r>
            <a:endParaRPr lang="en-US" sz="1400" dirty="0"/>
          </a:p>
        </p:txBody>
      </p:sp>
      <p:sp>
        <p:nvSpPr>
          <p:cNvPr id="19" name="card"/>
          <p:cNvSpPr/>
          <p:nvPr/>
        </p:nvSpPr>
        <p:spPr>
          <a:xfrm>
            <a:off x="548640" y="5212080"/>
            <a:ext cx="7680960" cy="822960"/>
          </a:xfrm>
          <a:prstGeom prst="roundRect">
            <a:avLst>
              <a:gd name="adj" fmla="val 13333"/>
            </a:avLst>
          </a:prstGeom>
          <a:solidFill>
            <a:schemeClr val="bg2"/>
          </a:solidFill>
          <a:ln/>
          <a:effectLst>
            <a:outerShdw sx="100000" sy="100000" kx="0" ky="0" algn="bl" rotWithShape="0" blurRad="76200" dist="25400" dir="5400000">
              <a:srgbClr val="8A97AB">
                <a:alpha val="25000"/>
              </a:srgbClr>
            </a:outerShdw>
          </a:effectLst>
        </p:spPr>
      </p:sp>
      <p:sp>
        <p:nvSpPr>
          <p:cNvPr id="20" name="Shape 18"/>
          <p:cNvSpPr/>
          <p:nvPr/>
        </p:nvSpPr>
        <p:spPr>
          <a:xfrm>
            <a:off x="749808" y="5372100"/>
            <a:ext cx="502920" cy="502920"/>
          </a:xfrm>
          <a:prstGeom prst="ellipse">
            <a:avLst/>
          </a:prstGeom>
          <a:solidFill>
            <a:schemeClr val="accent1"/>
          </a:solidFill>
          <a:ln/>
        </p:spPr>
      </p:sp>
      <p:sp>
        <p:nvSpPr>
          <p:cNvPr id="21" name="Text 19"/>
          <p:cNvSpPr txBox="1"/>
          <p:nvPr/>
        </p:nvSpPr>
        <p:spPr>
          <a:xfrm>
            <a:off x="749808" y="5372100"/>
            <a:ext cx="502920" cy="502920"/>
          </a:xfrm>
          <a:prstGeom prst="rect">
            <a:avLst/>
          </a:prstGeom>
          <a:noFill/>
          <a:ln/>
        </p:spPr>
        <p:txBody>
          <a:bodyPr wrap="square" lIns="0" tIns="0" rIns="0" bIns="0" rtlCol="0" anchor="ctr"/>
          <a:lstStyle/>
          <a:p>
            <a:pPr algn="ctr" indent="0" marL="0">
              <a:buNone/>
            </a:pPr>
            <a:r>
              <a:rPr lang="en-US" sz="1500" b="1" dirty="0">
                <a:solidFill>
                  <a:schemeClr val="bg1"/>
                </a:solidFill>
                <a:latin typeface="Cambria" pitchFamily="34" charset="0"/>
                <a:ea typeface="Cambria" pitchFamily="34" charset="-122"/>
                <a:cs typeface="Cambria" pitchFamily="34" charset="-120"/>
              </a:rPr>
              <a:t>5</a:t>
            </a:r>
            <a:endParaRPr lang="en-US" sz="1500" dirty="0"/>
          </a:p>
        </p:txBody>
      </p:sp>
      <p:sp>
        <p:nvSpPr>
          <p:cNvPr id="22" name="Text 20"/>
          <p:cNvSpPr txBox="1"/>
          <p:nvPr/>
        </p:nvSpPr>
        <p:spPr>
          <a:xfrm>
            <a:off x="1463040" y="5257800"/>
            <a:ext cx="6629400" cy="731520"/>
          </a:xfrm>
          <a:prstGeom prst="rect">
            <a:avLst/>
          </a:prstGeom>
          <a:noFill/>
          <a:ln/>
        </p:spPr>
        <p:txBody>
          <a:bodyPr wrap="square" lIns="0" tIns="0" rIns="0" bIns="0" rtlCol="0" anchor="ctr"/>
          <a:lstStyle/>
          <a:p>
            <a:pPr indent="0" marL="0">
              <a:buNone/>
            </a:pPr>
            <a:r>
              <a:rPr lang="en-US" sz="1400" dirty="0">
                <a:solidFill>
                  <a:schemeClr val="tx1"/>
                </a:solidFill>
              </a:rPr>
              <a:t>Evaluate the held-out model against the training-mean baseline. When would a random split be inappropriate?</a:t>
            </a:r>
            <a:endParaRPr lang="en-US" sz="1400" dirty="0"/>
          </a:p>
        </p:txBody>
      </p:sp>
      <p:sp>
        <p:nvSpPr>
          <p:cNvPr id="23" name="submit"/>
          <p:cNvSpPr/>
          <p:nvPr/>
        </p:nvSpPr>
        <p:spPr>
          <a:xfrm>
            <a:off x="8458200" y="1371600"/>
            <a:ext cx="3154680" cy="4663440"/>
          </a:xfrm>
          <a:prstGeom prst="roundRect">
            <a:avLst>
              <a:gd name="adj" fmla="val 3478"/>
            </a:avLst>
          </a:prstGeom>
          <a:solidFill>
            <a:schemeClr val="tx2"/>
          </a:solidFill>
          <a:ln/>
          <a:effectLst>
            <a:outerShdw sx="100000" sy="100000" kx="0" ky="0" algn="bl" rotWithShape="0" blurRad="76200" dist="25400" dir="5400000">
              <a:srgbClr val="8A97AB">
                <a:alpha val="25000"/>
              </a:srgbClr>
            </a:outerShdw>
          </a:effectLst>
        </p:spPr>
      </p:sp>
      <p:pic>
        <p:nvPicPr>
          <p:cNvPr id="24" name="Image 0" descr="clipboard icon">    </p:cNvPr>
          <p:cNvPicPr>
            <a:picLocks noChangeAspect="1"/>
          </p:cNvPicPr>
          <p:nvPr/>
        </p:nvPicPr>
        <p:blipFill>
          <a:blip r:embed="rId1"/>
          <a:stretch>
            <a:fillRect/>
          </a:stretch>
        </p:blipFill>
        <p:spPr>
          <a:xfrm>
            <a:off x="9582912" y="1691640"/>
            <a:ext cx="914400" cy="914400"/>
          </a:xfrm>
          <a:prstGeom prst="rect">
            <a:avLst/>
          </a:prstGeom>
        </p:spPr>
      </p:pic>
      <p:sp>
        <p:nvSpPr>
          <p:cNvPr id="25" name="Text 22"/>
          <p:cNvSpPr txBox="1"/>
          <p:nvPr/>
        </p:nvSpPr>
        <p:spPr>
          <a:xfrm>
            <a:off x="8549640" y="2743200"/>
            <a:ext cx="2971800" cy="411480"/>
          </a:xfrm>
          <a:prstGeom prst="rect">
            <a:avLst/>
          </a:prstGeom>
          <a:noFill/>
          <a:ln/>
        </p:spPr>
        <p:txBody>
          <a:bodyPr wrap="square" lIns="0" tIns="0" rIns="0" bIns="0" rtlCol="0" anchor="t"/>
          <a:lstStyle/>
          <a:p>
            <a:pPr algn="ctr" indent="0" marL="0">
              <a:buNone/>
            </a:pPr>
            <a:r>
              <a:rPr lang="en-US" sz="2000" b="1" dirty="0">
                <a:solidFill>
                  <a:schemeClr val="bg1"/>
                </a:solidFill>
              </a:rPr>
              <a:t>Submit</a:t>
            </a:r>
            <a:endParaRPr lang="en-US" sz="2000" dirty="0"/>
          </a:p>
        </p:txBody>
      </p:sp>
      <p:sp>
        <p:nvSpPr>
          <p:cNvPr id="26" name="Text 23"/>
          <p:cNvSpPr txBox="1"/>
          <p:nvPr/>
        </p:nvSpPr>
        <p:spPr>
          <a:xfrm>
            <a:off x="8686800" y="3200400"/>
            <a:ext cx="2697480" cy="2651760"/>
          </a:xfrm>
          <a:prstGeom prst="rect">
            <a:avLst/>
          </a:prstGeom>
          <a:noFill/>
          <a:ln/>
        </p:spPr>
        <p:txBody>
          <a:bodyPr wrap="square" lIns="0" tIns="0" rIns="0" bIns="0" rtlCol="0" anchor="t"/>
          <a:lstStyle/>
          <a:p>
            <a:pPr algn="ctr" indent="0" marL="0">
              <a:buNone/>
            </a:pPr>
            <a:r>
              <a:rPr lang="en-US" sz="1400" dirty="0">
                <a:solidFill>
                  <a:schemeClr val="accent6"/>
                </a:solidFill>
              </a:rPr>
              <a:t>your script and a short written interpretation. Code that runs is necessary; a defensible explanation is equally necessary.</a:t>
            </a:r>
            <a:endParaRPr lang="en-US" sz="14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200" b="1" dirty="0">
                <a:solidFill>
                  <a:schemeClr val="tx2"/>
                </a:solidFill>
              </a:rPr>
              <a:t>Live R laboratory</a:t>
            </a:r>
            <a:endParaRPr lang="en-US" sz="3200" dirty="0"/>
          </a:p>
        </p:txBody>
      </p:sp>
      <p:sp>
        <p:nvSpPr>
          <p:cNvPr id="3" name="code panel"/>
          <p:cNvSpPr/>
          <p:nvPr/>
        </p:nvSpPr>
        <p:spPr>
          <a:xfrm>
            <a:off x="548640" y="1371600"/>
            <a:ext cx="11064240" cy="2707640"/>
          </a:xfrm>
          <a:prstGeom prst="roundRect">
            <a:avLst>
              <a:gd name="adj" fmla="val 3377"/>
            </a:avLst>
          </a:prstGeom>
          <a:solidFill>
            <a:schemeClr val="tx1"/>
          </a:solidFill>
          <a:ln/>
        </p:spPr>
      </p:sp>
      <p:sp>
        <p:nvSpPr>
          <p:cNvPr id="4" name="Text 2"/>
          <p:cNvSpPr txBox="1"/>
          <p:nvPr/>
        </p:nvSpPr>
        <p:spPr>
          <a:xfrm>
            <a:off x="822960" y="1572768"/>
            <a:ext cx="10515600" cy="2305304"/>
          </a:xfrm>
          <a:prstGeom prst="rect">
            <a:avLst/>
          </a:prstGeom>
          <a:noFill/>
          <a:ln/>
        </p:spPr>
        <p:txBody>
          <a:bodyPr wrap="square" lIns="0" tIns="0" rIns="0" bIns="0" rtlCol="0" anchor="t"/>
          <a:lstStyle/>
          <a:p>
            <a:pPr indent="0" marL="0">
              <a:spcAft>
                <a:spcPts val="200"/>
              </a:spcAft>
              <a:buNone/>
            </a:pPr>
            <a:r>
              <a:rPr lang="en-US" sz="1700" dirty="0">
                <a:solidFill>
                  <a:schemeClr val="bg1"/>
                </a:solidFill>
                <a:latin typeface="Courier New" pitchFamily="34" charset="0"/>
                <a:ea typeface="Courier New" pitchFamily="34" charset="-122"/>
                <a:cs typeface="Courier New" pitchFamily="34" charset="-120"/>
              </a:rPr>
              <a:t>trial &lt;- data.frame(nitrogen = c(0, 20, 40, 60, 80, 100),</a:t>
            </a:r>
            <a:endParaRPr lang="en-US" sz="1700" dirty="0"/>
          </a:p>
          <a:p>
            <a:pPr indent="0" marL="0">
              <a:spcAft>
                <a:spcPts val="200"/>
              </a:spcAft>
              <a:buNone/>
            </a:pPr>
            <a:r>
              <a:rPr lang="en-US" sz="1700" dirty="0">
                <a:solidFill>
                  <a:schemeClr val="bg1"/>
                </a:solidFill>
                <a:latin typeface="Courier New" pitchFamily="34" charset="0"/>
                <a:ea typeface="Courier New" pitchFamily="34" charset="-122"/>
                <a:cs typeface="Courier New" pitchFamily="34" charset="-120"/>
              </a:rPr>
              <a:t>                    yield = c(2.0, 2.6, 3.0, 3.7, 3.9, 4.5))</a:t>
            </a:r>
            <a:endParaRPr lang="en-US" sz="1700" dirty="0"/>
          </a:p>
          <a:p>
            <a:pPr indent="0" marL="0">
              <a:spcAft>
                <a:spcPts val="200"/>
              </a:spcAft>
              <a:buNone/>
            </a:pPr>
            <a:r>
              <a:rPr lang="en-US" sz="1700" dirty="0">
                <a:solidFill>
                  <a:schemeClr val="bg1"/>
                </a:solidFill>
                <a:latin typeface="Courier New" pitchFamily="34" charset="0"/>
                <a:ea typeface="Courier New" pitchFamily="34" charset="-122"/>
                <a:cs typeface="Courier New" pitchFamily="34" charset="-120"/>
              </a:rPr>
              <a:t>model &lt;- lm(yield ~ nitrogen, data = trial)</a:t>
            </a:r>
            <a:endParaRPr lang="en-US" sz="1700" dirty="0"/>
          </a:p>
          <a:p>
            <a:pPr indent="0" marL="0">
              <a:spcAft>
                <a:spcPts val="200"/>
              </a:spcAft>
              <a:buNone/>
            </a:pPr>
            <a:r>
              <a:rPr lang="en-US" sz="1700" dirty="0">
                <a:solidFill>
                  <a:schemeClr val="bg1"/>
                </a:solidFill>
                <a:latin typeface="Courier New" pitchFamily="34" charset="0"/>
                <a:ea typeface="Courier New" pitchFamily="34" charset="-122"/>
                <a:cs typeface="Courier New" pitchFamily="34" charset="-120"/>
              </a:rPr>
              <a:t>summary(model)</a:t>
            </a:r>
            <a:endParaRPr lang="en-US" sz="1700" dirty="0"/>
          </a:p>
          <a:p>
            <a:pPr indent="0" marL="0">
              <a:spcAft>
                <a:spcPts val="200"/>
              </a:spcAft>
              <a:buNone/>
            </a:pPr>
            <a:r>
              <a:rPr lang="en-US" sz="1700" dirty="0">
                <a:solidFill>
                  <a:schemeClr val="bg1"/>
                </a:solidFill>
                <a:latin typeface="Courier New" pitchFamily="34" charset="0"/>
                <a:ea typeface="Courier New" pitchFamily="34" charset="-122"/>
                <a:cs typeface="Courier New" pitchFamily="34" charset="-120"/>
              </a:rPr>
              <a:t>predict(model, newdata = data.frame(nitrogen = 50), interval = "prediction")</a:t>
            </a:r>
            <a:endParaRPr lang="en-US" sz="1700" dirty="0"/>
          </a:p>
          <a:p>
            <a:pPr indent="0" marL="0">
              <a:spcAft>
                <a:spcPts val="200"/>
              </a:spcAft>
              <a:buNone/>
            </a:pPr>
            <a:r>
              <a:rPr lang="en-US" sz="1700" dirty="0">
                <a:solidFill>
                  <a:schemeClr val="bg1"/>
                </a:solidFill>
                <a:latin typeface="Courier New" pitchFamily="34" charset="0"/>
                <a:ea typeface="Courier New" pitchFamily="34" charset="-122"/>
                <a:cs typeface="Courier New" pitchFamily="34" charset="-120"/>
              </a:rPr>
              <a:t>plot(yield ~ nitrogen, trial, pch = 19, col = "#237f83",</a:t>
            </a:r>
            <a:endParaRPr lang="en-US" sz="1700" dirty="0"/>
          </a:p>
          <a:p>
            <a:pPr indent="0" marL="0">
              <a:spcAft>
                <a:spcPts val="200"/>
              </a:spcAft>
              <a:buNone/>
            </a:pPr>
            <a:r>
              <a:rPr lang="en-US" sz="1700" dirty="0">
                <a:solidFill>
                  <a:schemeClr val="bg1"/>
                </a:solidFill>
                <a:latin typeface="Courier New" pitchFamily="34" charset="0"/>
                <a:ea typeface="Courier New" pitchFamily="34" charset="-122"/>
                <a:cs typeface="Courier New" pitchFamily="34" charset="-120"/>
              </a:rPr>
              <a:t>     xlab = "Nitrogen (kg/ha)", ylab = "Simulated yield (t/ha)")</a:t>
            </a:r>
            <a:endParaRPr lang="en-US" sz="1700" dirty="0"/>
          </a:p>
          <a:p>
            <a:pPr indent="0" marL="0">
              <a:spcAft>
                <a:spcPts val="200"/>
              </a:spcAft>
              <a:buNone/>
            </a:pPr>
            <a:r>
              <a:rPr lang="en-US" sz="1700" dirty="0">
                <a:solidFill>
                  <a:schemeClr val="bg1"/>
                </a:solidFill>
                <a:latin typeface="Courier New" pitchFamily="34" charset="0"/>
                <a:ea typeface="Courier New" pitchFamily="34" charset="-122"/>
                <a:cs typeface="Courier New" pitchFamily="34" charset="-120"/>
              </a:rPr>
              <a:t>abline(model, col = "#bc7c21", lwd = 2)</a:t>
            </a:r>
            <a:endParaRPr lang="en-US" sz="1700" dirty="0"/>
          </a:p>
        </p:txBody>
      </p:sp>
      <p:sp>
        <p:nvSpPr>
          <p:cNvPr id="5" name="investigate"/>
          <p:cNvSpPr/>
          <p:nvPr/>
        </p:nvSpPr>
        <p:spPr>
          <a:xfrm>
            <a:off x="548640" y="4399280"/>
            <a:ext cx="11064240" cy="1371600"/>
          </a:xfrm>
          <a:prstGeom prst="roundRect">
            <a:avLst>
              <a:gd name="adj" fmla="val 8000"/>
            </a:avLst>
          </a:prstGeom>
          <a:solidFill>
            <a:schemeClr val="accent6"/>
          </a:solidFill>
          <a:ln/>
          <a:effectLst>
            <a:outerShdw sx="100000" sy="100000" kx="0" ky="0" algn="bl" rotWithShape="0" blurRad="76200" dist="25400" dir="5400000">
              <a:srgbClr val="8A97AB">
                <a:alpha val="25000"/>
              </a:srgbClr>
            </a:outerShdw>
          </a:effectLst>
        </p:spPr>
      </p:sp>
      <p:sp>
        <p:nvSpPr>
          <p:cNvPr id="6" name="icon circle"/>
          <p:cNvSpPr/>
          <p:nvPr/>
        </p:nvSpPr>
        <p:spPr>
          <a:xfrm>
            <a:off x="822960" y="4691888"/>
            <a:ext cx="777240" cy="777240"/>
          </a:xfrm>
          <a:prstGeom prst="ellipse">
            <a:avLst/>
          </a:prstGeom>
          <a:solidFill>
            <a:schemeClr val="accent2"/>
          </a:solidFill>
          <a:ln/>
        </p:spPr>
      </p:sp>
      <p:pic>
        <p:nvPicPr>
          <p:cNvPr id="7" name="Image 0" descr="FaSearch">    </p:cNvPr>
          <p:cNvPicPr>
            <a:picLocks noChangeAspect="1"/>
          </p:cNvPicPr>
          <p:nvPr/>
        </p:nvPicPr>
        <p:blipFill>
          <a:blip r:embed="rId1"/>
          <a:stretch>
            <a:fillRect/>
          </a:stretch>
        </p:blipFill>
        <p:spPr>
          <a:xfrm>
            <a:off x="1017270" y="4886198"/>
            <a:ext cx="388620" cy="388620"/>
          </a:xfrm>
          <a:prstGeom prst="rect">
            <a:avLst/>
          </a:prstGeom>
        </p:spPr>
      </p:pic>
      <p:sp>
        <p:nvSpPr>
          <p:cNvPr id="8" name="Text 5"/>
          <p:cNvSpPr txBox="1"/>
          <p:nvPr/>
        </p:nvSpPr>
        <p:spPr>
          <a:xfrm>
            <a:off x="1828800" y="4509008"/>
            <a:ext cx="9509760" cy="365760"/>
          </a:xfrm>
          <a:prstGeom prst="rect">
            <a:avLst/>
          </a:prstGeom>
          <a:noFill/>
          <a:ln/>
        </p:spPr>
        <p:txBody>
          <a:bodyPr wrap="square" lIns="0" tIns="0" rIns="0" bIns="0" rtlCol="0" anchor="t"/>
          <a:lstStyle/>
          <a:p>
            <a:pPr indent="0" marL="0">
              <a:buNone/>
            </a:pPr>
            <a:r>
              <a:rPr lang="en-US" sz="1700" b="1" dirty="0">
                <a:solidFill>
                  <a:schemeClr val="tx2"/>
                </a:solidFill>
              </a:rPr>
              <a:t>Investigate</a:t>
            </a:r>
            <a:endParaRPr lang="en-US" sz="1700" dirty="0"/>
          </a:p>
        </p:txBody>
      </p:sp>
      <p:sp>
        <p:nvSpPr>
          <p:cNvPr id="9" name="Text 6"/>
          <p:cNvSpPr txBox="1"/>
          <p:nvPr/>
        </p:nvSpPr>
        <p:spPr>
          <a:xfrm>
            <a:off x="1828800" y="4874768"/>
            <a:ext cx="9555480" cy="822960"/>
          </a:xfrm>
          <a:prstGeom prst="rect">
            <a:avLst/>
          </a:prstGeom>
          <a:noFill/>
          <a:ln/>
        </p:spPr>
        <p:txBody>
          <a:bodyPr wrap="square" lIns="0" tIns="0" rIns="0" bIns="0" rtlCol="0" anchor="t"/>
          <a:lstStyle/>
          <a:p>
            <a:pPr indent="0" marL="0">
              <a:buNone/>
            </a:pPr>
            <a:r>
              <a:rPr lang="en-US" sz="1500" dirty="0">
                <a:solidFill>
                  <a:schemeClr val="tx1"/>
                </a:solidFill>
              </a:rPr>
              <a:t>Interpret the slope with units and distinguish a prediction interval for a new observation from a confidence interval for the mean. Do not extrapolate this simulated response to arbitrary doses.</a:t>
            </a:r>
            <a:endParaRPr lang="en-US" sz="15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731520" y="640080"/>
            <a:ext cx="10698480" cy="822960"/>
          </a:xfrm>
          <a:prstGeom prst="rect">
            <a:avLst/>
          </a:prstGeom>
          <a:noFill/>
          <a:ln/>
        </p:spPr>
        <p:txBody>
          <a:bodyPr wrap="square" lIns="0" tIns="0" rIns="0" bIns="0" rtlCol="0" anchor="t"/>
          <a:lstStyle/>
          <a:p>
            <a:pPr indent="0" marL="0">
              <a:buNone/>
            </a:pPr>
            <a:r>
              <a:rPr lang="en-US" sz="4000" b="1" dirty="0">
                <a:solidFill>
                  <a:schemeClr val="bg1"/>
                </a:solidFill>
                <a:latin typeface="Cambria" pitchFamily="34" charset="0"/>
                <a:ea typeface="Cambria" pitchFamily="34" charset="-122"/>
                <a:cs typeface="Cambria" pitchFamily="34" charset="-120"/>
              </a:rPr>
              <a:t>Chapter review</a:t>
            </a:r>
            <a:endParaRPr lang="en-US" sz="4000" dirty="0"/>
          </a:p>
        </p:txBody>
      </p:sp>
      <p:sp>
        <p:nvSpPr>
          <p:cNvPr id="3" name="icon circle"/>
          <p:cNvSpPr/>
          <p:nvPr/>
        </p:nvSpPr>
        <p:spPr>
          <a:xfrm>
            <a:off x="731520" y="1828800"/>
            <a:ext cx="914400" cy="914400"/>
          </a:xfrm>
          <a:prstGeom prst="ellipse">
            <a:avLst/>
          </a:prstGeom>
          <a:solidFill>
            <a:schemeClr val="accent2"/>
          </a:solidFill>
          <a:ln/>
        </p:spPr>
      </p:sp>
      <p:pic>
        <p:nvPicPr>
          <p:cNvPr id="4" name="Image 0" descr="FaProjectDiagram">    </p:cNvPr>
          <p:cNvPicPr>
            <a:picLocks noChangeAspect="1"/>
          </p:cNvPicPr>
          <p:nvPr/>
        </p:nvPicPr>
        <p:blipFill>
          <a:blip r:embed="rId1"/>
          <a:stretch>
            <a:fillRect/>
          </a:stretch>
        </p:blipFill>
        <p:spPr>
          <a:xfrm>
            <a:off x="960120" y="2057400"/>
            <a:ext cx="457200" cy="457200"/>
          </a:xfrm>
          <a:prstGeom prst="rect">
            <a:avLst/>
          </a:prstGeom>
        </p:spPr>
      </p:pic>
      <p:sp>
        <p:nvSpPr>
          <p:cNvPr id="5" name="Text 2"/>
          <p:cNvSpPr txBox="1"/>
          <p:nvPr/>
        </p:nvSpPr>
        <p:spPr>
          <a:xfrm>
            <a:off x="1920240" y="1828800"/>
            <a:ext cx="4069080" cy="457200"/>
          </a:xfrm>
          <a:prstGeom prst="rect">
            <a:avLst/>
          </a:prstGeom>
          <a:noFill/>
          <a:ln/>
        </p:spPr>
        <p:txBody>
          <a:bodyPr wrap="square" lIns="0" tIns="0" rIns="0" bIns="0" rtlCol="0" anchor="t"/>
          <a:lstStyle/>
          <a:p>
            <a:pPr indent="0" marL="0">
              <a:buNone/>
            </a:pPr>
            <a:r>
              <a:rPr lang="en-US" sz="1900" b="1" dirty="0">
                <a:solidFill>
                  <a:schemeClr val="bg1"/>
                </a:solidFill>
              </a:rPr>
              <a:t>Association first</a:t>
            </a:r>
            <a:endParaRPr lang="en-US" sz="1900" dirty="0"/>
          </a:p>
        </p:txBody>
      </p:sp>
      <p:sp>
        <p:nvSpPr>
          <p:cNvPr id="6" name="Text 3"/>
          <p:cNvSpPr txBox="1"/>
          <p:nvPr/>
        </p:nvSpPr>
        <p:spPr>
          <a:xfrm>
            <a:off x="1920240" y="2304288"/>
            <a:ext cx="4069080" cy="868680"/>
          </a:xfrm>
          <a:prstGeom prst="rect">
            <a:avLst/>
          </a:prstGeom>
          <a:noFill/>
          <a:ln/>
        </p:spPr>
        <p:txBody>
          <a:bodyPr wrap="square" lIns="0" tIns="0" rIns="0" bIns="0" rtlCol="0" anchor="t"/>
          <a:lstStyle/>
          <a:p>
            <a:pPr indent="0" marL="0">
              <a:buNone/>
            </a:pPr>
            <a:r>
              <a:rPr lang="en-US" sz="1400" dirty="0">
                <a:solidFill>
                  <a:schemeClr val="accent6"/>
                </a:solidFill>
              </a:rPr>
              <a:t>Pearson for linear, Spearman for monotonic.</a:t>
            </a:r>
            <a:endParaRPr lang="en-US" sz="1400" dirty="0"/>
          </a:p>
        </p:txBody>
      </p:sp>
      <p:sp>
        <p:nvSpPr>
          <p:cNvPr id="7" name="icon circle"/>
          <p:cNvSpPr/>
          <p:nvPr/>
        </p:nvSpPr>
        <p:spPr>
          <a:xfrm>
            <a:off x="6217920" y="1828800"/>
            <a:ext cx="914400" cy="914400"/>
          </a:xfrm>
          <a:prstGeom prst="ellipse">
            <a:avLst/>
          </a:prstGeom>
          <a:solidFill>
            <a:schemeClr val="accent2"/>
          </a:solidFill>
          <a:ln/>
        </p:spPr>
      </p:sp>
      <p:pic>
        <p:nvPicPr>
          <p:cNvPr id="8" name="Image 1" descr="FaSlidersH">    </p:cNvPr>
          <p:cNvPicPr>
            <a:picLocks noChangeAspect="1"/>
          </p:cNvPicPr>
          <p:nvPr/>
        </p:nvPicPr>
        <p:blipFill>
          <a:blip r:embed="rId2"/>
          <a:stretch>
            <a:fillRect/>
          </a:stretch>
        </p:blipFill>
        <p:spPr>
          <a:xfrm>
            <a:off x="6446520" y="2057400"/>
            <a:ext cx="457200" cy="457200"/>
          </a:xfrm>
          <a:prstGeom prst="rect">
            <a:avLst/>
          </a:prstGeom>
        </p:spPr>
      </p:pic>
      <p:sp>
        <p:nvSpPr>
          <p:cNvPr id="9" name="Text 5"/>
          <p:cNvSpPr txBox="1"/>
          <p:nvPr/>
        </p:nvSpPr>
        <p:spPr>
          <a:xfrm>
            <a:off x="7406640" y="1828800"/>
            <a:ext cx="4069080" cy="457200"/>
          </a:xfrm>
          <a:prstGeom prst="rect">
            <a:avLst/>
          </a:prstGeom>
          <a:noFill/>
          <a:ln/>
        </p:spPr>
        <p:txBody>
          <a:bodyPr wrap="square" lIns="0" tIns="0" rIns="0" bIns="0" rtlCol="0" anchor="t"/>
          <a:lstStyle/>
          <a:p>
            <a:pPr indent="0" marL="0">
              <a:buNone/>
            </a:pPr>
            <a:r>
              <a:rPr lang="en-US" sz="1900" b="1" dirty="0">
                <a:solidFill>
                  <a:schemeClr val="bg1"/>
                </a:solidFill>
              </a:rPr>
              <a:t>Coefficients are conditional</a:t>
            </a:r>
            <a:endParaRPr lang="en-US" sz="1900" dirty="0"/>
          </a:p>
        </p:txBody>
      </p:sp>
      <p:sp>
        <p:nvSpPr>
          <p:cNvPr id="10" name="Text 6"/>
          <p:cNvSpPr txBox="1"/>
          <p:nvPr/>
        </p:nvSpPr>
        <p:spPr>
          <a:xfrm>
            <a:off x="7406640" y="2304288"/>
            <a:ext cx="4069080" cy="868680"/>
          </a:xfrm>
          <a:prstGeom prst="rect">
            <a:avLst/>
          </a:prstGeom>
          <a:noFill/>
          <a:ln/>
        </p:spPr>
        <p:txBody>
          <a:bodyPr wrap="square" lIns="0" tIns="0" rIns="0" bIns="0" rtlCol="0" anchor="t"/>
          <a:lstStyle/>
          <a:p>
            <a:pPr indent="0" marL="0">
              <a:buNone/>
            </a:pPr>
            <a:r>
              <a:rPr lang="en-US" sz="1400" dirty="0">
                <a:solidFill>
                  <a:schemeClr val="accent6"/>
                </a:solidFill>
              </a:rPr>
              <a:t>Interpret with units and what is held fixed.</a:t>
            </a:r>
            <a:endParaRPr lang="en-US" sz="1400" dirty="0"/>
          </a:p>
        </p:txBody>
      </p:sp>
      <p:sp>
        <p:nvSpPr>
          <p:cNvPr id="11" name="icon circle"/>
          <p:cNvSpPr/>
          <p:nvPr/>
        </p:nvSpPr>
        <p:spPr>
          <a:xfrm>
            <a:off x="731520" y="3520440"/>
            <a:ext cx="914400" cy="914400"/>
          </a:xfrm>
          <a:prstGeom prst="ellipse">
            <a:avLst/>
          </a:prstGeom>
          <a:solidFill>
            <a:schemeClr val="accent2"/>
          </a:solidFill>
          <a:ln/>
        </p:spPr>
      </p:sp>
      <p:pic>
        <p:nvPicPr>
          <p:cNvPr id="12" name="Image 2" descr="FaStethoscope">    </p:cNvPr>
          <p:cNvPicPr>
            <a:picLocks noChangeAspect="1"/>
          </p:cNvPicPr>
          <p:nvPr/>
        </p:nvPicPr>
        <p:blipFill>
          <a:blip r:embed="rId3"/>
          <a:stretch>
            <a:fillRect/>
          </a:stretch>
        </p:blipFill>
        <p:spPr>
          <a:xfrm>
            <a:off x="960120" y="3749040"/>
            <a:ext cx="457200" cy="457200"/>
          </a:xfrm>
          <a:prstGeom prst="rect">
            <a:avLst/>
          </a:prstGeom>
        </p:spPr>
      </p:pic>
      <p:sp>
        <p:nvSpPr>
          <p:cNvPr id="13" name="Text 8"/>
          <p:cNvSpPr txBox="1"/>
          <p:nvPr/>
        </p:nvSpPr>
        <p:spPr>
          <a:xfrm>
            <a:off x="1920240" y="3520440"/>
            <a:ext cx="4069080" cy="457200"/>
          </a:xfrm>
          <a:prstGeom prst="rect">
            <a:avLst/>
          </a:prstGeom>
          <a:noFill/>
          <a:ln/>
        </p:spPr>
        <p:txBody>
          <a:bodyPr wrap="square" lIns="0" tIns="0" rIns="0" bIns="0" rtlCol="0" anchor="t"/>
          <a:lstStyle/>
          <a:p>
            <a:pPr indent="0" marL="0">
              <a:buNone/>
            </a:pPr>
            <a:r>
              <a:rPr lang="en-US" sz="1900" b="1" dirty="0">
                <a:solidFill>
                  <a:schemeClr val="bg1"/>
                </a:solidFill>
              </a:rPr>
              <a:t>Diagnose</a:t>
            </a:r>
            <a:endParaRPr lang="en-US" sz="1900" dirty="0"/>
          </a:p>
        </p:txBody>
      </p:sp>
      <p:sp>
        <p:nvSpPr>
          <p:cNvPr id="14" name="Text 9"/>
          <p:cNvSpPr txBox="1"/>
          <p:nvPr/>
        </p:nvSpPr>
        <p:spPr>
          <a:xfrm>
            <a:off x="1920240" y="3995928"/>
            <a:ext cx="4069080" cy="868680"/>
          </a:xfrm>
          <a:prstGeom prst="rect">
            <a:avLst/>
          </a:prstGeom>
          <a:noFill/>
          <a:ln/>
        </p:spPr>
        <p:txBody>
          <a:bodyPr wrap="square" lIns="0" tIns="0" rIns="0" bIns="0" rtlCol="0" anchor="t"/>
          <a:lstStyle/>
          <a:p>
            <a:pPr indent="0" marL="0">
              <a:buNone/>
            </a:pPr>
            <a:r>
              <a:rPr lang="en-US" sz="1400" dirty="0">
                <a:solidFill>
                  <a:schemeClr val="accent6"/>
                </a:solidFill>
              </a:rPr>
              <a:t>Residuals, leverage and influence before conclusions.</a:t>
            </a:r>
            <a:endParaRPr lang="en-US" sz="1400" dirty="0"/>
          </a:p>
        </p:txBody>
      </p:sp>
      <p:sp>
        <p:nvSpPr>
          <p:cNvPr id="15" name="icon circle"/>
          <p:cNvSpPr/>
          <p:nvPr/>
        </p:nvSpPr>
        <p:spPr>
          <a:xfrm>
            <a:off x="6217920" y="3520440"/>
            <a:ext cx="914400" cy="914400"/>
          </a:xfrm>
          <a:prstGeom prst="ellipse">
            <a:avLst/>
          </a:prstGeom>
          <a:solidFill>
            <a:schemeClr val="accent2"/>
          </a:solidFill>
          <a:ln/>
        </p:spPr>
      </p:sp>
      <p:pic>
        <p:nvPicPr>
          <p:cNvPr id="16" name="Image 3" descr="FaCut">    </p:cNvPr>
          <p:cNvPicPr>
            <a:picLocks noChangeAspect="1"/>
          </p:cNvPicPr>
          <p:nvPr/>
        </p:nvPicPr>
        <p:blipFill>
          <a:blip r:embed="rId4"/>
          <a:stretch>
            <a:fillRect/>
          </a:stretch>
        </p:blipFill>
        <p:spPr>
          <a:xfrm>
            <a:off x="6446520" y="3749040"/>
            <a:ext cx="457200" cy="457200"/>
          </a:xfrm>
          <a:prstGeom prst="rect">
            <a:avLst/>
          </a:prstGeom>
        </p:spPr>
      </p:pic>
      <p:sp>
        <p:nvSpPr>
          <p:cNvPr id="17" name="Text 11"/>
          <p:cNvSpPr txBox="1"/>
          <p:nvPr/>
        </p:nvSpPr>
        <p:spPr>
          <a:xfrm>
            <a:off x="7406640" y="3520440"/>
            <a:ext cx="4069080" cy="457200"/>
          </a:xfrm>
          <a:prstGeom prst="rect">
            <a:avLst/>
          </a:prstGeom>
          <a:noFill/>
          <a:ln/>
        </p:spPr>
        <p:txBody>
          <a:bodyPr wrap="square" lIns="0" tIns="0" rIns="0" bIns="0" rtlCol="0" anchor="t"/>
          <a:lstStyle/>
          <a:p>
            <a:pPr indent="0" marL="0">
              <a:buNone/>
            </a:pPr>
            <a:r>
              <a:rPr lang="en-US" sz="1900" b="1" dirty="0">
                <a:solidFill>
                  <a:schemeClr val="bg1"/>
                </a:solidFill>
              </a:rPr>
              <a:t>Evaluate on new data</a:t>
            </a:r>
            <a:endParaRPr lang="en-US" sz="1900" dirty="0"/>
          </a:p>
        </p:txBody>
      </p:sp>
      <p:sp>
        <p:nvSpPr>
          <p:cNvPr id="18" name="Text 12"/>
          <p:cNvSpPr txBox="1"/>
          <p:nvPr/>
        </p:nvSpPr>
        <p:spPr>
          <a:xfrm>
            <a:off x="7406640" y="3995928"/>
            <a:ext cx="4069080" cy="868680"/>
          </a:xfrm>
          <a:prstGeom prst="rect">
            <a:avLst/>
          </a:prstGeom>
          <a:noFill/>
          <a:ln/>
        </p:spPr>
        <p:txBody>
          <a:bodyPr wrap="square" lIns="0" tIns="0" rIns="0" bIns="0" rtlCol="0" anchor="t"/>
          <a:lstStyle/>
          <a:p>
            <a:pPr indent="0" marL="0">
              <a:buNone/>
            </a:pPr>
            <a:r>
              <a:rPr lang="en-US" sz="1400" dirty="0">
                <a:solidFill>
                  <a:schemeClr val="accent6"/>
                </a:solidFill>
              </a:rPr>
              <a:t>Prediction intervals and held-out errors.</a:t>
            </a:r>
            <a:endParaRPr lang="en-US" sz="1400" dirty="0"/>
          </a:p>
        </p:txBody>
      </p:sp>
      <p:sp>
        <p:nvSpPr>
          <p:cNvPr id="19" name="Text 13"/>
          <p:cNvSpPr txBox="1"/>
          <p:nvPr/>
        </p:nvSpPr>
        <p:spPr>
          <a:xfrm>
            <a:off x="731520" y="5669280"/>
            <a:ext cx="10058400" cy="365760"/>
          </a:xfrm>
          <a:prstGeom prst="rect">
            <a:avLst/>
          </a:prstGeom>
          <a:noFill/>
          <a:ln/>
        </p:spPr>
        <p:txBody>
          <a:bodyPr wrap="square" lIns="0" tIns="0" rIns="0" bIns="0" rtlCol="0" anchor="t"/>
          <a:lstStyle/>
          <a:p>
            <a:pPr indent="0" marL="0">
              <a:buNone/>
            </a:pPr>
            <a:r>
              <a:rPr lang="en-US" sz="1600" i="1" dirty="0">
                <a:solidFill>
                  <a:schemeClr val="accent2"/>
                </a:solidFill>
              </a:rPr>
              <a:t>Next: Chapter 15 · Reproducible reports with R Markdown and Quarto</a:t>
            </a:r>
            <a:endParaRPr lang="en-US" sz="1600" dirty="0"/>
          </a:p>
        </p:txBody>
      </p:sp>
      <p:sp>
        <p:nvSpPr>
          <p:cNvPr id="21" name="Text 0"/>
          <p:cNvSpPr/>
          <p:nvPr>
            <p:ph idx="100" type="title" hasCustomPrompt="1"/>
          </p:nvPr>
        </p:nvSpPr>
        <p:spPr>
          <a:xfrm>
            <a:off x="2377440" y="2560320"/>
            <a:ext cx="8778240" cy="1188720"/>
          </a:xfrm>
          <a:prstGeom prst="rect">
            <a:avLst/>
          </a:prstGeom>
          <a:noFill/>
          <a:ln/>
        </p:spPr>
        <p:txBody>
          <a:bodyPr wrap="square" lIns="0" tIns="0" rIns="0" bIns="0" rtlCol="0" anchor="ctr"/>
          <a:lstStyle/>
          <a:p>
            <a:pPr algn="l" indent="0" marL="0">
              <a:buNone/>
            </a:pPr>
            <a:endParaRPr lang="en-US" sz="3800" dirty="0"/>
          </a:p>
        </p:txBody>
      </p:sp>
      <p:sp>
        <p:nvSpPr>
          <p:cNvPr id="22" name="Text 0"/>
          <p:cNvSpPr/>
          <p:nvPr>
            <p:ph idx="101" type="body" hasCustomPrompt="1"/>
          </p:nvPr>
        </p:nvSpPr>
        <p:spPr>
          <a:xfrm>
            <a:off x="2377440" y="3794760"/>
            <a:ext cx="8778240" cy="640080"/>
          </a:xfrm>
          <a:prstGeom prst="rect">
            <a:avLst/>
          </a:prstGeom>
          <a:noFill/>
          <a:ln/>
        </p:spPr>
        <p:txBody>
          <a:bodyPr wrap="square" lIns="0" tIns="0" rIns="0" bIns="0" rtlCol="0" anchor="t"/>
          <a:lstStyle/>
          <a:p>
            <a:pPr indent="0" marL="0">
              <a:buNone/>
            </a:pPr>
            <a:endParaRPr lang="en-US" sz="1800" dirty="0"/>
          </a:p>
        </p:txBody>
      </p:sp>
      <p:sp>
        <p:nvSpPr>
          <p:cNvPr id="25" name="Slide Number Placeholder 0"/>
          <p:cNvSpPr>
            <a:spLocks noGrp="1"/>
          </p:cNvSpPr>
          <p:nvPr>
            <p:ph type="sldNum" sz="quarter" idx="4294967295"/>
          </p:nvPr>
        </p:nvSpPr>
        <p:spPr>
          <a:xfrm>
            <a:off x="1133856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a:t>
            </a:fld>
            <a:endParaRPr lang="en-US"/>
          </a:p>
        </p:txBody>
      </p:sp>
    </p:spTree>
  </p:cSld>
  <p:clrMapOvr>
    <a:masterClrMapping/>
  </p:clrMapOvr>
</p:sld>
</file>

<file path=ppt/theme/theme1.xml><?xml version="1.0" encoding="utf-8"?>
<a:theme xmlns:a="http://schemas.openxmlformats.org/drawingml/2006/main" name="Office Theme">
  <a:themeElements>
    <a:clrScheme name="KAU R Textbook">
      <a:dk1>
        <a:srgbClr val="1B2A41"/>
      </a:dk1>
      <a:lt1>
        <a:srgbClr val="FFFFFF"/>
      </a:lt1>
      <a:dk2>
        <a:srgbClr val="1F3A68"/>
      </a:dk2>
      <a:lt2>
        <a:srgbClr val="EEF3FA"/>
      </a:lt2>
      <a:accent1>
        <a:srgbClr val="1F4E8C"/>
      </a:accent1>
      <a:accent2>
        <a:srgbClr val="C99A1E"/>
      </a:accent2>
      <a:accent3>
        <a:srgbClr val="2E7D4F"/>
      </a:accent3>
      <a:accent4>
        <a:srgbClr val="B5452E"/>
      </a:accent4>
      <a:accent5>
        <a:srgbClr val="5B6B82"/>
      </a:accent5>
      <a:accent6>
        <a:srgbClr val="F4EBCF"/>
      </a:accent6>
      <a:hlink>
        <a:srgbClr val="1F4E8C"/>
      </a:hlink>
      <a:folHlink>
        <a:srgbClr val="5B6B8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Correlation and regression for agricultural prediction</dc:title>
  <dc:subject>R Programming for Agricultural Data Analysis · Chapter 14</dc:subject>
  <dc:creator>Dr. Pratheesh P. Gopinath</dc:creator>
  <cp:lastModifiedBy>Dr. Pratheesh P. Gopinath</cp:lastModifiedBy>
  <cp:revision>1</cp:revision>
  <dcterms:created xsi:type="dcterms:W3CDTF">2026-10-20T10:13:43Z</dcterms:created>
  <dcterms:modified xsi:type="dcterms:W3CDTF">2026-10-20T10:13:43Z</dcterms:modified>
</cp:coreProperties>
</file>