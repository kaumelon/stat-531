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7500912-c600-0b51-5ec5-845391cfceaf}">
          <p14:sldIdLst>
            <p14:sldId id="256"/>
            <p14:sldId id="257"/>
            <p14:sldId id="258"/>
            <p14:sldId id="259"/>
            <p14:sldId id="260"/>
            <p14:sldId id="261"/>
            <p14:sldId id="262"/>
            <p14:sldId id="263"/>
            <p14:sldId id="264"/>
          </p14:sldIdLst>
        </p14:section>
        <p14:section name="Review" id="{21752c27-138c-b99f-f18f-9498cc0d7c15}">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fifteen, reproducible reports with R Markdown and Quarto. A report is an argument supported by evidence. When the text, the code and the results live in one document, every number in the report comes from the analysis that produced it, and anyone can rerun it. This chapter shows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you will combine explanation and executable analysis in one document, understand the difference between Quarto files and R Markdown files, add tables, figures and inline values, and render reports to HTML, Word and PDF from a project that runs in a fresh session. Reproducibility means the data, code and environment support the claims; a successful render is a necessary check, not a substitute for scientific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Quarto document has three parts. The YAML header between three dashes sets the title, the author and the output format. Markdown text carries the argument: headings with hash signs, bold text, lists and links. Code chunks, fenced with three back-ticks and r in braces, contain R code that runs when the report renders. Lines starting with hash pipe inside a chunk set options such as a label and a table caption, so the table can be cross-referenced in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Inline R code, written between back-ticks starting with r, puts a computed value directly into a sentence, so when the data change, the sentence updates too. Knitr kable formats a data frame as a table, and captions with labels let you cross-reference it in the text. Figures get captions and sizes through chunk options. Round numbers only for display, to a sensible precision. The rule is simple: never type a result into the text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Markdown is the established format and remains part of the syllabus; it is rendered with the Knit button or rmarkdown render, and its header uses output colon html document. Quarto is the newer system from Posit that also supports other languages and can build books and websites, including this textbook; it is rendered with the Render button or quarto render, and its header uses format colon html. The ideas are the same in both: a header, text and code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setup chunk at the top loads packages and data, with include false so it runs without appearing in the report. Remember the difference between echo false, which runs code but hides it; eval false, which shows code without running it; and include false, which runs code and shows nothing. Build the report in stages, rendering often, so errors are found early. Render to HTML, Word, or PDF if LaTeX is installed, from the Render button or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reproducibility as part of the assessment. Keep a complete project with the raw data, the cleaning script, the report source and the rendered output. Restart R and render in a fresh session, because objects left in your console history are the most common reason a report fails on someone else's computer. Then ask a classmate to render your project; if it fails, find the missing file, package, path or manual step and fix it in the project. Finally, read the rendered report as a reader would. A report can run perfectly and still be scientifically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sixteen. Write a short report answering a question from a documented dataset, with its source, units, design, a table, a figure and an interpretation. Render it to HTML and Word, and PDF if possible. Change one observation and check that every dependent result updates. Explain echo false versus eval false. And have a classmate render your project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a small table and a sentence are both generated from the same data. Change one yield and run it again: both update together. That is exactly what inline R does inside a Quarto or R Markdown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keep text, code and results in one source document. Never type a result by hand; use inline R and generated tables. Render in a fresh session and let someone else render it too. And read the final report as a reader, because reproducible is not the same as correct. In the last chapter, we look at writing R with an AI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15 · Reproducible reports with R Markdown and Quarto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7  ·  CHAPTER 15</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Reproducible reports with R Markdown and Quarto</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FileCode">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Combine text and code</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Explanation and executable analysis in one file</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ExchangeAlt">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.qmd and .Rmd</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Quarto and R Markdown side by side</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Table">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Tables, figures, inline values</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Numbers that update when data change</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ShareSquare">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Render and share</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HTML, Word and PDF from a project that runs fresh</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Reproducibility means data, code and computing environment support the report's claims. A successful render is necessary, not sufficient.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Anatomy of a Quarto document</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title: "Yield response to management"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author: "Your name"</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format: html</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Question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Did management treatment affect grain yield?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```{r}</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label: tbl-means</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tbl-cap: "Mean yield by treatment (t/ha)."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crop &lt;- read.csv("data/crop_trial.csv")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aggregate(yield_t_ha ~ treatment, crop, mean)</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p:txBody>
      </p:sp>
      <p:sp>
        <p:nvSpPr>
          <p:cNvPr id="5" name="note"/>
          <p:cNvSpPr/>
          <p:nvPr/>
        </p:nvSpPr>
        <p:spPr>
          <a:xfrm>
            <a:off x="7543800" y="132588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Cog">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YAML header</a:t>
            </a:r>
            <a:endParaRPr lang="en-US" sz="1600" dirty="0"/>
          </a:p>
        </p:txBody>
      </p:sp>
      <p:sp>
        <p:nvSpPr>
          <p:cNvPr id="9" name="Text 6"/>
          <p:cNvSpPr txBox="1"/>
          <p:nvPr/>
        </p:nvSpPr>
        <p:spPr>
          <a:xfrm>
            <a:off x="7772400" y="2148840"/>
            <a:ext cx="3611880" cy="502920"/>
          </a:xfrm>
          <a:prstGeom prst="rect">
            <a:avLst/>
          </a:prstGeom>
          <a:noFill/>
          <a:ln/>
        </p:spPr>
        <p:txBody>
          <a:bodyPr wrap="square" lIns="0" tIns="0" rIns="0" bIns="0" rtlCol="0" anchor="t"/>
          <a:lstStyle/>
          <a:p>
            <a:pPr indent="0" marL="0">
              <a:buNone/>
            </a:pPr>
            <a:r>
              <a:rPr lang="en-US" sz="1400" dirty="0">
                <a:solidFill>
                  <a:schemeClr val="tx1"/>
                </a:solidFill>
              </a:rPr>
              <a:t>Title, author and output format between the </a:t>
            </a:r>
            <a:pPr indent="0" marL="0">
              <a:buNone/>
            </a:pPr>
            <a:r>
              <a:rPr lang="en-US" sz="1400" dirty="0">
                <a:solidFill>
                  <a:schemeClr val="accent1"/>
                </a:solidFill>
                <a:latin typeface="Courier New" pitchFamily="34" charset="0"/>
                <a:ea typeface="Courier New" pitchFamily="34" charset="-122"/>
                <a:cs typeface="Courier New" pitchFamily="34" charset="-120"/>
              </a:rPr>
              <a:t>---</a:t>
            </a:r>
            <a:pPr indent="0" marL="0">
              <a:buNone/>
            </a:pPr>
            <a:r>
              <a:rPr lang="en-US" sz="1400" dirty="0">
                <a:solidFill>
                  <a:schemeClr val="tx1"/>
                </a:solidFill>
              </a:rPr>
              <a:t> lines.</a:t>
            </a:r>
            <a:endParaRPr lang="en-US" sz="1400" dirty="0"/>
          </a:p>
        </p:txBody>
      </p:sp>
      <p:sp>
        <p:nvSpPr>
          <p:cNvPr id="10" name="note"/>
          <p:cNvSpPr/>
          <p:nvPr/>
        </p:nvSpPr>
        <p:spPr>
          <a:xfrm>
            <a:off x="7543800" y="297180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172968"/>
            <a:ext cx="548640" cy="548640"/>
          </a:xfrm>
          <a:prstGeom prst="ellipse">
            <a:avLst/>
          </a:prstGeom>
          <a:solidFill>
            <a:schemeClr val="accent2"/>
          </a:solidFill>
          <a:ln/>
        </p:spPr>
      </p:sp>
      <p:pic>
        <p:nvPicPr>
          <p:cNvPr id="12" name="Image 1" descr="FaFont">    </p:cNvPr>
          <p:cNvPicPr>
            <a:picLocks noChangeAspect="1"/>
          </p:cNvPicPr>
          <p:nvPr/>
        </p:nvPicPr>
        <p:blipFill>
          <a:blip r:embed="rId2"/>
          <a:stretch>
            <a:fillRect/>
          </a:stretch>
        </p:blipFill>
        <p:spPr>
          <a:xfrm>
            <a:off x="7909560" y="3310128"/>
            <a:ext cx="274320" cy="274320"/>
          </a:xfrm>
          <a:prstGeom prst="rect">
            <a:avLst/>
          </a:prstGeom>
        </p:spPr>
      </p:pic>
      <p:sp>
        <p:nvSpPr>
          <p:cNvPr id="13" name="Text 9"/>
          <p:cNvSpPr txBox="1"/>
          <p:nvPr/>
        </p:nvSpPr>
        <p:spPr>
          <a:xfrm>
            <a:off x="8458200" y="31546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Markdown text</a:t>
            </a:r>
            <a:endParaRPr lang="en-US" sz="1600" dirty="0"/>
          </a:p>
        </p:txBody>
      </p:sp>
      <p:sp>
        <p:nvSpPr>
          <p:cNvPr id="14" name="Text 10"/>
          <p:cNvSpPr txBox="1"/>
          <p:nvPr/>
        </p:nvSpPr>
        <p:spPr>
          <a:xfrm>
            <a:off x="7772400" y="3794760"/>
            <a:ext cx="3611880" cy="502920"/>
          </a:xfrm>
          <a:prstGeom prst="rect">
            <a:avLst/>
          </a:prstGeom>
          <a:noFill/>
          <a:ln/>
        </p:spPr>
        <p:txBody>
          <a:bodyPr wrap="square" lIns="0" tIns="0" rIns="0" bIns="0" rtlCol="0" anchor="t"/>
          <a:lstStyle/>
          <a:p>
            <a:pPr indent="0" marL="0">
              <a:buNone/>
            </a:pPr>
            <a:r>
              <a:rPr lang="en-US" sz="1400" dirty="0">
                <a:solidFill>
                  <a:schemeClr val="tx1"/>
                </a:solidFill>
              </a:rPr>
              <a:t>Headings with </a:t>
            </a:r>
            <a:pPr indent="0" marL="0">
              <a:buNone/>
            </a:pPr>
            <a:r>
              <a:rPr lang="en-US" sz="1400" dirty="0">
                <a:solidFill>
                  <a:schemeClr val="accent1"/>
                </a:solidFill>
                <a:latin typeface="Courier New" pitchFamily="34" charset="0"/>
                <a:ea typeface="Courier New" pitchFamily="34" charset="-122"/>
                <a:cs typeface="Courier New" pitchFamily="34" charset="-120"/>
              </a:rPr>
              <a:t>#</a:t>
            </a:r>
            <a:pPr indent="0" marL="0">
              <a:buNone/>
            </a:pPr>
            <a:r>
              <a:rPr lang="en-US" sz="1400" dirty="0">
                <a:solidFill>
                  <a:schemeClr val="tx1"/>
                </a:solidFill>
              </a:rPr>
              <a:t>, </a:t>
            </a:r>
            <a:pPr indent="0" marL="0">
              <a:buNone/>
            </a:pPr>
            <a:r>
              <a:rPr lang="en-US" sz="1400" b="1" dirty="0">
                <a:solidFill>
                  <a:schemeClr val="tx1"/>
                </a:solidFill>
              </a:rPr>
              <a:t>bold</a:t>
            </a:r>
            <a:pPr indent="0" marL="0">
              <a:buNone/>
            </a:pPr>
            <a:r>
              <a:rPr lang="en-US" sz="1400" dirty="0">
                <a:solidFill>
                  <a:schemeClr val="tx1"/>
                </a:solidFill>
              </a:rPr>
              <a:t>, lists and links: the argument.</a:t>
            </a:r>
            <a:endParaRPr lang="en-US" sz="1400" dirty="0"/>
          </a:p>
        </p:txBody>
      </p:sp>
      <p:sp>
        <p:nvSpPr>
          <p:cNvPr id="15" name="note"/>
          <p:cNvSpPr/>
          <p:nvPr/>
        </p:nvSpPr>
        <p:spPr>
          <a:xfrm>
            <a:off x="7543800" y="461772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16" name="icon circle"/>
          <p:cNvSpPr/>
          <p:nvPr/>
        </p:nvSpPr>
        <p:spPr>
          <a:xfrm>
            <a:off x="7772400" y="4818888"/>
            <a:ext cx="548640" cy="548640"/>
          </a:xfrm>
          <a:prstGeom prst="ellipse">
            <a:avLst/>
          </a:prstGeom>
          <a:solidFill>
            <a:schemeClr val="accent3"/>
          </a:solidFill>
          <a:ln/>
        </p:spPr>
      </p:sp>
      <p:pic>
        <p:nvPicPr>
          <p:cNvPr id="17" name="Image 2" descr="FaCode">    </p:cNvPr>
          <p:cNvPicPr>
            <a:picLocks noChangeAspect="1"/>
          </p:cNvPicPr>
          <p:nvPr/>
        </p:nvPicPr>
        <p:blipFill>
          <a:blip r:embed="rId3"/>
          <a:stretch>
            <a:fillRect/>
          </a:stretch>
        </p:blipFill>
        <p:spPr>
          <a:xfrm>
            <a:off x="7909560" y="4956048"/>
            <a:ext cx="274320" cy="274320"/>
          </a:xfrm>
          <a:prstGeom prst="rect">
            <a:avLst/>
          </a:prstGeom>
        </p:spPr>
      </p:pic>
      <p:sp>
        <p:nvSpPr>
          <p:cNvPr id="18" name="Text 13"/>
          <p:cNvSpPr txBox="1"/>
          <p:nvPr/>
        </p:nvSpPr>
        <p:spPr>
          <a:xfrm>
            <a:off x="8458200" y="480060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Code chunks</a:t>
            </a:r>
            <a:endParaRPr lang="en-US" sz="1600" dirty="0"/>
          </a:p>
        </p:txBody>
      </p:sp>
      <p:sp>
        <p:nvSpPr>
          <p:cNvPr id="19" name="Text 14"/>
          <p:cNvSpPr txBox="1"/>
          <p:nvPr/>
        </p:nvSpPr>
        <p:spPr>
          <a:xfrm>
            <a:off x="7772400" y="5440680"/>
            <a:ext cx="3611880" cy="502920"/>
          </a:xfrm>
          <a:prstGeom prst="rect">
            <a:avLst/>
          </a:prstGeom>
          <a:noFill/>
          <a:ln/>
        </p:spPr>
        <p:txBody>
          <a:bodyPr wrap="square" lIns="0" tIns="0" rIns="0" bIns="0" rtlCol="0" anchor="t"/>
          <a:lstStyle/>
          <a:p>
            <a:pPr indent="0" marL="0">
              <a:buNone/>
            </a:pPr>
            <a:r>
              <a:rPr lang="en-US" sz="1400" dirty="0">
                <a:solidFill>
                  <a:schemeClr val="tx1"/>
                </a:solidFill>
              </a:rPr>
              <a:t>R code that runs when the report renders. </a:t>
            </a:r>
            <a:pPr indent="0" marL="0">
              <a:buNone/>
            </a:pPr>
            <a:r>
              <a:rPr lang="en-US" sz="1400" dirty="0">
                <a:solidFill>
                  <a:schemeClr val="accent1"/>
                </a:solidFill>
                <a:latin typeface="Courier New" pitchFamily="34" charset="0"/>
                <a:ea typeface="Courier New" pitchFamily="34" charset="-122"/>
                <a:cs typeface="Courier New" pitchFamily="34" charset="-120"/>
              </a:rPr>
              <a:t>#|</a:t>
            </a:r>
            <a:pPr indent="0" marL="0">
              <a:buNone/>
            </a:pPr>
            <a:r>
              <a:rPr lang="en-US" sz="1400" dirty="0">
                <a:solidFill>
                  <a:schemeClr val="tx1"/>
                </a:solidFill>
              </a:rPr>
              <a:t> lines set labels and captions.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Dynamic values, tables and figures</a:t>
            </a:r>
            <a:endParaRPr lang="en-US" sz="3200" dirty="0"/>
          </a:p>
        </p:txBody>
      </p:sp>
      <p:sp>
        <p:nvSpPr>
          <p:cNvPr id="3" name="card"/>
          <p:cNvSpPr/>
          <p:nvPr/>
        </p:nvSpPr>
        <p:spPr>
          <a:xfrm>
            <a:off x="548640" y="1371600"/>
            <a:ext cx="3535680" cy="3351276"/>
          </a:xfrm>
          <a:prstGeom prst="roundRect">
            <a:avLst>
              <a:gd name="adj" fmla="val 3274"/>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Magic">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Inline R</a:t>
            </a:r>
            <a:endParaRPr lang="en-US" sz="1700" dirty="0"/>
          </a:p>
        </p:txBody>
      </p:sp>
      <p:sp>
        <p:nvSpPr>
          <p:cNvPr id="7" name="Text 4"/>
          <p:cNvSpPr txBox="1"/>
          <p:nvPr/>
        </p:nvSpPr>
        <p:spPr>
          <a:xfrm>
            <a:off x="777240" y="2871216"/>
            <a:ext cx="3078480" cy="1741932"/>
          </a:xfrm>
          <a:prstGeom prst="rect">
            <a:avLst/>
          </a:prstGeom>
          <a:noFill/>
          <a:ln/>
        </p:spPr>
        <p:txBody>
          <a:bodyPr wrap="square" lIns="0" tIns="0" rIns="0" bIns="0" rtlCol="0" anchor="t"/>
          <a:lstStyle/>
          <a:p>
            <a:pPr indent="0" marL="0">
              <a:buNone/>
            </a:pPr>
            <a:r>
              <a:rPr lang="en-US" sz="1800" dirty="0">
                <a:solidFill>
                  <a:schemeClr val="accent5"/>
                </a:solidFill>
              </a:rPr>
              <a:t>Write </a:t>
            </a:r>
            <a:pPr indent="0" marL="0">
              <a:buNone/>
            </a:pPr>
            <a:r>
              <a:rPr lang="en-US" sz="1800" dirty="0">
                <a:solidFill>
                  <a:schemeClr val="accent1"/>
                </a:solidFill>
                <a:latin typeface="Courier New" pitchFamily="34" charset="0"/>
                <a:ea typeface="Courier New" pitchFamily="34" charset="-122"/>
                <a:cs typeface="Courier New" pitchFamily="34" charset="-120"/>
              </a:rPr>
              <a:t>r round(mean(y), 2)</a:t>
            </a:r>
            <a:pPr indent="0" marL="0">
              <a:buNone/>
            </a:pPr>
            <a:r>
              <a:rPr lang="en-US" sz="1800" dirty="0">
                <a:solidFill>
                  <a:schemeClr val="accent5"/>
                </a:solidFill>
              </a:rPr>
              <a:t> between back-ticks in a sentence to insert a computed value. Change the data; the sentence updates.</a:t>
            </a:r>
            <a:endParaRPr lang="en-US" sz="1800" dirty="0"/>
          </a:p>
        </p:txBody>
      </p:sp>
      <p:sp>
        <p:nvSpPr>
          <p:cNvPr id="8" name="card"/>
          <p:cNvSpPr/>
          <p:nvPr/>
        </p:nvSpPr>
        <p:spPr>
          <a:xfrm>
            <a:off x="4312920" y="1371600"/>
            <a:ext cx="3535680" cy="3351276"/>
          </a:xfrm>
          <a:prstGeom prst="roundRect">
            <a:avLst>
              <a:gd name="adj" fmla="val 3274"/>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Table">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Tables</a:t>
            </a:r>
            <a:endParaRPr lang="en-US" sz="1700" dirty="0"/>
          </a:p>
        </p:txBody>
      </p:sp>
      <p:sp>
        <p:nvSpPr>
          <p:cNvPr id="12" name="Text 8"/>
          <p:cNvSpPr txBox="1"/>
          <p:nvPr/>
        </p:nvSpPr>
        <p:spPr>
          <a:xfrm>
            <a:off x="4541520" y="2871216"/>
            <a:ext cx="3078480" cy="174193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knitr::kable()</a:t>
            </a:r>
            <a:pPr indent="0" marL="0">
              <a:buNone/>
            </a:pPr>
            <a:r>
              <a:rPr lang="en-US" sz="1800" dirty="0">
                <a:solidFill>
                  <a:schemeClr val="accent5"/>
                </a:solidFill>
              </a:rPr>
              <a:t> formats a data frame; captions and labels allow </a:t>
            </a:r>
            <a:pPr indent="0" marL="0">
              <a:buNone/>
            </a:pPr>
            <a:r>
              <a:rPr lang="en-US" sz="1800" dirty="0">
                <a:solidFill>
                  <a:schemeClr val="accent1"/>
                </a:solidFill>
                <a:latin typeface="Courier New" pitchFamily="34" charset="0"/>
                <a:ea typeface="Courier New" pitchFamily="34" charset="-122"/>
                <a:cs typeface="Courier New" pitchFamily="34" charset="-120"/>
              </a:rPr>
              <a:t>@tbl-means</a:t>
            </a:r>
            <a:pPr indent="0" marL="0">
              <a:buNone/>
            </a:pPr>
            <a:r>
              <a:rPr lang="en-US" sz="1800" dirty="0">
                <a:solidFill>
                  <a:schemeClr val="accent5"/>
                </a:solidFill>
              </a:rPr>
              <a:t> cross-references.</a:t>
            </a:r>
            <a:endParaRPr lang="en-US" sz="1800" dirty="0"/>
          </a:p>
        </p:txBody>
      </p:sp>
      <p:sp>
        <p:nvSpPr>
          <p:cNvPr id="13" name="card"/>
          <p:cNvSpPr/>
          <p:nvPr/>
        </p:nvSpPr>
        <p:spPr>
          <a:xfrm>
            <a:off x="8077200" y="1371600"/>
            <a:ext cx="3535680" cy="3351276"/>
          </a:xfrm>
          <a:prstGeom prst="roundRect">
            <a:avLst>
              <a:gd name="adj" fmla="val 3274"/>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3"/>
          </a:solidFill>
          <a:ln/>
        </p:spPr>
      </p:sp>
      <p:pic>
        <p:nvPicPr>
          <p:cNvPr id="15" name="Image 2" descr="FaChartBar">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Figures</a:t>
            </a:r>
            <a:endParaRPr lang="en-US" sz="1700" dirty="0"/>
          </a:p>
        </p:txBody>
      </p:sp>
      <p:sp>
        <p:nvSpPr>
          <p:cNvPr id="17" name="Text 12"/>
          <p:cNvSpPr txBox="1"/>
          <p:nvPr/>
        </p:nvSpPr>
        <p:spPr>
          <a:xfrm>
            <a:off x="8305800" y="2871216"/>
            <a:ext cx="3078480" cy="174193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 fig-cap:</a:t>
            </a:r>
            <a:pPr indent="0" marL="0">
              <a:buNone/>
            </a:pPr>
            <a:r>
              <a:rPr lang="en-US" sz="1800" dirty="0">
                <a:solidFill>
                  <a:schemeClr val="accent5"/>
                </a:solidFill>
              </a:rPr>
              <a:t> and </a:t>
            </a:r>
            <a:pPr indent="0" marL="0">
              <a:buNone/>
            </a:pPr>
            <a:r>
              <a:rPr lang="en-US" sz="1800" dirty="0">
                <a:solidFill>
                  <a:schemeClr val="accent1"/>
                </a:solidFill>
                <a:latin typeface="Courier New" pitchFamily="34" charset="0"/>
                <a:ea typeface="Courier New" pitchFamily="34" charset="-122"/>
                <a:cs typeface="Courier New" pitchFamily="34" charset="-120"/>
              </a:rPr>
              <a:t>#| fig-width:</a:t>
            </a:r>
            <a:pPr indent="0" marL="0">
              <a:buNone/>
            </a:pPr>
            <a:r>
              <a:rPr lang="en-US" sz="1800" dirty="0">
                <a:solidFill>
                  <a:schemeClr val="accent5"/>
                </a:solidFill>
              </a:rPr>
              <a:t>; round numbers for display only, at sensible precision.</a:t>
            </a:r>
            <a:endParaRPr lang="en-US" sz="1800" dirty="0"/>
          </a:p>
        </p:txBody>
      </p:sp>
      <p:sp>
        <p:nvSpPr>
          <p:cNvPr id="18" name="key idea"/>
          <p:cNvSpPr/>
          <p:nvPr/>
        </p:nvSpPr>
        <p:spPr>
          <a:xfrm>
            <a:off x="548640" y="499719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99719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Never type a result into the text by hand. Extract it from executed output so text and tables cannot disagree.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Quarto and R Markdown</a:t>
            </a:r>
            <a:endParaRPr lang="en-US" sz="3200" dirty="0"/>
          </a:p>
        </p:txBody>
      </p:sp>
      <p:sp>
        <p:nvSpPr>
          <p:cNvPr id="3" name="card"/>
          <p:cNvSpPr/>
          <p:nvPr/>
        </p:nvSpPr>
        <p:spPr>
          <a:xfrm>
            <a:off x="548640" y="1371600"/>
            <a:ext cx="5440680" cy="3886200"/>
          </a:xfrm>
          <a:prstGeom prst="roundRect">
            <a:avLst>
              <a:gd name="adj" fmla="val 2824"/>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68680" y="1645920"/>
            <a:ext cx="731520" cy="731520"/>
          </a:xfrm>
          <a:prstGeom prst="ellipse">
            <a:avLst/>
          </a:prstGeom>
          <a:solidFill>
            <a:schemeClr val="accent5"/>
          </a:solidFill>
          <a:ln/>
        </p:spPr>
      </p:sp>
      <p:pic>
        <p:nvPicPr>
          <p:cNvPr id="5" name="Image 0" descr="FaFileAlt">    </p:cNvPr>
          <p:cNvPicPr>
            <a:picLocks noChangeAspect="1"/>
          </p:cNvPicPr>
          <p:nvPr/>
        </p:nvPicPr>
        <p:blipFill>
          <a:blip r:embed="rId1"/>
          <a:stretch>
            <a:fillRect/>
          </a:stretch>
        </p:blipFill>
        <p:spPr>
          <a:xfrm>
            <a:off x="1051560" y="1828800"/>
            <a:ext cx="365760" cy="365760"/>
          </a:xfrm>
          <a:prstGeom prst="rect">
            <a:avLst/>
          </a:prstGeom>
        </p:spPr>
      </p:pic>
      <p:sp>
        <p:nvSpPr>
          <p:cNvPr id="6" name="Text 3"/>
          <p:cNvSpPr txBox="1"/>
          <p:nvPr/>
        </p:nvSpPr>
        <p:spPr>
          <a:xfrm>
            <a:off x="1783080" y="1645920"/>
            <a:ext cx="4023360" cy="731520"/>
          </a:xfrm>
          <a:prstGeom prst="rect">
            <a:avLst/>
          </a:prstGeom>
          <a:noFill/>
          <a:ln/>
        </p:spPr>
        <p:txBody>
          <a:bodyPr wrap="square" lIns="0" tIns="0" rIns="0" bIns="0" rtlCol="0" anchor="ctr"/>
          <a:lstStyle/>
          <a:p>
            <a:pPr indent="0" marL="0">
              <a:buNone/>
            </a:pPr>
            <a:r>
              <a:rPr lang="en-US" sz="2000" b="1" dirty="0">
                <a:solidFill>
                  <a:schemeClr val="tx2"/>
                </a:solidFill>
              </a:rPr>
              <a:t>R Markdown (.Rmd)</a:t>
            </a:r>
            <a:endParaRPr lang="en-US" sz="2000" dirty="0"/>
          </a:p>
        </p:txBody>
      </p:sp>
      <p:sp>
        <p:nvSpPr>
          <p:cNvPr id="7" name="Text 4"/>
          <p:cNvSpPr txBox="1"/>
          <p:nvPr/>
        </p:nvSpPr>
        <p:spPr>
          <a:xfrm>
            <a:off x="86868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The established format, still part of the syllabus</a:t>
            </a:r>
            <a:endParaRPr lang="en-US" sz="1600" dirty="0"/>
          </a:p>
          <a:p>
            <a:pPr marL="228600" indent="-228600">
              <a:spcAft>
                <a:spcPts val="800"/>
              </a:spcAft>
              <a:buSzPct val="100000"/>
              <a:buChar char="•"/>
            </a:pPr>
            <a:r>
              <a:rPr lang="en-US" sz="1600" dirty="0">
                <a:solidFill>
                  <a:schemeClr val="tx1"/>
                </a:solidFill>
              </a:rPr>
              <a:t>Rendered with rmarkdown::render() or the Knit button</a:t>
            </a:r>
            <a:endParaRPr lang="en-US" sz="1600" dirty="0"/>
          </a:p>
          <a:p>
            <a:pPr marL="228600" indent="-228600">
              <a:spcAft>
                <a:spcPts val="800"/>
              </a:spcAft>
              <a:buSzPct val="100000"/>
              <a:buChar char="•"/>
            </a:pPr>
            <a:r>
              <a:rPr lang="en-US" sz="1600" dirty="0">
                <a:solidFill>
                  <a:schemeClr val="tx1"/>
                </a:solidFill>
              </a:rPr>
              <a:t>Output set with output: html_document</a:t>
            </a:r>
            <a:endParaRPr lang="en-US" sz="1600" dirty="0"/>
          </a:p>
        </p:txBody>
      </p:sp>
      <p:sp>
        <p:nvSpPr>
          <p:cNvPr id="8" name="card"/>
          <p:cNvSpPr/>
          <p:nvPr/>
        </p:nvSpPr>
        <p:spPr>
          <a:xfrm>
            <a:off x="6172200" y="1371600"/>
            <a:ext cx="5440680" cy="3886200"/>
          </a:xfrm>
          <a:prstGeom prst="roundRect">
            <a:avLst>
              <a:gd name="adj" fmla="val 2824"/>
            </a:avLst>
          </a:prstGeom>
          <a:solidFill>
            <a:schemeClr val="tx2"/>
          </a:solidFill>
          <a:ln/>
          <a:effectLst>
            <a:outerShdw sx="100000" sy="100000" kx="0" ky="0" algn="bl" rotWithShape="0" blurRad="76200" dist="25400" dir="5400000">
              <a:srgbClr val="8A97AB">
                <a:alpha val="25000"/>
              </a:srgbClr>
            </a:outerShdw>
          </a:effectLst>
        </p:spPr>
      </p:sp>
      <p:sp>
        <p:nvSpPr>
          <p:cNvPr id="9" name="icon circle"/>
          <p:cNvSpPr/>
          <p:nvPr/>
        </p:nvSpPr>
        <p:spPr>
          <a:xfrm>
            <a:off x="6492240" y="1645920"/>
            <a:ext cx="731520" cy="731520"/>
          </a:xfrm>
          <a:prstGeom prst="ellipse">
            <a:avLst/>
          </a:prstGeom>
          <a:solidFill>
            <a:schemeClr val="accent2"/>
          </a:solidFill>
          <a:ln/>
        </p:spPr>
      </p:sp>
      <p:pic>
        <p:nvPicPr>
          <p:cNvPr id="10" name="Image 1" descr="FaFileCode">    </p:cNvPr>
          <p:cNvPicPr>
            <a:picLocks noChangeAspect="1"/>
          </p:cNvPicPr>
          <p:nvPr/>
        </p:nvPicPr>
        <p:blipFill>
          <a:blip r:embed="rId2"/>
          <a:stretch>
            <a:fillRect/>
          </a:stretch>
        </p:blipFill>
        <p:spPr>
          <a:xfrm>
            <a:off x="6675120" y="1828800"/>
            <a:ext cx="365760" cy="365760"/>
          </a:xfrm>
          <a:prstGeom prst="rect">
            <a:avLst/>
          </a:prstGeom>
        </p:spPr>
      </p:pic>
      <p:sp>
        <p:nvSpPr>
          <p:cNvPr id="11" name="Text 7"/>
          <p:cNvSpPr txBox="1"/>
          <p:nvPr/>
        </p:nvSpPr>
        <p:spPr>
          <a:xfrm>
            <a:off x="7406640" y="1645920"/>
            <a:ext cx="4023360" cy="731520"/>
          </a:xfrm>
          <a:prstGeom prst="rect">
            <a:avLst/>
          </a:prstGeom>
          <a:noFill/>
          <a:ln/>
        </p:spPr>
        <p:txBody>
          <a:bodyPr wrap="square" lIns="0" tIns="0" rIns="0" bIns="0" rtlCol="0" anchor="ctr"/>
          <a:lstStyle/>
          <a:p>
            <a:pPr indent="0" marL="0">
              <a:buNone/>
            </a:pPr>
            <a:r>
              <a:rPr lang="en-US" sz="2000" b="1" dirty="0">
                <a:solidFill>
                  <a:schemeClr val="bg1"/>
                </a:solidFill>
              </a:rPr>
              <a:t>Quarto (.qmd)</a:t>
            </a:r>
            <a:endParaRPr lang="en-US" sz="2000" dirty="0"/>
          </a:p>
        </p:txBody>
      </p:sp>
      <p:sp>
        <p:nvSpPr>
          <p:cNvPr id="12" name="Text 8"/>
          <p:cNvSpPr txBox="1"/>
          <p:nvPr/>
        </p:nvSpPr>
        <p:spPr>
          <a:xfrm>
            <a:off x="649224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The newer multi-language system from Posit</a:t>
            </a:r>
            <a:endParaRPr lang="en-US" sz="1600" dirty="0"/>
          </a:p>
          <a:p>
            <a:pPr marL="228600" indent="-228600">
              <a:spcAft>
                <a:spcPts val="800"/>
              </a:spcAft>
              <a:buSzPct val="100000"/>
              <a:buChar char="•"/>
            </a:pPr>
            <a:r>
              <a:rPr lang="en-US" sz="1600" dirty="0">
                <a:solidFill>
                  <a:schemeClr val="bg1"/>
                </a:solidFill>
              </a:rPr>
              <a:t>Rendered with quarto render or the Render button</a:t>
            </a:r>
            <a:endParaRPr lang="en-US" sz="1600" dirty="0"/>
          </a:p>
          <a:p>
            <a:pPr marL="228600" indent="-228600">
              <a:spcAft>
                <a:spcPts val="800"/>
              </a:spcAft>
              <a:buSzPct val="100000"/>
              <a:buChar char="•"/>
            </a:pPr>
            <a:r>
              <a:rPr lang="en-US" sz="1600" dirty="0">
                <a:solidFill>
                  <a:schemeClr val="bg1"/>
                </a:solidFill>
              </a:rPr>
              <a:t>Output set with format: html; books and websites too</a:t>
            </a:r>
            <a:endParaRPr lang="en-US" sz="1600" dirty="0"/>
          </a:p>
        </p:txBody>
      </p:sp>
      <p:sp>
        <p:nvSpPr>
          <p:cNvPr id="13" name="key idea"/>
          <p:cNvSpPr/>
          <p:nvPr/>
        </p:nvSpPr>
        <p:spPr>
          <a:xfrm>
            <a:off x="548640" y="5440680"/>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The ideas are the same: text, code chunks and a header. Learn one well and the other follows.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Managing chunks, and rendering</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```{r}</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label: setup</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include: false</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library(dplyr)</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crop &lt;- read.csv("data/crop_trial.csv")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In the Terminal:</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quarto render report.qmd --to html</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quarto render report.qmd --to docx</a:t>
            </a:r>
            <a:endParaRPr lang="en-US" sz="1500" dirty="0"/>
          </a:p>
          <a:p>
            <a:pPr indent="0" marL="0">
              <a:spcAft>
                <a:spcPts val="200"/>
              </a:spcAft>
              <a:buNone/>
            </a:pPr>
            <a:r>
              <a:rPr lang="en-US" sz="1500" dirty="0">
                <a:solidFill>
                  <a:schemeClr val="accent2"/>
                </a:solidFill>
                <a:latin typeface="Courier New" pitchFamily="34" charset="0"/>
                <a:ea typeface="Courier New" pitchFamily="34" charset="-122"/>
                <a:cs typeface="Courier New" pitchFamily="34" charset="-120"/>
              </a:rPr>
              <a:t>#   quarto render report.qmd --to pdf   # needs LaTeX</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SlidersH">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Chunk options</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echo: false runs code, hides it</a:t>
            </a:r>
            <a:endParaRPr lang="en-US" sz="1400" dirty="0"/>
          </a:p>
          <a:p>
            <a:pPr marL="228600" indent="-228600">
              <a:spcAft>
                <a:spcPts val="800"/>
              </a:spcAft>
              <a:buSzPct val="100000"/>
              <a:buChar char="•"/>
            </a:pPr>
            <a:r>
              <a:rPr lang="en-US" sz="1400" dirty="0">
                <a:solidFill>
                  <a:schemeClr val="tx1"/>
                </a:solidFill>
              </a:rPr>
              <a:t>eval: false shows code, does not run it</a:t>
            </a:r>
            <a:endParaRPr lang="en-US" sz="1400" dirty="0"/>
          </a:p>
          <a:p>
            <a:pPr marL="228600" indent="-228600">
              <a:spcAft>
                <a:spcPts val="800"/>
              </a:spcAft>
              <a:buSzPct val="100000"/>
              <a:buChar char="•"/>
            </a:pPr>
            <a:r>
              <a:rPr lang="en-US" sz="1400" dirty="0">
                <a:solidFill>
                  <a:schemeClr val="tx1"/>
                </a:solidFill>
              </a:rPr>
              <a:t>include: false runs, shows nothing</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LayerGroup">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Build in stages</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Setup chunk first; then data, then analysis, then figures. Render often.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Reproducibility is also an assessment</a:t>
            </a:r>
            <a:endParaRPr lang="en-US" sz="3200" dirty="0"/>
          </a:p>
        </p:txBody>
      </p:sp>
      <p:sp>
        <p:nvSpPr>
          <p:cNvPr id="3" name="card"/>
          <p:cNvSpPr/>
          <p:nvPr/>
        </p:nvSpPr>
        <p:spPr>
          <a:xfrm>
            <a:off x="54864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FolderOpen">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Complete project</a:t>
            </a:r>
            <a:endParaRPr lang="en-US" sz="1700" dirty="0"/>
          </a:p>
        </p:txBody>
      </p:sp>
      <p:sp>
        <p:nvSpPr>
          <p:cNvPr id="7" name="Text 4"/>
          <p:cNvSpPr txBox="1"/>
          <p:nvPr/>
        </p:nvSpPr>
        <p:spPr>
          <a:xfrm>
            <a:off x="77724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Raw data, cleaning script, report source and rendered output in one project folder.</a:t>
            </a:r>
            <a:endParaRPr lang="en-US" sz="1800" dirty="0"/>
          </a:p>
        </p:txBody>
      </p:sp>
      <p:sp>
        <p:nvSpPr>
          <p:cNvPr id="8" name="card"/>
          <p:cNvSpPr/>
          <p:nvPr/>
        </p:nvSpPr>
        <p:spPr>
          <a:xfrm>
            <a:off x="431292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Redo">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Fresh session</a:t>
            </a:r>
            <a:endParaRPr lang="en-US" sz="1700" dirty="0"/>
          </a:p>
        </p:txBody>
      </p:sp>
      <p:sp>
        <p:nvSpPr>
          <p:cNvPr id="12" name="Text 8"/>
          <p:cNvSpPr txBox="1"/>
          <p:nvPr/>
        </p:nvSpPr>
        <p:spPr>
          <a:xfrm>
            <a:off x="454152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Restart R and render. Hidden Console history is the most common reason a report fails elsewhere.</a:t>
            </a:r>
            <a:endParaRPr lang="en-US" sz="1800" dirty="0"/>
          </a:p>
        </p:txBody>
      </p:sp>
      <p:sp>
        <p:nvSpPr>
          <p:cNvPr id="13" name="card"/>
          <p:cNvSpPr/>
          <p:nvPr/>
        </p:nvSpPr>
        <p:spPr>
          <a:xfrm>
            <a:off x="807720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3"/>
          </a:solidFill>
          <a:ln/>
        </p:spPr>
      </p:sp>
      <p:pic>
        <p:nvPicPr>
          <p:cNvPr id="15" name="Image 2" descr="FaUserFriends">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A classmate renders it</a:t>
            </a:r>
            <a:endParaRPr lang="en-US" sz="1700" dirty="0"/>
          </a:p>
        </p:txBody>
      </p:sp>
      <p:sp>
        <p:nvSpPr>
          <p:cNvPr id="17" name="Text 12"/>
          <p:cNvSpPr txBox="1"/>
          <p:nvPr/>
        </p:nvSpPr>
        <p:spPr>
          <a:xfrm>
            <a:off x="830580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If it fails, find the missing file, package, path or manual step, and fix it in the project.</a:t>
            </a:r>
            <a:endParaRPr lang="en-US" sz="1800" dirty="0"/>
          </a:p>
        </p:txBody>
      </p:sp>
      <p:sp>
        <p:nvSpPr>
          <p:cNvPr id="18" name="key idea"/>
          <p:cNvSpPr/>
          <p:nvPr/>
        </p:nvSpPr>
        <p:spPr>
          <a:xfrm>
            <a:off x="548640" y="470001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70001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 report can be computationally reproducible and scientifically weak. Read the rendered document as a reader would.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16 and exercises</a:t>
            </a:r>
            <a:endParaRPr lang="en-US" sz="3200" dirty="0"/>
          </a:p>
        </p:txBody>
      </p:sp>
      <p:sp>
        <p:nvSpPr>
          <p:cNvPr id="3" name="card"/>
          <p:cNvSpPr/>
          <p:nvPr/>
        </p:nvSpPr>
        <p:spPr>
          <a:xfrm>
            <a:off x="548640" y="137160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531620"/>
            <a:ext cx="502920" cy="502920"/>
          </a:xfrm>
          <a:prstGeom prst="ellipse">
            <a:avLst/>
          </a:prstGeom>
          <a:solidFill>
            <a:schemeClr val="accent1"/>
          </a:solidFill>
          <a:ln/>
        </p:spPr>
      </p:sp>
      <p:sp>
        <p:nvSpPr>
          <p:cNvPr id="5" name="Text 3"/>
          <p:cNvSpPr txBox="1"/>
          <p:nvPr/>
        </p:nvSpPr>
        <p:spPr>
          <a:xfrm>
            <a:off x="749808" y="15316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731520"/>
          </a:xfrm>
          <a:prstGeom prst="rect">
            <a:avLst/>
          </a:prstGeom>
          <a:noFill/>
          <a:ln/>
        </p:spPr>
        <p:txBody>
          <a:bodyPr wrap="square" lIns="0" tIns="0" rIns="0" bIns="0" rtlCol="0" anchor="ctr"/>
          <a:lstStyle/>
          <a:p>
            <a:pPr indent="0" marL="0">
              <a:buNone/>
            </a:pPr>
            <a:r>
              <a:rPr lang="en-US" sz="1400" dirty="0">
                <a:solidFill>
                  <a:schemeClr val="tx1"/>
                </a:solidFill>
              </a:rPr>
              <a:t>Replace the example question with one you can answer from a documented dataset: source, units, design, one table, one figure and an interpretation.</a:t>
            </a:r>
            <a:endParaRPr lang="en-US" sz="1400" dirty="0"/>
          </a:p>
        </p:txBody>
      </p:sp>
      <p:sp>
        <p:nvSpPr>
          <p:cNvPr id="7" name="card"/>
          <p:cNvSpPr/>
          <p:nvPr/>
        </p:nvSpPr>
        <p:spPr>
          <a:xfrm>
            <a:off x="548640" y="233172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491740"/>
            <a:ext cx="502920" cy="502920"/>
          </a:xfrm>
          <a:prstGeom prst="ellipse">
            <a:avLst/>
          </a:prstGeom>
          <a:solidFill>
            <a:schemeClr val="accent1"/>
          </a:solidFill>
          <a:ln/>
        </p:spPr>
      </p:sp>
      <p:sp>
        <p:nvSpPr>
          <p:cNvPr id="9" name="Text 7"/>
          <p:cNvSpPr txBox="1"/>
          <p:nvPr/>
        </p:nvSpPr>
        <p:spPr>
          <a:xfrm>
            <a:off x="749808" y="24917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377440"/>
            <a:ext cx="6629400" cy="731520"/>
          </a:xfrm>
          <a:prstGeom prst="rect">
            <a:avLst/>
          </a:prstGeom>
          <a:noFill/>
          <a:ln/>
        </p:spPr>
        <p:txBody>
          <a:bodyPr wrap="square" lIns="0" tIns="0" rIns="0" bIns="0" rtlCol="0" anchor="ctr"/>
          <a:lstStyle/>
          <a:p>
            <a:pPr indent="0" marL="0">
              <a:buNone/>
            </a:pPr>
            <a:r>
              <a:rPr lang="en-US" sz="1400" dirty="0">
                <a:solidFill>
                  <a:schemeClr val="tx1"/>
                </a:solidFill>
              </a:rPr>
              <a:t>Render HTML and Word. If LaTeX is available, render PDF and inspect all pages.</a:t>
            </a:r>
            <a:endParaRPr lang="en-US" sz="1400" dirty="0"/>
          </a:p>
        </p:txBody>
      </p:sp>
      <p:sp>
        <p:nvSpPr>
          <p:cNvPr id="11" name="card"/>
          <p:cNvSpPr/>
          <p:nvPr/>
        </p:nvSpPr>
        <p:spPr>
          <a:xfrm>
            <a:off x="548640" y="329184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451860"/>
            <a:ext cx="502920" cy="502920"/>
          </a:xfrm>
          <a:prstGeom prst="ellipse">
            <a:avLst/>
          </a:prstGeom>
          <a:solidFill>
            <a:schemeClr val="accent1"/>
          </a:solidFill>
          <a:ln/>
        </p:spPr>
      </p:sp>
      <p:sp>
        <p:nvSpPr>
          <p:cNvPr id="13" name="Text 11"/>
          <p:cNvSpPr txBox="1"/>
          <p:nvPr/>
        </p:nvSpPr>
        <p:spPr>
          <a:xfrm>
            <a:off x="749808" y="34518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337560"/>
            <a:ext cx="6629400" cy="731520"/>
          </a:xfrm>
          <a:prstGeom prst="rect">
            <a:avLst/>
          </a:prstGeom>
          <a:noFill/>
          <a:ln/>
        </p:spPr>
        <p:txBody>
          <a:bodyPr wrap="square" lIns="0" tIns="0" rIns="0" bIns="0" rtlCol="0" anchor="ctr"/>
          <a:lstStyle/>
          <a:p>
            <a:pPr indent="0" marL="0">
              <a:buNone/>
            </a:pPr>
            <a:r>
              <a:rPr lang="en-US" sz="1400" dirty="0">
                <a:solidFill>
                  <a:schemeClr val="tx1"/>
                </a:solidFill>
              </a:rPr>
              <a:t>Change one observation in a teaching copy of the data and re-render. Identify every result that should change.</a:t>
            </a:r>
            <a:endParaRPr lang="en-US" sz="1400" dirty="0"/>
          </a:p>
        </p:txBody>
      </p:sp>
      <p:sp>
        <p:nvSpPr>
          <p:cNvPr id="15" name="card"/>
          <p:cNvSpPr/>
          <p:nvPr/>
        </p:nvSpPr>
        <p:spPr>
          <a:xfrm>
            <a:off x="548640" y="425196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4411980"/>
            <a:ext cx="502920" cy="502920"/>
          </a:xfrm>
          <a:prstGeom prst="ellipse">
            <a:avLst/>
          </a:prstGeom>
          <a:solidFill>
            <a:schemeClr val="accent1"/>
          </a:solidFill>
          <a:ln/>
        </p:spPr>
      </p:sp>
      <p:sp>
        <p:nvSpPr>
          <p:cNvPr id="17" name="Text 15"/>
          <p:cNvSpPr txBox="1"/>
          <p:nvPr/>
        </p:nvSpPr>
        <p:spPr>
          <a:xfrm>
            <a:off x="749808" y="44119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4297680"/>
            <a:ext cx="6629400" cy="731520"/>
          </a:xfrm>
          <a:prstGeom prst="rect">
            <a:avLst/>
          </a:prstGeom>
          <a:noFill/>
          <a:ln/>
        </p:spPr>
        <p:txBody>
          <a:bodyPr wrap="square" lIns="0" tIns="0" rIns="0" bIns="0" rtlCol="0" anchor="ctr"/>
          <a:lstStyle/>
          <a:p>
            <a:pPr indent="0" marL="0">
              <a:buNone/>
            </a:pPr>
            <a:r>
              <a:rPr lang="en-US" sz="1400" dirty="0">
                <a:solidFill>
                  <a:schemeClr val="tx1"/>
                </a:solidFill>
              </a:rPr>
              <a:t>Explain the difference between </a:t>
            </a:r>
            <a:pPr indent="0" marL="0">
              <a:buNone/>
            </a:pPr>
            <a:r>
              <a:rPr lang="en-US" sz="1400" dirty="0">
                <a:solidFill>
                  <a:schemeClr val="accent1"/>
                </a:solidFill>
                <a:latin typeface="Courier New" pitchFamily="34" charset="0"/>
                <a:ea typeface="Courier New" pitchFamily="34" charset="-122"/>
                <a:cs typeface="Courier New" pitchFamily="34" charset="-120"/>
              </a:rPr>
              <a:t>echo: false</a:t>
            </a:r>
            <a:pPr indent="0" marL="0">
              <a:buNone/>
            </a:pPr>
            <a:r>
              <a:rPr lang="en-US" sz="1400" dirty="0">
                <a:solidFill>
                  <a:schemeClr val="tx1"/>
                </a:solidFill>
              </a:rPr>
              <a:t> and </a:t>
            </a:r>
            <a:pPr indent="0" marL="0">
              <a:buNone/>
            </a:pPr>
            <a:r>
              <a:rPr lang="en-US" sz="1400" dirty="0">
                <a:solidFill>
                  <a:schemeClr val="accent1"/>
                </a:solidFill>
                <a:latin typeface="Courier New" pitchFamily="34" charset="0"/>
                <a:ea typeface="Courier New" pitchFamily="34" charset="-122"/>
                <a:cs typeface="Courier New" pitchFamily="34" charset="-120"/>
              </a:rPr>
              <a:t>eval: false</a:t>
            </a:r>
            <a:pPr indent="0" marL="0">
              <a:buNone/>
            </a:pPr>
            <a:r>
              <a:rPr lang="en-US" sz="1400" dirty="0">
                <a:solidFill>
                  <a:schemeClr val="tx1"/>
                </a:solidFill>
              </a:rPr>
              <a:t>.</a:t>
            </a:r>
            <a:endParaRPr lang="en-US" sz="1400" dirty="0"/>
          </a:p>
        </p:txBody>
      </p:sp>
      <p:sp>
        <p:nvSpPr>
          <p:cNvPr id="19" name="card"/>
          <p:cNvSpPr/>
          <p:nvPr/>
        </p:nvSpPr>
        <p:spPr>
          <a:xfrm>
            <a:off x="548640" y="521208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5372100"/>
            <a:ext cx="502920" cy="502920"/>
          </a:xfrm>
          <a:prstGeom prst="ellipse">
            <a:avLst/>
          </a:prstGeom>
          <a:solidFill>
            <a:schemeClr val="accent1"/>
          </a:solidFill>
          <a:ln/>
        </p:spPr>
      </p:sp>
      <p:sp>
        <p:nvSpPr>
          <p:cNvPr id="21" name="Text 19"/>
          <p:cNvSpPr txBox="1"/>
          <p:nvPr/>
        </p:nvSpPr>
        <p:spPr>
          <a:xfrm>
            <a:off x="749808" y="53721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5257800"/>
            <a:ext cx="6629400" cy="731520"/>
          </a:xfrm>
          <a:prstGeom prst="rect">
            <a:avLst/>
          </a:prstGeom>
          <a:noFill/>
          <a:ln/>
        </p:spPr>
        <p:txBody>
          <a:bodyPr wrap="square" lIns="0" tIns="0" rIns="0" bIns="0" rtlCol="0" anchor="ctr"/>
          <a:lstStyle/>
          <a:p>
            <a:pPr indent="0" marL="0">
              <a:buNone/>
            </a:pPr>
            <a:r>
              <a:rPr lang="en-US" sz="1400" dirty="0">
                <a:solidFill>
                  <a:schemeClr val="tx1"/>
                </a:solidFill>
              </a:rPr>
              <a:t>Give the complete project to a classmate and ask them to render it without your Console history.</a:t>
            </a:r>
            <a:endParaRPr lang="en-US" sz="1400" dirty="0"/>
          </a:p>
        </p:txBody>
      </p:sp>
      <p:sp>
        <p:nvSpPr>
          <p:cNvPr id="23"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4"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5" name="Text 22"/>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26" name="Text 23"/>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1898015"/>
          </a:xfrm>
          <a:prstGeom prst="roundRect">
            <a:avLst>
              <a:gd name="adj" fmla="val 4818"/>
            </a:avLst>
          </a:prstGeom>
          <a:solidFill>
            <a:schemeClr val="tx1"/>
          </a:solidFill>
          <a:ln/>
        </p:spPr>
      </p:sp>
      <p:sp>
        <p:nvSpPr>
          <p:cNvPr id="4" name="Text 2"/>
          <p:cNvSpPr txBox="1"/>
          <p:nvPr/>
        </p:nvSpPr>
        <p:spPr>
          <a:xfrm>
            <a:off x="822960" y="1572768"/>
            <a:ext cx="10515600" cy="1495679"/>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yield &lt;- c(3.2, 3.8, 4.0, 3.5, 4.6, 3.9)</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result &lt;- data.frame(n = length(yield), mean = mean(yield), SD = sd(yield))</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result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cat(sprintf("Across %d simulated plots, mean yield was %.2f t/ha (SD %.2f).\n",</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result$n, result$mean, result$SD))</a:t>
            </a:r>
            <a:endParaRPr lang="en-US" sz="1700" dirty="0"/>
          </a:p>
        </p:txBody>
      </p:sp>
      <p:sp>
        <p:nvSpPr>
          <p:cNvPr id="5" name="investigate"/>
          <p:cNvSpPr/>
          <p:nvPr/>
        </p:nvSpPr>
        <p:spPr>
          <a:xfrm>
            <a:off x="548640" y="3589655"/>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3882263"/>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076573"/>
            <a:ext cx="388620" cy="388620"/>
          </a:xfrm>
          <a:prstGeom prst="rect">
            <a:avLst/>
          </a:prstGeom>
        </p:spPr>
      </p:pic>
      <p:sp>
        <p:nvSpPr>
          <p:cNvPr id="8" name="Text 5"/>
          <p:cNvSpPr txBox="1"/>
          <p:nvPr/>
        </p:nvSpPr>
        <p:spPr>
          <a:xfrm>
            <a:off x="1828800" y="3699383"/>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065143"/>
            <a:ext cx="9555480" cy="822960"/>
          </a:xfrm>
          <a:prstGeom prst="rect">
            <a:avLst/>
          </a:prstGeom>
          <a:noFill/>
          <a:ln/>
        </p:spPr>
        <p:txBody>
          <a:bodyPr wrap="square" lIns="0" tIns="0" rIns="0" bIns="0" rtlCol="0" anchor="t"/>
          <a:lstStyle/>
          <a:p>
            <a:pPr indent="0" marL="0">
              <a:buNone/>
            </a:pPr>
            <a:r>
              <a:rPr lang="en-US" sz="1500" dirty="0">
                <a:solidFill>
                  <a:schemeClr val="tx1"/>
                </a:solidFill>
              </a:rPr>
              <a:t>Change a yield and rerun: both the table and the sentence update. In a Quarto or R Markdown report, use a chunk for the table and inline R for values in the text.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FileCode">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One source document</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Text, code and results together.</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Magic">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No hand-typed results</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Inline R and generated tables.</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Redo">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Fresh-session render</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Restart R; let a classmate render it.</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Search">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Read it as a reader</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Reproducible is not the same as correct.</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16 · Vibe coding: writing R with an AI assistant</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Reproducible reports with R Markdown and Quarto</dc:title>
  <dc:subject>R Programming for Agricultural Data Analysis · Chapter 15</dc:subject>
  <dc:creator>Dr. Pratheesh P. Gopinath</dc:creator>
  <cp:lastModifiedBy>Dr. Pratheesh P. Gopinath</cp:lastModifiedBy>
  <cp:revision>1</cp:revision>
  <dcterms:created xsi:type="dcterms:W3CDTF">2026-10-20T10:13:43Z</dcterms:created>
  <dcterms:modified xsi:type="dcterms:W3CDTF">2026-10-20T10:13:43Z</dcterms:modified>
</cp:coreProperties>
</file>