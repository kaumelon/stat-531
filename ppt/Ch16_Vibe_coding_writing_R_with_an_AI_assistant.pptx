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de02271-44ac-7dc2-8e3f-0269cbd70d1f}">
          <p14:sldIdLst>
            <p14:sldId id="256"/>
            <p14:sldId id="257"/>
            <p14:sldId id="258"/>
            <p14:sldId id="259"/>
            <p14:sldId id="260"/>
          </p14:sldIdLst>
        </p14:section>
        <p14:section name="Catching the errors that matter" id="{a75a8b84-ba21-4625-aa8c-bcc597a56615}">
          <p14:sldIdLst>
            <p14:sldId id="261"/>
            <p14:sldId id="262"/>
            <p14:sldId id="263"/>
            <p14:sldId id="264"/>
            <p14:sldId id="265"/>
            <p14:sldId id="266"/>
            <p14:sldId id="267"/>
            <p14:sldId id="268"/>
          </p14:sldIdLst>
        </p14:section>
        <p14:section name="Review" id="{e976ff9a-0ad2-5012-fb00-71cabbbfb2db}">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final chapter, vibe coding: writing R with an AI assistant. AI assistants can draft R code in seconds. That is genuinely useful, but an assistant cannot see your experiment. In this chapter we learn to brief an assistant properly, review what it writes, catch the mistakes that matter, and keep an honest record of its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chapter you will write prompts that specify the question, data, design and output; review AI-generated R code line by line; catch the silent errors that matter, such as wrong models, invented functions and lost rows; and verify results with known answers while keeping an honest record. Throughout, remember: code that runs is only the first check, and responsibility for the analysis stays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Vibe coding is an informal term for describing what you want in ordinary language, letting an AI system write the code, running it and asking for changes. The term is often associated with accepting the details without examining them. For statistical work, we keep the fast start but add review: every line is read, the design and units are stated in the prompt, and results are verified and recorded. A request such as make a colourful graph of crop yields leaves out the data structure, the units, the experimental unit and the purpose, so the assistant has to guess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AI-assisted analysis works as a loop, with each pass small enough to check. Describe the question, the experimental unit, the columns and their units, and the design. Generate one small step with explanations. Read every line and check that each function exists. Run it in a fresh session, watching for errors, warnings and row counts. Verify one result independently. And record the prompt and the changes you made. If you cannot explain a line, ask for an explanation, confirm it with R's help, and do not submit it until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reusable prompt template has two halves. First, context and data: say you are an undergraduate learning R, name the data frame and what one row represents, list the columns with their units, and paste the output of str or of dput of the first few rows, which tells the assistant the exact names and types without sending the whole dataset. Second, the design, task and limits: describe the design and how it was randomized, ask for one specific step, state constraints such as base R only and no deleting or imputing, and ask how to verify the result. Share only simulated or permitted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dangerous errors are not the ones that stop with a message. They are the ones that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a student asks, write R code to do ANOVA on my variety trial. A typical first draft runs and gives a significant result. But read the ANOVA table: block has one degree of freedom, although there are four blocks. Because block was read as a number, R fitted a straight-line trend in block number. Converting block and variety to factors gives three degrees of freedom for blocks and the correct error. Another common draft simply leaves blocks out, treating a randomized block design as completely randomized. Neither is a coding error; both are design errors. Comparing the degrees of freedom in the table with those the design implies catches both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Assistants sometimes suggest functions or arguments that sound right but do not exist. Before trusting a suggestion, ask R: exists tells you whether a function is available, the question mark opens its help, find shows which package provides it, and args or formals list the arguments it actually accepts. The surest verification is a known answer. Our toy example from chapter twelve has a treatment sum of squares of six and an F of three; any ANOVA code, written by you or by an assistant, must reproduce those values. Stop if not keeps that check in your script, protecting it from later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code fails, give the assistant what a human helper would need: the exact error, the failing line, and a small example of the data. This is a minimal reproducible example, or reprex. Dput prints R code that recreates the data frame exactly, including column types. Ask the assistant to explain the cause before changing anything, and to change only the lines involved. Avoid a loop of repeatedly asking for fixes to a long script without checking what changed; each fix can hide a new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of a project has its own risk, so add a protective sentence to each prompt. When importing, ask for str afterwards and state the missing-value codes. When cleaning, ask for flags, not deletions. When joining, name the key and ask for row counts. For graphs, ask for individual plots and units. For designs, describe the structure exactly, such as main plots, subplots and the two error terms. And when asking for a results paragraph, insist that it uses only numbers from your output, with no new claims or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AI assistants responsibly. Research data may belong to your institution, a farmer or a funding agency, so do not paste confidential data into an external service; a simulated example with the same structure usually works. Follow your course's rules on AI assistance and acknowledge it where it is allowed, for example: an AI assistant drafted the import and plotting code, and all code was reviewed, tested and corrected by the author. And report honestly: the methods must describe the analysis you actually ran. Never invent data, results or citations, and check every reference, because assistants sometimes produce references that do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seventeen. Use the model prompt and compare the answer with the reference solution, including edge cases. Ask for a factorial ANOVA without and then with the design described, and compare. Confirm that suggested functions exist. Write a known-answer test for a critical difference function. Build a reprex for a real error. And write an acknowledgement statement. Submit the prompts, the reviewed code, your verification results and an account of what you accepted or corrected, and be ready to explain every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laboratory contains a generated analysis with a mistake in it. Compare the degrees of freedom in the ANOVA table with the expected values printed below it. Find the wrong term, explain why it is wrong, fix it with factor, and see how the error mean square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brief the assistant fully, with the question, unit, columns, units and design. Read every line, confirm functions exist, and check the degrees of freedom against the design. Verify results independently with known answers. And record what you accepted and corrected, because responsibility for the analysis stays with you. That brings us to the end of the course. Bring everything together in your integrated project: a clear question, clean data, an analysis that matches the design, honest graphs, and a reproducible report.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16 · Vibe coding: writing R with an AI assistant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7  ·  CHAPTER 16</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Vibe coding: writing R with an AI assistant</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Comments">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Write a specific prompt</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Question, data, design and output</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Glasses">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Review generated code</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Every line understood before it runs</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Bug">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Catch silent errors</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Wrong models, invented functions, lost rows</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ClipboardList">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Verify and record</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Known answers, a reprex and an AI log</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Code that runs is only the first check. Responsibility for the analysis stays with you.</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What vibe coding is, and where it fails</a:t>
            </a:r>
            <a:endParaRPr lang="en-US" sz="3200" dirty="0"/>
          </a:p>
        </p:txBody>
      </p:sp>
      <p:sp>
        <p:nvSpPr>
          <p:cNvPr id="3" name="card"/>
          <p:cNvSpPr/>
          <p:nvPr/>
        </p:nvSpPr>
        <p:spPr>
          <a:xfrm>
            <a:off x="548640" y="1371600"/>
            <a:ext cx="5440680" cy="3886200"/>
          </a:xfrm>
          <a:prstGeom prst="roundRect">
            <a:avLst>
              <a:gd name="adj" fmla="val 2824"/>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68680" y="1645920"/>
            <a:ext cx="731520" cy="731520"/>
          </a:xfrm>
          <a:prstGeom prst="ellipse">
            <a:avLst/>
          </a:prstGeom>
          <a:solidFill>
            <a:schemeClr val="accent5"/>
          </a:solidFill>
          <a:ln/>
        </p:spPr>
      </p:sp>
      <p:pic>
        <p:nvPicPr>
          <p:cNvPr id="5" name="Image 0" descr="FaComment">    </p:cNvPr>
          <p:cNvPicPr>
            <a:picLocks noChangeAspect="1"/>
          </p:cNvPicPr>
          <p:nvPr/>
        </p:nvPicPr>
        <p:blipFill>
          <a:blip r:embed="rId1"/>
          <a:stretch>
            <a:fillRect/>
          </a:stretch>
        </p:blipFill>
        <p:spPr>
          <a:xfrm>
            <a:off x="1051560" y="1828800"/>
            <a:ext cx="365760" cy="365760"/>
          </a:xfrm>
          <a:prstGeom prst="rect">
            <a:avLst/>
          </a:prstGeom>
        </p:spPr>
      </p:pic>
      <p:sp>
        <p:nvSpPr>
          <p:cNvPr id="6" name="Text 3"/>
          <p:cNvSpPr txBox="1"/>
          <p:nvPr/>
        </p:nvSpPr>
        <p:spPr>
          <a:xfrm>
            <a:off x="1783080" y="1645920"/>
            <a:ext cx="4023360" cy="731520"/>
          </a:xfrm>
          <a:prstGeom prst="rect">
            <a:avLst/>
          </a:prstGeom>
          <a:noFill/>
          <a:ln/>
        </p:spPr>
        <p:txBody>
          <a:bodyPr wrap="square" lIns="0" tIns="0" rIns="0" bIns="0" rtlCol="0" anchor="ctr"/>
          <a:lstStyle/>
          <a:p>
            <a:pPr indent="0" marL="0">
              <a:buNone/>
            </a:pPr>
            <a:r>
              <a:rPr lang="en-US" sz="2000" b="1" dirty="0">
                <a:solidFill>
                  <a:schemeClr val="tx2"/>
                </a:solidFill>
              </a:rPr>
              <a:t>Vibe coding</a:t>
            </a:r>
            <a:endParaRPr lang="en-US" sz="2000" dirty="0"/>
          </a:p>
        </p:txBody>
      </p:sp>
      <p:sp>
        <p:nvSpPr>
          <p:cNvPr id="7" name="Text 4"/>
          <p:cNvSpPr txBox="1"/>
          <p:nvPr/>
        </p:nvSpPr>
        <p:spPr>
          <a:xfrm>
            <a:off x="86868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Describe what you want in plain language</a:t>
            </a:r>
            <a:endParaRPr lang="en-US" sz="1600" dirty="0"/>
          </a:p>
          <a:p>
            <a:pPr marL="228600" indent="-228600">
              <a:spcAft>
                <a:spcPts val="800"/>
              </a:spcAft>
              <a:buSzPct val="100000"/>
              <a:buChar char="•"/>
            </a:pPr>
            <a:r>
              <a:rPr lang="en-US" sz="1600" dirty="0">
                <a:solidFill>
                  <a:schemeClr val="tx1"/>
                </a:solidFill>
              </a:rPr>
              <a:t>Let the AI write the code, run it, ask for changes</a:t>
            </a:r>
            <a:endParaRPr lang="en-US" sz="1600" dirty="0"/>
          </a:p>
          <a:p>
            <a:pPr marL="228600" indent="-228600">
              <a:spcAft>
                <a:spcPts val="800"/>
              </a:spcAft>
              <a:buSzPct val="100000"/>
              <a:buChar char="•"/>
            </a:pPr>
            <a:r>
              <a:rPr lang="en-US" sz="1600" dirty="0">
                <a:solidFill>
                  <a:schemeClr val="tx1"/>
                </a:solidFill>
              </a:rPr>
              <a:t>Often means accepting details without reading them</a:t>
            </a:r>
            <a:endParaRPr lang="en-US" sz="1600" dirty="0"/>
          </a:p>
        </p:txBody>
      </p:sp>
      <p:sp>
        <p:nvSpPr>
          <p:cNvPr id="8" name="card"/>
          <p:cNvSpPr/>
          <p:nvPr/>
        </p:nvSpPr>
        <p:spPr>
          <a:xfrm>
            <a:off x="6172200" y="1371600"/>
            <a:ext cx="5440680" cy="3886200"/>
          </a:xfrm>
          <a:prstGeom prst="roundRect">
            <a:avLst>
              <a:gd name="adj" fmla="val 2824"/>
            </a:avLst>
          </a:prstGeom>
          <a:solidFill>
            <a:schemeClr val="tx2"/>
          </a:solidFill>
          <a:ln/>
          <a:effectLst>
            <a:outerShdw sx="100000" sy="100000" kx="0" ky="0" algn="bl" rotWithShape="0" blurRad="76200" dist="25400" dir="5400000">
              <a:srgbClr val="8A97AB">
                <a:alpha val="25000"/>
              </a:srgbClr>
            </a:outerShdw>
          </a:effectLst>
        </p:spPr>
      </p:sp>
      <p:sp>
        <p:nvSpPr>
          <p:cNvPr id="9" name="icon circle"/>
          <p:cNvSpPr/>
          <p:nvPr/>
        </p:nvSpPr>
        <p:spPr>
          <a:xfrm>
            <a:off x="6492240" y="1645920"/>
            <a:ext cx="731520" cy="731520"/>
          </a:xfrm>
          <a:prstGeom prst="ellipse">
            <a:avLst/>
          </a:prstGeom>
          <a:solidFill>
            <a:schemeClr val="accent2"/>
          </a:solidFill>
          <a:ln/>
        </p:spPr>
      </p:sp>
      <p:pic>
        <p:nvPicPr>
          <p:cNvPr id="10" name="Image 1" descr="FaUserCheck">    </p:cNvPr>
          <p:cNvPicPr>
            <a:picLocks noChangeAspect="1"/>
          </p:cNvPicPr>
          <p:nvPr/>
        </p:nvPicPr>
        <p:blipFill>
          <a:blip r:embed="rId2"/>
          <a:stretch>
            <a:fillRect/>
          </a:stretch>
        </p:blipFill>
        <p:spPr>
          <a:xfrm>
            <a:off x="6675120" y="1828800"/>
            <a:ext cx="365760" cy="365760"/>
          </a:xfrm>
          <a:prstGeom prst="rect">
            <a:avLst/>
          </a:prstGeom>
        </p:spPr>
      </p:pic>
      <p:sp>
        <p:nvSpPr>
          <p:cNvPr id="11" name="Text 7"/>
          <p:cNvSpPr txBox="1"/>
          <p:nvPr/>
        </p:nvSpPr>
        <p:spPr>
          <a:xfrm>
            <a:off x="7406640" y="1645920"/>
            <a:ext cx="4023360" cy="731520"/>
          </a:xfrm>
          <a:prstGeom prst="rect">
            <a:avLst/>
          </a:prstGeom>
          <a:noFill/>
          <a:ln/>
        </p:spPr>
        <p:txBody>
          <a:bodyPr wrap="square" lIns="0" tIns="0" rIns="0" bIns="0" rtlCol="0" anchor="ctr"/>
          <a:lstStyle/>
          <a:p>
            <a:pPr indent="0" marL="0">
              <a:buNone/>
            </a:pPr>
            <a:r>
              <a:rPr lang="en-US" sz="2000" b="1" dirty="0">
                <a:solidFill>
                  <a:schemeClr val="bg1"/>
                </a:solidFill>
              </a:rPr>
              <a:t>Reviewed AI-assisted programming</a:t>
            </a:r>
            <a:endParaRPr lang="en-US" sz="2000" dirty="0"/>
          </a:p>
        </p:txBody>
      </p:sp>
      <p:sp>
        <p:nvSpPr>
          <p:cNvPr id="12" name="Text 8"/>
          <p:cNvSpPr txBox="1"/>
          <p:nvPr/>
        </p:nvSpPr>
        <p:spPr>
          <a:xfrm>
            <a:off x="649224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Same fast start, but every line is read</a:t>
            </a:r>
            <a:endParaRPr lang="en-US" sz="1600" dirty="0"/>
          </a:p>
          <a:p>
            <a:pPr marL="228600" indent="-228600">
              <a:spcAft>
                <a:spcPts val="800"/>
              </a:spcAft>
              <a:buSzPct val="100000"/>
              <a:buChar char="•"/>
            </a:pPr>
            <a:r>
              <a:rPr lang="en-US" sz="1600" dirty="0">
                <a:solidFill>
                  <a:schemeClr val="bg1"/>
                </a:solidFill>
              </a:rPr>
              <a:t>Design and units stated in the prompt</a:t>
            </a:r>
            <a:endParaRPr lang="en-US" sz="1600" dirty="0"/>
          </a:p>
          <a:p>
            <a:pPr marL="228600" indent="-228600">
              <a:spcAft>
                <a:spcPts val="800"/>
              </a:spcAft>
              <a:buSzPct val="100000"/>
              <a:buChar char="•"/>
            </a:pPr>
            <a:r>
              <a:rPr lang="en-US" sz="1600" dirty="0">
                <a:solidFill>
                  <a:schemeClr val="bg1"/>
                </a:solidFill>
              </a:rPr>
              <a:t>Results verified independently and logged</a:t>
            </a:r>
            <a:endParaRPr lang="en-US" sz="1600" dirty="0"/>
          </a:p>
        </p:txBody>
      </p:sp>
      <p:sp>
        <p:nvSpPr>
          <p:cNvPr id="13" name="key idea"/>
          <p:cNvSpPr/>
          <p:nvPr/>
        </p:nvSpPr>
        <p:spPr>
          <a:xfrm>
            <a:off x="548640" y="5440680"/>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"Make a colourful graph of crop yields" omits the data structure, units, experimental unit and purpose.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The review loop</a:t>
            </a:r>
            <a:endParaRPr lang="en-US" sz="3200" dirty="0"/>
          </a:p>
        </p:txBody>
      </p:sp>
      <p:sp>
        <p:nvSpPr>
          <p:cNvPr id="3" name="card"/>
          <p:cNvSpPr/>
          <p:nvPr/>
        </p:nvSpPr>
        <p:spPr>
          <a:xfrm>
            <a:off x="548640" y="1371600"/>
            <a:ext cx="1615440" cy="3931920"/>
          </a:xfrm>
          <a:prstGeom prst="roundRect">
            <a:avLst>
              <a:gd name="adj" fmla="val 6792"/>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77240" y="1600200"/>
            <a:ext cx="594360" cy="594360"/>
          </a:xfrm>
          <a:prstGeom prst="ellipse">
            <a:avLst/>
          </a:prstGeom>
          <a:solidFill>
            <a:schemeClr val="tx2"/>
          </a:solidFill>
          <a:ln/>
        </p:spPr>
      </p:sp>
      <p:sp>
        <p:nvSpPr>
          <p:cNvPr id="5" name="Text 3"/>
          <p:cNvSpPr txBox="1"/>
          <p:nvPr/>
        </p:nvSpPr>
        <p:spPr>
          <a:xfrm>
            <a:off x="77724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6" name="icon circle"/>
          <p:cNvSpPr/>
          <p:nvPr/>
        </p:nvSpPr>
        <p:spPr>
          <a:xfrm>
            <a:off x="1341120" y="1600200"/>
            <a:ext cx="594360" cy="594360"/>
          </a:xfrm>
          <a:prstGeom prst="ellipse">
            <a:avLst/>
          </a:prstGeom>
          <a:solidFill>
            <a:schemeClr val="accent2"/>
          </a:solidFill>
          <a:ln/>
        </p:spPr>
      </p:sp>
      <p:pic>
        <p:nvPicPr>
          <p:cNvPr id="7" name="Image 0" descr="FaComments">    </p:cNvPr>
          <p:cNvPicPr>
            <a:picLocks noChangeAspect="1"/>
          </p:cNvPicPr>
          <p:nvPr/>
        </p:nvPicPr>
        <p:blipFill>
          <a:blip r:embed="rId1"/>
          <a:stretch>
            <a:fillRect/>
          </a:stretch>
        </p:blipFill>
        <p:spPr>
          <a:xfrm>
            <a:off x="1489710" y="1748790"/>
            <a:ext cx="297180" cy="297180"/>
          </a:xfrm>
          <a:prstGeom prst="rect">
            <a:avLst/>
          </a:prstGeom>
        </p:spPr>
      </p:pic>
      <p:sp>
        <p:nvSpPr>
          <p:cNvPr id="8" name="Text 5"/>
          <p:cNvSpPr txBox="1"/>
          <p:nvPr/>
        </p:nvSpPr>
        <p:spPr>
          <a:xfrm>
            <a:off x="777240" y="2377440"/>
            <a:ext cx="1158240" cy="685800"/>
          </a:xfrm>
          <a:prstGeom prst="rect">
            <a:avLst/>
          </a:prstGeom>
          <a:noFill/>
          <a:ln/>
        </p:spPr>
        <p:txBody>
          <a:bodyPr wrap="square" lIns="0" tIns="0" rIns="0" bIns="0" rtlCol="0" anchor="t"/>
          <a:lstStyle/>
          <a:p>
            <a:pPr indent="0" marL="0">
              <a:buNone/>
            </a:pPr>
            <a:r>
              <a:rPr lang="en-US" sz="1800" b="1" dirty="0">
                <a:solidFill>
                  <a:schemeClr val="tx2"/>
                </a:solidFill>
              </a:rPr>
              <a:t>Describe</a:t>
            </a:r>
            <a:endParaRPr lang="en-US" sz="1800" dirty="0"/>
          </a:p>
        </p:txBody>
      </p:sp>
      <p:sp>
        <p:nvSpPr>
          <p:cNvPr id="9" name="Text 6"/>
          <p:cNvSpPr txBox="1"/>
          <p:nvPr/>
        </p:nvSpPr>
        <p:spPr>
          <a:xfrm>
            <a:off x="777240" y="3108960"/>
            <a:ext cx="1158240" cy="2103120"/>
          </a:xfrm>
          <a:prstGeom prst="rect">
            <a:avLst/>
          </a:prstGeom>
          <a:noFill/>
          <a:ln/>
        </p:spPr>
        <p:txBody>
          <a:bodyPr wrap="square" lIns="0" tIns="0" rIns="0" bIns="0" rtlCol="0" anchor="t"/>
          <a:lstStyle/>
          <a:p>
            <a:pPr indent="0" marL="0">
              <a:buNone/>
            </a:pPr>
            <a:r>
              <a:rPr lang="en-US" sz="1400" dirty="0">
                <a:solidFill>
                  <a:schemeClr val="accent5"/>
                </a:solidFill>
              </a:rPr>
              <a:t>Question, experimental unit, columns and units, design.</a:t>
            </a:r>
            <a:endParaRPr lang="en-US" sz="1400" dirty="0"/>
          </a:p>
        </p:txBody>
      </p:sp>
      <p:sp>
        <p:nvSpPr>
          <p:cNvPr id="10" name="Shape 7"/>
          <p:cNvSpPr/>
          <p:nvPr/>
        </p:nvSpPr>
        <p:spPr>
          <a:xfrm>
            <a:off x="2182368" y="1892808"/>
            <a:ext cx="237744" cy="0"/>
          </a:xfrm>
          <a:prstGeom prst="line">
            <a:avLst/>
          </a:prstGeom>
          <a:noFill/>
          <a:ln w="25400">
            <a:solidFill>
              <a:schemeClr val="accent2"/>
            </a:solidFill>
            <a:prstDash val="solid"/>
            <a:tailEnd type="triangle"/>
          </a:ln>
        </p:spPr>
      </p:sp>
      <p:sp>
        <p:nvSpPr>
          <p:cNvPr id="11" name="card"/>
          <p:cNvSpPr/>
          <p:nvPr/>
        </p:nvSpPr>
        <p:spPr>
          <a:xfrm>
            <a:off x="2438400" y="1371600"/>
            <a:ext cx="1615440" cy="3931920"/>
          </a:xfrm>
          <a:prstGeom prst="roundRect">
            <a:avLst>
              <a:gd name="adj" fmla="val 6792"/>
            </a:avLst>
          </a:prstGeom>
          <a:solidFill>
            <a:schemeClr val="bg2"/>
          </a:solidFill>
          <a:ln/>
          <a:effectLst>
            <a:outerShdw sx="100000" sy="100000" kx="0" ky="0" algn="bl" rotWithShape="0" blurRad="76200" dist="25400" dir="5400000">
              <a:srgbClr val="8A97AB">
                <a:alpha val="25000"/>
              </a:srgbClr>
            </a:outerShdw>
          </a:effectLst>
        </p:spPr>
      </p:sp>
      <p:sp>
        <p:nvSpPr>
          <p:cNvPr id="12" name="Shape 9"/>
          <p:cNvSpPr/>
          <p:nvPr/>
        </p:nvSpPr>
        <p:spPr>
          <a:xfrm>
            <a:off x="2667000" y="1600200"/>
            <a:ext cx="594360" cy="594360"/>
          </a:xfrm>
          <a:prstGeom prst="ellipse">
            <a:avLst/>
          </a:prstGeom>
          <a:solidFill>
            <a:schemeClr val="tx2"/>
          </a:solidFill>
          <a:ln/>
        </p:spPr>
      </p:sp>
      <p:sp>
        <p:nvSpPr>
          <p:cNvPr id="13" name="Text 10"/>
          <p:cNvSpPr txBox="1"/>
          <p:nvPr/>
        </p:nvSpPr>
        <p:spPr>
          <a:xfrm>
            <a:off x="266700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4" name="icon circle"/>
          <p:cNvSpPr/>
          <p:nvPr/>
        </p:nvSpPr>
        <p:spPr>
          <a:xfrm>
            <a:off x="3230880" y="1600200"/>
            <a:ext cx="594360" cy="594360"/>
          </a:xfrm>
          <a:prstGeom prst="ellipse">
            <a:avLst/>
          </a:prstGeom>
          <a:solidFill>
            <a:schemeClr val="accent2"/>
          </a:solidFill>
          <a:ln/>
        </p:spPr>
      </p:sp>
      <p:pic>
        <p:nvPicPr>
          <p:cNvPr id="15" name="Image 1" descr="FaMagic">    </p:cNvPr>
          <p:cNvPicPr>
            <a:picLocks noChangeAspect="1"/>
          </p:cNvPicPr>
          <p:nvPr/>
        </p:nvPicPr>
        <p:blipFill>
          <a:blip r:embed="rId2"/>
          <a:stretch>
            <a:fillRect/>
          </a:stretch>
        </p:blipFill>
        <p:spPr>
          <a:xfrm>
            <a:off x="3379470" y="1748790"/>
            <a:ext cx="297180" cy="297180"/>
          </a:xfrm>
          <a:prstGeom prst="rect">
            <a:avLst/>
          </a:prstGeom>
        </p:spPr>
      </p:pic>
      <p:sp>
        <p:nvSpPr>
          <p:cNvPr id="16" name="Text 12"/>
          <p:cNvSpPr txBox="1"/>
          <p:nvPr/>
        </p:nvSpPr>
        <p:spPr>
          <a:xfrm>
            <a:off x="2667000" y="2377440"/>
            <a:ext cx="1158240" cy="685800"/>
          </a:xfrm>
          <a:prstGeom prst="rect">
            <a:avLst/>
          </a:prstGeom>
          <a:noFill/>
          <a:ln/>
        </p:spPr>
        <p:txBody>
          <a:bodyPr wrap="square" lIns="0" tIns="0" rIns="0" bIns="0" rtlCol="0" anchor="t"/>
          <a:lstStyle/>
          <a:p>
            <a:pPr indent="0" marL="0">
              <a:buNone/>
            </a:pPr>
            <a:r>
              <a:rPr lang="en-US" sz="1800" b="1" dirty="0">
                <a:solidFill>
                  <a:schemeClr val="tx2"/>
                </a:solidFill>
              </a:rPr>
              <a:t>Generate</a:t>
            </a:r>
            <a:endParaRPr lang="en-US" sz="1800" dirty="0"/>
          </a:p>
        </p:txBody>
      </p:sp>
      <p:sp>
        <p:nvSpPr>
          <p:cNvPr id="17" name="Text 13"/>
          <p:cNvSpPr txBox="1"/>
          <p:nvPr/>
        </p:nvSpPr>
        <p:spPr>
          <a:xfrm>
            <a:off x="2667000" y="3108960"/>
            <a:ext cx="1158240" cy="2103120"/>
          </a:xfrm>
          <a:prstGeom prst="rect">
            <a:avLst/>
          </a:prstGeom>
          <a:noFill/>
          <a:ln/>
        </p:spPr>
        <p:txBody>
          <a:bodyPr wrap="square" lIns="0" tIns="0" rIns="0" bIns="0" rtlCol="0" anchor="t"/>
          <a:lstStyle/>
          <a:p>
            <a:pPr indent="0" marL="0">
              <a:buNone/>
            </a:pPr>
            <a:r>
              <a:rPr lang="en-US" sz="1400" dirty="0">
                <a:solidFill>
                  <a:schemeClr val="accent5"/>
                </a:solidFill>
              </a:rPr>
              <a:t>One small step, with explanations.</a:t>
            </a:r>
            <a:endParaRPr lang="en-US" sz="1400" dirty="0"/>
          </a:p>
        </p:txBody>
      </p:sp>
      <p:sp>
        <p:nvSpPr>
          <p:cNvPr id="18" name="Shape 14"/>
          <p:cNvSpPr/>
          <p:nvPr/>
        </p:nvSpPr>
        <p:spPr>
          <a:xfrm>
            <a:off x="4072128" y="1892808"/>
            <a:ext cx="237744" cy="0"/>
          </a:xfrm>
          <a:prstGeom prst="line">
            <a:avLst/>
          </a:prstGeom>
          <a:noFill/>
          <a:ln w="25400">
            <a:solidFill>
              <a:schemeClr val="accent2"/>
            </a:solidFill>
            <a:prstDash val="solid"/>
            <a:tailEnd type="triangle"/>
          </a:ln>
        </p:spPr>
      </p:sp>
      <p:sp>
        <p:nvSpPr>
          <p:cNvPr id="19" name="card"/>
          <p:cNvSpPr/>
          <p:nvPr/>
        </p:nvSpPr>
        <p:spPr>
          <a:xfrm>
            <a:off x="4328160" y="1371600"/>
            <a:ext cx="1615440" cy="3931920"/>
          </a:xfrm>
          <a:prstGeom prst="roundRect">
            <a:avLst>
              <a:gd name="adj" fmla="val 6792"/>
            </a:avLst>
          </a:prstGeom>
          <a:solidFill>
            <a:schemeClr val="bg2"/>
          </a:solidFill>
          <a:ln/>
          <a:effectLst>
            <a:outerShdw sx="100000" sy="100000" kx="0" ky="0" algn="bl" rotWithShape="0" blurRad="76200" dist="25400" dir="5400000">
              <a:srgbClr val="8A97AB">
                <a:alpha val="25000"/>
              </a:srgbClr>
            </a:outerShdw>
          </a:effectLst>
        </p:spPr>
      </p:sp>
      <p:sp>
        <p:nvSpPr>
          <p:cNvPr id="20" name="Shape 16"/>
          <p:cNvSpPr/>
          <p:nvPr/>
        </p:nvSpPr>
        <p:spPr>
          <a:xfrm>
            <a:off x="4556760" y="1600200"/>
            <a:ext cx="594360" cy="594360"/>
          </a:xfrm>
          <a:prstGeom prst="ellipse">
            <a:avLst/>
          </a:prstGeom>
          <a:solidFill>
            <a:schemeClr val="tx2"/>
          </a:solidFill>
          <a:ln/>
        </p:spPr>
      </p:sp>
      <p:sp>
        <p:nvSpPr>
          <p:cNvPr id="21" name="Text 17"/>
          <p:cNvSpPr txBox="1"/>
          <p:nvPr/>
        </p:nvSpPr>
        <p:spPr>
          <a:xfrm>
            <a:off x="455676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22" name="icon circle"/>
          <p:cNvSpPr/>
          <p:nvPr/>
        </p:nvSpPr>
        <p:spPr>
          <a:xfrm>
            <a:off x="5120640" y="1600200"/>
            <a:ext cx="594360" cy="594360"/>
          </a:xfrm>
          <a:prstGeom prst="ellipse">
            <a:avLst/>
          </a:prstGeom>
          <a:solidFill>
            <a:schemeClr val="accent2"/>
          </a:solidFill>
          <a:ln/>
        </p:spPr>
      </p:sp>
      <p:pic>
        <p:nvPicPr>
          <p:cNvPr id="23" name="Image 2" descr="FaGlasses">    </p:cNvPr>
          <p:cNvPicPr>
            <a:picLocks noChangeAspect="1"/>
          </p:cNvPicPr>
          <p:nvPr/>
        </p:nvPicPr>
        <p:blipFill>
          <a:blip r:embed="rId3"/>
          <a:stretch>
            <a:fillRect/>
          </a:stretch>
        </p:blipFill>
        <p:spPr>
          <a:xfrm>
            <a:off x="5269230" y="1748790"/>
            <a:ext cx="297180" cy="297180"/>
          </a:xfrm>
          <a:prstGeom prst="rect">
            <a:avLst/>
          </a:prstGeom>
        </p:spPr>
      </p:pic>
      <p:sp>
        <p:nvSpPr>
          <p:cNvPr id="24" name="Text 19"/>
          <p:cNvSpPr txBox="1"/>
          <p:nvPr/>
        </p:nvSpPr>
        <p:spPr>
          <a:xfrm>
            <a:off x="4556760" y="2377440"/>
            <a:ext cx="1158240" cy="685800"/>
          </a:xfrm>
          <a:prstGeom prst="rect">
            <a:avLst/>
          </a:prstGeom>
          <a:noFill/>
          <a:ln/>
        </p:spPr>
        <p:txBody>
          <a:bodyPr wrap="square" lIns="0" tIns="0" rIns="0" bIns="0" rtlCol="0" anchor="t"/>
          <a:lstStyle/>
          <a:p>
            <a:pPr indent="0" marL="0">
              <a:buNone/>
            </a:pPr>
            <a:r>
              <a:rPr lang="en-US" sz="1800" b="1" dirty="0">
                <a:solidFill>
                  <a:schemeClr val="tx2"/>
                </a:solidFill>
              </a:rPr>
              <a:t>Read</a:t>
            </a:r>
            <a:endParaRPr lang="en-US" sz="1800" dirty="0"/>
          </a:p>
        </p:txBody>
      </p:sp>
      <p:sp>
        <p:nvSpPr>
          <p:cNvPr id="25" name="Text 20"/>
          <p:cNvSpPr txBox="1"/>
          <p:nvPr/>
        </p:nvSpPr>
        <p:spPr>
          <a:xfrm>
            <a:off x="4556760" y="3108960"/>
            <a:ext cx="1158240" cy="2103120"/>
          </a:xfrm>
          <a:prstGeom prst="rect">
            <a:avLst/>
          </a:prstGeom>
          <a:noFill/>
          <a:ln/>
        </p:spPr>
        <p:txBody>
          <a:bodyPr wrap="square" lIns="0" tIns="0" rIns="0" bIns="0" rtlCol="0" anchor="t"/>
          <a:lstStyle/>
          <a:p>
            <a:pPr indent="0" marL="0">
              <a:buNone/>
            </a:pPr>
            <a:r>
              <a:rPr lang="en-US" sz="1400" dirty="0">
                <a:solidFill>
                  <a:schemeClr val="accent5"/>
                </a:solidFill>
              </a:rPr>
              <a:t>Every line. Does each function exist?</a:t>
            </a:r>
            <a:endParaRPr lang="en-US" sz="1400" dirty="0"/>
          </a:p>
        </p:txBody>
      </p:sp>
      <p:sp>
        <p:nvSpPr>
          <p:cNvPr id="26" name="Shape 21"/>
          <p:cNvSpPr/>
          <p:nvPr/>
        </p:nvSpPr>
        <p:spPr>
          <a:xfrm>
            <a:off x="5961888" y="1892808"/>
            <a:ext cx="237744" cy="0"/>
          </a:xfrm>
          <a:prstGeom prst="line">
            <a:avLst/>
          </a:prstGeom>
          <a:noFill/>
          <a:ln w="25400">
            <a:solidFill>
              <a:schemeClr val="accent2"/>
            </a:solidFill>
            <a:prstDash val="solid"/>
            <a:tailEnd type="triangle"/>
          </a:ln>
        </p:spPr>
      </p:sp>
      <p:sp>
        <p:nvSpPr>
          <p:cNvPr id="27" name="card"/>
          <p:cNvSpPr/>
          <p:nvPr/>
        </p:nvSpPr>
        <p:spPr>
          <a:xfrm>
            <a:off x="6217920" y="1371600"/>
            <a:ext cx="1615440" cy="3931920"/>
          </a:xfrm>
          <a:prstGeom prst="roundRect">
            <a:avLst>
              <a:gd name="adj" fmla="val 6792"/>
            </a:avLst>
          </a:prstGeom>
          <a:solidFill>
            <a:schemeClr val="bg2"/>
          </a:solidFill>
          <a:ln/>
          <a:effectLst>
            <a:outerShdw sx="100000" sy="100000" kx="0" ky="0" algn="bl" rotWithShape="0" blurRad="76200" dist="25400" dir="5400000">
              <a:srgbClr val="8A97AB">
                <a:alpha val="25000"/>
              </a:srgbClr>
            </a:outerShdw>
          </a:effectLst>
        </p:spPr>
      </p:sp>
      <p:sp>
        <p:nvSpPr>
          <p:cNvPr id="28" name="Shape 23"/>
          <p:cNvSpPr/>
          <p:nvPr/>
        </p:nvSpPr>
        <p:spPr>
          <a:xfrm>
            <a:off x="6446520" y="1600200"/>
            <a:ext cx="594360" cy="594360"/>
          </a:xfrm>
          <a:prstGeom prst="ellipse">
            <a:avLst/>
          </a:prstGeom>
          <a:solidFill>
            <a:schemeClr val="tx2"/>
          </a:solidFill>
          <a:ln/>
        </p:spPr>
      </p:sp>
      <p:sp>
        <p:nvSpPr>
          <p:cNvPr id="29" name="Text 24"/>
          <p:cNvSpPr txBox="1"/>
          <p:nvPr/>
        </p:nvSpPr>
        <p:spPr>
          <a:xfrm>
            <a:off x="644652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30" name="icon circle"/>
          <p:cNvSpPr/>
          <p:nvPr/>
        </p:nvSpPr>
        <p:spPr>
          <a:xfrm>
            <a:off x="7010400" y="1600200"/>
            <a:ext cx="594360" cy="594360"/>
          </a:xfrm>
          <a:prstGeom prst="ellipse">
            <a:avLst/>
          </a:prstGeom>
          <a:solidFill>
            <a:schemeClr val="accent2"/>
          </a:solidFill>
          <a:ln/>
        </p:spPr>
      </p:sp>
      <p:pic>
        <p:nvPicPr>
          <p:cNvPr id="31" name="Image 3" descr="FaPlay">    </p:cNvPr>
          <p:cNvPicPr>
            <a:picLocks noChangeAspect="1"/>
          </p:cNvPicPr>
          <p:nvPr/>
        </p:nvPicPr>
        <p:blipFill>
          <a:blip r:embed="rId4"/>
          <a:stretch>
            <a:fillRect/>
          </a:stretch>
        </p:blipFill>
        <p:spPr>
          <a:xfrm>
            <a:off x="7158990" y="1748790"/>
            <a:ext cx="297180" cy="297180"/>
          </a:xfrm>
          <a:prstGeom prst="rect">
            <a:avLst/>
          </a:prstGeom>
        </p:spPr>
      </p:pic>
      <p:sp>
        <p:nvSpPr>
          <p:cNvPr id="32" name="Text 26"/>
          <p:cNvSpPr txBox="1"/>
          <p:nvPr/>
        </p:nvSpPr>
        <p:spPr>
          <a:xfrm>
            <a:off x="6446520" y="2377440"/>
            <a:ext cx="1158240" cy="685800"/>
          </a:xfrm>
          <a:prstGeom prst="rect">
            <a:avLst/>
          </a:prstGeom>
          <a:noFill/>
          <a:ln/>
        </p:spPr>
        <p:txBody>
          <a:bodyPr wrap="square" lIns="0" tIns="0" rIns="0" bIns="0" rtlCol="0" anchor="t"/>
          <a:lstStyle/>
          <a:p>
            <a:pPr indent="0" marL="0">
              <a:buNone/>
            </a:pPr>
            <a:r>
              <a:rPr lang="en-US" sz="1800" b="1" dirty="0">
                <a:solidFill>
                  <a:schemeClr val="tx2"/>
                </a:solidFill>
              </a:rPr>
              <a:t>Run</a:t>
            </a:r>
            <a:endParaRPr lang="en-US" sz="1800" dirty="0"/>
          </a:p>
        </p:txBody>
      </p:sp>
      <p:sp>
        <p:nvSpPr>
          <p:cNvPr id="33" name="Text 27"/>
          <p:cNvSpPr txBox="1"/>
          <p:nvPr/>
        </p:nvSpPr>
        <p:spPr>
          <a:xfrm>
            <a:off x="6446520" y="3108960"/>
            <a:ext cx="1158240" cy="2103120"/>
          </a:xfrm>
          <a:prstGeom prst="rect">
            <a:avLst/>
          </a:prstGeom>
          <a:noFill/>
          <a:ln/>
        </p:spPr>
        <p:txBody>
          <a:bodyPr wrap="square" lIns="0" tIns="0" rIns="0" bIns="0" rtlCol="0" anchor="t"/>
          <a:lstStyle/>
          <a:p>
            <a:pPr indent="0" marL="0">
              <a:buNone/>
            </a:pPr>
            <a:r>
              <a:rPr lang="en-US" sz="1400" dirty="0">
                <a:solidFill>
                  <a:schemeClr val="accent5"/>
                </a:solidFill>
              </a:rPr>
              <a:t>Fresh session. Errors, warnings, row counts.</a:t>
            </a:r>
            <a:endParaRPr lang="en-US" sz="1400" dirty="0"/>
          </a:p>
        </p:txBody>
      </p:sp>
      <p:sp>
        <p:nvSpPr>
          <p:cNvPr id="34" name="Shape 28"/>
          <p:cNvSpPr/>
          <p:nvPr/>
        </p:nvSpPr>
        <p:spPr>
          <a:xfrm>
            <a:off x="7851648" y="1892808"/>
            <a:ext cx="237744" cy="0"/>
          </a:xfrm>
          <a:prstGeom prst="line">
            <a:avLst/>
          </a:prstGeom>
          <a:noFill/>
          <a:ln w="25400">
            <a:solidFill>
              <a:schemeClr val="accent2"/>
            </a:solidFill>
            <a:prstDash val="solid"/>
            <a:tailEnd type="triangle"/>
          </a:ln>
        </p:spPr>
      </p:sp>
      <p:sp>
        <p:nvSpPr>
          <p:cNvPr id="35" name="card"/>
          <p:cNvSpPr/>
          <p:nvPr/>
        </p:nvSpPr>
        <p:spPr>
          <a:xfrm>
            <a:off x="8107680" y="1371600"/>
            <a:ext cx="1615440" cy="3931920"/>
          </a:xfrm>
          <a:prstGeom prst="roundRect">
            <a:avLst>
              <a:gd name="adj" fmla="val 6792"/>
            </a:avLst>
          </a:prstGeom>
          <a:solidFill>
            <a:schemeClr val="bg2"/>
          </a:solidFill>
          <a:ln/>
          <a:effectLst>
            <a:outerShdw sx="100000" sy="100000" kx="0" ky="0" algn="bl" rotWithShape="0" blurRad="76200" dist="25400" dir="5400000">
              <a:srgbClr val="8A97AB">
                <a:alpha val="25000"/>
              </a:srgbClr>
            </a:outerShdw>
          </a:effectLst>
        </p:spPr>
      </p:sp>
      <p:sp>
        <p:nvSpPr>
          <p:cNvPr id="36" name="Shape 30"/>
          <p:cNvSpPr/>
          <p:nvPr/>
        </p:nvSpPr>
        <p:spPr>
          <a:xfrm>
            <a:off x="8336280" y="1600200"/>
            <a:ext cx="594360" cy="594360"/>
          </a:xfrm>
          <a:prstGeom prst="ellipse">
            <a:avLst/>
          </a:prstGeom>
          <a:solidFill>
            <a:schemeClr val="tx2"/>
          </a:solidFill>
          <a:ln/>
        </p:spPr>
      </p:sp>
      <p:sp>
        <p:nvSpPr>
          <p:cNvPr id="37" name="Text 31"/>
          <p:cNvSpPr txBox="1"/>
          <p:nvPr/>
        </p:nvSpPr>
        <p:spPr>
          <a:xfrm>
            <a:off x="833628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5</a:t>
            </a:r>
            <a:endParaRPr lang="en-US" sz="1800" dirty="0"/>
          </a:p>
        </p:txBody>
      </p:sp>
      <p:sp>
        <p:nvSpPr>
          <p:cNvPr id="38" name="icon circle"/>
          <p:cNvSpPr/>
          <p:nvPr/>
        </p:nvSpPr>
        <p:spPr>
          <a:xfrm>
            <a:off x="8900160" y="1600200"/>
            <a:ext cx="594360" cy="594360"/>
          </a:xfrm>
          <a:prstGeom prst="ellipse">
            <a:avLst/>
          </a:prstGeom>
          <a:solidFill>
            <a:schemeClr val="accent2"/>
          </a:solidFill>
          <a:ln/>
        </p:spPr>
      </p:sp>
      <p:pic>
        <p:nvPicPr>
          <p:cNvPr id="39" name="Image 4" descr="FaCheckDouble">    </p:cNvPr>
          <p:cNvPicPr>
            <a:picLocks noChangeAspect="1"/>
          </p:cNvPicPr>
          <p:nvPr/>
        </p:nvPicPr>
        <p:blipFill>
          <a:blip r:embed="rId5"/>
          <a:stretch>
            <a:fillRect/>
          </a:stretch>
        </p:blipFill>
        <p:spPr>
          <a:xfrm>
            <a:off x="9048750" y="1748790"/>
            <a:ext cx="297180" cy="297180"/>
          </a:xfrm>
          <a:prstGeom prst="rect">
            <a:avLst/>
          </a:prstGeom>
        </p:spPr>
      </p:pic>
      <p:sp>
        <p:nvSpPr>
          <p:cNvPr id="40" name="Text 33"/>
          <p:cNvSpPr txBox="1"/>
          <p:nvPr/>
        </p:nvSpPr>
        <p:spPr>
          <a:xfrm>
            <a:off x="8336280" y="2377440"/>
            <a:ext cx="1158240" cy="685800"/>
          </a:xfrm>
          <a:prstGeom prst="rect">
            <a:avLst/>
          </a:prstGeom>
          <a:noFill/>
          <a:ln/>
        </p:spPr>
        <p:txBody>
          <a:bodyPr wrap="square" lIns="0" tIns="0" rIns="0" bIns="0" rtlCol="0" anchor="t"/>
          <a:lstStyle/>
          <a:p>
            <a:pPr indent="0" marL="0">
              <a:buNone/>
            </a:pPr>
            <a:r>
              <a:rPr lang="en-US" sz="1800" b="1" dirty="0">
                <a:solidFill>
                  <a:schemeClr val="tx2"/>
                </a:solidFill>
              </a:rPr>
              <a:t>Verify</a:t>
            </a:r>
            <a:endParaRPr lang="en-US" sz="1800" dirty="0"/>
          </a:p>
        </p:txBody>
      </p:sp>
      <p:sp>
        <p:nvSpPr>
          <p:cNvPr id="41" name="Text 34"/>
          <p:cNvSpPr txBox="1"/>
          <p:nvPr/>
        </p:nvSpPr>
        <p:spPr>
          <a:xfrm>
            <a:off x="8336280" y="3108960"/>
            <a:ext cx="1158240" cy="2103120"/>
          </a:xfrm>
          <a:prstGeom prst="rect">
            <a:avLst/>
          </a:prstGeom>
          <a:noFill/>
          <a:ln/>
        </p:spPr>
        <p:txBody>
          <a:bodyPr wrap="square" lIns="0" tIns="0" rIns="0" bIns="0" rtlCol="0" anchor="t"/>
          <a:lstStyle/>
          <a:p>
            <a:pPr indent="0" marL="0">
              <a:buNone/>
            </a:pPr>
            <a:r>
              <a:rPr lang="en-US" sz="1400" dirty="0">
                <a:solidFill>
                  <a:schemeClr val="accent5"/>
                </a:solidFill>
              </a:rPr>
              <a:t>Hand calculation, known answer or second method.</a:t>
            </a:r>
            <a:endParaRPr lang="en-US" sz="1400" dirty="0"/>
          </a:p>
        </p:txBody>
      </p:sp>
      <p:sp>
        <p:nvSpPr>
          <p:cNvPr id="42" name="Shape 35"/>
          <p:cNvSpPr/>
          <p:nvPr/>
        </p:nvSpPr>
        <p:spPr>
          <a:xfrm>
            <a:off x="9741408" y="1892808"/>
            <a:ext cx="237744" cy="0"/>
          </a:xfrm>
          <a:prstGeom prst="line">
            <a:avLst/>
          </a:prstGeom>
          <a:noFill/>
          <a:ln w="25400">
            <a:solidFill>
              <a:schemeClr val="accent2"/>
            </a:solidFill>
            <a:prstDash val="solid"/>
            <a:tailEnd type="triangle"/>
          </a:ln>
        </p:spPr>
      </p:sp>
      <p:sp>
        <p:nvSpPr>
          <p:cNvPr id="43" name="card"/>
          <p:cNvSpPr/>
          <p:nvPr/>
        </p:nvSpPr>
        <p:spPr>
          <a:xfrm>
            <a:off x="9997440" y="1371600"/>
            <a:ext cx="1615440" cy="3931920"/>
          </a:xfrm>
          <a:prstGeom prst="roundRect">
            <a:avLst>
              <a:gd name="adj" fmla="val 6792"/>
            </a:avLst>
          </a:prstGeom>
          <a:solidFill>
            <a:schemeClr val="bg2"/>
          </a:solidFill>
          <a:ln/>
          <a:effectLst>
            <a:outerShdw sx="100000" sy="100000" kx="0" ky="0" algn="bl" rotWithShape="0" blurRad="76200" dist="25400" dir="5400000">
              <a:srgbClr val="8A97AB">
                <a:alpha val="25000"/>
              </a:srgbClr>
            </a:outerShdw>
          </a:effectLst>
        </p:spPr>
      </p:sp>
      <p:sp>
        <p:nvSpPr>
          <p:cNvPr id="44" name="Shape 37"/>
          <p:cNvSpPr/>
          <p:nvPr/>
        </p:nvSpPr>
        <p:spPr>
          <a:xfrm>
            <a:off x="10226040" y="1600200"/>
            <a:ext cx="594360" cy="594360"/>
          </a:xfrm>
          <a:prstGeom prst="ellipse">
            <a:avLst/>
          </a:prstGeom>
          <a:solidFill>
            <a:schemeClr val="tx2"/>
          </a:solidFill>
          <a:ln/>
        </p:spPr>
      </p:sp>
      <p:sp>
        <p:nvSpPr>
          <p:cNvPr id="45" name="Text 38"/>
          <p:cNvSpPr txBox="1"/>
          <p:nvPr/>
        </p:nvSpPr>
        <p:spPr>
          <a:xfrm>
            <a:off x="1022604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6</a:t>
            </a:r>
            <a:endParaRPr lang="en-US" sz="1800" dirty="0"/>
          </a:p>
        </p:txBody>
      </p:sp>
      <p:sp>
        <p:nvSpPr>
          <p:cNvPr id="46" name="icon circle"/>
          <p:cNvSpPr/>
          <p:nvPr/>
        </p:nvSpPr>
        <p:spPr>
          <a:xfrm>
            <a:off x="10789920" y="1600200"/>
            <a:ext cx="594360" cy="594360"/>
          </a:xfrm>
          <a:prstGeom prst="ellipse">
            <a:avLst/>
          </a:prstGeom>
          <a:solidFill>
            <a:schemeClr val="accent2"/>
          </a:solidFill>
          <a:ln/>
        </p:spPr>
      </p:sp>
      <p:pic>
        <p:nvPicPr>
          <p:cNvPr id="47" name="Image 5" descr="FaSave">    </p:cNvPr>
          <p:cNvPicPr>
            <a:picLocks noChangeAspect="1"/>
          </p:cNvPicPr>
          <p:nvPr/>
        </p:nvPicPr>
        <p:blipFill>
          <a:blip r:embed="rId6"/>
          <a:stretch>
            <a:fillRect/>
          </a:stretch>
        </p:blipFill>
        <p:spPr>
          <a:xfrm>
            <a:off x="10938510" y="1748790"/>
            <a:ext cx="297180" cy="297180"/>
          </a:xfrm>
          <a:prstGeom prst="rect">
            <a:avLst/>
          </a:prstGeom>
        </p:spPr>
      </p:pic>
      <p:sp>
        <p:nvSpPr>
          <p:cNvPr id="48" name="Text 40"/>
          <p:cNvSpPr txBox="1"/>
          <p:nvPr/>
        </p:nvSpPr>
        <p:spPr>
          <a:xfrm>
            <a:off x="10226040" y="2377440"/>
            <a:ext cx="1158240" cy="685800"/>
          </a:xfrm>
          <a:prstGeom prst="rect">
            <a:avLst/>
          </a:prstGeom>
          <a:noFill/>
          <a:ln/>
        </p:spPr>
        <p:txBody>
          <a:bodyPr wrap="square" lIns="0" tIns="0" rIns="0" bIns="0" rtlCol="0" anchor="t"/>
          <a:lstStyle/>
          <a:p>
            <a:pPr indent="0" marL="0">
              <a:buNone/>
            </a:pPr>
            <a:r>
              <a:rPr lang="en-US" sz="1800" b="1" dirty="0">
                <a:solidFill>
                  <a:schemeClr val="tx2"/>
                </a:solidFill>
              </a:rPr>
              <a:t>Record</a:t>
            </a:r>
            <a:endParaRPr lang="en-US" sz="1800" dirty="0"/>
          </a:p>
        </p:txBody>
      </p:sp>
      <p:sp>
        <p:nvSpPr>
          <p:cNvPr id="49" name="Text 41"/>
          <p:cNvSpPr txBox="1"/>
          <p:nvPr/>
        </p:nvSpPr>
        <p:spPr>
          <a:xfrm>
            <a:off x="10226040" y="3108960"/>
            <a:ext cx="1158240" cy="2103120"/>
          </a:xfrm>
          <a:prstGeom prst="rect">
            <a:avLst/>
          </a:prstGeom>
          <a:noFill/>
          <a:ln/>
        </p:spPr>
        <p:txBody>
          <a:bodyPr wrap="square" lIns="0" tIns="0" rIns="0" bIns="0" rtlCol="0" anchor="t"/>
          <a:lstStyle/>
          <a:p>
            <a:pPr indent="0" marL="0">
              <a:buNone/>
            </a:pPr>
            <a:r>
              <a:rPr lang="en-US" sz="1400" dirty="0">
                <a:solidFill>
                  <a:schemeClr val="accent5"/>
                </a:solidFill>
              </a:rPr>
              <a:t>Prompt, changes you made, and why.</a:t>
            </a:r>
            <a:endParaRPr lang="en-US" sz="1400" dirty="0"/>
          </a:p>
        </p:txBody>
      </p:sp>
      <p:sp>
        <p:nvSpPr>
          <p:cNvPr id="50" name="key idea"/>
          <p:cNvSpPr/>
          <p:nvPr/>
        </p:nvSpPr>
        <p:spPr>
          <a:xfrm>
            <a:off x="548640" y="5486400"/>
            <a:ext cx="11064240" cy="594360"/>
          </a:xfrm>
          <a:prstGeom prst="roundRect">
            <a:avLst>
              <a:gd name="adj" fmla="val 18462"/>
            </a:avLst>
          </a:prstGeom>
          <a:solidFill>
            <a:schemeClr val="accent6"/>
          </a:solidFill>
          <a:ln/>
          <a:effectLst>
            <a:outerShdw sx="100000" sy="100000" kx="0" ky="0" algn="bl" rotWithShape="0" blurRad="76200" dist="25400" dir="5400000">
              <a:srgbClr val="8A97AB">
                <a:alpha val="25000"/>
              </a:srgbClr>
            </a:outerShdw>
          </a:effectLst>
        </p:spPr>
      </p:sp>
      <p:sp>
        <p:nvSpPr>
          <p:cNvPr id="51" name="Text 43"/>
          <p:cNvSpPr txBox="1"/>
          <p:nvPr/>
        </p:nvSpPr>
        <p:spPr>
          <a:xfrm>
            <a:off x="822960" y="5486400"/>
            <a:ext cx="10515600" cy="594360"/>
          </a:xfrm>
          <a:prstGeom prst="rect">
            <a:avLst/>
          </a:prstGeom>
          <a:noFill/>
          <a:ln/>
        </p:spPr>
        <p:txBody>
          <a:bodyPr wrap="square" lIns="0" tIns="0" rIns="0" bIns="0" rtlCol="0" anchor="ctr"/>
          <a:lstStyle/>
          <a:p>
            <a:pPr indent="0" marL="0">
              <a:buNone/>
            </a:pPr>
            <a:r>
              <a:rPr lang="en-US" sz="1500" b="1" dirty="0">
                <a:solidFill>
                  <a:schemeClr val="accent4"/>
                </a:solidFill>
              </a:rPr>
              <a:t>Note  </a:t>
            </a:r>
            <a:pPr indent="0" marL="0">
              <a:buNone/>
            </a:pPr>
            <a:r>
              <a:rPr lang="en-US" sz="1500" dirty="0">
                <a:solidFill>
                  <a:schemeClr val="tx1"/>
                </a:solidFill>
              </a:rPr>
              <a:t>If you cannot explain a line, ask the assistant to explain it, confirm with </a:t>
            </a:r>
            <a:pPr indent="0" marL="0">
              <a:buNone/>
            </a:pPr>
            <a:r>
              <a:rPr lang="en-US" sz="1500" dirty="0">
                <a:solidFill>
                  <a:schemeClr val="accent1"/>
                </a:solidFill>
                <a:latin typeface="Courier New" pitchFamily="34" charset="0"/>
                <a:ea typeface="Courier New" pitchFamily="34" charset="-122"/>
                <a:cs typeface="Courier New" pitchFamily="34" charset="-120"/>
              </a:rPr>
              <a:t>?function</a:t>
            </a:r>
            <a:pPr indent="0" marL="0">
              <a:buNone/>
            </a:pPr>
            <a:r>
              <a:rPr lang="en-US" sz="1500" dirty="0">
                <a:solidFill>
                  <a:schemeClr val="tx1"/>
                </a:solidFill>
              </a:rPr>
              <a:t>, and do not submit it until you can.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 prompt template for an analysis step</a:t>
            </a:r>
            <a:endParaRPr lang="en-US" sz="3200" dirty="0"/>
          </a:p>
        </p:txBody>
      </p:sp>
      <p:sp>
        <p:nvSpPr>
          <p:cNvPr id="3" name="card"/>
          <p:cNvSpPr/>
          <p:nvPr/>
        </p:nvSpPr>
        <p:spPr>
          <a:xfrm>
            <a:off x="548640" y="1371600"/>
            <a:ext cx="5417820" cy="3694176"/>
          </a:xfrm>
          <a:prstGeom prst="roundRect">
            <a:avLst>
              <a:gd name="adj" fmla="val 297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UserGraduate">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1691640" y="1600200"/>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Context and data</a:t>
            </a:r>
            <a:endParaRPr lang="en-US" sz="1700" dirty="0"/>
          </a:p>
        </p:txBody>
      </p:sp>
      <p:sp>
        <p:nvSpPr>
          <p:cNvPr id="7" name="Text 4"/>
          <p:cNvSpPr txBox="1"/>
          <p:nvPr/>
        </p:nvSpPr>
        <p:spPr>
          <a:xfrm>
            <a:off x="777240" y="2514600"/>
            <a:ext cx="4960620" cy="244144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I am an undergraduate learning R for agricultural data analysis.</a:t>
            </a:r>
            <a:endParaRPr lang="en-US" sz="1800" dirty="0"/>
          </a:p>
          <a:p>
            <a:pPr marL="228600" indent="-228600">
              <a:spcAft>
                <a:spcPts val="800"/>
              </a:spcAft>
              <a:buSzPct val="100000"/>
              <a:buChar char="•"/>
            </a:pPr>
            <a:r>
              <a:rPr lang="en-US" sz="1800" dirty="0">
                <a:solidFill>
                  <a:schemeClr val="tx1"/>
                </a:solidFill>
              </a:rPr>
              <a:t>Data frame rb, 24 rows; one row per plot.</a:t>
            </a:r>
            <a:endParaRPr lang="en-US" sz="1800" dirty="0"/>
          </a:p>
          <a:p>
            <a:pPr marL="228600" indent="-228600">
              <a:spcAft>
                <a:spcPts val="800"/>
              </a:spcAft>
              <a:buSzPct val="100000"/>
              <a:buChar char="•"/>
            </a:pPr>
            <a:r>
              <a:rPr lang="en-US" sz="1800" dirty="0">
                <a:solidFill>
                  <a:schemeClr val="tx1"/>
                </a:solidFill>
              </a:rPr>
              <a:t>Columns: block, variety, yield_t_ha (t/ha).</a:t>
            </a:r>
            <a:endParaRPr lang="en-US" sz="1800" dirty="0"/>
          </a:p>
          <a:p>
            <a:pPr marL="228600" indent="-228600">
              <a:spcAft>
                <a:spcPts val="800"/>
              </a:spcAft>
              <a:buSzPct val="100000"/>
              <a:buChar char="•"/>
            </a:pPr>
            <a:r>
              <a:rPr lang="en-US" sz="1800" dirty="0">
                <a:solidFill>
                  <a:schemeClr val="tx1"/>
                </a:solidFill>
              </a:rPr>
              <a:t>Paste str(rb) or dput(head(rb)).</a:t>
            </a:r>
            <a:endParaRPr lang="en-US" sz="1800" dirty="0"/>
          </a:p>
        </p:txBody>
      </p:sp>
      <p:sp>
        <p:nvSpPr>
          <p:cNvPr id="8" name="card"/>
          <p:cNvSpPr/>
          <p:nvPr/>
        </p:nvSpPr>
        <p:spPr>
          <a:xfrm>
            <a:off x="6195060" y="1371600"/>
            <a:ext cx="5417820" cy="3694176"/>
          </a:xfrm>
          <a:prstGeom prst="roundRect">
            <a:avLst>
              <a:gd name="adj" fmla="val 297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1600200"/>
            <a:ext cx="731520" cy="731520"/>
          </a:xfrm>
          <a:prstGeom prst="ellipse">
            <a:avLst/>
          </a:prstGeom>
          <a:solidFill>
            <a:schemeClr val="accent2"/>
          </a:solidFill>
          <a:ln/>
        </p:spPr>
      </p:sp>
      <p:pic>
        <p:nvPicPr>
          <p:cNvPr id="10" name="Image 1" descr="FaThLarge">    </p:cNvPr>
          <p:cNvPicPr>
            <a:picLocks noChangeAspect="1"/>
          </p:cNvPicPr>
          <p:nvPr/>
        </p:nvPicPr>
        <p:blipFill>
          <a:blip r:embed="rId2"/>
          <a:stretch>
            <a:fillRect/>
          </a:stretch>
        </p:blipFill>
        <p:spPr>
          <a:xfrm>
            <a:off x="6606540" y="1783080"/>
            <a:ext cx="365760" cy="365760"/>
          </a:xfrm>
          <a:prstGeom prst="rect">
            <a:avLst/>
          </a:prstGeom>
        </p:spPr>
      </p:pic>
      <p:sp>
        <p:nvSpPr>
          <p:cNvPr id="11" name="Text 7"/>
          <p:cNvSpPr txBox="1"/>
          <p:nvPr/>
        </p:nvSpPr>
        <p:spPr>
          <a:xfrm>
            <a:off x="7338060" y="1600200"/>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Design, task and limits</a:t>
            </a:r>
            <a:endParaRPr lang="en-US" sz="1700" dirty="0"/>
          </a:p>
        </p:txBody>
      </p:sp>
      <p:sp>
        <p:nvSpPr>
          <p:cNvPr id="12" name="Text 8"/>
          <p:cNvSpPr txBox="1"/>
          <p:nvPr/>
        </p:nvSpPr>
        <p:spPr>
          <a:xfrm>
            <a:off x="6423660" y="2514600"/>
            <a:ext cx="4960620" cy="244144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RCBD: 6 varieties in 4 blocks, randomized within blocks.</a:t>
            </a:r>
            <a:endParaRPr lang="en-US" sz="1800" dirty="0"/>
          </a:p>
          <a:p>
            <a:pPr marL="228600" indent="-228600">
              <a:spcAft>
                <a:spcPts val="800"/>
              </a:spcAft>
              <a:buSzPct val="100000"/>
              <a:buChar char="•"/>
            </a:pPr>
            <a:r>
              <a:rPr lang="en-US" sz="1800" dirty="0">
                <a:solidFill>
                  <a:schemeClr val="tx1"/>
                </a:solidFill>
              </a:rPr>
              <a:t>Fit the ANOVA that matches this design; report SEm, CD (5%) and CV.</a:t>
            </a:r>
            <a:endParaRPr lang="en-US" sz="1800" dirty="0"/>
          </a:p>
          <a:p>
            <a:pPr marL="228600" indent="-228600">
              <a:spcAft>
                <a:spcPts val="800"/>
              </a:spcAft>
              <a:buSzPct val="100000"/>
              <a:buChar char="•"/>
            </a:pPr>
            <a:r>
              <a:rPr lang="en-US" sz="1800" dirty="0">
                <a:solidFill>
                  <a:schemeClr val="tx1"/>
                </a:solidFill>
              </a:rPr>
              <a:t>Use base R. Do not delete rows or impute.</a:t>
            </a:r>
            <a:endParaRPr lang="en-US" sz="1800" dirty="0"/>
          </a:p>
          <a:p>
            <a:pPr marL="228600" indent="-228600">
              <a:spcAft>
                <a:spcPts val="800"/>
              </a:spcAft>
              <a:buSzPct val="100000"/>
              <a:buChar char="•"/>
            </a:pPr>
            <a:r>
              <a:rPr lang="en-US" sz="1800" dirty="0">
                <a:solidFill>
                  <a:schemeClr val="tx1"/>
                </a:solidFill>
              </a:rPr>
              <a:t>Show me how to verify the result.</a:t>
            </a:r>
            <a:endParaRPr lang="en-US" sz="1800" dirty="0"/>
          </a:p>
        </p:txBody>
      </p:sp>
      <p:sp>
        <p:nvSpPr>
          <p:cNvPr id="13" name="key idea"/>
          <p:cNvSpPr/>
          <p:nvPr/>
        </p:nvSpPr>
        <p:spPr>
          <a:xfrm>
            <a:off x="548640" y="534009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534009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Share simulated or permitted, de-identified data only. Check your institution's rules before sending research data to an external service.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Catching the errors that matter</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Code that runs is not code that is right</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Code that runs but answers the wrong question</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rb &lt;- read.csv("data/rcbd_varieties.csv")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draft &lt;- aov(yield_t_ha ~ block + variety, data = rb)</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summary(draft)     # block has 1 df: fitted as a number!</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rb$block &lt;- factor(rb$block)</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rb$variety &lt;- factor(rb$variety)</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fixed &lt;- aov(yield_t_ha ~ block + variety, data = rb)</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anova(fixed)[, "Df"]                        # 3  5  15</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c(block = 4 - 1, variety = 6 - 1,</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error = (4 - 1) * (6 - 1))                  # expected</a:t>
            </a:r>
            <a:endParaRPr lang="en-US" sz="1400" dirty="0"/>
          </a:p>
        </p:txBody>
      </p:sp>
      <p:sp>
        <p:nvSpPr>
          <p:cNvPr id="5" name="warn"/>
          <p:cNvSpPr/>
          <p:nvPr/>
        </p:nvSpPr>
        <p:spPr>
          <a:xfrm>
            <a:off x="7543800" y="1325880"/>
            <a:ext cx="4069080" cy="1417320"/>
          </a:xfrm>
          <a:prstGeom prst="roundRect">
            <a:avLst>
              <a:gd name="adj" fmla="val 7742"/>
            </a:avLst>
          </a:prstGeom>
          <a:solidFill>
            <a:schemeClr val="accent6"/>
          </a:solidFill>
          <a:ln/>
          <a:effectLst>
            <a:outerShdw sx="100000" sy="100000" kx="0" ky="0" algn="bl" rotWithShape="0" blurRad="76200" dist="25400" dir="5400000">
              <a:srgbClr val="8A97AB">
                <a:alpha val="25000"/>
              </a:srgbClr>
            </a:outerShdw>
          </a:effectLst>
        </p:spPr>
      </p:sp>
      <p:sp>
        <p:nvSpPr>
          <p:cNvPr id="6" name="Text 4"/>
          <p:cNvSpPr txBox="1"/>
          <p:nvPr/>
        </p:nvSpPr>
        <p:spPr>
          <a:xfrm>
            <a:off x="7772400" y="1508760"/>
            <a:ext cx="3657600" cy="548640"/>
          </a:xfrm>
          <a:prstGeom prst="rect">
            <a:avLst/>
          </a:prstGeom>
          <a:noFill/>
          <a:ln/>
        </p:spPr>
        <p:txBody>
          <a:bodyPr wrap="square" lIns="0" tIns="0" rIns="0" bIns="0" rtlCol="0" anchor="ctr"/>
          <a:lstStyle/>
          <a:p>
            <a:pPr indent="0" marL="0">
              <a:buNone/>
            </a:pPr>
            <a:r>
              <a:rPr lang="en-US" sz="1600" b="1" dirty="0">
                <a:solidFill>
                  <a:schemeClr val="accent4"/>
                </a:solidFill>
              </a:rPr>
              <a:t>Block as a number</a:t>
            </a:r>
            <a:endParaRPr lang="en-US" sz="1600" dirty="0"/>
          </a:p>
        </p:txBody>
      </p:sp>
      <p:sp>
        <p:nvSpPr>
          <p:cNvPr id="7" name="Text 5"/>
          <p:cNvSpPr txBox="1"/>
          <p:nvPr/>
        </p:nvSpPr>
        <p:spPr>
          <a:xfrm>
            <a:off x="7772400" y="2148840"/>
            <a:ext cx="3611880" cy="502920"/>
          </a:xfrm>
          <a:prstGeom prst="rect">
            <a:avLst/>
          </a:prstGeom>
          <a:noFill/>
          <a:ln/>
        </p:spPr>
        <p:txBody>
          <a:bodyPr wrap="square" lIns="0" tIns="0" rIns="0" bIns="0" rtlCol="0" anchor="t"/>
          <a:lstStyle/>
          <a:p>
            <a:pPr indent="0" marL="0">
              <a:buNone/>
            </a:pPr>
            <a:r>
              <a:rPr lang="en-US" sz="1400" dirty="0">
                <a:solidFill>
                  <a:schemeClr val="tx1"/>
                </a:solidFill>
              </a:rPr>
              <a:t>1 df instead of 3: a straight-line trend in block number, not four groups.</a:t>
            </a:r>
            <a:endParaRPr lang="en-US" sz="1400" dirty="0"/>
          </a:p>
        </p:txBody>
      </p:sp>
      <p:sp>
        <p:nvSpPr>
          <p:cNvPr id="8" name="warn"/>
          <p:cNvSpPr/>
          <p:nvPr/>
        </p:nvSpPr>
        <p:spPr>
          <a:xfrm>
            <a:off x="7543800" y="2971800"/>
            <a:ext cx="4069080" cy="1417320"/>
          </a:xfrm>
          <a:prstGeom prst="roundRect">
            <a:avLst>
              <a:gd name="adj" fmla="val 7742"/>
            </a:avLst>
          </a:prstGeom>
          <a:solidFill>
            <a:schemeClr val="accent6"/>
          </a:solidFill>
          <a:ln/>
          <a:effectLst>
            <a:outerShdw sx="100000" sy="100000" kx="0" ky="0" algn="bl" rotWithShape="0" blurRad="76200" dist="25400" dir="5400000">
              <a:srgbClr val="8A97AB">
                <a:alpha val="25000"/>
              </a:srgbClr>
            </a:outerShdw>
          </a:effectLst>
        </p:spPr>
      </p:sp>
      <p:sp>
        <p:nvSpPr>
          <p:cNvPr id="9" name="Text 7"/>
          <p:cNvSpPr txBox="1"/>
          <p:nvPr/>
        </p:nvSpPr>
        <p:spPr>
          <a:xfrm>
            <a:off x="7772400" y="3154680"/>
            <a:ext cx="3657600" cy="548640"/>
          </a:xfrm>
          <a:prstGeom prst="rect">
            <a:avLst/>
          </a:prstGeom>
          <a:noFill/>
          <a:ln/>
        </p:spPr>
        <p:txBody>
          <a:bodyPr wrap="square" lIns="0" tIns="0" rIns="0" bIns="0" rtlCol="0" anchor="ctr"/>
          <a:lstStyle/>
          <a:p>
            <a:pPr indent="0" marL="0">
              <a:buNone/>
            </a:pPr>
            <a:r>
              <a:rPr lang="en-US" sz="1600" b="1" dirty="0">
                <a:solidFill>
                  <a:schemeClr val="accent4"/>
                </a:solidFill>
              </a:rPr>
              <a:t>Block left out</a:t>
            </a:r>
            <a:endParaRPr lang="en-US" sz="1600" dirty="0"/>
          </a:p>
        </p:txBody>
      </p:sp>
      <p:sp>
        <p:nvSpPr>
          <p:cNvPr id="10" name="Text 8"/>
          <p:cNvSpPr txBox="1"/>
          <p:nvPr/>
        </p:nvSpPr>
        <p:spPr>
          <a:xfrm>
            <a:off x="7772400" y="3794760"/>
            <a:ext cx="3611880" cy="50292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aov(yield ~ variety)</a:t>
            </a:r>
            <a:pPr indent="0" marL="0">
              <a:buNone/>
            </a:pPr>
            <a:r>
              <a:rPr lang="en-US" sz="1400" dirty="0">
                <a:solidFill>
                  <a:schemeClr val="tx1"/>
                </a:solidFill>
              </a:rPr>
              <a:t> treats an RCBD as a CRD and inflates the error.</a:t>
            </a:r>
            <a:endParaRPr lang="en-US" sz="1400" dirty="0"/>
          </a:p>
        </p:txBody>
      </p:sp>
      <p:sp>
        <p:nvSpPr>
          <p:cNvPr id="11" name="good"/>
          <p:cNvSpPr/>
          <p:nvPr/>
        </p:nvSpPr>
        <p:spPr>
          <a:xfrm>
            <a:off x="7543800" y="4617720"/>
            <a:ext cx="4069080" cy="1417320"/>
          </a:xfrm>
          <a:prstGeom prst="roundRect">
            <a:avLst>
              <a:gd name="adj" fmla="val 7742"/>
            </a:avLst>
          </a:prstGeom>
          <a:solidFill>
            <a:schemeClr val="accent6"/>
          </a:solidFill>
          <a:ln/>
          <a:effectLst>
            <a:outerShdw sx="100000" sy="100000" kx="0" ky="0" algn="bl" rotWithShape="0" blurRad="76200" dist="25400" dir="5400000">
              <a:srgbClr val="8A97AB">
                <a:alpha val="25000"/>
              </a:srgbClr>
            </a:outerShdw>
          </a:effectLst>
        </p:spPr>
      </p:sp>
      <p:sp>
        <p:nvSpPr>
          <p:cNvPr id="12" name="Text 10"/>
          <p:cNvSpPr txBox="1"/>
          <p:nvPr/>
        </p:nvSpPr>
        <p:spPr>
          <a:xfrm>
            <a:off x="7772400" y="4800600"/>
            <a:ext cx="3657600" cy="548640"/>
          </a:xfrm>
          <a:prstGeom prst="rect">
            <a:avLst/>
          </a:prstGeom>
          <a:noFill/>
          <a:ln/>
        </p:spPr>
        <p:txBody>
          <a:bodyPr wrap="square" lIns="0" tIns="0" rIns="0" bIns="0" rtlCol="0" anchor="ctr"/>
          <a:lstStyle/>
          <a:p>
            <a:pPr indent="0" marL="0">
              <a:buNone/>
            </a:pPr>
            <a:r>
              <a:rPr lang="en-US" sz="1600" b="1" dirty="0">
                <a:solidFill>
                  <a:schemeClr val="accent3"/>
                </a:solidFill>
              </a:rPr>
              <a:t>The design check</a:t>
            </a:r>
            <a:endParaRPr lang="en-US" sz="1600" dirty="0"/>
          </a:p>
        </p:txBody>
      </p:sp>
      <p:sp>
        <p:nvSpPr>
          <p:cNvPr id="13" name="Text 11"/>
          <p:cNvSpPr txBox="1"/>
          <p:nvPr/>
        </p:nvSpPr>
        <p:spPr>
          <a:xfrm>
            <a:off x="7772400" y="5440680"/>
            <a:ext cx="3611880" cy="502920"/>
          </a:xfrm>
          <a:prstGeom prst="rect">
            <a:avLst/>
          </a:prstGeom>
          <a:noFill/>
          <a:ln/>
        </p:spPr>
        <p:txBody>
          <a:bodyPr wrap="square" lIns="0" tIns="0" rIns="0" bIns="0" rtlCol="0" anchor="t"/>
          <a:lstStyle/>
          <a:p>
            <a:pPr indent="0" marL="0">
              <a:buNone/>
            </a:pPr>
            <a:r>
              <a:rPr lang="en-US" sz="1400" dirty="0">
                <a:solidFill>
                  <a:schemeClr val="tx1"/>
                </a:solidFill>
              </a:rPr>
              <a:t>Compare the df in the table with the design. It catches both mistakes in seconds.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Functions that do not exist, and known answers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exists("aov")             # TRUE: a real function</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exists("anova_rcbd")      # FALSE: plausible but invented</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args(power.t.test)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"effect_size" %in% names(formals(power.t.test))  # FALSE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toy &lt;- data.frame(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group = factor(rep(c("A", "B", "C"), each = 3)),</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y = c(3, 4, 5, 4, 5, 6, 5, 6, 7))</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tab &lt;- anova(aov(y ~ group, data = toy))</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stopifnot(isTRUE(all.equal(tab["group", "Sum Sq"], 6)),</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isTRUE(all.equal(tab["group", "F value"], 3)))</a:t>
            </a:r>
            <a:endParaRPr lang="en-US" sz="14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Search">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Ask R, not the assistant</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exists()</a:t>
            </a:r>
            <a:pPr indent="0" marL="0">
              <a:buNone/>
            </a:pPr>
            <a:r>
              <a:rPr lang="en-US" sz="1400" dirty="0">
                <a:solidFill>
                  <a:schemeClr val="tx1"/>
                </a:solidFill>
              </a:rPr>
              <a:t>, </a:t>
            </a:r>
            <a:pPr indent="0" marL="0">
              <a:buNone/>
            </a:pPr>
            <a:r>
              <a:rPr lang="en-US" sz="1400" dirty="0">
                <a:solidFill>
                  <a:schemeClr val="accent1"/>
                </a:solidFill>
                <a:latin typeface="Courier New" pitchFamily="34" charset="0"/>
                <a:ea typeface="Courier New" pitchFamily="34" charset="-122"/>
                <a:cs typeface="Courier New" pitchFamily="34" charset="-120"/>
              </a:rPr>
              <a:t>?name</a:t>
            </a:r>
            <a:pPr indent="0" marL="0">
              <a:buNone/>
            </a:pPr>
            <a:r>
              <a:rPr lang="en-US" sz="1400" dirty="0">
                <a:solidFill>
                  <a:schemeClr val="tx1"/>
                </a:solidFill>
              </a:rPr>
              <a:t>, </a:t>
            </a:r>
            <a:pPr indent="0" marL="0">
              <a:buNone/>
            </a:pPr>
            <a:r>
              <a:rPr lang="en-US" sz="1400" dirty="0">
                <a:solidFill>
                  <a:schemeClr val="accent1"/>
                </a:solidFill>
                <a:latin typeface="Courier New" pitchFamily="34" charset="0"/>
                <a:ea typeface="Courier New" pitchFamily="34" charset="-122"/>
                <a:cs typeface="Courier New" pitchFamily="34" charset="-120"/>
              </a:rPr>
              <a:t>find()</a:t>
            </a:r>
            <a:pPr indent="0" marL="0">
              <a:buNone/>
            </a:pPr>
            <a:r>
              <a:rPr lang="en-US" sz="1400" dirty="0">
                <a:solidFill>
                  <a:schemeClr val="tx1"/>
                </a:solidFill>
              </a:rPr>
              <a:t>, </a:t>
            </a:r>
            <a:pPr indent="0" marL="0">
              <a:buNone/>
            </a:pPr>
            <a:r>
              <a:rPr lang="en-US" sz="1400" dirty="0">
                <a:solidFill>
                  <a:schemeClr val="accent1"/>
                </a:solidFill>
                <a:latin typeface="Courier New" pitchFamily="34" charset="0"/>
                <a:ea typeface="Courier New" pitchFamily="34" charset="-122"/>
                <a:cs typeface="Courier New" pitchFamily="34" charset="-120"/>
              </a:rPr>
              <a:t>args()</a:t>
            </a:r>
            <a:pPr indent="0" marL="0">
              <a:buNone/>
            </a:pPr>
            <a:r>
              <a:rPr lang="en-US" sz="1400" dirty="0">
                <a:solidFill>
                  <a:schemeClr val="tx1"/>
                </a:solidFill>
              </a:rPr>
              <a:t> and </a:t>
            </a:r>
            <a:pPr indent="0" marL="0">
              <a:buNone/>
            </a:pPr>
            <a:r>
              <a:rPr lang="en-US" sz="1400" dirty="0">
                <a:solidFill>
                  <a:schemeClr val="accent1"/>
                </a:solidFill>
                <a:latin typeface="Courier New" pitchFamily="34" charset="0"/>
                <a:ea typeface="Courier New" pitchFamily="34" charset="-122"/>
                <a:cs typeface="Courier New" pitchFamily="34" charset="-120"/>
              </a:rPr>
              <a:t>packageVersion()</a:t>
            </a:r>
            <a:pPr indent="0" marL="0">
              <a:buNone/>
            </a:pPr>
            <a:r>
              <a:rPr lang="en-US" sz="1400" dirty="0">
                <a:solidFill>
                  <a:schemeClr val="tx1"/>
                </a:solidFill>
              </a:rPr>
              <a:t> confirm a suggestion.</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3"/>
          </a:solidFill>
          <a:ln/>
        </p:spPr>
      </p:sp>
      <p:pic>
        <p:nvPicPr>
          <p:cNvPr id="12" name="Image 1" descr="FaCheckDouble">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Known-answer tests</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Data with a hand-calculated answer (SS = 6, F = 3) must reproduce it. </a:t>
            </a:r>
            <a:pPr indent="0" marL="0">
              <a:buNone/>
            </a:pPr>
            <a:r>
              <a:rPr lang="en-US" sz="1400" dirty="0">
                <a:solidFill>
                  <a:schemeClr val="accent1"/>
                </a:solidFill>
                <a:latin typeface="Courier New" pitchFamily="34" charset="0"/>
                <a:ea typeface="Courier New" pitchFamily="34" charset="-122"/>
                <a:cs typeface="Courier New" pitchFamily="34" charset="-120"/>
              </a:rPr>
              <a:t>stopifnot()</a:t>
            </a:r>
            <a:pPr indent="0" marL="0">
              <a:buNone/>
            </a:pPr>
            <a:r>
              <a:rPr lang="en-US" sz="1400" dirty="0">
                <a:solidFill>
                  <a:schemeClr val="tx1"/>
                </a:solidFill>
              </a:rPr>
              <a:t> keeps the check in your script.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Debug with a minimal reproducible example</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small &lt;- head(rb, 4)</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dput(small)      # R code that recreates the data exactly</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accent2"/>
                </a:solidFill>
                <a:latin typeface="Courier New" pitchFamily="34" charset="0"/>
                <a:ea typeface="Courier New" pitchFamily="34" charset="-122"/>
                <a:cs typeface="Courier New" pitchFamily="34" charset="-120"/>
              </a:rPr>
              <a:t># Prompt:</a:t>
            </a:r>
            <a:endParaRPr lang="en-US" sz="1400" dirty="0"/>
          </a:p>
          <a:p>
            <a:pPr indent="0" marL="0">
              <a:spcAft>
                <a:spcPts val="200"/>
              </a:spcAft>
              <a:buNone/>
            </a:pPr>
            <a:r>
              <a:rPr lang="en-US" sz="1400" dirty="0">
                <a:solidFill>
                  <a:schemeClr val="accent2"/>
                </a:solidFill>
                <a:latin typeface="Courier New" pitchFamily="34" charset="0"/>
                <a:ea typeface="Courier New" pitchFamily="34" charset="-122"/>
                <a:cs typeface="Courier New" pitchFamily="34" charset="-120"/>
              </a:rPr>
              <a:t># My error is: object 'yield' not found</a:t>
            </a:r>
            <a:endParaRPr lang="en-US" sz="1400" dirty="0"/>
          </a:p>
          <a:p>
            <a:pPr indent="0" marL="0">
              <a:spcAft>
                <a:spcPts val="200"/>
              </a:spcAft>
              <a:buNone/>
            </a:pPr>
            <a:r>
              <a:rPr lang="en-US" sz="1400" dirty="0">
                <a:solidFill>
                  <a:schemeClr val="accent2"/>
                </a:solidFill>
                <a:latin typeface="Courier New" pitchFamily="34" charset="0"/>
                <a:ea typeface="Courier New" pitchFamily="34" charset="-122"/>
                <a:cs typeface="Courier New" pitchFamily="34" charset="-120"/>
              </a:rPr>
              <a:t># Here is dput(small) and the failing line:</a:t>
            </a:r>
            <a:endParaRPr lang="en-US" sz="1400" dirty="0"/>
          </a:p>
          <a:p>
            <a:pPr indent="0" marL="0">
              <a:spcAft>
                <a:spcPts val="200"/>
              </a:spcAft>
              <a:buNone/>
            </a:pPr>
            <a:r>
              <a:rPr lang="en-US" sz="1400" dirty="0">
                <a:solidFill>
                  <a:schemeClr val="accent2"/>
                </a:solidFill>
                <a:latin typeface="Courier New" pitchFamily="34" charset="0"/>
                <a:ea typeface="Courier New" pitchFamily="34" charset="-122"/>
                <a:cs typeface="Courier New" pitchFamily="34" charset="-120"/>
              </a:rPr>
              <a:t>#   aov(yield ~ block + variety, data = small)</a:t>
            </a:r>
            <a:endParaRPr lang="en-US" sz="1400" dirty="0"/>
          </a:p>
          <a:p>
            <a:pPr indent="0" marL="0">
              <a:spcAft>
                <a:spcPts val="200"/>
              </a:spcAft>
              <a:buNone/>
            </a:pPr>
            <a:r>
              <a:rPr lang="en-US" sz="1400" dirty="0">
                <a:solidFill>
                  <a:schemeClr val="accent2"/>
                </a:solidFill>
                <a:latin typeface="Courier New" pitchFamily="34" charset="0"/>
                <a:ea typeface="Courier New" pitchFamily="34" charset="-122"/>
                <a:cs typeface="Courier New" pitchFamily="34" charset="-120"/>
              </a:rPr>
              <a:t># Explain the cause before changing anything,</a:t>
            </a:r>
            <a:endParaRPr lang="en-US" sz="1400" dirty="0"/>
          </a:p>
          <a:p>
            <a:pPr indent="0" marL="0">
              <a:spcAft>
                <a:spcPts val="200"/>
              </a:spcAft>
              <a:buNone/>
            </a:pPr>
            <a:r>
              <a:rPr lang="en-US" sz="1400" dirty="0">
                <a:solidFill>
                  <a:schemeClr val="accent2"/>
                </a:solidFill>
                <a:latin typeface="Courier New" pitchFamily="34" charset="0"/>
                <a:ea typeface="Courier New" pitchFamily="34" charset="-122"/>
                <a:cs typeface="Courier New" pitchFamily="34" charset="-120"/>
              </a:rPr>
              <a:t># then change only the line involved.</a:t>
            </a:r>
            <a:endParaRPr lang="en-US" sz="14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PuzzlePiece">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A reprex contains</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The exact error message</a:t>
            </a:r>
            <a:endParaRPr lang="en-US" sz="1400" dirty="0"/>
          </a:p>
          <a:p>
            <a:pPr marL="228600" indent="-228600">
              <a:spcAft>
                <a:spcPts val="800"/>
              </a:spcAft>
              <a:buSzPct val="100000"/>
              <a:buChar char="•"/>
            </a:pPr>
            <a:r>
              <a:rPr lang="en-US" sz="1400" dirty="0">
                <a:solidFill>
                  <a:schemeClr val="tx1"/>
                </a:solidFill>
              </a:rPr>
              <a:t>The failing line</a:t>
            </a:r>
            <a:endParaRPr lang="en-US" sz="1400" dirty="0"/>
          </a:p>
          <a:p>
            <a:pPr marL="228600" indent="-228600">
              <a:spcAft>
                <a:spcPts val="800"/>
              </a:spcAft>
              <a:buSzPct val="100000"/>
              <a:buChar char="•"/>
            </a:pPr>
            <a:r>
              <a:rPr lang="en-US" sz="1400" dirty="0">
                <a:solidFill>
                  <a:schemeClr val="tx1"/>
                </a:solidFill>
              </a:rPr>
              <a:t>The smallest data that reproduce it</a:t>
            </a:r>
            <a:endParaRPr lang="en-US" sz="1400" dirty="0"/>
          </a:p>
        </p:txBody>
      </p:sp>
      <p:sp>
        <p:nvSpPr>
          <p:cNvPr id="10" name="warn"/>
          <p:cNvSpPr/>
          <p:nvPr/>
        </p:nvSpPr>
        <p:spPr>
          <a:xfrm>
            <a:off x="7543800" y="3794760"/>
            <a:ext cx="4069080" cy="2240280"/>
          </a:xfrm>
          <a:prstGeom prst="roundRect">
            <a:avLst>
              <a:gd name="adj" fmla="val 4898"/>
            </a:avLst>
          </a:prstGeom>
          <a:solidFill>
            <a:schemeClr val="accent6"/>
          </a:solidFill>
          <a:ln/>
          <a:effectLst>
            <a:outerShdw sx="100000" sy="100000" kx="0" ky="0" algn="bl" rotWithShape="0" blurRad="76200" dist="25400" dir="5400000">
              <a:srgbClr val="8A97AB">
                <a:alpha val="25000"/>
              </a:srgbClr>
            </a:outerShdw>
          </a:effectLst>
        </p:spPr>
      </p:sp>
      <p:sp>
        <p:nvSpPr>
          <p:cNvPr id="11" name="Text 8"/>
          <p:cNvSpPr txBox="1"/>
          <p:nvPr/>
        </p:nvSpPr>
        <p:spPr>
          <a:xfrm>
            <a:off x="7772400" y="3977640"/>
            <a:ext cx="3657600" cy="548640"/>
          </a:xfrm>
          <a:prstGeom prst="rect">
            <a:avLst/>
          </a:prstGeom>
          <a:noFill/>
          <a:ln/>
        </p:spPr>
        <p:txBody>
          <a:bodyPr wrap="square" lIns="0" tIns="0" rIns="0" bIns="0" rtlCol="0" anchor="ctr"/>
          <a:lstStyle/>
          <a:p>
            <a:pPr indent="0" marL="0">
              <a:buNone/>
            </a:pPr>
            <a:r>
              <a:rPr lang="en-US" sz="1600" b="1" dirty="0">
                <a:solidFill>
                  <a:schemeClr val="accent4"/>
                </a:solidFill>
              </a:rPr>
              <a:t>Avoid repair loops</a:t>
            </a:r>
            <a:endParaRPr lang="en-US" sz="1600" dirty="0"/>
          </a:p>
        </p:txBody>
      </p:sp>
      <p:sp>
        <p:nvSpPr>
          <p:cNvPr id="12" name="Text 9"/>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Repeatedly asking for fixes to a long script without checking what changed hides new errors.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Prompts for each stage of a project</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3566160"/>
                <a:gridCol w="5760720"/>
              </a:tblGrid>
              <a:tr h="640080">
                <a:tc>
                  <a:txBody>
                    <a:bodyPr/>
                    <a:lstStyle/>
                    <a:p>
                      <a:pPr indent="0" marL="0">
                        <a:buNone/>
                      </a:pPr>
                      <a:r>
                        <a:rPr lang="en-US" sz="1500" b="1" dirty="0">
                          <a:solidFill>
                            <a:schemeClr val="bg1"/>
                          </a:solidFill>
                        </a:rPr>
                        <a:t>Stage</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Example request</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Add this to protect the analysis</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2"/>
                          </a:solidFill>
                        </a:rPr>
                        <a:t>Import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Read trial.xlsx, sheet 2</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Show str() afterwards; treat -999 and blanks as missing</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Cleaning</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Find duplicate plots and impossible values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Flag them in a new column; do not delete or replace anything</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Wrangling</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Join soil and yield tables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Join by plot_id; report rows before and after; stop if keys repeat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Graphics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Plot yield by treatment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Show individual plots, not only means; label axes with units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Design</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Analyse this split-plot trial</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Main plots: irrigation; subplots: nitrogen; 3 blocks; two error terms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Reporting</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Write a results paragraph</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Use only numbers from this output; no new claims or citations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Responsible use</a:t>
            </a:r>
            <a:endParaRPr lang="en-US" sz="3200" dirty="0"/>
          </a:p>
        </p:txBody>
      </p:sp>
      <p:sp>
        <p:nvSpPr>
          <p:cNvPr id="3" name="card"/>
          <p:cNvSpPr/>
          <p:nvPr/>
        </p:nvSpPr>
        <p:spPr>
          <a:xfrm>
            <a:off x="548640" y="1726844"/>
            <a:ext cx="3535680" cy="3648456"/>
          </a:xfrm>
          <a:prstGeom prst="roundRect">
            <a:avLst>
              <a:gd name="adj" fmla="val 310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955444"/>
            <a:ext cx="731520" cy="731520"/>
          </a:xfrm>
          <a:prstGeom prst="ellipse">
            <a:avLst/>
          </a:prstGeom>
          <a:solidFill>
            <a:schemeClr val="accent1"/>
          </a:solidFill>
          <a:ln/>
        </p:spPr>
      </p:sp>
      <p:pic>
        <p:nvPicPr>
          <p:cNvPr id="5" name="Image 0" descr="FaUserShield">    </p:cNvPr>
          <p:cNvPicPr>
            <a:picLocks noChangeAspect="1"/>
          </p:cNvPicPr>
          <p:nvPr/>
        </p:nvPicPr>
        <p:blipFill>
          <a:blip r:embed="rId1"/>
          <a:stretch>
            <a:fillRect/>
          </a:stretch>
        </p:blipFill>
        <p:spPr>
          <a:xfrm>
            <a:off x="960120" y="2138324"/>
            <a:ext cx="365760" cy="365760"/>
          </a:xfrm>
          <a:prstGeom prst="rect">
            <a:avLst/>
          </a:prstGeom>
        </p:spPr>
      </p:pic>
      <p:sp>
        <p:nvSpPr>
          <p:cNvPr id="6" name="Text 3"/>
          <p:cNvSpPr txBox="1"/>
          <p:nvPr/>
        </p:nvSpPr>
        <p:spPr>
          <a:xfrm>
            <a:off x="777240" y="2824124"/>
            <a:ext cx="3078480" cy="292608"/>
          </a:xfrm>
          <a:prstGeom prst="rect">
            <a:avLst/>
          </a:prstGeom>
          <a:noFill/>
          <a:ln/>
        </p:spPr>
        <p:txBody>
          <a:bodyPr wrap="square" lIns="0" tIns="0" rIns="0" bIns="0" rtlCol="0" anchor="t"/>
          <a:lstStyle/>
          <a:p>
            <a:pPr indent="0" marL="0">
              <a:buNone/>
            </a:pPr>
            <a:r>
              <a:rPr lang="en-US" sz="1700" b="1" dirty="0">
                <a:solidFill>
                  <a:schemeClr val="tx2"/>
                </a:solidFill>
              </a:rPr>
              <a:t>Data privacy</a:t>
            </a:r>
            <a:endParaRPr lang="en-US" sz="1700" dirty="0"/>
          </a:p>
        </p:txBody>
      </p:sp>
      <p:sp>
        <p:nvSpPr>
          <p:cNvPr id="7" name="Text 4"/>
          <p:cNvSpPr txBox="1"/>
          <p:nvPr/>
        </p:nvSpPr>
        <p:spPr>
          <a:xfrm>
            <a:off x="777240" y="3226460"/>
            <a:ext cx="3078480" cy="2039112"/>
          </a:xfrm>
          <a:prstGeom prst="rect">
            <a:avLst/>
          </a:prstGeom>
          <a:noFill/>
          <a:ln/>
        </p:spPr>
        <p:txBody>
          <a:bodyPr wrap="square" lIns="0" tIns="0" rIns="0" bIns="0" rtlCol="0" anchor="t"/>
          <a:lstStyle/>
          <a:p>
            <a:pPr indent="0" marL="0">
              <a:buNone/>
            </a:pPr>
            <a:r>
              <a:rPr lang="en-US" sz="1800" dirty="0">
                <a:solidFill>
                  <a:schemeClr val="accent5"/>
                </a:solidFill>
              </a:rPr>
              <a:t>Research data may belong to the university, a farmer or a funder. Use simulated data with the same structure.</a:t>
            </a:r>
            <a:endParaRPr lang="en-US" sz="1800" dirty="0"/>
          </a:p>
        </p:txBody>
      </p:sp>
      <p:sp>
        <p:nvSpPr>
          <p:cNvPr id="8" name="card"/>
          <p:cNvSpPr/>
          <p:nvPr/>
        </p:nvSpPr>
        <p:spPr>
          <a:xfrm>
            <a:off x="4312920" y="1726844"/>
            <a:ext cx="3535680" cy="3648456"/>
          </a:xfrm>
          <a:prstGeom prst="roundRect">
            <a:avLst>
              <a:gd name="adj" fmla="val 310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955444"/>
            <a:ext cx="731520" cy="731520"/>
          </a:xfrm>
          <a:prstGeom prst="ellipse">
            <a:avLst/>
          </a:prstGeom>
          <a:solidFill>
            <a:schemeClr val="accent2"/>
          </a:solidFill>
          <a:ln/>
        </p:spPr>
      </p:sp>
      <p:pic>
        <p:nvPicPr>
          <p:cNvPr id="10" name="Image 1" descr="FaGraduationCap">    </p:cNvPr>
          <p:cNvPicPr>
            <a:picLocks noChangeAspect="1"/>
          </p:cNvPicPr>
          <p:nvPr/>
        </p:nvPicPr>
        <p:blipFill>
          <a:blip r:embed="rId2"/>
          <a:stretch>
            <a:fillRect/>
          </a:stretch>
        </p:blipFill>
        <p:spPr>
          <a:xfrm>
            <a:off x="4724400" y="2138324"/>
            <a:ext cx="365760" cy="365760"/>
          </a:xfrm>
          <a:prstGeom prst="rect">
            <a:avLst/>
          </a:prstGeom>
        </p:spPr>
      </p:pic>
      <p:sp>
        <p:nvSpPr>
          <p:cNvPr id="11" name="Text 7"/>
          <p:cNvSpPr txBox="1"/>
          <p:nvPr/>
        </p:nvSpPr>
        <p:spPr>
          <a:xfrm>
            <a:off x="4541520" y="2824124"/>
            <a:ext cx="3078480" cy="292608"/>
          </a:xfrm>
          <a:prstGeom prst="rect">
            <a:avLst/>
          </a:prstGeom>
          <a:noFill/>
          <a:ln/>
        </p:spPr>
        <p:txBody>
          <a:bodyPr wrap="square" lIns="0" tIns="0" rIns="0" bIns="0" rtlCol="0" anchor="t"/>
          <a:lstStyle/>
          <a:p>
            <a:pPr indent="0" marL="0">
              <a:buNone/>
            </a:pPr>
            <a:r>
              <a:rPr lang="en-US" sz="1700" b="1" dirty="0">
                <a:solidFill>
                  <a:schemeClr val="tx2"/>
                </a:solidFill>
              </a:rPr>
              <a:t>Academic integrity</a:t>
            </a:r>
            <a:endParaRPr lang="en-US" sz="1700" dirty="0"/>
          </a:p>
        </p:txBody>
      </p:sp>
      <p:sp>
        <p:nvSpPr>
          <p:cNvPr id="12" name="Text 8"/>
          <p:cNvSpPr txBox="1"/>
          <p:nvPr/>
        </p:nvSpPr>
        <p:spPr>
          <a:xfrm>
            <a:off x="4541520" y="3226460"/>
            <a:ext cx="3078480" cy="2039112"/>
          </a:xfrm>
          <a:prstGeom prst="rect">
            <a:avLst/>
          </a:prstGeom>
          <a:noFill/>
          <a:ln/>
        </p:spPr>
        <p:txBody>
          <a:bodyPr wrap="square" lIns="0" tIns="0" rIns="0" bIns="0" rtlCol="0" anchor="t"/>
          <a:lstStyle/>
          <a:p>
            <a:pPr indent="0" marL="0">
              <a:buNone/>
            </a:pPr>
            <a:r>
              <a:rPr lang="en-US" sz="1800" dirty="0">
                <a:solidFill>
                  <a:schemeClr val="accent5"/>
                </a:solidFill>
              </a:rPr>
              <a:t>Follow the course rules. Acknowledge help: "An AI assistant drafted the import and plotting code; all code was reviewed, tested and corrected by the author."</a:t>
            </a:r>
            <a:endParaRPr lang="en-US" sz="1800" dirty="0"/>
          </a:p>
        </p:txBody>
      </p:sp>
      <p:sp>
        <p:nvSpPr>
          <p:cNvPr id="13" name="card"/>
          <p:cNvSpPr/>
          <p:nvPr/>
        </p:nvSpPr>
        <p:spPr>
          <a:xfrm>
            <a:off x="8077200" y="1726844"/>
            <a:ext cx="3535680" cy="3648456"/>
          </a:xfrm>
          <a:prstGeom prst="roundRect">
            <a:avLst>
              <a:gd name="adj" fmla="val 310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955444"/>
            <a:ext cx="731520" cy="731520"/>
          </a:xfrm>
          <a:prstGeom prst="ellipse">
            <a:avLst/>
          </a:prstGeom>
          <a:solidFill>
            <a:schemeClr val="accent4"/>
          </a:solidFill>
          <a:ln/>
        </p:spPr>
      </p:sp>
      <p:pic>
        <p:nvPicPr>
          <p:cNvPr id="15" name="Image 2" descr="FaBookOpen">    </p:cNvPr>
          <p:cNvPicPr>
            <a:picLocks noChangeAspect="1"/>
          </p:cNvPicPr>
          <p:nvPr/>
        </p:nvPicPr>
        <p:blipFill>
          <a:blip r:embed="rId3"/>
          <a:stretch>
            <a:fillRect/>
          </a:stretch>
        </p:blipFill>
        <p:spPr>
          <a:xfrm>
            <a:off x="8488680" y="2138324"/>
            <a:ext cx="365760" cy="365760"/>
          </a:xfrm>
          <a:prstGeom prst="rect">
            <a:avLst/>
          </a:prstGeom>
        </p:spPr>
      </p:pic>
      <p:sp>
        <p:nvSpPr>
          <p:cNvPr id="16" name="Text 11"/>
          <p:cNvSpPr txBox="1"/>
          <p:nvPr/>
        </p:nvSpPr>
        <p:spPr>
          <a:xfrm>
            <a:off x="8305800" y="2824124"/>
            <a:ext cx="3078480" cy="292608"/>
          </a:xfrm>
          <a:prstGeom prst="rect">
            <a:avLst/>
          </a:prstGeom>
          <a:noFill/>
          <a:ln/>
        </p:spPr>
        <p:txBody>
          <a:bodyPr wrap="square" lIns="0" tIns="0" rIns="0" bIns="0" rtlCol="0" anchor="t"/>
          <a:lstStyle/>
          <a:p>
            <a:pPr indent="0" marL="0">
              <a:buNone/>
            </a:pPr>
            <a:r>
              <a:rPr lang="en-US" sz="1700" b="1" dirty="0">
                <a:solidFill>
                  <a:schemeClr val="tx2"/>
                </a:solidFill>
              </a:rPr>
              <a:t>Honest reporting</a:t>
            </a:r>
            <a:endParaRPr lang="en-US" sz="1700" dirty="0"/>
          </a:p>
        </p:txBody>
      </p:sp>
      <p:sp>
        <p:nvSpPr>
          <p:cNvPr id="17" name="Text 12"/>
          <p:cNvSpPr txBox="1"/>
          <p:nvPr/>
        </p:nvSpPr>
        <p:spPr>
          <a:xfrm>
            <a:off x="8305800" y="3226460"/>
            <a:ext cx="3078480" cy="2039112"/>
          </a:xfrm>
          <a:prstGeom prst="rect">
            <a:avLst/>
          </a:prstGeom>
          <a:noFill/>
          <a:ln/>
        </p:spPr>
        <p:txBody>
          <a:bodyPr wrap="square" lIns="0" tIns="0" rIns="0" bIns="0" rtlCol="0" anchor="t"/>
          <a:lstStyle/>
          <a:p>
            <a:pPr indent="0" marL="0">
              <a:buNone/>
            </a:pPr>
            <a:r>
              <a:rPr lang="en-US" sz="1800" dirty="0">
                <a:solidFill>
                  <a:schemeClr val="accent5"/>
                </a:solidFill>
              </a:rPr>
              <a:t>Methods must describe the analysis actually run. Never invent data, results or citations; check every reference.</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17 and exercises</a:t>
            </a:r>
            <a:endParaRPr lang="en-US" sz="3200" dirty="0"/>
          </a:p>
        </p:txBody>
      </p:sp>
      <p:sp>
        <p:nvSpPr>
          <p:cNvPr id="3" name="card"/>
          <p:cNvSpPr/>
          <p:nvPr/>
        </p:nvSpPr>
        <p:spPr>
          <a:xfrm>
            <a:off x="548640" y="13716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451610"/>
            <a:ext cx="502920" cy="502920"/>
          </a:xfrm>
          <a:prstGeom prst="ellipse">
            <a:avLst/>
          </a:prstGeom>
          <a:solidFill>
            <a:schemeClr val="accent1"/>
          </a:solidFill>
          <a:ln/>
        </p:spPr>
      </p:sp>
      <p:sp>
        <p:nvSpPr>
          <p:cNvPr id="5" name="Text 3"/>
          <p:cNvSpPr txBox="1"/>
          <p:nvPr/>
        </p:nvSpPr>
        <p:spPr>
          <a:xfrm>
            <a:off x="749808" y="14516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571500"/>
          </a:xfrm>
          <a:prstGeom prst="rect">
            <a:avLst/>
          </a:prstGeom>
          <a:noFill/>
          <a:ln/>
        </p:spPr>
        <p:txBody>
          <a:bodyPr wrap="square" lIns="0" tIns="0" rIns="0" bIns="0" rtlCol="0" anchor="ctr"/>
          <a:lstStyle/>
          <a:p>
            <a:pPr indent="0" marL="0">
              <a:buNone/>
            </a:pPr>
            <a:r>
              <a:rPr lang="en-US" sz="1300" dirty="0">
                <a:solidFill>
                  <a:schemeClr val="tx1"/>
                </a:solidFill>
              </a:rPr>
              <a:t>Give an assistant the model prompt, or write your own solution. Compare with the reference; test an all-missing group and a one-yield group.</a:t>
            </a:r>
            <a:endParaRPr lang="en-US" sz="1300" dirty="0"/>
          </a:p>
        </p:txBody>
      </p:sp>
      <p:sp>
        <p:nvSpPr>
          <p:cNvPr id="7" name="card"/>
          <p:cNvSpPr/>
          <p:nvPr/>
        </p:nvSpPr>
        <p:spPr>
          <a:xfrm>
            <a:off x="548640" y="21717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251710"/>
            <a:ext cx="502920" cy="502920"/>
          </a:xfrm>
          <a:prstGeom prst="ellipse">
            <a:avLst/>
          </a:prstGeom>
          <a:solidFill>
            <a:schemeClr val="accent1"/>
          </a:solidFill>
          <a:ln/>
        </p:spPr>
      </p:sp>
      <p:sp>
        <p:nvSpPr>
          <p:cNvPr id="9" name="Text 7"/>
          <p:cNvSpPr txBox="1"/>
          <p:nvPr/>
        </p:nvSpPr>
        <p:spPr>
          <a:xfrm>
            <a:off x="749808" y="22517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217420"/>
            <a:ext cx="6629400" cy="571500"/>
          </a:xfrm>
          <a:prstGeom prst="rect">
            <a:avLst/>
          </a:prstGeom>
          <a:noFill/>
          <a:ln/>
        </p:spPr>
        <p:txBody>
          <a:bodyPr wrap="square" lIns="0" tIns="0" rIns="0" bIns="0" rtlCol="0" anchor="ctr"/>
          <a:lstStyle/>
          <a:p>
            <a:pPr indent="0" marL="0">
              <a:buNone/>
            </a:pPr>
            <a:r>
              <a:rPr lang="en-US" sz="1300" dirty="0">
                <a:solidFill>
                  <a:schemeClr val="tx1"/>
                </a:solidFill>
              </a:rPr>
              <a:t>Ask for an ANOVA of </a:t>
            </a:r>
            <a:pPr indent="0" marL="0">
              <a:buNone/>
            </a:pPr>
            <a:r>
              <a:rPr lang="en-US" sz="1300" dirty="0">
                <a:solidFill>
                  <a:schemeClr val="accent1"/>
                </a:solidFill>
                <a:latin typeface="Courier New" pitchFamily="34" charset="0"/>
                <a:ea typeface="Courier New" pitchFamily="34" charset="-122"/>
                <a:cs typeface="Courier New" pitchFamily="34" charset="-120"/>
              </a:rPr>
              <a:t>factorial_rcbd.csv</a:t>
            </a:r>
            <a:pPr indent="0" marL="0">
              <a:buNone/>
            </a:pPr>
            <a:r>
              <a:rPr lang="en-US" sz="1300" dirty="0">
                <a:solidFill>
                  <a:schemeClr val="tx1"/>
                </a:solidFill>
              </a:rPr>
              <a:t> without the design, then with the template. List the differences.</a:t>
            </a:r>
            <a:endParaRPr lang="en-US" sz="1300" dirty="0"/>
          </a:p>
        </p:txBody>
      </p:sp>
      <p:sp>
        <p:nvSpPr>
          <p:cNvPr id="11" name="card"/>
          <p:cNvSpPr/>
          <p:nvPr/>
        </p:nvSpPr>
        <p:spPr>
          <a:xfrm>
            <a:off x="548640" y="29718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051810"/>
            <a:ext cx="502920" cy="502920"/>
          </a:xfrm>
          <a:prstGeom prst="ellipse">
            <a:avLst/>
          </a:prstGeom>
          <a:solidFill>
            <a:schemeClr val="accent1"/>
          </a:solidFill>
          <a:ln/>
        </p:spPr>
      </p:sp>
      <p:sp>
        <p:nvSpPr>
          <p:cNvPr id="13" name="Text 11"/>
          <p:cNvSpPr txBox="1"/>
          <p:nvPr/>
        </p:nvSpPr>
        <p:spPr>
          <a:xfrm>
            <a:off x="749808" y="30518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0175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Confirm with </a:t>
            </a:r>
            <a:pPr indent="0" marL="0">
              <a:buNone/>
            </a:pPr>
            <a:r>
              <a:rPr lang="en-US" sz="1300" dirty="0">
                <a:solidFill>
                  <a:schemeClr val="accent1"/>
                </a:solidFill>
                <a:latin typeface="Courier New" pitchFamily="34" charset="0"/>
                <a:ea typeface="Courier New" pitchFamily="34" charset="-122"/>
                <a:cs typeface="Courier New" pitchFamily="34" charset="-120"/>
              </a:rPr>
              <a:t>exists()</a:t>
            </a:r>
            <a:pPr indent="0" marL="0">
              <a:buNone/>
            </a:pPr>
            <a:r>
              <a:rPr lang="en-US" sz="1300" dirty="0">
                <a:solidFill>
                  <a:schemeClr val="tx1"/>
                </a:solidFill>
              </a:rPr>
              <a:t>, </a:t>
            </a:r>
            <a:pPr indent="0" marL="0">
              <a:buNone/>
            </a:pPr>
            <a:r>
              <a:rPr lang="en-US" sz="1300" dirty="0">
                <a:solidFill>
                  <a:schemeClr val="accent1"/>
                </a:solidFill>
                <a:latin typeface="Courier New" pitchFamily="34" charset="0"/>
                <a:ea typeface="Courier New" pitchFamily="34" charset="-122"/>
                <a:cs typeface="Courier New" pitchFamily="34" charset="-120"/>
              </a:rPr>
              <a:t>?</a:t>
            </a:r>
            <a:pPr indent="0" marL="0">
              <a:buNone/>
            </a:pPr>
            <a:r>
              <a:rPr lang="en-US" sz="1300" dirty="0">
                <a:solidFill>
                  <a:schemeClr val="tx1"/>
                </a:solidFill>
              </a:rPr>
              <a:t> and </a:t>
            </a:r>
            <a:pPr indent="0" marL="0">
              <a:buNone/>
            </a:pPr>
            <a:r>
              <a:rPr lang="en-US" sz="1300" dirty="0">
                <a:solidFill>
                  <a:schemeClr val="accent1"/>
                </a:solidFill>
                <a:latin typeface="Courier New" pitchFamily="34" charset="0"/>
                <a:ea typeface="Courier New" pitchFamily="34" charset="-122"/>
                <a:cs typeface="Courier New" pitchFamily="34" charset="-120"/>
              </a:rPr>
              <a:t>find()</a:t>
            </a:r>
            <a:pPr indent="0" marL="0">
              <a:buNone/>
            </a:pPr>
            <a:r>
              <a:rPr lang="en-US" sz="1300" dirty="0">
                <a:solidFill>
                  <a:schemeClr val="tx1"/>
                </a:solidFill>
              </a:rPr>
              <a:t> that two suggested functions exist; explain their arguments.</a:t>
            </a:r>
            <a:endParaRPr lang="en-US" sz="1300" dirty="0"/>
          </a:p>
        </p:txBody>
      </p:sp>
      <p:sp>
        <p:nvSpPr>
          <p:cNvPr id="15" name="card"/>
          <p:cNvSpPr/>
          <p:nvPr/>
        </p:nvSpPr>
        <p:spPr>
          <a:xfrm>
            <a:off x="548640" y="37719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3851910"/>
            <a:ext cx="502920" cy="502920"/>
          </a:xfrm>
          <a:prstGeom prst="ellipse">
            <a:avLst/>
          </a:prstGeom>
          <a:solidFill>
            <a:schemeClr val="accent1"/>
          </a:solidFill>
          <a:ln/>
        </p:spPr>
      </p:sp>
      <p:sp>
        <p:nvSpPr>
          <p:cNvPr id="17" name="Text 15"/>
          <p:cNvSpPr txBox="1"/>
          <p:nvPr/>
        </p:nvSpPr>
        <p:spPr>
          <a:xfrm>
            <a:off x="749808" y="38519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3817620"/>
            <a:ext cx="6629400" cy="571500"/>
          </a:xfrm>
          <a:prstGeom prst="rect">
            <a:avLst/>
          </a:prstGeom>
          <a:noFill/>
          <a:ln/>
        </p:spPr>
        <p:txBody>
          <a:bodyPr wrap="square" lIns="0" tIns="0" rIns="0" bIns="0" rtlCol="0" anchor="ctr"/>
          <a:lstStyle/>
          <a:p>
            <a:pPr indent="0" marL="0">
              <a:buNone/>
            </a:pPr>
            <a:r>
              <a:rPr lang="en-US" sz="1300" dirty="0">
                <a:solidFill>
                  <a:schemeClr val="tx1"/>
                </a:solidFill>
              </a:rPr>
              <a:t>Write a known-answer test with </a:t>
            </a:r>
            <a:pPr indent="0" marL="0">
              <a:buNone/>
            </a:pPr>
            <a:r>
              <a:rPr lang="en-US" sz="1300" dirty="0">
                <a:solidFill>
                  <a:schemeClr val="accent1"/>
                </a:solidFill>
                <a:latin typeface="Courier New" pitchFamily="34" charset="0"/>
                <a:ea typeface="Courier New" pitchFamily="34" charset="-122"/>
                <a:cs typeface="Courier New" pitchFamily="34" charset="-120"/>
              </a:rPr>
              <a:t>stopifnot()</a:t>
            </a:r>
            <a:pPr indent="0" marL="0">
              <a:buNone/>
            </a:pPr>
            <a:r>
              <a:rPr lang="en-US" sz="1300" dirty="0">
                <a:solidFill>
                  <a:schemeClr val="tx1"/>
                </a:solidFill>
              </a:rPr>
              <a:t> for a function that calculates CD at 5%.</a:t>
            </a:r>
            <a:endParaRPr lang="en-US" sz="1300" dirty="0"/>
          </a:p>
        </p:txBody>
      </p:sp>
      <p:sp>
        <p:nvSpPr>
          <p:cNvPr id="19" name="card"/>
          <p:cNvSpPr/>
          <p:nvPr/>
        </p:nvSpPr>
        <p:spPr>
          <a:xfrm>
            <a:off x="548640" y="45720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4652010"/>
            <a:ext cx="502920" cy="502920"/>
          </a:xfrm>
          <a:prstGeom prst="ellipse">
            <a:avLst/>
          </a:prstGeom>
          <a:solidFill>
            <a:schemeClr val="accent1"/>
          </a:solidFill>
          <a:ln/>
        </p:spPr>
      </p:sp>
      <p:sp>
        <p:nvSpPr>
          <p:cNvPr id="21" name="Text 19"/>
          <p:cNvSpPr txBox="1"/>
          <p:nvPr/>
        </p:nvSpPr>
        <p:spPr>
          <a:xfrm>
            <a:off x="749808" y="46520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46177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Create a reprex with </a:t>
            </a:r>
            <a:pPr indent="0" marL="0">
              <a:buNone/>
            </a:pPr>
            <a:r>
              <a:rPr lang="en-US" sz="1300" dirty="0">
                <a:solidFill>
                  <a:schemeClr val="accent1"/>
                </a:solidFill>
                <a:latin typeface="Courier New" pitchFamily="34" charset="0"/>
                <a:ea typeface="Courier New" pitchFamily="34" charset="-122"/>
                <a:cs typeface="Courier New" pitchFamily="34" charset="-120"/>
              </a:rPr>
              <a:t>dput()</a:t>
            </a:r>
            <a:pPr indent="0" marL="0">
              <a:buNone/>
            </a:pPr>
            <a:r>
              <a:rPr lang="en-US" sz="1300" dirty="0">
                <a:solidFill>
                  <a:schemeClr val="tx1"/>
                </a:solidFill>
              </a:rPr>
              <a:t> for an error from an earlier practical, and write the prompt.</a:t>
            </a:r>
            <a:endParaRPr lang="en-US" sz="1300" dirty="0"/>
          </a:p>
        </p:txBody>
      </p:sp>
      <p:sp>
        <p:nvSpPr>
          <p:cNvPr id="23" name="card"/>
          <p:cNvSpPr/>
          <p:nvPr/>
        </p:nvSpPr>
        <p:spPr>
          <a:xfrm>
            <a:off x="548640" y="53721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24" name="Shape 22"/>
          <p:cNvSpPr/>
          <p:nvPr/>
        </p:nvSpPr>
        <p:spPr>
          <a:xfrm>
            <a:off x="749808" y="5452110"/>
            <a:ext cx="502920" cy="502920"/>
          </a:xfrm>
          <a:prstGeom prst="ellipse">
            <a:avLst/>
          </a:prstGeom>
          <a:solidFill>
            <a:schemeClr val="accent1"/>
          </a:solidFill>
          <a:ln/>
        </p:spPr>
      </p:sp>
      <p:sp>
        <p:nvSpPr>
          <p:cNvPr id="25" name="Text 23"/>
          <p:cNvSpPr txBox="1"/>
          <p:nvPr/>
        </p:nvSpPr>
        <p:spPr>
          <a:xfrm>
            <a:off x="749808" y="54521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1463040" y="5417820"/>
            <a:ext cx="6629400" cy="571500"/>
          </a:xfrm>
          <a:prstGeom prst="rect">
            <a:avLst/>
          </a:prstGeom>
          <a:noFill/>
          <a:ln/>
        </p:spPr>
        <p:txBody>
          <a:bodyPr wrap="square" lIns="0" tIns="0" rIns="0" bIns="0" rtlCol="0" anchor="ctr"/>
          <a:lstStyle/>
          <a:p>
            <a:pPr indent="0" marL="0">
              <a:buNone/>
            </a:pPr>
            <a:r>
              <a:rPr lang="en-US" sz="1300" dirty="0">
                <a:solidFill>
                  <a:schemeClr val="tx1"/>
                </a:solidFill>
              </a:rPr>
              <a:t>Write an acknowledgement statement for your integrated project.</a:t>
            </a:r>
            <a:endParaRPr lang="en-US" sz="1300" dirty="0"/>
          </a:p>
        </p:txBody>
      </p:sp>
      <p:sp>
        <p:nvSpPr>
          <p:cNvPr id="27"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8"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9" name="Text 26"/>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30" name="Text 27"/>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the prompts, reviewed code, verification results, and an account of what you accepted or corrected. Explain every line you submit.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707640"/>
          </a:xfrm>
          <a:prstGeom prst="roundRect">
            <a:avLst>
              <a:gd name="adj" fmla="val 3377"/>
            </a:avLst>
          </a:prstGeom>
          <a:solidFill>
            <a:schemeClr val="tx1"/>
          </a:solidFill>
          <a:ln/>
        </p:spPr>
      </p:sp>
      <p:sp>
        <p:nvSpPr>
          <p:cNvPr id="4" name="Text 2"/>
          <p:cNvSpPr txBox="1"/>
          <p:nvPr/>
        </p:nvSpPr>
        <p:spPr>
          <a:xfrm>
            <a:off x="822960" y="1572768"/>
            <a:ext cx="10515600" cy="2305304"/>
          </a:xfrm>
          <a:prstGeom prst="rect">
            <a:avLst/>
          </a:prstGeom>
          <a:noFill/>
          <a:ln/>
        </p:spPr>
        <p:txBody>
          <a:bodyPr wrap="square" lIns="0" tIns="0" rIns="0" bIns="0" rtlCol="0" anchor="t"/>
          <a:lstStyle/>
          <a:p>
            <a:pPr indent="0" marL="0">
              <a:spcAft>
                <a:spcPts val="200"/>
              </a:spcAft>
              <a:buNone/>
            </a:pPr>
            <a:r>
              <a:rPr lang="en-US" sz="1700" dirty="0">
                <a:solidFill>
                  <a:schemeClr val="accent2"/>
                </a:solidFill>
                <a:latin typeface="Courier New" pitchFamily="34" charset="0"/>
                <a:ea typeface="Courier New" pitchFamily="34" charset="-122"/>
                <a:cs typeface="Courier New" pitchFamily="34" charset="-120"/>
              </a:rPr>
              <a:t># A "generated" analysis of an RCBD: 4 varieties in 3 blocks</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trial &lt;- data.frame(</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block = rep(1:3, each = 4),</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variety = rep(c("V1", "V2", "V3", "V4"), times = 3),</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yield = c(4.8, 5.4, 4.0, 5.5, 4.6, 4.9, 4.1, 5.3, 4.1, 5.0, 3.5, 5.1))</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fit &lt;- aov(yield ~ block + variety, data = trial)</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summary(fit)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c(block = 3 - 1, variety = 4 - 1, error = (3 - 1) * (4 - 1))</a:t>
            </a:r>
            <a:endParaRPr lang="en-US" sz="1700" dirty="0"/>
          </a:p>
        </p:txBody>
      </p:sp>
      <p:sp>
        <p:nvSpPr>
          <p:cNvPr id="5" name="investigate"/>
          <p:cNvSpPr/>
          <p:nvPr/>
        </p:nvSpPr>
        <p:spPr>
          <a:xfrm>
            <a:off x="548640" y="439928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69188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886198"/>
            <a:ext cx="388620" cy="388620"/>
          </a:xfrm>
          <a:prstGeom prst="rect">
            <a:avLst/>
          </a:prstGeom>
        </p:spPr>
      </p:pic>
      <p:sp>
        <p:nvSpPr>
          <p:cNvPr id="8" name="Text 5"/>
          <p:cNvSpPr txBox="1"/>
          <p:nvPr/>
        </p:nvSpPr>
        <p:spPr>
          <a:xfrm>
            <a:off x="1828800" y="450900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874768"/>
            <a:ext cx="9555480" cy="822960"/>
          </a:xfrm>
          <a:prstGeom prst="rect">
            <a:avLst/>
          </a:prstGeom>
          <a:noFill/>
          <a:ln/>
        </p:spPr>
        <p:txBody>
          <a:bodyPr wrap="square" lIns="0" tIns="0" rIns="0" bIns="0" rtlCol="0" anchor="t"/>
          <a:lstStyle/>
          <a:p>
            <a:pPr indent="0" marL="0">
              <a:buNone/>
            </a:pPr>
            <a:r>
              <a:rPr lang="en-US" sz="1500" dirty="0">
                <a:solidFill>
                  <a:schemeClr val="tx1"/>
                </a:solidFill>
              </a:rPr>
              <a:t>Compare the degrees of freedom in the ANOVA table with the expected values. Which term is wrong, and why? Fix it with </a:t>
            </a:r>
            <a:pPr indent="0" marL="0">
              <a:buNone/>
            </a:pPr>
            <a:r>
              <a:rPr lang="en-US" sz="1500" dirty="0">
                <a:solidFill>
                  <a:schemeClr val="accent1"/>
                </a:solidFill>
                <a:latin typeface="Courier New" pitchFamily="34" charset="0"/>
                <a:ea typeface="Courier New" pitchFamily="34" charset="-122"/>
                <a:cs typeface="Courier New" pitchFamily="34" charset="-120"/>
              </a:rPr>
              <a:t>factor()</a:t>
            </a:r>
            <a:pPr indent="0" marL="0">
              <a:buNone/>
            </a:pPr>
            <a:r>
              <a:rPr lang="en-US" sz="1500" dirty="0">
                <a:solidFill>
                  <a:schemeClr val="tx1"/>
                </a:solidFill>
              </a:rPr>
              <a:t> and rerun. How does the error mean square change?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Comments">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Brief it fully</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Question, unit, columns, units and design in the prompt.</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Glasses">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Read every line</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Confirm functions exist; check the df against the design.</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CheckDouble">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Verify independently</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Known answers, hand checks and a second method.</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ClipboardList">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Record and own it</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Log prompts and corrections; you are responsible.</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End of the course · Bring it together in your integrated project</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coding: writing R with an AI assistant</dc:title>
  <dc:subject>R Programming for Agricultural Data Analysis · Chapter 16</dc:subject>
  <dc:creator>Dr. Pratheesh P. Gopinath</dc:creator>
  <cp:lastModifiedBy>Dr. Pratheesh P. Gopinath</cp:lastModifiedBy>
  <cp:revision>1</cp:revision>
  <dcterms:created xsi:type="dcterms:W3CDTF">2026-10-20T10:13:44Z</dcterms:created>
  <dcterms:modified xsi:type="dcterms:W3CDTF">2026-10-20T10:13:44Z</dcterms:modified>
</cp:coreProperties>
</file>